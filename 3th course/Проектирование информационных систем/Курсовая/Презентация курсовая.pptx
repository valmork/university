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2"/>
  </p:notesMasterIdLst>
  <p:sldIdLst>
    <p:sldId id="256" r:id="rId2"/>
    <p:sldId id="257" r:id="rId3"/>
    <p:sldId id="263" r:id="rId4"/>
    <p:sldId id="264" r:id="rId5"/>
    <p:sldId id="265" r:id="rId6"/>
    <p:sldId id="259" r:id="rId7"/>
    <p:sldId id="262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562"/>
  </p:normalViewPr>
  <p:slideViewPr>
    <p:cSldViewPr snapToGrid="0">
      <p:cViewPr varScale="1">
        <p:scale>
          <a:sx n="108" d="100"/>
          <a:sy n="108" d="100"/>
        </p:scale>
        <p:origin x="1600" y="192"/>
      </p:cViewPr>
      <p:guideLst>
        <p:guide pos="28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0925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ru-RU"/>
              <a:t>ыв</a:t>
            </a:r>
            <a:endParaRPr/>
          </a:p>
        </p:txBody>
      </p:sp>
      <p:sp>
        <p:nvSpPr>
          <p:cNvPr id="61558159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24.12.2025</a:t>
            </a:fld>
            <a:endParaRPr lang="ru-RU"/>
          </a:p>
        </p:txBody>
      </p:sp>
      <p:sp>
        <p:nvSpPr>
          <p:cNvPr id="1056719825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8452031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/>
          </a:p>
        </p:txBody>
      </p:sp>
      <p:sp>
        <p:nvSpPr>
          <p:cNvPr id="18307635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595052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2160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1321332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722515657" name="Верхний колонтитул 4"/>
          <p:cNvSpPr>
            <a:spLocks noGrp="1"/>
          </p:cNvSpPr>
          <p:nvPr>
            <p:ph type="hdr" sz="quarter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ыв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BA0AB7-CFAE-BA9C-AB8D-40C31D9FBE3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467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93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63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15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03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346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11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367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136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03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61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812903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540679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182558096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87686877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0519285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87169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8113556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/>
          </a:p>
        </p:txBody>
      </p:sp>
      <p:sp>
        <p:nvSpPr>
          <p:cNvPr id="40137449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50524303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8470326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874025" name="Заголовок 1"/>
          <p:cNvSpPr>
            <a:spLocks noGrp="1"/>
          </p:cNvSpPr>
          <p:nvPr>
            <p:ph type="title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09794371" name="Текст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3135388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131598869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3736782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06926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50447023" name="Объект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63518762" name="Объект 3"/>
          <p:cNvSpPr>
            <a:spLocks noGrp="1"/>
          </p:cNvSpPr>
          <p:nvPr>
            <p:ph sz="half" idx="2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5386108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157135857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9122985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976431" name="Заголовок 1"/>
          <p:cNvSpPr>
            <a:spLocks noGrp="1"/>
          </p:cNvSpPr>
          <p:nvPr>
            <p:ph type="title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29861008" name="Текст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81215717" name="Объект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43696961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78801783" name="Объект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37949400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1654869936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6681073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37342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766185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745906182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4534565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32560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1884736866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18207949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125722" name="Заголовок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96277419" name="Объект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101808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510450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44729615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2921477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32437" name="Заголовок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18114911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/>
          </a:p>
        </p:txBody>
      </p:sp>
      <p:sp>
        <p:nvSpPr>
          <p:cNvPr id="1291775423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2817162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147634498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1094546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23275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08270090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7817573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148473013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1982289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938239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0557085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/>
          </a:p>
        </p:txBody>
      </p:sp>
      <p:sp>
        <p:nvSpPr>
          <p:cNvPr id="146437050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24.12.2025</a:t>
            </a:fld>
            <a:endParaRPr lang="ru-RU"/>
          </a:p>
        </p:txBody>
      </p:sp>
      <p:sp>
        <p:nvSpPr>
          <p:cNvPr id="84227265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9229867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2" descr="C:\Users\Design\Desktop\Презент\3.jpg">
            <a:extLst>
              <a:ext uri="{FF2B5EF4-FFF2-40B4-BE49-F238E27FC236}">
                <a16:creationId xmlns:a16="http://schemas.microsoft.com/office/drawing/2014/main" id="{D1799413-689E-F4BB-A878-92B8506CC7C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4"/>
          <a:stretch/>
        </p:blipFill>
        <p:spPr bwMode="auto">
          <a:xfrm>
            <a:off x="0" y="0"/>
            <a:ext cx="9144000" cy="8652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246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26736" name="Title 1"/>
          <p:cNvSpPr>
            <a:spLocks noGrp="1"/>
          </p:cNvSpPr>
          <p:nvPr>
            <p:ph type="ctrTitle"/>
          </p:nvPr>
        </p:nvSpPr>
        <p:spPr bwMode="auto">
          <a:xfrm>
            <a:off x="510079" y="882259"/>
            <a:ext cx="8123842" cy="1842088"/>
          </a:xfrm>
        </p:spPr>
        <p:txBody>
          <a:bodyPr vertOverflow="overflow" horzOverflow="overflow" vert="horz" wrap="square" lIns="68580" tIns="34290" rIns="68580" bIns="34290" numCol="1" spcCol="0" rtlCol="0" fromWordArt="0" anchor="ctr" anchorCtr="0" forceAA="0" compatLnSpc="0">
            <a:normAutofit fontScale="90000"/>
          </a:bodyPr>
          <a:lstStyle/>
          <a:p>
            <a:pPr marL="574040" marR="66548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</a:pP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</a:t>
            </a:r>
            <a:r>
              <a:rPr lang="ru-RU" sz="13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НАУКИ</a:t>
            </a:r>
            <a:r>
              <a:rPr lang="ru-RU" sz="13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3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ВЫСШЕГО</a:t>
            </a:r>
            <a:r>
              <a:rPr lang="ru-RU" sz="13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РОССИЙСКОЙ ФЕДЕРАЦИИ</a:t>
            </a:r>
            <a:b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ФЕДЕРАЛЬНОЕ ГОСУДАРСТВЕННОЕ БЮДЖЕТНОЕ ОБРАЗОВАТЕЛЬНОЕ</a:t>
            </a:r>
            <a:r>
              <a:rPr lang="ru-RU" sz="13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УЧРЕЖДЕНИЕ</a:t>
            </a:r>
            <a:r>
              <a:rPr lang="ru-RU" sz="13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ВЫСШЕГО</a:t>
            </a:r>
            <a:r>
              <a:rPr lang="ru-RU" sz="13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</a:t>
            </a:r>
            <a:b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«ОРЛОВСКИЙ</a:t>
            </a:r>
            <a:r>
              <a:rPr lang="ru-RU" sz="1300" spc="-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ГОСУДАРСТВЕННЫЙ</a:t>
            </a:r>
            <a:r>
              <a:rPr lang="ru-RU" sz="13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УНИВЕРСИТЕТ ИМЕНИ И.С. ТУРГЕНЕВА»</a:t>
            </a:r>
            <a:b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</a:t>
            </a:r>
            <a:r>
              <a:rPr lang="ru-RU" sz="13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</a:t>
            </a:r>
            <a:r>
              <a:rPr lang="ru-RU" sz="13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</a:t>
            </a:r>
            <a:r>
              <a:rPr lang="ru-RU" sz="13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3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цифровых</a:t>
            </a:r>
            <a:r>
              <a:rPr lang="ru-RU" sz="13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3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технологий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dirty="0">
              <a:solidFill>
                <a:schemeClr val="bg1"/>
              </a:solidFill>
            </a:endParaRPr>
          </a:p>
        </p:txBody>
      </p:sp>
      <p:sp>
        <p:nvSpPr>
          <p:cNvPr id="314627849" name="Subtitle 2"/>
          <p:cNvSpPr>
            <a:spLocks noGrp="1"/>
          </p:cNvSpPr>
          <p:nvPr>
            <p:ph type="subTitle" idx="1"/>
          </p:nvPr>
        </p:nvSpPr>
        <p:spPr bwMode="auto">
          <a:xfrm>
            <a:off x="348793" y="2300140"/>
            <a:ext cx="8983743" cy="4364609"/>
          </a:xfrm>
        </p:spPr>
        <p:txBody>
          <a:bodyPr>
            <a:normAutofit fontScale="70000" lnSpcReduction="20000"/>
          </a:bodyPr>
          <a:lstStyle/>
          <a:p>
            <a:pPr marL="3175" marR="88265" algn="ctr">
              <a:spcAft>
                <a:spcPts val="0"/>
              </a:spcAft>
            </a:pP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КУРСОВОЙ</a:t>
            </a:r>
            <a:r>
              <a:rPr lang="ru-RU" sz="1800" b="1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</a:t>
            </a:r>
            <a:endParaRPr lang="ru-RU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5"/>
              </a:spcBef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/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ru-RU" sz="16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дисциплине</a:t>
            </a:r>
            <a:r>
              <a:rPr lang="ru-RU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«Проектирование</a:t>
            </a:r>
            <a:r>
              <a:rPr lang="ru-RU" sz="16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</a:t>
            </a:r>
            <a:r>
              <a:rPr lang="ru-RU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270"/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16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тему:</a:t>
            </a:r>
            <a:r>
              <a:rPr lang="ru-RU" sz="16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разработка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–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для выбора фильмов для просмотра</a:t>
            </a:r>
            <a:r>
              <a:rPr lang="ru-RU" sz="1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spcBef>
                <a:spcPts val="5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270" marR="2538730" algn="just">
              <a:lnSpc>
                <a:spcPct val="150000"/>
              </a:lnSpc>
              <a:spcAft>
                <a:spcPts val="0"/>
              </a:spcAft>
              <a:tabLst>
                <a:tab pos="222631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 Королев А.С. Шифр 220893</a:t>
            </a:r>
          </a:p>
          <a:p>
            <a:pPr marL="1270" marR="220980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Институт</a:t>
            </a:r>
            <a:r>
              <a:rPr lang="ru-RU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приборостроения,</a:t>
            </a:r>
            <a:r>
              <a:rPr lang="ru-RU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автоматизации</a:t>
            </a:r>
            <a:r>
              <a:rPr lang="ru-RU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</a:t>
            </a:r>
            <a:r>
              <a:rPr lang="ru-RU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технологий </a:t>
            </a:r>
          </a:p>
          <a:p>
            <a:pPr marL="1270" marR="220980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Направление подготовки 09.03.03 Прикладная информатика </a:t>
            </a:r>
          </a:p>
          <a:p>
            <a:pPr marL="1270" marR="220980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Направленность (профиль) Интеллектуальная обработка данных</a:t>
            </a:r>
          </a:p>
          <a:p>
            <a:pPr marL="1270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</a:t>
            </a:r>
            <a:r>
              <a:rPr lang="ru-RU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31ПИ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algn="just">
              <a:spcBef>
                <a:spcPts val="805"/>
              </a:spcBef>
              <a:spcAft>
                <a:spcPts val="0"/>
              </a:spcAft>
              <a:tabLst>
                <a:tab pos="2734945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Руководитель Волков</a:t>
            </a:r>
            <a:r>
              <a:rPr lang="ru-RU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В.Н.</a:t>
            </a:r>
          </a:p>
          <a:p>
            <a:pPr marL="1270" algn="just">
              <a:spcBef>
                <a:spcPts val="805"/>
              </a:spcBef>
              <a:spcAft>
                <a:spcPts val="0"/>
              </a:spcAft>
              <a:tabLst>
                <a:tab pos="2734945" algn="l"/>
              </a:tabLst>
            </a:pPr>
            <a:endParaRPr lang="ru-RU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>
              <a:spcBef>
                <a:spcPts val="805"/>
              </a:spcBef>
              <a:spcAft>
                <a:spcPts val="0"/>
              </a:spcAft>
              <a:tabLst>
                <a:tab pos="2734945" algn="l"/>
              </a:tabLst>
            </a:pPr>
            <a:r>
              <a:rPr lang="ru-RU" sz="1800" spc="-2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Орел, 2025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defRPr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039868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564070"/>
            <a:ext cx="78867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 и цель проекта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9870630" name="Объект 2"/>
          <p:cNvSpPr>
            <a:spLocks noGrp="1"/>
          </p:cNvSpPr>
          <p:nvPr>
            <p:ph idx="1"/>
          </p:nvPr>
        </p:nvSpPr>
        <p:spPr bwMode="auto">
          <a:xfrm>
            <a:off x="286935" y="1889633"/>
            <a:ext cx="5095494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приложение позволяет в удобной форме получать информацию о фильмах, просматривать детали и сохранять понравившиеся фильмы в избранное с возможностью офлайн-доступа. Данное приложение ориентировано на широкий круг пользователей: киноманов, пользователей стриминговых сервисов, а также не не особо опытных пользователей в работе с цифровыми устройствами.</a:t>
            </a:r>
          </a:p>
          <a:p>
            <a:pPr>
              <a:lnSpc>
                <a:spcPct val="100000"/>
              </a:lnSpc>
              <a:defRPr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разработать прототип Android-приложения для помощи пользователям в выборе фильмов и сериалов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BA71A0-A34C-CC02-0E10-FC11578DF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31641">
            <a:off x="5338218" y="1924812"/>
            <a:ext cx="3508278" cy="3579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805AC98-7924-478C-865C-12CDB9110C8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500062"/>
            <a:ext cx="78867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4EC060-147D-4D35-8F3D-BD8DDC9F9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5712"/>
            <a:ext cx="7886700" cy="4925775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7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Проанализировать и описать предметную область;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7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Формализовать процессы взаимодействия пользователя с системой;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7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Спроектировать продукт с учетом функциональных требований;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7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Реализовать и протестировать прототип программного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227488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805AC98-7924-478C-865C-12CDB9110C8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500062"/>
            <a:ext cx="91440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 использования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 Cases)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 descr="Изображение выглядит как диаграмма, текст, зарисовка,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EDBABFEB-1C16-B0F1-DC14-82F9F903E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04" y="1825625"/>
            <a:ext cx="4286392" cy="4351338"/>
          </a:xfrm>
        </p:spPr>
      </p:pic>
    </p:spTree>
    <p:extLst>
      <p:ext uri="{BB962C8B-B14F-4D97-AF65-F5344CB8AC3E}">
        <p14:creationId xmlns:p14="http://schemas.microsoft.com/office/powerpoint/2010/main" val="280958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805AC98-7924-478C-865C-12CDB9110C8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500062"/>
            <a:ext cx="91440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Жизненный цикл системы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(Statechart diagram)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 descr="Изображение выглядит как диаграмма, зарисовка, План, Технический чертеж">
            <a:extLst>
              <a:ext uri="{FF2B5EF4-FFF2-40B4-BE49-F238E27FC236}">
                <a16:creationId xmlns:a16="http://schemas.microsoft.com/office/drawing/2014/main" id="{6C2BBD52-14B4-1C12-D3AC-63FEEC7B8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782" y="1825625"/>
            <a:ext cx="4070435" cy="4351338"/>
          </a:xfrm>
        </p:spPr>
      </p:pic>
    </p:spTree>
    <p:extLst>
      <p:ext uri="{BB962C8B-B14F-4D97-AF65-F5344CB8AC3E}">
        <p14:creationId xmlns:p14="http://schemas.microsoft.com/office/powerpoint/2010/main" val="726737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4F22E-497B-4A8F-AAA3-4A294776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51089"/>
            <a:ext cx="7886700" cy="1011497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 изнутри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3E9600-27AB-FCDB-34DE-1F8BB5FF6296}"/>
              </a:ext>
            </a:extLst>
          </p:cNvPr>
          <p:cNvSpPr txBox="1"/>
          <p:nvPr/>
        </p:nvSpPr>
        <p:spPr>
          <a:xfrm>
            <a:off x="128778" y="2405321"/>
            <a:ext cx="437083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17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MVVM (Model-View-ViewModel) — это архитектурный паттерн, который разделяет логику приложения, пользовательский интерфейс и данные. 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7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отвечает за данные и бизнес-логику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7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отображает UI и получает ввод пользователя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7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ViewModel выступает посредником: готовит данные из Model для отображения во View и обрабатывает события от View</a:t>
            </a:r>
          </a:p>
        </p:txBody>
      </p:sp>
      <p:pic>
        <p:nvPicPr>
          <p:cNvPr id="4" name="Рисунок 3" descr="Изображение выглядит как диаграмма, текст, Технический чертеж, План&#10;&#10;Автоматически созданное описание">
            <a:extLst>
              <a:ext uri="{FF2B5EF4-FFF2-40B4-BE49-F238E27FC236}">
                <a16:creationId xmlns:a16="http://schemas.microsoft.com/office/drawing/2014/main" id="{E4580CC7-1317-012C-E51D-6B7CFD0E0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48" y="2480278"/>
            <a:ext cx="4873752" cy="30201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781F30-DB97-8B07-E863-E9A5079C1A3C}"/>
              </a:ext>
            </a:extLst>
          </p:cNvPr>
          <p:cNvSpPr txBox="1"/>
          <p:nvPr/>
        </p:nvSpPr>
        <p:spPr>
          <a:xfrm>
            <a:off x="128778" y="1473303"/>
            <a:ext cx="901522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17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  <a:r>
              <a:rPr lang="ru-RU" sz="17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Клиент - серверная с использованием паттерна </a:t>
            </a:r>
            <a:r>
              <a:rPr lang="en-US" sz="17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MVVM </a:t>
            </a:r>
            <a:r>
              <a:rPr lang="ru-RU" sz="17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—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Android-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приложение, сервер -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KInopoisk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ru-RU" sz="17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387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A8F15-401A-4B0B-BBF4-EA972A67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0006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реализация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A6461E7-D32B-AD8D-0791-FB026A1EA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Используемый стек: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–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Android SDK, Android Studio 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сетью –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Kinopoisk API, Retrofit, RxJava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– локально с использованием библиотеки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(под капотом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913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A8F15-401A-4B0B-BBF4-EA972A67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0006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Иллюстрация работы</a:t>
            </a:r>
          </a:p>
        </p:txBody>
      </p:sp>
      <p:pic>
        <p:nvPicPr>
          <p:cNvPr id="13" name="Объект 12" descr="Изображение выглядит как человек, Человеческое лицо, текст, одежда&#10;&#10;Автоматически созданное описание">
            <a:extLst>
              <a:ext uri="{FF2B5EF4-FFF2-40B4-BE49-F238E27FC236}">
                <a16:creationId xmlns:a16="http://schemas.microsoft.com/office/drawing/2014/main" id="{B6A2772F-D6EB-9C00-6445-352C14BDD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98" y="1243642"/>
            <a:ext cx="1296587" cy="2809273"/>
          </a:xfrm>
        </p:spPr>
      </p:pic>
      <p:pic>
        <p:nvPicPr>
          <p:cNvPr id="15" name="Рисунок 14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819E7340-82A0-2FAD-EED3-F54BC2EF91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21" y="1432713"/>
            <a:ext cx="1209324" cy="2620202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Человеческое лицо, улыбка, человек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A09F264-E445-D994-E08B-31A99BB16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038" y="1525677"/>
            <a:ext cx="1230727" cy="2666575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текст, электроника, снимок экрана, Операционная система&#10;&#10;Автоматически созданное описание">
            <a:extLst>
              <a:ext uri="{FF2B5EF4-FFF2-40B4-BE49-F238E27FC236}">
                <a16:creationId xmlns:a16="http://schemas.microsoft.com/office/drawing/2014/main" id="{2F3B4275-9713-3EDA-A014-D154A021AB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98" y="4010651"/>
            <a:ext cx="1313151" cy="2845161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человек, текст, Человеческое лицо, одежда&#10;&#10;Автоматически созданное описание">
            <a:extLst>
              <a:ext uri="{FF2B5EF4-FFF2-40B4-BE49-F238E27FC236}">
                <a16:creationId xmlns:a16="http://schemas.microsoft.com/office/drawing/2014/main" id="{2EA0A7C5-92D3-F4D7-034B-05D9044A8D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19" y="4192252"/>
            <a:ext cx="1209325" cy="2620202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снимок экрана, Мобильный телефон&#10;&#10;Автоматически созданное описание">
            <a:extLst>
              <a:ext uri="{FF2B5EF4-FFF2-40B4-BE49-F238E27FC236}">
                <a16:creationId xmlns:a16="http://schemas.microsoft.com/office/drawing/2014/main" id="{A267C430-6592-8933-6C90-28131A7CBF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454" y="4580575"/>
            <a:ext cx="2339896" cy="114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26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A8F15-401A-4B0B-BBF4-EA972A67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91440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 на реальном устройстве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32077A8-CFCE-E93C-83AA-3ECC8C97C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90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8663C0-1B84-2563-5912-87ADE47B6AF2}"/>
              </a:ext>
            </a:extLst>
          </p:cNvPr>
          <p:cNvSpPr txBox="1"/>
          <p:nvPr/>
        </p:nvSpPr>
        <p:spPr>
          <a:xfrm>
            <a:off x="1437687" y="3105834"/>
            <a:ext cx="6835140" cy="646331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2439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337</Words>
  <Application>Microsoft Macintosh PowerPoint</Application>
  <DocSecurity>0</DocSecurity>
  <PresentationFormat>Экран (4:3)</PresentationFormat>
  <Paragraphs>43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«ОРЛОВСКИЙ ГОСУДАРСТВЕННЫЙ УНИВЕРСИТЕТ ИМЕНИ И.С. ТУРГЕНЕВА»   Кафедра информационных систем и цифровых технологий </vt:lpstr>
      <vt:lpstr>Актуальность  и цель проекта</vt:lpstr>
      <vt:lpstr>Задачи</vt:lpstr>
      <vt:lpstr>Сценарии использования (Use Cases)</vt:lpstr>
      <vt:lpstr>Жизненный цикл системы (Statechart diagram)</vt:lpstr>
      <vt:lpstr>Принцип работы изнутри</vt:lpstr>
      <vt:lpstr>Техническая реализация продукта</vt:lpstr>
      <vt:lpstr>Иллюстрация работы</vt:lpstr>
      <vt:lpstr>Пример работы на реальном устройстве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Боровикова Виктория</dc:creator>
  <cp:keywords/>
  <dc:description/>
  <cp:lastModifiedBy>e314</cp:lastModifiedBy>
  <cp:revision>20</cp:revision>
  <dcterms:modified xsi:type="dcterms:W3CDTF">2025-12-24T20:30:13Z</dcterms:modified>
  <cp:category/>
  <dc:identifier/>
  <cp:contentStatus/>
  <dc:language/>
  <cp:version/>
</cp:coreProperties>
</file>