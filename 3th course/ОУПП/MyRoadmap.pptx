
<file path=[Content_Types].xml><?xml version="1.0" encoding="utf-8"?>
<Types xmlns="http://schemas.openxmlformats.org/package/2006/content-types">
  <Default Extension="docx" ContentType="application/vnd.openxmlformats-officedocument.wordprocessingml.document"/>
  <Default Extension="emf" ContentType="image/x-emf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compatMode="1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8" r:id="rId3"/>
    <p:sldId id="259" r:id="rId4"/>
    <p:sldId id="260" r:id="rId5"/>
    <p:sldId id="263" r:id="rId6"/>
    <p:sldId id="262" r:id="rId7"/>
    <p:sldId id="264" r:id="rId8"/>
    <p:sldId id="265" r:id="rId9"/>
    <p:sldId id="266" r:id="rId10"/>
    <p:sldId id="267" r:id="rId11"/>
    <p:sldId id="268" r:id="rId12"/>
    <p:sldId id="257" r:id="rId13"/>
    <p:sldId id="269" r:id="rId14"/>
    <p:sldId id="270" r:id="rId15"/>
    <p:sldId id="271" r:id="rId16"/>
    <p:sldId id="261" r:id="rId17"/>
    <p:sldId id="272" r:id="rId18"/>
    <p:sldId id="273" r:id="rId19"/>
    <p:sldId id="274" r:id="rId20"/>
    <p:sldId id="275" r:id="rId21"/>
    <p:sldId id="277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219"/>
    <p:restoredTop sz="94610"/>
  </p:normalViewPr>
  <p:slideViewPr>
    <p:cSldViewPr snapToGrid="0" snapToObjects="1">
      <p:cViewPr varScale="1">
        <p:scale>
          <a:sx n="115" d="100"/>
          <a:sy n="115" d="100"/>
        </p:scale>
        <p:origin x="192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r>
              <a:rPr lang="ru-RU" sz="1200" b="0" i="0" u="none" strike="noStrike">
                <a:solidFill>
                  <a:srgbClr val="1E293B"/>
                </a:solidFill>
                <a:latin typeface="Arial"/>
              </a:rPr>
              <a:t>Дисконтированные </a:t>
            </a:r>
            <a:r>
              <a:rPr lang="en" sz="1200" b="0" i="0" u="none" strike="noStrike">
                <a:solidFill>
                  <a:srgbClr val="1E293B"/>
                </a:solidFill>
                <a:latin typeface="Arial"/>
              </a:rPr>
              <a:t>CF, </a:t>
            </a:r>
            <a:r>
              <a:rPr lang="ru-RU" sz="1200" b="0" i="0" u="none" strike="noStrike">
                <a:solidFill>
                  <a:srgbClr val="1E293B"/>
                </a:solidFill>
                <a:latin typeface="Arial"/>
              </a:rPr>
              <a:t>₽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Дисконтированный CF</c:v>
                </c:pt>
              </c:strCache>
            </c:strRef>
          </c:tx>
          <c:spPr>
            <a:solidFill>
              <a:srgbClr val="CC3333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9D57-0C44-92FA-2FDC0053E268}"/>
              </c:ext>
            </c:extLst>
          </c:dPt>
          <c:dPt>
            <c:idx val="1"/>
            <c:invertIfNegative val="0"/>
            <c:bubble3D val="0"/>
            <c:spPr>
              <a:solidFill>
                <a:srgbClr val="02809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D57-0C44-92FA-2FDC0053E268}"/>
              </c:ext>
            </c:extLst>
          </c:dPt>
          <c:dPt>
            <c:idx val="2"/>
            <c:invertIfNegative val="0"/>
            <c:bubble3D val="0"/>
            <c:spPr>
              <a:solidFill>
                <a:srgbClr val="02809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9D57-0C44-92FA-2FDC0053E268}"/>
              </c:ext>
            </c:extLst>
          </c:dPt>
          <c:dPt>
            <c:idx val="3"/>
            <c:invertIfNegative val="0"/>
            <c:bubble3D val="0"/>
            <c:spPr>
              <a:solidFill>
                <a:srgbClr val="02809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9D57-0C44-92FA-2FDC0053E268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Год 0</c:v>
                </c:pt>
                <c:pt idx="1">
                  <c:v>Год 1</c:v>
                </c:pt>
                <c:pt idx="2">
                  <c:v>Год 2</c:v>
                </c:pt>
                <c:pt idx="3">
                  <c:v>Год 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-300000</c:v>
                </c:pt>
                <c:pt idx="1">
                  <c:v>44982</c:v>
                </c:pt>
                <c:pt idx="2">
                  <c:v>109652</c:v>
                </c:pt>
                <c:pt idx="3">
                  <c:v>237390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D57-0C44-92FA-2FDC0053E26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E8F4F8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50881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F8C9B-E5CD-337B-2D46-94EB33771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8EE10A-FA47-6B7C-9793-CF59EBAF69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0E7AC5-7CD1-8541-BAB1-2E9EF5F34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EC1104-B57C-4B4B-9272-E2BE420EAF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9662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package" Target="../embeddings/_________Microsoft_Word.docx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594360" y="100584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MyRoadMap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594360" y="2381598"/>
            <a:ext cx="7955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Инструмент для создания персонализированных </a:t>
            </a:r>
            <a:r>
              <a:rPr lang="ru-RU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планов обучения </a:t>
            </a:r>
            <a:endParaRPr lang="en-US" dirty="0"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ru-RU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в сфере 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r>
              <a:rPr lang="en-US" dirty="0"/>
              <a:t> </a:t>
            </a:r>
            <a:r>
              <a:rPr lang="en-US" sz="1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по текстовому запросу пользователя</a:t>
            </a:r>
            <a:endParaRPr lang="en-US" sz="1800" dirty="0"/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A5998C5D-414C-EF0D-5D27-DE7E567E491E}"/>
              </a:ext>
            </a:extLst>
          </p:cNvPr>
          <p:cNvSpPr/>
          <p:nvPr/>
        </p:nvSpPr>
        <p:spPr>
          <a:xfrm>
            <a:off x="6537960" y="166255"/>
            <a:ext cx="2560320" cy="2560320"/>
          </a:xfrm>
          <a:prstGeom prst="ellipse">
            <a:avLst/>
          </a:prstGeom>
          <a:solidFill>
            <a:srgbClr val="2563EB">
              <a:alpha val="10000"/>
            </a:srgbClr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53081A57-E4D5-57A2-5C88-A666F24643B3}"/>
              </a:ext>
            </a:extLst>
          </p:cNvPr>
          <p:cNvSpPr/>
          <p:nvPr/>
        </p:nvSpPr>
        <p:spPr>
          <a:xfrm>
            <a:off x="7744968" y="440575"/>
            <a:ext cx="146304" cy="2011680"/>
          </a:xfrm>
          <a:prstGeom prst="rect">
            <a:avLst/>
          </a:prstGeom>
          <a:solidFill>
            <a:srgbClr val="2563EB">
              <a:alpha val="40000"/>
            </a:srgbClr>
          </a:solidFill>
          <a:ln w="12700">
            <a:solidFill>
              <a:srgbClr val="2563EB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Shape 5">
            <a:extLst>
              <a:ext uri="{FF2B5EF4-FFF2-40B4-BE49-F238E27FC236}">
                <a16:creationId xmlns:a16="http://schemas.microsoft.com/office/drawing/2014/main" id="{CCF2E22A-020D-A094-963C-6BD998ACEFAF}"/>
              </a:ext>
            </a:extLst>
          </p:cNvPr>
          <p:cNvSpPr/>
          <p:nvPr/>
        </p:nvSpPr>
        <p:spPr>
          <a:xfrm>
            <a:off x="6739128" y="1373263"/>
            <a:ext cx="2157984" cy="146304"/>
          </a:xfrm>
          <a:prstGeom prst="rect">
            <a:avLst/>
          </a:prstGeom>
          <a:solidFill>
            <a:srgbClr val="2563EB">
              <a:alpha val="40000"/>
            </a:srgbClr>
          </a:solidFill>
          <a:ln w="12700">
            <a:solidFill>
              <a:srgbClr val="2563EB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Shape 6">
            <a:extLst>
              <a:ext uri="{FF2B5EF4-FFF2-40B4-BE49-F238E27FC236}">
                <a16:creationId xmlns:a16="http://schemas.microsoft.com/office/drawing/2014/main" id="{8F50AE00-C3F0-30DB-3E64-1411F12188C4}"/>
              </a:ext>
            </a:extLst>
          </p:cNvPr>
          <p:cNvSpPr/>
          <p:nvPr/>
        </p:nvSpPr>
        <p:spPr>
          <a:xfrm>
            <a:off x="7589520" y="1236103"/>
            <a:ext cx="457200" cy="4572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chemeClr val="tx2">
              <a:lumMod val="50000"/>
            </a:scheme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ПОЗИЦИОНИРОВАНИЕ ПРОДУКТА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943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Проблема, целевой рынок и ценностное предложение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4023360" cy="4114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274320" y="109728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1600200"/>
            <a:ext cx="4023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8" name="Shape 6"/>
          <p:cNvSpPr/>
          <p:nvPr/>
        </p:nvSpPr>
        <p:spPr>
          <a:xfrm>
            <a:off x="347472" y="166420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347472" y="16642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13232" y="1636776"/>
            <a:ext cx="3474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Многие новички впадают в ступор при виде огромного количества материала и зачастую не понимают, какой именно подходит под их уровень и условия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2359152"/>
            <a:ext cx="4023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Shape 10"/>
          <p:cNvSpPr/>
          <p:nvPr/>
        </p:nvSpPr>
        <p:spPr>
          <a:xfrm>
            <a:off x="347472" y="2414016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Text 11"/>
          <p:cNvSpPr/>
          <p:nvPr/>
        </p:nvSpPr>
        <p:spPr>
          <a:xfrm>
            <a:off x="347472" y="241401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13232" y="2386584"/>
            <a:ext cx="3474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Существующие </a:t>
            </a:r>
            <a:r>
              <a:rPr lang="ru-RU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решения</a:t>
            </a: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шаблонные,</a:t>
            </a:r>
            <a:r>
              <a:rPr lang="ru-RU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не подстраиваются под определенного человека и его уровень знаний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3099816"/>
            <a:ext cx="4023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Shape 14"/>
          <p:cNvSpPr/>
          <p:nvPr/>
        </p:nvSpPr>
        <p:spPr>
          <a:xfrm>
            <a:off x="347472" y="3163824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7" name="Text 15"/>
          <p:cNvSpPr/>
          <p:nvPr/>
        </p:nvSpPr>
        <p:spPr>
          <a:xfrm>
            <a:off x="347472" y="316382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13232" y="3136392"/>
            <a:ext cx="3474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Сложно понять, с чего начать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путь в IT без ментора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849624"/>
            <a:ext cx="4023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0" name="Shape 18"/>
          <p:cNvSpPr/>
          <p:nvPr/>
        </p:nvSpPr>
        <p:spPr>
          <a:xfrm>
            <a:off x="347472" y="3913632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1" name="Text 19"/>
          <p:cNvSpPr/>
          <p:nvPr/>
        </p:nvSpPr>
        <p:spPr>
          <a:xfrm>
            <a:off x="347472" y="3913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13232" y="3886200"/>
            <a:ext cx="3474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Платные курсы стоят дорого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не всегда подходят конкретному пользователю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63440" y="1097280"/>
            <a:ext cx="4206240" cy="4114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4" name="Text 22"/>
          <p:cNvSpPr/>
          <p:nvPr/>
        </p:nvSpPr>
        <p:spPr>
          <a:xfrm>
            <a:off x="4663440" y="109728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663440" y="1600200"/>
            <a:ext cx="4206240" cy="658368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6" name="Text 24"/>
          <p:cNvSpPr/>
          <p:nvPr/>
        </p:nvSpPr>
        <p:spPr>
          <a:xfrm>
            <a:off x="4736592" y="166420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120640" y="1636776"/>
            <a:ext cx="36393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Персонализированный roadmap по текстовому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запросу — </a:t>
            </a:r>
            <a:r>
              <a:rPr lang="ru-RU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точечно</a:t>
            </a: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</a:t>
            </a:r>
            <a:r>
              <a:rPr lang="ru-RU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мгновенно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663440" y="2350008"/>
            <a:ext cx="4206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9" name="Text 27"/>
          <p:cNvSpPr/>
          <p:nvPr/>
        </p:nvSpPr>
        <p:spPr>
          <a:xfrm>
            <a:off x="4736592" y="2414016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20640" y="2386584"/>
            <a:ext cx="36393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 навыков, целей и свободного времени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составлении плана обучения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663440" y="3099816"/>
            <a:ext cx="4206240" cy="658368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2" name="Text 30"/>
          <p:cNvSpPr/>
          <p:nvPr/>
        </p:nvSpPr>
        <p:spPr>
          <a:xfrm>
            <a:off x="4736592" y="3163824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20640" y="3136392"/>
            <a:ext cx="36393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Чёткий пошаговый маршрут с ресурсами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контрольными точками прогресса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663440" y="3849624"/>
            <a:ext cx="4206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5" name="Text 33"/>
          <p:cNvSpPr/>
          <p:nvPr/>
        </p:nvSpPr>
        <p:spPr>
          <a:xfrm>
            <a:off x="4736592" y="391363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20640" y="3886200"/>
            <a:ext cx="36393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Искуственный интеллект</a:t>
            </a: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постоянно адаптирует план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 меняющи</a:t>
            </a:r>
            <a:r>
              <a:rPr lang="ru-RU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йся рынок и</a:t>
            </a: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возможности пользователя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chemeClr val="tx2">
              <a:lumMod val="50000"/>
            </a:schemeClr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КОМУ НУЖЕН ЭТОТ ПРОДУКТ?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943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Целевая аудитория и их потребности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4160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162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416052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7" name="Shape 5"/>
          <p:cNvSpPr/>
          <p:nvPr/>
        </p:nvSpPr>
        <p:spPr>
          <a:xfrm>
            <a:off x="411480" y="1261872"/>
            <a:ext cx="548640" cy="54864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8" name="Text 6"/>
          <p:cNvSpPr/>
          <p:nvPr/>
        </p:nvSpPr>
        <p:spPr>
          <a:xfrm>
            <a:off x="411480" y="12618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78992" y="1298448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 / новичок в IT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920240"/>
            <a:ext cx="3886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Хочет: войти в IT, но не знает с чего начать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1480" y="2331720"/>
            <a:ext cx="3886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Получает: Готовый план обучения с нуля под его специализацию и темп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2" y="1106424"/>
            <a:ext cx="4160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162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13" name="Shape 11"/>
          <p:cNvSpPr/>
          <p:nvPr/>
        </p:nvSpPr>
        <p:spPr>
          <a:xfrm>
            <a:off x="4754880" y="1097280"/>
            <a:ext cx="416052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Shape 12"/>
          <p:cNvSpPr/>
          <p:nvPr/>
        </p:nvSpPr>
        <p:spPr>
          <a:xfrm>
            <a:off x="4892040" y="1261872"/>
            <a:ext cx="548640" cy="5486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Text 13"/>
          <p:cNvSpPr/>
          <p:nvPr/>
        </p:nvSpPr>
        <p:spPr>
          <a:xfrm>
            <a:off x="4892040" y="12618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559552" y="1298448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Специалист на смене профессии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92040" y="1920240"/>
            <a:ext cx="3886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Хочет: переквалифицироваться в </a:t>
            </a:r>
            <a:r>
              <a:rPr lang="ru-RU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другую подсферу 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892040" y="2331720"/>
            <a:ext cx="3886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Получает: </a:t>
            </a:r>
            <a:r>
              <a:rPr lang="ru-RU" sz="105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Чёткий план</a:t>
            </a:r>
            <a:r>
              <a:rPr lang="en-US" sz="105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05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переквалификации </a:t>
            </a:r>
            <a:r>
              <a:rPr lang="en-US" sz="105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учётом уже имеющихся навыков и дефицита времени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2971800"/>
            <a:ext cx="4160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162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20" name="Shape 18"/>
          <p:cNvSpPr/>
          <p:nvPr/>
        </p:nvSpPr>
        <p:spPr>
          <a:xfrm>
            <a:off x="274320" y="2971800"/>
            <a:ext cx="4160520" cy="731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1" name="Shape 19"/>
          <p:cNvSpPr/>
          <p:nvPr/>
        </p:nvSpPr>
        <p:spPr>
          <a:xfrm>
            <a:off x="411480" y="3136392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2" name="Text 20"/>
          <p:cNvSpPr/>
          <p:nvPr/>
        </p:nvSpPr>
        <p:spPr>
          <a:xfrm>
            <a:off x="411480" y="31363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78992" y="3172968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cs typeface="Calibri" pitchFamily="34" charset="-120"/>
              </a:rPr>
              <a:t>IT– </a:t>
            </a:r>
            <a:r>
              <a:rPr lang="ru-RU" sz="1300" b="1" dirty="0">
                <a:solidFill>
                  <a:srgbClr val="0F172A"/>
                </a:solidFill>
                <a:latin typeface="Calibri" pitchFamily="34" charset="0"/>
                <a:cs typeface="Calibri" pitchFamily="34" charset="-120"/>
              </a:rPr>
              <a:t>специалист, желающий повысить квалификацию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11480" y="3794760"/>
            <a:ext cx="3886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Хочет: вырасти до middle/senior, не знает как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11480" y="4206240"/>
            <a:ext cx="3886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Получает: Структурированный план прокачки конкретных навыков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54880" y="2971800"/>
            <a:ext cx="4160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162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27" name="Shape 25"/>
          <p:cNvSpPr/>
          <p:nvPr/>
        </p:nvSpPr>
        <p:spPr>
          <a:xfrm>
            <a:off x="4754880" y="2971800"/>
            <a:ext cx="4160520" cy="73152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8" name="Shape 26"/>
          <p:cNvSpPr/>
          <p:nvPr/>
        </p:nvSpPr>
        <p:spPr>
          <a:xfrm>
            <a:off x="4892040" y="3136392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9" name="Text 27"/>
          <p:cNvSpPr/>
          <p:nvPr/>
        </p:nvSpPr>
        <p:spPr>
          <a:xfrm>
            <a:off x="4892040" y="31363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559552" y="3172968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Наставник по обучению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892040" y="3794760"/>
            <a:ext cx="3886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05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 Хочет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: </a:t>
            </a:r>
            <a:r>
              <a:rPr lang="ru-RU" sz="105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составить 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/ </a:t>
            </a:r>
            <a:r>
              <a:rPr lang="ru-RU" sz="105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подкорректировать учебный план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92040" y="4206240"/>
            <a:ext cx="3886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Получает: Индивидуальный план адаптации и роста для подопечного</a:t>
            </a:r>
            <a:endParaRPr lang="en-US" sz="1050"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chemeClr val="tx2">
              <a:lumMod val="50000"/>
            </a:scheme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НЕДОСТАТКИ СУЩЕСТВУЮЩИХ РЕШЕНИЙ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943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Сравнительный анализ альтернатив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2851313"/>
              </p:ext>
            </p:extLst>
          </p:nvPr>
        </p:nvGraphicFramePr>
        <p:xfrm>
          <a:off x="274320" y="1051560"/>
          <a:ext cx="8595360" cy="3182112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Онлайн-курсы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(Stepik, Udemy)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YouTube / блоги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Менторы / коучи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MyRoadMap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Персонализация под пользователя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Есть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Учёт свободного времени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Есть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Бесплатный доступ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Есть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Есть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Быстрый</a:t>
                      </a: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подбор плана обучения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Есть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Есть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Есть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Адаптируется к прогрессу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Да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234440"/>
          </a:xfrm>
          <a:prstGeom prst="rect">
            <a:avLst/>
          </a:prstGeom>
          <a:solidFill>
            <a:schemeClr val="tx2">
              <a:lumMod val="50000"/>
            </a:scheme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ru-RU" dirty="0"/>
          </a:p>
        </p:txBody>
      </p:sp>
      <p:sp>
        <p:nvSpPr>
          <p:cNvPr id="3" name="Text 1"/>
          <p:cNvSpPr/>
          <p:nvPr/>
        </p:nvSpPr>
        <p:spPr>
          <a:xfrm>
            <a:off x="274320" y="7589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ВОЗМОЖНОСТИ ПРОДУКТА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7263" y="48453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22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КЛЮЧЕВЫЕ ФУНКЦИИ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MVP </a:t>
            </a:r>
            <a:r>
              <a:rPr lang="ru-RU" sz="22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И ПЕРВЫХ РЕЛИЗОВ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01168" y="1371600"/>
            <a:ext cx="27889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162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6" name="Shape 4"/>
          <p:cNvSpPr/>
          <p:nvPr/>
        </p:nvSpPr>
        <p:spPr>
          <a:xfrm>
            <a:off x="201168" y="1371600"/>
            <a:ext cx="73152" cy="1737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8" name="Text 6"/>
          <p:cNvSpPr/>
          <p:nvPr/>
        </p:nvSpPr>
        <p:spPr>
          <a:xfrm>
            <a:off x="2304288" y="1481328"/>
            <a:ext cx="621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536192"/>
            <a:ext cx="384048" cy="384048"/>
          </a:xfrm>
          <a:prstGeom prst="ellipse">
            <a:avLst/>
          </a:prstGeom>
          <a:solidFill>
            <a:srgbClr val="FFFFFF">
              <a:alpha val="0"/>
            </a:srgbClr>
          </a:solidFill>
          <a:ln w="381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Shape 8"/>
          <p:cNvSpPr/>
          <p:nvPr/>
        </p:nvSpPr>
        <p:spPr>
          <a:xfrm>
            <a:off x="667512" y="1837944"/>
            <a:ext cx="164592" cy="164592"/>
          </a:xfrm>
          <a:prstGeom prst="line">
            <a:avLst/>
          </a:prstGeom>
          <a:noFill/>
          <a:ln w="381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Text 9"/>
          <p:cNvSpPr/>
          <p:nvPr/>
        </p:nvSpPr>
        <p:spPr>
          <a:xfrm>
            <a:off x="347472" y="1993392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Текстовый ввод запроса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47472" y="2441448"/>
            <a:ext cx="255117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 описывает цель, уровень и свободное время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182112" y="1371600"/>
            <a:ext cx="27889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162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14" name="Shape 12"/>
          <p:cNvSpPr/>
          <p:nvPr/>
        </p:nvSpPr>
        <p:spPr>
          <a:xfrm>
            <a:off x="3182112" y="1371600"/>
            <a:ext cx="73152" cy="1737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Text 14"/>
          <p:cNvSpPr/>
          <p:nvPr/>
        </p:nvSpPr>
        <p:spPr>
          <a:xfrm>
            <a:off x="5285232" y="1481328"/>
            <a:ext cx="621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392424" y="1581912"/>
            <a:ext cx="347472" cy="310896"/>
          </a:xfrm>
          <a:prstGeom prst="rect">
            <a:avLst/>
          </a:prstGeom>
          <a:solidFill>
            <a:srgbClr val="2563EB">
              <a:alpha val="85000"/>
            </a:srgbClr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8" name="Shape 16"/>
          <p:cNvSpPr/>
          <p:nvPr/>
        </p:nvSpPr>
        <p:spPr>
          <a:xfrm>
            <a:off x="3474720" y="1655064"/>
            <a:ext cx="73152" cy="7315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9" name="Shape 17"/>
          <p:cNvSpPr/>
          <p:nvPr/>
        </p:nvSpPr>
        <p:spPr>
          <a:xfrm>
            <a:off x="3584448" y="1655064"/>
            <a:ext cx="73152" cy="7315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0" name="Shape 18"/>
          <p:cNvSpPr/>
          <p:nvPr/>
        </p:nvSpPr>
        <p:spPr>
          <a:xfrm>
            <a:off x="3474720" y="1783080"/>
            <a:ext cx="18288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1" name="Shape 19"/>
          <p:cNvSpPr/>
          <p:nvPr/>
        </p:nvSpPr>
        <p:spPr>
          <a:xfrm>
            <a:off x="3566160" y="1536192"/>
            <a:ext cx="0" cy="73152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2" name="Shape 20"/>
          <p:cNvSpPr/>
          <p:nvPr/>
        </p:nvSpPr>
        <p:spPr>
          <a:xfrm>
            <a:off x="3538728" y="1499616"/>
            <a:ext cx="64008" cy="640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3" name="Text 21"/>
          <p:cNvSpPr/>
          <p:nvPr/>
        </p:nvSpPr>
        <p:spPr>
          <a:xfrm>
            <a:off x="3328416" y="1993392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ИИ-генерация roadmap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328416" y="2441448"/>
            <a:ext cx="255117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анализирует запрос и строит пошаговый план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53912" y="1371600"/>
            <a:ext cx="27889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162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26" name="Shape 24"/>
          <p:cNvSpPr/>
          <p:nvPr/>
        </p:nvSpPr>
        <p:spPr>
          <a:xfrm>
            <a:off x="6153912" y="1371600"/>
            <a:ext cx="73152" cy="1737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8" name="Text 26"/>
          <p:cNvSpPr/>
          <p:nvPr/>
        </p:nvSpPr>
        <p:spPr>
          <a:xfrm>
            <a:off x="8257032" y="1481328"/>
            <a:ext cx="621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55080" y="1536192"/>
            <a:ext cx="320040" cy="402336"/>
          </a:xfrm>
          <a:prstGeom prst="rect">
            <a:avLst/>
          </a:prstGeom>
          <a:solidFill>
            <a:srgbClr val="2563EB">
              <a:alpha val="15000"/>
            </a:srgbClr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0" name="Shape 28"/>
          <p:cNvSpPr/>
          <p:nvPr/>
        </p:nvSpPr>
        <p:spPr>
          <a:xfrm>
            <a:off x="6409944" y="1627632"/>
            <a:ext cx="182880" cy="3657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1" name="Shape 29"/>
          <p:cNvSpPr/>
          <p:nvPr/>
        </p:nvSpPr>
        <p:spPr>
          <a:xfrm>
            <a:off x="6409944" y="1700784"/>
            <a:ext cx="182880" cy="3657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2" name="Shape 30"/>
          <p:cNvSpPr/>
          <p:nvPr/>
        </p:nvSpPr>
        <p:spPr>
          <a:xfrm>
            <a:off x="6409944" y="1773936"/>
            <a:ext cx="128016" cy="3657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3" name="Text 31"/>
          <p:cNvSpPr/>
          <p:nvPr/>
        </p:nvSpPr>
        <p:spPr>
          <a:xfrm>
            <a:off x="6300216" y="1993392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по источникам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300216" y="2441448"/>
            <a:ext cx="255117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u-RU" sz="105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Анализ вакансий на рынке, подбор курсов, статей, учебной литературы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201168" y="3246120"/>
            <a:ext cx="27889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162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36" name="Shape 34"/>
          <p:cNvSpPr/>
          <p:nvPr/>
        </p:nvSpPr>
        <p:spPr>
          <a:xfrm>
            <a:off x="201168" y="3246120"/>
            <a:ext cx="73152" cy="1737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8" name="Text 36"/>
          <p:cNvSpPr/>
          <p:nvPr/>
        </p:nvSpPr>
        <p:spPr>
          <a:xfrm>
            <a:off x="2304288" y="3355848"/>
            <a:ext cx="621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v1.1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5760" y="3547872"/>
            <a:ext cx="109728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0" name="Shape 38"/>
          <p:cNvSpPr/>
          <p:nvPr/>
        </p:nvSpPr>
        <p:spPr>
          <a:xfrm>
            <a:off x="365760" y="3502152"/>
            <a:ext cx="36576" cy="1280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1" name="Shape 39"/>
          <p:cNvSpPr/>
          <p:nvPr/>
        </p:nvSpPr>
        <p:spPr>
          <a:xfrm>
            <a:off x="694944" y="3547872"/>
            <a:ext cx="109728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2" name="Shape 40"/>
          <p:cNvSpPr/>
          <p:nvPr/>
        </p:nvSpPr>
        <p:spPr>
          <a:xfrm>
            <a:off x="768096" y="3502152"/>
            <a:ext cx="36576" cy="1280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3" name="Shape 41"/>
          <p:cNvSpPr/>
          <p:nvPr/>
        </p:nvSpPr>
        <p:spPr>
          <a:xfrm>
            <a:off x="548640" y="3465576"/>
            <a:ext cx="73152" cy="256032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4" name="Text 42"/>
          <p:cNvSpPr/>
          <p:nvPr/>
        </p:nvSpPr>
        <p:spPr>
          <a:xfrm>
            <a:off x="347472" y="3867912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Взаимодействие с API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47472" y="4315968"/>
            <a:ext cx="255117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 с</a:t>
            </a:r>
            <a:r>
              <a:rPr lang="ru-RU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 сторонними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API для генерации и обновления планов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3182112" y="3246120"/>
            <a:ext cx="27889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162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47" name="Shape 45"/>
          <p:cNvSpPr/>
          <p:nvPr/>
        </p:nvSpPr>
        <p:spPr>
          <a:xfrm>
            <a:off x="3182112" y="3246120"/>
            <a:ext cx="73152" cy="1737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9" name="Text 47"/>
          <p:cNvSpPr/>
          <p:nvPr/>
        </p:nvSpPr>
        <p:spPr>
          <a:xfrm>
            <a:off x="5285232" y="3355848"/>
            <a:ext cx="621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v1.1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438144" y="3410712"/>
            <a:ext cx="219456" cy="219456"/>
          </a:xfrm>
          <a:prstGeom prst="ellipse">
            <a:avLst/>
          </a:prstGeom>
          <a:solidFill>
            <a:srgbClr val="F59E0B">
              <a:alpha val="85000"/>
            </a:srgbClr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1" name="Shape 49"/>
          <p:cNvSpPr/>
          <p:nvPr/>
        </p:nvSpPr>
        <p:spPr>
          <a:xfrm>
            <a:off x="3383280" y="3648456"/>
            <a:ext cx="329184" cy="164592"/>
          </a:xfrm>
          <a:prstGeom prst="rect">
            <a:avLst/>
          </a:prstGeom>
          <a:solidFill>
            <a:srgbClr val="F59E0B">
              <a:alpha val="85000"/>
            </a:srgbClr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2" name="Text 50"/>
          <p:cNvSpPr/>
          <p:nvPr/>
        </p:nvSpPr>
        <p:spPr>
          <a:xfrm>
            <a:off x="3328416" y="3867912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пользователя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3328416" y="4315968"/>
            <a:ext cx="255117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 навыков, целей и прогресса между сессиями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6153912" y="3246120"/>
            <a:ext cx="27889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162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55" name="Shape 53"/>
          <p:cNvSpPr/>
          <p:nvPr/>
        </p:nvSpPr>
        <p:spPr>
          <a:xfrm>
            <a:off x="6153912" y="3246120"/>
            <a:ext cx="73152" cy="1737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7" name="Text 55"/>
          <p:cNvSpPr/>
          <p:nvPr/>
        </p:nvSpPr>
        <p:spPr>
          <a:xfrm>
            <a:off x="8257032" y="3355848"/>
            <a:ext cx="621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v1.1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55080" y="3593592"/>
            <a:ext cx="329184" cy="219456"/>
          </a:xfrm>
          <a:prstGeom prst="rect">
            <a:avLst/>
          </a:prstGeom>
          <a:solidFill>
            <a:srgbClr val="F59E0B">
              <a:alpha val="15000"/>
            </a:srgbClr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9" name="Shape 57"/>
          <p:cNvSpPr/>
          <p:nvPr/>
        </p:nvSpPr>
        <p:spPr>
          <a:xfrm>
            <a:off x="6519672" y="3575304"/>
            <a:ext cx="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0" name="Shape 58"/>
          <p:cNvSpPr/>
          <p:nvPr/>
        </p:nvSpPr>
        <p:spPr>
          <a:xfrm>
            <a:off x="6446520" y="3465576"/>
            <a:ext cx="73152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1" name="Shape 59"/>
          <p:cNvSpPr/>
          <p:nvPr/>
        </p:nvSpPr>
        <p:spPr>
          <a:xfrm>
            <a:off x="6519672" y="3392424"/>
            <a:ext cx="73152" cy="73152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2" name="Text 60"/>
          <p:cNvSpPr/>
          <p:nvPr/>
        </p:nvSpPr>
        <p:spPr>
          <a:xfrm>
            <a:off x="6300216" y="3867912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и экспорт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6300216" y="4315968"/>
            <a:ext cx="255117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Обновление roadmap под прогресс + экспорт в PDF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237744" y="1097280"/>
            <a:ext cx="2788920" cy="3749040"/>
          </a:xfrm>
          <a:prstGeom prst="rect">
            <a:avLst/>
          </a:prstGeom>
          <a:solidFill>
            <a:schemeClr val="bg1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 dirty="0"/>
          </a:p>
        </p:txBody>
      </p:sp>
      <p:sp>
        <p:nvSpPr>
          <p:cNvPr id="7" name="Shape 5"/>
          <p:cNvSpPr/>
          <p:nvPr/>
        </p:nvSpPr>
        <p:spPr>
          <a:xfrm>
            <a:off x="228600" y="1097280"/>
            <a:ext cx="2788920" cy="5029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8" name="Text 6"/>
          <p:cNvSpPr/>
          <p:nvPr/>
        </p:nvSpPr>
        <p:spPr>
          <a:xfrm>
            <a:off x="338328" y="111556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1920240" y="1161288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</a:t>
            </a:r>
            <a:r>
              <a:rPr lang="ru-RU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мес.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365760" y="1709928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→  Текстовый ввод запроса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258568"/>
            <a:ext cx="2514600" cy="457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Text 10"/>
          <p:cNvSpPr/>
          <p:nvPr/>
        </p:nvSpPr>
        <p:spPr>
          <a:xfrm>
            <a:off x="365760" y="2368296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→  ИИ-генерация roadmap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916936"/>
            <a:ext cx="2514600" cy="457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Text 12"/>
          <p:cNvSpPr/>
          <p:nvPr/>
        </p:nvSpPr>
        <p:spPr>
          <a:xfrm>
            <a:off x="365760" y="3026664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→  Отображение этапов обучения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3575304"/>
            <a:ext cx="2514600" cy="457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Text 14"/>
          <p:cNvSpPr/>
          <p:nvPr/>
        </p:nvSpPr>
        <p:spPr>
          <a:xfrm>
            <a:off x="365760" y="3685032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→  Базовый UI мобильного приложения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172968" y="1097280"/>
            <a:ext cx="2788920" cy="3749040"/>
          </a:xfrm>
          <a:prstGeom prst="rect">
            <a:avLst/>
          </a:prstGeom>
          <a:solidFill>
            <a:schemeClr val="bg1"/>
          </a:solidFill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8" name="Shape 16"/>
          <p:cNvSpPr/>
          <p:nvPr/>
        </p:nvSpPr>
        <p:spPr>
          <a:xfrm>
            <a:off x="3172968" y="1097280"/>
            <a:ext cx="278892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9" name="Text 17"/>
          <p:cNvSpPr/>
          <p:nvPr/>
        </p:nvSpPr>
        <p:spPr>
          <a:xfrm>
            <a:off x="3282696" y="111556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Версия</a:t>
            </a: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1.1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4864608" y="1161288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ru-RU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r>
              <a:rPr lang="ru-RU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мес.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3310128" y="1709928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→  Профиль пользователя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10128" y="2258568"/>
            <a:ext cx="2514600" cy="457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3" name="Text 21"/>
          <p:cNvSpPr/>
          <p:nvPr/>
        </p:nvSpPr>
        <p:spPr>
          <a:xfrm>
            <a:off x="3310128" y="2368296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→  Экспорт roadmap в PDF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310128" y="2916936"/>
            <a:ext cx="2514600" cy="457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5" name="Text 23"/>
          <p:cNvSpPr/>
          <p:nvPr/>
        </p:nvSpPr>
        <p:spPr>
          <a:xfrm>
            <a:off x="3310128" y="3026664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→  Сохранение истории roadmap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10128" y="3575304"/>
            <a:ext cx="2514600" cy="457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7" name="Text 25"/>
          <p:cNvSpPr/>
          <p:nvPr/>
        </p:nvSpPr>
        <p:spPr>
          <a:xfrm>
            <a:off x="3310128" y="3685032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→  Адаптация плана под прогресс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17336" y="1097280"/>
            <a:ext cx="2788920" cy="3749040"/>
          </a:xfrm>
          <a:prstGeom prst="rect">
            <a:avLst/>
          </a:prstGeom>
          <a:solidFill>
            <a:schemeClr val="bg1"/>
          </a:solidFill>
          <a:ln w="254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9" name="Shape 27"/>
          <p:cNvSpPr/>
          <p:nvPr/>
        </p:nvSpPr>
        <p:spPr>
          <a:xfrm>
            <a:off x="6117336" y="1097280"/>
            <a:ext cx="2788920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0" name="Text 28"/>
          <p:cNvSpPr/>
          <p:nvPr/>
        </p:nvSpPr>
        <p:spPr>
          <a:xfrm>
            <a:off x="6227064" y="111556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Версия 1.2 - </a:t>
            </a: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2.0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1" name="Text 29"/>
          <p:cNvSpPr/>
          <p:nvPr/>
        </p:nvSpPr>
        <p:spPr>
          <a:xfrm>
            <a:off x="7808976" y="1161288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ru-RU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r>
              <a:rPr lang="ru-RU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мес.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32" name="Text 30"/>
          <p:cNvSpPr/>
          <p:nvPr/>
        </p:nvSpPr>
        <p:spPr>
          <a:xfrm>
            <a:off x="6254496" y="1709928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→  Рекомендации ресурсов (курсы, статьи)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254496" y="2258568"/>
            <a:ext cx="2514600" cy="457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4" name="Text 32"/>
          <p:cNvSpPr/>
          <p:nvPr/>
        </p:nvSpPr>
        <p:spPr>
          <a:xfrm>
            <a:off x="6254496" y="2368296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→  Чекпоинты и трекинг прогресса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54496" y="2916936"/>
            <a:ext cx="2514600" cy="457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8" name="Text 36"/>
          <p:cNvSpPr/>
          <p:nvPr/>
        </p:nvSpPr>
        <p:spPr>
          <a:xfrm>
            <a:off x="6227064" y="2994661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→  Онбординг и Push-уведомления</a:t>
            </a:r>
            <a:endParaRPr lang="en-US" sz="1100" dirty="0"/>
          </a:p>
        </p:txBody>
      </p:sp>
      <p:sp>
        <p:nvSpPr>
          <p:cNvPr id="43" name="Shape 0">
            <a:extLst>
              <a:ext uri="{FF2B5EF4-FFF2-40B4-BE49-F238E27FC236}">
                <a16:creationId xmlns:a16="http://schemas.microsoft.com/office/drawing/2014/main" id="{C889ECA1-865F-F7AF-B63E-0F9255B80B4F}"/>
              </a:ext>
            </a:extLst>
          </p:cNvPr>
          <p:cNvSpPr/>
          <p:nvPr/>
        </p:nvSpPr>
        <p:spPr>
          <a:xfrm>
            <a:off x="0" y="0"/>
            <a:ext cx="9144000" cy="1042415"/>
          </a:xfrm>
          <a:prstGeom prst="rect">
            <a:avLst/>
          </a:prstGeom>
          <a:solidFill>
            <a:schemeClr val="tx2">
              <a:lumMod val="50000"/>
            </a:schemeClr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ru-RU" dirty="0"/>
          </a:p>
        </p:txBody>
      </p:sp>
      <p:sp>
        <p:nvSpPr>
          <p:cNvPr id="44" name="Text 1">
            <a:extLst>
              <a:ext uri="{FF2B5EF4-FFF2-40B4-BE49-F238E27FC236}">
                <a16:creationId xmlns:a16="http://schemas.microsoft.com/office/drawing/2014/main" id="{15085753-CA32-54A9-EEC2-08EFBEEBC261}"/>
              </a:ext>
            </a:extLst>
          </p:cNvPr>
          <p:cNvSpPr/>
          <p:nvPr/>
        </p:nvSpPr>
        <p:spPr>
          <a:xfrm>
            <a:off x="277263" y="694944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sz="1100" b="1" kern="0" spc="3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ИТОГИ И ДОРОЖНАЯ КАРТА</a:t>
            </a:r>
            <a:endParaRPr lang="en-US" sz="1100" dirty="0"/>
          </a:p>
        </p:txBody>
      </p:sp>
      <p:sp>
        <p:nvSpPr>
          <p:cNvPr id="45" name="Text 2">
            <a:extLst>
              <a:ext uri="{FF2B5EF4-FFF2-40B4-BE49-F238E27FC236}">
                <a16:creationId xmlns:a16="http://schemas.microsoft.com/office/drawing/2014/main" id="{7997DC6C-3CB4-3C3B-5B36-EF796FD4A259}"/>
              </a:ext>
            </a:extLst>
          </p:cNvPr>
          <p:cNvSpPr/>
          <p:nvPr/>
        </p:nvSpPr>
        <p:spPr>
          <a:xfrm>
            <a:off x="277263" y="48453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месяцев · бюджет MVP </a:t>
            </a:r>
            <a:r>
              <a:rPr lang="ru-RU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r>
              <a:rPr lang="ru-RU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тыс. руб. · ИИ-генерация, без </a:t>
            </a:r>
            <a:r>
              <a:rPr lang="ru-RU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ментора</a:t>
            </a:r>
            <a:endParaRPr lang="en-US" sz="2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" name="AccentBar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3DAEE9"/>
          </a:solidFill>
          <a:ln w="12700">
            <a:solidFill>
              <a:srgbClr val="3DAEE9"/>
            </a:solidFill>
            <a:prstDash val="solid"/>
          </a:ln>
        </p:spPr>
      </p:sp>
      <p:sp>
        <p:nvSpPr>
          <p:cNvPr id="4" name="Title"/>
          <p:cNvSpPr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800" b="1" kern="0" spc="300" dirty="0">
                <a:solidFill>
                  <a:srgbClr val="3DAEE9"/>
                </a:solidFill>
                <a:latin typeface="Calibri" pitchFamily="34" charset="0"/>
              </a:rPr>
              <a:t>УЧАСТНИКИ ПРОЕКТА</a:t>
            </a:r>
          </a:p>
        </p:txBody>
      </p:sp>
      <p:sp>
        <p:nvSpPr>
          <p:cNvPr id="5" name="Subtitle"/>
          <p:cNvSpPr/>
          <p:nvPr/>
        </p:nvSpPr>
        <p:spPr>
          <a:xfrm>
            <a:off x="365760" y="42062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800" b="1" dirty="0">
                <a:solidFill>
                  <a:srgbClr val="FFFFFF"/>
                </a:solidFill>
                <a:latin typeface="Calibri" pitchFamily="34" charset="0"/>
              </a:rPr>
              <a:t>Ключевые участники и заинтересованные стороны</a:t>
            </a:r>
          </a:p>
        </p:txBody>
      </p:sp>
      <p:sp>
        <p:nvSpPr>
          <p:cNvPr id="10" name="CardTeam"/>
          <p:cNvSpPr/>
          <p:nvPr/>
        </p:nvSpPr>
        <p:spPr>
          <a:xfrm>
            <a:off x="274320" y="1020240"/>
            <a:ext cx="4160520" cy="3683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CardHdrTeam"/>
          <p:cNvSpPr/>
          <p:nvPr/>
        </p:nvSpPr>
        <p:spPr>
          <a:xfrm>
            <a:off x="274320" y="1020240"/>
            <a:ext cx="4160520" cy="38404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12" name="CardHdrTxtTeam"/>
          <p:cNvSpPr/>
          <p:nvPr/>
        </p:nvSpPr>
        <p:spPr>
          <a:xfrm>
            <a:off x="365760" y="1020240"/>
            <a:ext cx="3977280" cy="38404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ru-RU" sz="1100" b="1" dirty="0">
                <a:solidFill>
                  <a:srgbClr val="3DAEE9"/>
                </a:solidFill>
                <a:latin typeface="Calibri" pitchFamily="34" charset="0"/>
              </a:rPr>
              <a:t>Команда разработки</a:t>
            </a:r>
          </a:p>
        </p:txBody>
      </p:sp>
      <p:sp>
        <p:nvSpPr>
          <p:cNvPr id="13" name="TeamRoles"/>
          <p:cNvSpPr/>
          <p:nvPr/>
        </p:nvSpPr>
        <p:spPr>
          <a:xfrm>
            <a:off x="365760" y="1450000"/>
            <a:ext cx="3977280" cy="32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342900" lvl="0" indent="-342900">
              <a:lnSpc>
                <a:spcPct val="115000"/>
              </a:lnSpc>
              <a:buFont typeface="Symbol" pitchFamily="2" charset="2"/>
              <a:buChar char=""/>
              <a:tabLst>
                <a:tab pos="228600" algn="l"/>
              </a:tabLst>
            </a:pPr>
            <a:r>
              <a:rPr lang="ru-RU" sz="1100" b="1" dirty="0">
                <a:effectLst/>
                <a:latin typeface="Calibri" panose="020F0502020204030204" pitchFamily="34" charset="0"/>
                <a:ea typeface="MS Mincho" panose="02020609040205080304" pitchFamily="49" charset="-128"/>
                <a:cs typeface="Calibri" panose="020F0502020204030204" pitchFamily="34" charset="0"/>
              </a:rPr>
              <a:t>Руководитель</a:t>
            </a:r>
          </a:p>
          <a:p>
            <a:pPr lvl="0">
              <a:lnSpc>
                <a:spcPct val="115000"/>
              </a:lnSpc>
              <a:tabLst>
                <a:tab pos="228600" algn="l"/>
              </a:tabLst>
            </a:pPr>
            <a:endParaRPr lang="en-US" sz="1100" b="1" dirty="0">
              <a:effectLst/>
              <a:latin typeface="Calibri" panose="020F0502020204030204" pitchFamily="34" charset="0"/>
              <a:ea typeface="MS Mincho" panose="02020609040205080304" pitchFamily="49" charset="-128"/>
              <a:cs typeface="Calibri" panose="020F0502020204030204" pitchFamily="34" charset="0"/>
            </a:endParaRPr>
          </a:p>
          <a:p>
            <a:pPr marL="342900" lvl="0" indent="-342900">
              <a:lnSpc>
                <a:spcPct val="115000"/>
              </a:lnSpc>
              <a:buFont typeface="Symbol" pitchFamily="2" charset="2"/>
              <a:buChar char=""/>
              <a:tabLst>
                <a:tab pos="228600" algn="l"/>
              </a:tabLst>
            </a:pPr>
            <a:r>
              <a:rPr lang="ru-RU" sz="1100" b="1" dirty="0">
                <a:effectLst/>
                <a:latin typeface="Calibri" panose="020F0502020204030204" pitchFamily="34" charset="0"/>
                <a:ea typeface="MS Mincho" panose="02020609040205080304" pitchFamily="49" charset="-128"/>
                <a:cs typeface="Calibri" panose="020F0502020204030204" pitchFamily="34" charset="0"/>
              </a:rPr>
              <a:t>Аналитики</a:t>
            </a:r>
          </a:p>
          <a:p>
            <a:pPr marL="342900" lvl="0" indent="-342900">
              <a:lnSpc>
                <a:spcPct val="115000"/>
              </a:lnSpc>
              <a:buFont typeface="Symbol" pitchFamily="2" charset="2"/>
              <a:buChar char=""/>
              <a:tabLst>
                <a:tab pos="228600" algn="l"/>
              </a:tabLst>
            </a:pPr>
            <a:endParaRPr lang="ru-RU" sz="1100" b="1" dirty="0">
              <a:latin typeface="Calibri" panose="020F0502020204030204" pitchFamily="34" charset="0"/>
              <a:ea typeface="MS Mincho" panose="02020609040205080304" pitchFamily="49" charset="-128"/>
              <a:cs typeface="Calibri" panose="020F0502020204030204" pitchFamily="34" charset="0"/>
            </a:endParaRPr>
          </a:p>
          <a:p>
            <a:pPr marL="342900" lvl="0" indent="-342900">
              <a:lnSpc>
                <a:spcPct val="115000"/>
              </a:lnSpc>
              <a:buFont typeface="Symbol" pitchFamily="2" charset="2"/>
              <a:buChar char=""/>
              <a:tabLst>
                <a:tab pos="228600" algn="l"/>
              </a:tabLst>
            </a:pPr>
            <a:r>
              <a:rPr lang="ru-RU" sz="1100" b="1" dirty="0">
                <a:effectLst/>
                <a:latin typeface="Calibri" panose="020F0502020204030204" pitchFamily="34" charset="0"/>
                <a:ea typeface="MS Mincho" panose="02020609040205080304" pitchFamily="49" charset="-128"/>
                <a:cs typeface="Calibri" panose="020F0502020204030204" pitchFamily="34" charset="0"/>
              </a:rPr>
              <a:t>Разработчики</a:t>
            </a:r>
          </a:p>
          <a:p>
            <a:pPr marL="342900" lvl="0" indent="-342900">
              <a:lnSpc>
                <a:spcPct val="115000"/>
              </a:lnSpc>
              <a:buFont typeface="Symbol" pitchFamily="2" charset="2"/>
              <a:buChar char=""/>
              <a:tabLst>
                <a:tab pos="228600" algn="l"/>
              </a:tabLst>
            </a:pPr>
            <a:endParaRPr lang="ru-RU" sz="1100" b="1" dirty="0">
              <a:latin typeface="Calibri" panose="020F0502020204030204" pitchFamily="34" charset="0"/>
              <a:ea typeface="MS Mincho" panose="02020609040205080304" pitchFamily="49" charset="-128"/>
              <a:cs typeface="Calibri" panose="020F0502020204030204" pitchFamily="34" charset="0"/>
            </a:endParaRPr>
          </a:p>
          <a:p>
            <a:pPr marL="342900" lvl="0" indent="-342900">
              <a:lnSpc>
                <a:spcPct val="115000"/>
              </a:lnSpc>
              <a:buFont typeface="Symbol" pitchFamily="2" charset="2"/>
              <a:buChar char=""/>
              <a:tabLst>
                <a:tab pos="228600" algn="l"/>
              </a:tabLst>
            </a:pPr>
            <a:r>
              <a:rPr lang="ru-RU" sz="1100" b="1" dirty="0">
                <a:effectLst/>
                <a:latin typeface="Calibri" panose="020F0502020204030204" pitchFamily="34" charset="0"/>
                <a:ea typeface="MS Mincho" panose="02020609040205080304" pitchFamily="49" charset="-128"/>
                <a:cs typeface="Calibri" panose="020F0502020204030204" pitchFamily="34" charset="0"/>
              </a:rPr>
              <a:t>Тестировщики</a:t>
            </a:r>
          </a:p>
          <a:p>
            <a:pPr marL="342900" lvl="0" indent="-342900">
              <a:lnSpc>
                <a:spcPct val="115000"/>
              </a:lnSpc>
              <a:buFont typeface="Symbol" pitchFamily="2" charset="2"/>
              <a:buChar char=""/>
              <a:tabLst>
                <a:tab pos="228600" algn="l"/>
              </a:tabLst>
            </a:pPr>
            <a:endParaRPr lang="ru-RU" sz="1100" b="1" dirty="0">
              <a:latin typeface="Calibri" panose="020F0502020204030204" pitchFamily="34" charset="0"/>
              <a:ea typeface="MS Mincho" panose="02020609040205080304" pitchFamily="49" charset="-128"/>
              <a:cs typeface="Calibri" panose="020F0502020204030204" pitchFamily="34" charset="0"/>
            </a:endParaRPr>
          </a:p>
          <a:p>
            <a:pPr marL="342900" lvl="0" indent="-342900">
              <a:lnSpc>
                <a:spcPct val="115000"/>
              </a:lnSpc>
              <a:buFont typeface="Symbol" pitchFamily="2" charset="2"/>
              <a:buChar char=""/>
              <a:tabLst>
                <a:tab pos="228600" algn="l"/>
              </a:tabLst>
            </a:pPr>
            <a:r>
              <a:rPr lang="ru-RU" sz="1100" b="1" dirty="0">
                <a:effectLst/>
                <a:latin typeface="Calibri" panose="020F0502020204030204" pitchFamily="34" charset="0"/>
                <a:ea typeface="MS Mincho" panose="02020609040205080304" pitchFamily="49" charset="-128"/>
                <a:cs typeface="Calibri" panose="020F0502020204030204" pitchFamily="34" charset="0"/>
              </a:rPr>
              <a:t>Архитектор системы</a:t>
            </a:r>
          </a:p>
          <a:p>
            <a:pPr marL="342900" lvl="0" indent="-342900">
              <a:lnSpc>
                <a:spcPct val="115000"/>
              </a:lnSpc>
              <a:buFont typeface="Symbol" pitchFamily="2" charset="2"/>
              <a:buChar char=""/>
              <a:tabLst>
                <a:tab pos="228600" algn="l"/>
              </a:tabLst>
            </a:pPr>
            <a:endParaRPr lang="ru-RU" sz="1100" b="1" dirty="0">
              <a:latin typeface="Calibri" panose="020F0502020204030204" pitchFamily="34" charset="0"/>
              <a:ea typeface="MS Mincho" panose="02020609040205080304" pitchFamily="49" charset="-128"/>
              <a:cs typeface="Calibri" panose="020F0502020204030204" pitchFamily="34" charset="0"/>
            </a:endParaRPr>
          </a:p>
          <a:p>
            <a:pPr marL="342900" lvl="0" indent="-342900">
              <a:lnSpc>
                <a:spcPct val="115000"/>
              </a:lnSpc>
              <a:buFont typeface="Symbol" pitchFamily="2" charset="2"/>
              <a:buChar char=""/>
              <a:tabLst>
                <a:tab pos="228600" algn="l"/>
              </a:tabLst>
            </a:pPr>
            <a:r>
              <a:rPr lang="ru-RU" sz="1100" b="1" dirty="0">
                <a:effectLst/>
                <a:latin typeface="Calibri" panose="020F0502020204030204" pitchFamily="34" charset="0"/>
                <a:ea typeface="MS Mincho" panose="02020609040205080304" pitchFamily="49" charset="-128"/>
                <a:cs typeface="Calibri" panose="020F0502020204030204" pitchFamily="34" charset="0"/>
              </a:rPr>
              <a:t>Менеджер проекта</a:t>
            </a:r>
          </a:p>
          <a:p>
            <a:pPr marL="342900" lvl="0" indent="-342900">
              <a:lnSpc>
                <a:spcPct val="115000"/>
              </a:lnSpc>
              <a:buFont typeface="Symbol" pitchFamily="2" charset="2"/>
              <a:buChar char=""/>
              <a:tabLst>
                <a:tab pos="228600" algn="l"/>
              </a:tabLst>
            </a:pPr>
            <a:endParaRPr lang="ru-RU" sz="1100" b="1" dirty="0">
              <a:latin typeface="Calibri" panose="020F0502020204030204" pitchFamily="34" charset="0"/>
              <a:ea typeface="MS Mincho" panose="02020609040205080304" pitchFamily="49" charset="-128"/>
              <a:cs typeface="Calibri" panose="020F0502020204030204" pitchFamily="34" charset="0"/>
            </a:endParaRPr>
          </a:p>
          <a:p>
            <a:pPr marL="342900" lvl="0" indent="-342900">
              <a:lnSpc>
                <a:spcPct val="115000"/>
              </a:lnSpc>
              <a:buFont typeface="Symbol" pitchFamily="2" charset="2"/>
              <a:buChar char=""/>
              <a:tabLst>
                <a:tab pos="228600" algn="l"/>
              </a:tabLst>
            </a:pPr>
            <a:r>
              <a:rPr lang="en-US" sz="1100" b="1" dirty="0">
                <a:effectLst/>
                <a:latin typeface="Calibri" panose="020F0502020204030204" pitchFamily="34" charset="0"/>
                <a:ea typeface="MS Mincho" panose="02020609040205080304" pitchFamily="49" charset="-128"/>
                <a:cs typeface="Calibri" panose="020F0502020204030204" pitchFamily="34" charset="0"/>
              </a:rPr>
              <a:t>DevOps-</a:t>
            </a:r>
            <a:r>
              <a:rPr lang="ru-RU" sz="1100" b="1" dirty="0">
                <a:latin typeface="Calibri" panose="020F0502020204030204" pitchFamily="34" charset="0"/>
                <a:ea typeface="MS Mincho" panose="02020609040205080304" pitchFamily="49" charset="-128"/>
                <a:cs typeface="Calibri" panose="020F0502020204030204" pitchFamily="34" charset="0"/>
              </a:rPr>
              <a:t>инженер и т. д.</a:t>
            </a:r>
            <a:endParaRPr lang="ru-RU" sz="1100" b="1" dirty="0">
              <a:effectLst/>
              <a:latin typeface="Calibri" panose="020F0502020204030204" pitchFamily="34" charset="0"/>
              <a:ea typeface="MS Mincho" panose="02020609040205080304" pitchFamily="49" charset="-128"/>
              <a:cs typeface="Calibri" panose="020F0502020204030204" pitchFamily="34" charset="0"/>
            </a:endParaRPr>
          </a:p>
        </p:txBody>
      </p:sp>
      <p:sp>
        <p:nvSpPr>
          <p:cNvPr id="20" name="CardExt"/>
          <p:cNvSpPr/>
          <p:nvPr/>
        </p:nvSpPr>
        <p:spPr>
          <a:xfrm>
            <a:off x="4708560" y="1020240"/>
            <a:ext cx="4160520" cy="3683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CardHdrExt"/>
          <p:cNvSpPr/>
          <p:nvPr/>
        </p:nvSpPr>
        <p:spPr>
          <a:xfrm>
            <a:off x="4708560" y="1020240"/>
            <a:ext cx="4160520" cy="38404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22" name="CardHdrTxtExt"/>
          <p:cNvSpPr/>
          <p:nvPr/>
        </p:nvSpPr>
        <p:spPr>
          <a:xfrm>
            <a:off x="4800000" y="1020240"/>
            <a:ext cx="3977280" cy="38404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ru-RU" sz="1100" b="1" dirty="0">
                <a:solidFill>
                  <a:srgbClr val="F5A623"/>
                </a:solidFill>
                <a:latin typeface="Calibri" pitchFamily="34" charset="0"/>
              </a:rPr>
              <a:t>Заинтересованные  стороны</a:t>
            </a:r>
          </a:p>
        </p:txBody>
      </p:sp>
      <p:sp>
        <p:nvSpPr>
          <p:cNvPr id="23" name="ExtRoles"/>
          <p:cNvSpPr/>
          <p:nvPr/>
        </p:nvSpPr>
        <p:spPr>
          <a:xfrm>
            <a:off x="4800000" y="1450000"/>
            <a:ext cx="3977280" cy="32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342900" lvl="0" indent="-342900">
              <a:lnSpc>
                <a:spcPct val="115000"/>
              </a:lnSpc>
              <a:buFont typeface="Symbol" pitchFamily="2" charset="2"/>
              <a:buChar char=""/>
              <a:tabLst>
                <a:tab pos="228600" algn="l"/>
              </a:tabLst>
            </a:pPr>
            <a:r>
              <a:rPr lang="ru-RU" sz="1100" b="1" dirty="0">
                <a:effectLst/>
                <a:latin typeface="Calibri" panose="020F0502020204030204" pitchFamily="34" charset="0"/>
                <a:ea typeface="MS Mincho" panose="02020609040205080304" pitchFamily="49" charset="-128"/>
                <a:cs typeface="Calibri" panose="020F0502020204030204" pitchFamily="34" charset="0"/>
              </a:rPr>
              <a:t>Пользователи: студенты, начинающие специалисты, люди на смене профессии, </a:t>
            </a:r>
            <a:r>
              <a:rPr lang="en-US" sz="1100" b="1" dirty="0">
                <a:effectLst/>
                <a:latin typeface="Calibri" panose="020F0502020204030204" pitchFamily="34" charset="0"/>
                <a:ea typeface="MS Mincho" panose="02020609040205080304" pitchFamily="49" charset="-128"/>
                <a:cs typeface="Calibri" panose="020F0502020204030204" pitchFamily="34" charset="0"/>
              </a:rPr>
              <a:t>IT</a:t>
            </a:r>
            <a:r>
              <a:rPr lang="ru-RU" sz="1100" b="1" dirty="0">
                <a:effectLst/>
                <a:latin typeface="Calibri" panose="020F0502020204030204" pitchFamily="34" charset="0"/>
                <a:ea typeface="MS Mincho" panose="02020609040205080304" pitchFamily="49" charset="-128"/>
                <a:cs typeface="Calibri" panose="020F0502020204030204" pitchFamily="34" charset="0"/>
              </a:rPr>
              <a:t>-специалисты.</a:t>
            </a:r>
            <a:endParaRPr lang="en-US" sz="1100" b="1" dirty="0">
              <a:effectLst/>
              <a:latin typeface="Calibri" panose="020F0502020204030204" pitchFamily="34" charset="0"/>
              <a:ea typeface="MS Mincho" panose="02020609040205080304" pitchFamily="49" charset="-128"/>
              <a:cs typeface="Calibri" panose="020F0502020204030204" pitchFamily="34" charset="0"/>
            </a:endParaRPr>
          </a:p>
          <a:p>
            <a:pPr lvl="0">
              <a:lnSpc>
                <a:spcPct val="115000"/>
              </a:lnSpc>
              <a:tabLst>
                <a:tab pos="228600" algn="l"/>
              </a:tabLst>
            </a:pPr>
            <a:endParaRPr lang="ru-RU" sz="1100" b="1" dirty="0">
              <a:effectLst/>
              <a:latin typeface="Calibri" panose="020F0502020204030204" pitchFamily="34" charset="0"/>
              <a:ea typeface="MS Mincho" panose="02020609040205080304" pitchFamily="49" charset="-128"/>
              <a:cs typeface="Calibri" panose="020F0502020204030204" pitchFamily="34" charset="0"/>
            </a:endParaRPr>
          </a:p>
          <a:p>
            <a:pPr marL="342900" lvl="0" indent="-342900">
              <a:lnSpc>
                <a:spcPct val="115000"/>
              </a:lnSpc>
              <a:buFont typeface="Symbol" pitchFamily="2" charset="2"/>
              <a:buChar char=""/>
              <a:tabLst>
                <a:tab pos="228600" algn="l"/>
              </a:tabLst>
            </a:pPr>
            <a:r>
              <a:rPr lang="ru-RU" sz="1100" b="1" dirty="0">
                <a:effectLst/>
                <a:latin typeface="Calibri" panose="020F0502020204030204" pitchFamily="34" charset="0"/>
                <a:ea typeface="MS Mincho" panose="02020609040205080304" pitchFamily="49" charset="-128"/>
                <a:cs typeface="Calibri" panose="020F0502020204030204" pitchFamily="34" charset="0"/>
              </a:rPr>
              <a:t>Поставщики </a:t>
            </a:r>
            <a:r>
              <a:rPr lang="en-US" sz="1100" b="1" dirty="0">
                <a:effectLst/>
                <a:latin typeface="Calibri" panose="020F0502020204030204" pitchFamily="34" charset="0"/>
                <a:ea typeface="MS Mincho" panose="02020609040205080304" pitchFamily="49" charset="-128"/>
                <a:cs typeface="Calibri" panose="020F0502020204030204" pitchFamily="34" charset="0"/>
              </a:rPr>
              <a:t>API</a:t>
            </a:r>
            <a:r>
              <a:rPr lang="ru-RU" sz="1100" b="1" dirty="0">
                <a:effectLst/>
                <a:latin typeface="Calibri" panose="020F0502020204030204" pitchFamily="34" charset="0"/>
                <a:ea typeface="MS Mincho" panose="02020609040205080304" pitchFamily="49" charset="-128"/>
                <a:cs typeface="Calibri" panose="020F0502020204030204" pitchFamily="34" charset="0"/>
              </a:rPr>
              <a:t> и </a:t>
            </a:r>
            <a:r>
              <a:rPr lang="en-US" sz="1100" b="1" dirty="0">
                <a:effectLst/>
                <a:latin typeface="Calibri" panose="020F0502020204030204" pitchFamily="34" charset="0"/>
                <a:ea typeface="MS Mincho" panose="02020609040205080304" pitchFamily="49" charset="-128"/>
                <a:cs typeface="Calibri" panose="020F0502020204030204" pitchFamily="34" charset="0"/>
              </a:rPr>
              <a:t>AI</a:t>
            </a:r>
            <a:r>
              <a:rPr lang="ru-RU" sz="1100" b="1" dirty="0">
                <a:effectLst/>
                <a:latin typeface="Calibri" panose="020F0502020204030204" pitchFamily="34" charset="0"/>
                <a:ea typeface="MS Mincho" panose="02020609040205080304" pitchFamily="49" charset="-128"/>
                <a:cs typeface="Calibri" panose="020F0502020204030204" pitchFamily="34" charset="0"/>
              </a:rPr>
              <a:t>-сервисов: </a:t>
            </a:r>
            <a:r>
              <a:rPr lang="en-US" sz="1100" b="1" dirty="0">
                <a:effectLst/>
                <a:latin typeface="Calibri" panose="020F0502020204030204" pitchFamily="34" charset="0"/>
                <a:ea typeface="MS Mincho" panose="02020609040205080304" pitchFamily="49" charset="-128"/>
                <a:cs typeface="Calibri" panose="020F0502020204030204" pitchFamily="34" charset="0"/>
              </a:rPr>
              <a:t>OpenAI</a:t>
            </a:r>
            <a:r>
              <a:rPr lang="ru-RU" sz="1100" b="1" dirty="0">
                <a:effectLst/>
                <a:latin typeface="Calibri" panose="020F0502020204030204" pitchFamily="34" charset="0"/>
                <a:ea typeface="MS Mincho" panose="02020609040205080304" pitchFamily="49" charset="-128"/>
                <a:cs typeface="Calibri" panose="020F0502020204030204" pitchFamily="34" charset="0"/>
              </a:rPr>
              <a:t>, </a:t>
            </a:r>
            <a:r>
              <a:rPr lang="en-US" sz="1100" b="1" dirty="0">
                <a:effectLst/>
                <a:latin typeface="Calibri" panose="020F0502020204030204" pitchFamily="34" charset="0"/>
                <a:ea typeface="MS Mincho" panose="02020609040205080304" pitchFamily="49" charset="-128"/>
                <a:cs typeface="Calibri" panose="020F0502020204030204" pitchFamily="34" charset="0"/>
              </a:rPr>
              <a:t>GitHub</a:t>
            </a:r>
            <a:r>
              <a:rPr lang="ru-RU" sz="1100" b="1" dirty="0">
                <a:effectLst/>
                <a:latin typeface="Calibri" panose="020F0502020204030204" pitchFamily="34" charset="0"/>
                <a:ea typeface="MS Mincho" panose="02020609040205080304" pitchFamily="49" charset="-128"/>
                <a:cs typeface="Calibri" panose="020F0502020204030204" pitchFamily="34" charset="0"/>
              </a:rPr>
              <a:t>, </a:t>
            </a:r>
            <a:r>
              <a:rPr lang="en-US" sz="1100" b="1" dirty="0">
                <a:effectLst/>
                <a:latin typeface="Calibri" panose="020F0502020204030204" pitchFamily="34" charset="0"/>
                <a:ea typeface="MS Mincho" panose="02020609040205080304" pitchFamily="49" charset="-128"/>
                <a:cs typeface="Calibri" panose="020F0502020204030204" pitchFamily="34" charset="0"/>
              </a:rPr>
              <a:t>hh</a:t>
            </a:r>
            <a:r>
              <a:rPr lang="ru-RU" sz="1100" b="1" dirty="0">
                <a:effectLst/>
                <a:latin typeface="Calibri" panose="020F0502020204030204" pitchFamily="34" charset="0"/>
                <a:ea typeface="MS Mincho" panose="02020609040205080304" pitchFamily="49" charset="-128"/>
                <a:cs typeface="Calibri" panose="020F0502020204030204" pitchFamily="34" charset="0"/>
              </a:rPr>
              <a:t>.</a:t>
            </a:r>
            <a:r>
              <a:rPr lang="en-US" sz="1100" b="1" dirty="0">
                <a:effectLst/>
                <a:latin typeface="Calibri" panose="020F0502020204030204" pitchFamily="34" charset="0"/>
                <a:ea typeface="MS Mincho" panose="02020609040205080304" pitchFamily="49" charset="-128"/>
                <a:cs typeface="Calibri" panose="020F0502020204030204" pitchFamily="34" charset="0"/>
              </a:rPr>
              <a:t>ru</a:t>
            </a:r>
            <a:r>
              <a:rPr lang="ru-RU" sz="1100" b="1" dirty="0">
                <a:effectLst/>
                <a:latin typeface="Calibri" panose="020F0502020204030204" pitchFamily="34" charset="0"/>
                <a:ea typeface="MS Mincho" panose="02020609040205080304" pitchFamily="49" charset="-128"/>
                <a:cs typeface="Calibri" panose="020F0502020204030204" pitchFamily="34" charset="0"/>
              </a:rPr>
              <a:t>, образовательные платформы.</a:t>
            </a:r>
            <a:endParaRPr lang="en-US" sz="1100" b="1" dirty="0">
              <a:effectLst/>
              <a:latin typeface="Calibri" panose="020F0502020204030204" pitchFamily="34" charset="0"/>
              <a:ea typeface="MS Mincho" panose="02020609040205080304" pitchFamily="49" charset="-128"/>
              <a:cs typeface="Calibri" panose="020F0502020204030204" pitchFamily="34" charset="0"/>
            </a:endParaRPr>
          </a:p>
          <a:p>
            <a:pPr lvl="0">
              <a:lnSpc>
                <a:spcPct val="115000"/>
              </a:lnSpc>
              <a:tabLst>
                <a:tab pos="228600" algn="l"/>
              </a:tabLst>
            </a:pPr>
            <a:endParaRPr lang="ru-RU" sz="1100" b="1" dirty="0">
              <a:effectLst/>
              <a:latin typeface="Calibri" panose="020F0502020204030204" pitchFamily="34" charset="0"/>
              <a:ea typeface="MS Mincho" panose="02020609040205080304" pitchFamily="49" charset="-128"/>
              <a:cs typeface="Calibri" panose="020F0502020204030204" pitchFamily="34" charset="0"/>
            </a:endParaRPr>
          </a:p>
          <a:p>
            <a:pPr marL="342900" lvl="0" indent="-342900">
              <a:lnSpc>
                <a:spcPct val="115000"/>
              </a:lnSpc>
              <a:buFont typeface="Symbol" pitchFamily="2" charset="2"/>
              <a:buChar char=""/>
              <a:tabLst>
                <a:tab pos="228600" algn="l"/>
              </a:tabLst>
            </a:pPr>
            <a:r>
              <a:rPr lang="ru-RU" sz="1100" b="1" dirty="0">
                <a:effectLst/>
                <a:latin typeface="Calibri" panose="020F0502020204030204" pitchFamily="34" charset="0"/>
                <a:ea typeface="MS Mincho" panose="02020609040205080304" pitchFamily="49" charset="-128"/>
                <a:cs typeface="Calibri" panose="020F0502020204030204" pitchFamily="34" charset="0"/>
              </a:rPr>
              <a:t>Компании-партнёры и </a:t>
            </a:r>
            <a:r>
              <a:rPr lang="en-US" sz="1100" b="1" dirty="0">
                <a:effectLst/>
                <a:latin typeface="Calibri" panose="020F0502020204030204" pitchFamily="34" charset="0"/>
                <a:ea typeface="MS Mincho" panose="02020609040205080304" pitchFamily="49" charset="-128"/>
                <a:cs typeface="Calibri" panose="020F0502020204030204" pitchFamily="34" charset="0"/>
              </a:rPr>
              <a:t>HR</a:t>
            </a:r>
            <a:r>
              <a:rPr lang="ru-RU" sz="1100" b="1" dirty="0">
                <a:effectLst/>
                <a:latin typeface="Calibri" panose="020F0502020204030204" pitchFamily="34" charset="0"/>
                <a:ea typeface="MS Mincho" panose="02020609040205080304" pitchFamily="49" charset="-128"/>
                <a:cs typeface="Calibri" panose="020F0502020204030204" pitchFamily="34" charset="0"/>
              </a:rPr>
              <a:t>: заинтересованы в ускоренной подготовке </a:t>
            </a:r>
            <a:r>
              <a:rPr lang="en-US" sz="1100" b="1" dirty="0">
                <a:effectLst/>
                <a:latin typeface="Calibri" panose="020F0502020204030204" pitchFamily="34" charset="0"/>
                <a:ea typeface="MS Mincho" panose="02020609040205080304" pitchFamily="49" charset="-128"/>
                <a:cs typeface="Calibri" panose="020F0502020204030204" pitchFamily="34" charset="0"/>
              </a:rPr>
              <a:t>IT</a:t>
            </a:r>
            <a:r>
              <a:rPr lang="ru-RU" sz="1100" b="1" dirty="0">
                <a:effectLst/>
                <a:latin typeface="Calibri" panose="020F0502020204030204" pitchFamily="34" charset="0"/>
                <a:ea typeface="MS Mincho" panose="02020609040205080304" pitchFamily="49" charset="-128"/>
                <a:cs typeface="Calibri" panose="020F0502020204030204" pitchFamily="34" charset="0"/>
              </a:rPr>
              <a:t>-специалистов.</a:t>
            </a:r>
            <a:endParaRPr lang="en-US" sz="1100" b="1" dirty="0">
              <a:effectLst/>
              <a:latin typeface="Calibri" panose="020F0502020204030204" pitchFamily="34" charset="0"/>
              <a:ea typeface="MS Mincho" panose="02020609040205080304" pitchFamily="49" charset="-128"/>
              <a:cs typeface="Calibri" panose="020F0502020204030204" pitchFamily="34" charset="0"/>
            </a:endParaRPr>
          </a:p>
          <a:p>
            <a:pPr lvl="0">
              <a:lnSpc>
                <a:spcPct val="115000"/>
              </a:lnSpc>
              <a:tabLst>
                <a:tab pos="228600" algn="l"/>
              </a:tabLst>
            </a:pPr>
            <a:endParaRPr lang="ru-RU" sz="1100" b="1" dirty="0">
              <a:effectLst/>
              <a:latin typeface="Calibri" panose="020F0502020204030204" pitchFamily="34" charset="0"/>
              <a:ea typeface="MS Mincho" panose="02020609040205080304" pitchFamily="49" charset="-128"/>
              <a:cs typeface="Calibri" panose="020F0502020204030204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1000"/>
              </a:spcAft>
              <a:buFont typeface="Symbol" pitchFamily="2" charset="2"/>
              <a:buChar char=""/>
              <a:tabLst>
                <a:tab pos="228600" algn="l"/>
              </a:tabLst>
            </a:pPr>
            <a:r>
              <a:rPr lang="ru-RU" sz="1100" b="1" dirty="0">
                <a:effectLst/>
                <a:latin typeface="Calibri" panose="020F0502020204030204" pitchFamily="34" charset="0"/>
                <a:ea typeface="MS Mincho" panose="02020609040205080304" pitchFamily="49" charset="-128"/>
                <a:cs typeface="Calibri" panose="020F0502020204030204" pitchFamily="34" charset="0"/>
              </a:rPr>
              <a:t>Конкуренты: онлайн-школы, платформы </a:t>
            </a:r>
            <a:r>
              <a:rPr lang="en-US" sz="1100" b="1" dirty="0">
                <a:effectLst/>
                <a:latin typeface="Calibri" panose="020F0502020204030204" pitchFamily="34" charset="0"/>
                <a:ea typeface="MS Mincho" panose="02020609040205080304" pitchFamily="49" charset="-128"/>
                <a:cs typeface="Calibri" panose="020F0502020204030204" pitchFamily="34" charset="0"/>
              </a:rPr>
              <a:t>roadmap</a:t>
            </a:r>
            <a:r>
              <a:rPr lang="ru-RU" sz="1100" b="1" dirty="0">
                <a:effectLst/>
                <a:latin typeface="Calibri" panose="020F0502020204030204" pitchFamily="34" charset="0"/>
                <a:ea typeface="MS Mincho" panose="02020609040205080304" pitchFamily="49" charset="-128"/>
                <a:cs typeface="Calibri" panose="020F0502020204030204" pitchFamily="34" charset="0"/>
              </a:rPr>
              <a:t> и карьерные сервисы.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" name="AccentBar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4" name="Title"/>
          <p:cNvSpPr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800" b="1" kern="0" spc="300" dirty="0">
                <a:solidFill>
                  <a:srgbClr val="E74C3C"/>
                </a:solidFill>
                <a:latin typeface="Calibri" pitchFamily="34" charset="0"/>
              </a:rPr>
              <a:t>РИСКИ ПРОЕКТА</a:t>
            </a:r>
          </a:p>
        </p:txBody>
      </p:sp>
      <p:sp>
        <p:nvSpPr>
          <p:cNvPr id="5" name="Subtitle"/>
          <p:cNvSpPr/>
          <p:nvPr/>
        </p:nvSpPr>
        <p:spPr>
          <a:xfrm>
            <a:off x="365760" y="42062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800" b="1" dirty="0">
                <a:solidFill>
                  <a:srgbClr val="FFFFFF"/>
                </a:solidFill>
                <a:latin typeface="Calibri" pitchFamily="34" charset="0"/>
              </a:rPr>
              <a:t>Суммарный уровень рисков — СРЕДНИЙ</a:t>
            </a:r>
          </a:p>
        </p:txBody>
      </p:sp>
      <p:sp>
        <p:nvSpPr>
          <p:cNvPr id="10" name="RiskHdr"/>
          <p:cNvSpPr/>
          <p:nvPr/>
        </p:nvSpPr>
        <p:spPr>
          <a:xfrm>
            <a:off x="274320" y="1010000"/>
            <a:ext cx="8595360" cy="3000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ru-RU" sz="900" b="1" dirty="0">
                <a:solidFill>
                  <a:srgbClr val="8BAABF"/>
                </a:solidFill>
                <a:latin typeface="Calibri" pitchFamily="34" charset="0"/>
              </a:rPr>
              <a:t>       РИСК                                                     	                      ВЕРОЯТНОСТЬ         	           ВЛИЯНИЕ                                                                   МЕРА МИТИГАЦИИ</a:t>
            </a:r>
          </a:p>
        </p:txBody>
      </p:sp>
      <p:sp>
        <p:nvSpPr>
          <p:cNvPr id="11" name="Risk1"/>
          <p:cNvSpPr/>
          <p:nvPr/>
        </p:nvSpPr>
        <p:spPr>
          <a:xfrm>
            <a:off x="274320" y="1309999"/>
            <a:ext cx="8595360" cy="533317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36000" rIns="91440" bIns="36000" rtlCol="0" anchor="ctr"/>
          <a:lstStyle/>
          <a:p>
            <a:pPr marL="0" indent="0">
              <a:buNone/>
            </a:pPr>
            <a:endParaRPr lang="ru-RU" sz="1400" dirty="0">
              <a:solidFill>
                <a:srgbClr val="1A252F"/>
              </a:solidFill>
              <a:latin typeface="Calibri" pitchFamily="34" charset="0"/>
            </a:endParaRPr>
          </a:p>
        </p:txBody>
      </p:sp>
      <p:sp>
        <p:nvSpPr>
          <p:cNvPr id="12" name="Risk2"/>
          <p:cNvSpPr/>
          <p:nvPr/>
        </p:nvSpPr>
        <p:spPr>
          <a:xfrm>
            <a:off x="274320" y="1922253"/>
            <a:ext cx="8595360" cy="533317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36000" rIns="91440" bIns="36000" rtlCol="0" anchor="ctr"/>
          <a:lstStyle/>
          <a:p>
            <a:pPr marL="0" indent="0">
              <a:buNone/>
            </a:pPr>
            <a:endParaRPr lang="ru-RU" sz="1400" dirty="0">
              <a:solidFill>
                <a:srgbClr val="1A252F"/>
              </a:solidFill>
              <a:latin typeface="Calibri" pitchFamily="34" charset="0"/>
            </a:endParaRPr>
          </a:p>
        </p:txBody>
      </p:sp>
      <p:sp>
        <p:nvSpPr>
          <p:cNvPr id="13" name="Risk3"/>
          <p:cNvSpPr/>
          <p:nvPr/>
        </p:nvSpPr>
        <p:spPr>
          <a:xfrm>
            <a:off x="274320" y="2524178"/>
            <a:ext cx="8595360" cy="536362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36000" rIns="91440" bIns="36000" rtlCol="0" anchor="ctr"/>
          <a:lstStyle/>
          <a:p>
            <a:pPr marL="0" indent="0">
              <a:buNone/>
            </a:pPr>
            <a:endParaRPr lang="ru-RU" sz="1400" dirty="0">
              <a:solidFill>
                <a:srgbClr val="1A252F"/>
              </a:solidFill>
              <a:latin typeface="Calibri" pitchFamily="34" charset="0"/>
            </a:endParaRPr>
          </a:p>
        </p:txBody>
      </p:sp>
      <p:sp>
        <p:nvSpPr>
          <p:cNvPr id="14" name="Risk4"/>
          <p:cNvSpPr/>
          <p:nvPr/>
        </p:nvSpPr>
        <p:spPr>
          <a:xfrm>
            <a:off x="274320" y="3134041"/>
            <a:ext cx="8595360" cy="53636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36000" rIns="91440" bIns="36000" rtlCol="0" anchor="ctr"/>
          <a:lstStyle/>
          <a:p>
            <a:pPr marL="0" indent="0">
              <a:buNone/>
            </a:pPr>
            <a:endParaRPr lang="ru-RU" sz="1400" dirty="0">
              <a:solidFill>
                <a:srgbClr val="1A252F"/>
              </a:solidFill>
              <a:latin typeface="Calibri" pitchFamily="34" charset="0"/>
            </a:endParaRPr>
          </a:p>
        </p:txBody>
      </p:sp>
      <p:sp>
        <p:nvSpPr>
          <p:cNvPr id="15" name="Risk5"/>
          <p:cNvSpPr/>
          <p:nvPr/>
        </p:nvSpPr>
        <p:spPr>
          <a:xfrm>
            <a:off x="274320" y="3743906"/>
            <a:ext cx="8595360" cy="5363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36000" rIns="91440" bIns="36000" rtlCol="0" anchor="ctr"/>
          <a:lstStyle/>
          <a:p>
            <a:pPr marL="0" indent="0">
              <a:buNone/>
            </a:pPr>
            <a:endParaRPr lang="ru-RU" sz="1400" dirty="0">
              <a:solidFill>
                <a:srgbClr val="1A252F"/>
              </a:solidFill>
              <a:latin typeface="Calibri" pitchFamily="34" charset="0"/>
            </a:endParaRPr>
          </a:p>
        </p:txBody>
      </p:sp>
      <p:sp>
        <p:nvSpPr>
          <p:cNvPr id="8" name="Risk5">
            <a:extLst>
              <a:ext uri="{FF2B5EF4-FFF2-40B4-BE49-F238E27FC236}">
                <a16:creationId xmlns:a16="http://schemas.microsoft.com/office/drawing/2014/main" id="{051C406C-1616-EC35-1536-5E56A98C02A9}"/>
              </a:ext>
            </a:extLst>
          </p:cNvPr>
          <p:cNvSpPr/>
          <p:nvPr/>
        </p:nvSpPr>
        <p:spPr>
          <a:xfrm>
            <a:off x="274312" y="4418217"/>
            <a:ext cx="8595360" cy="53636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36000" rIns="91440" bIns="36000" rtlCol="0" anchor="ctr"/>
          <a:lstStyle/>
          <a:p>
            <a:pPr marL="0" indent="0">
              <a:buNone/>
            </a:pPr>
            <a:endParaRPr lang="ru-RU" sz="1400" dirty="0">
              <a:solidFill>
                <a:srgbClr val="1A252F"/>
              </a:solidFill>
              <a:latin typeface="Calibri" pitchFamily="34" charset="0"/>
            </a:endParaRP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4A44463B-9045-159F-A268-6BF423A13E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8163363"/>
              </p:ext>
            </p:extLst>
          </p:nvPr>
        </p:nvGraphicFramePr>
        <p:xfrm>
          <a:off x="274319" y="1308380"/>
          <a:ext cx="8595358" cy="54037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6708">
                  <a:extLst>
                    <a:ext uri="{9D8B030D-6E8A-4147-A177-3AD203B41FA5}">
                      <a16:colId xmlns:a16="http://schemas.microsoft.com/office/drawing/2014/main" val="2028476115"/>
                    </a:ext>
                  </a:extLst>
                </a:gridCol>
                <a:gridCol w="1433033">
                  <a:extLst>
                    <a:ext uri="{9D8B030D-6E8A-4147-A177-3AD203B41FA5}">
                      <a16:colId xmlns:a16="http://schemas.microsoft.com/office/drawing/2014/main" val="859267920"/>
                    </a:ext>
                  </a:extLst>
                </a:gridCol>
                <a:gridCol w="1433033">
                  <a:extLst>
                    <a:ext uri="{9D8B030D-6E8A-4147-A177-3AD203B41FA5}">
                      <a16:colId xmlns:a16="http://schemas.microsoft.com/office/drawing/2014/main" val="1558782679"/>
                    </a:ext>
                  </a:extLst>
                </a:gridCol>
                <a:gridCol w="3582584">
                  <a:extLst>
                    <a:ext uri="{9D8B030D-6E8A-4147-A177-3AD203B41FA5}">
                      <a16:colId xmlns:a16="http://schemas.microsoft.com/office/drawing/2014/main" val="4020317781"/>
                    </a:ext>
                  </a:extLst>
                </a:gridCol>
              </a:tblGrid>
              <a:tr h="54037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 dirty="0" err="1">
                          <a:effectLst/>
                        </a:rPr>
                        <a:t>Недоступность</a:t>
                      </a:r>
                      <a:r>
                        <a:rPr lang="en-US" sz="1200" dirty="0">
                          <a:effectLst/>
                        </a:rPr>
                        <a:t> LLM / </a:t>
                      </a:r>
                      <a:r>
                        <a:rPr lang="en-US" sz="1200" dirty="0" err="1">
                          <a:effectLst/>
                        </a:rPr>
                        <a:t>внешних</a:t>
                      </a:r>
                      <a:r>
                        <a:rPr lang="en-US" sz="1200" dirty="0">
                          <a:effectLst/>
                        </a:rPr>
                        <a:t> API </a:t>
                      </a:r>
                      <a:endParaRPr lang="ru-RU" sz="120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 dirty="0" err="1">
                          <a:effectLst/>
                        </a:rPr>
                        <a:t>Средняя</a:t>
                      </a:r>
                      <a:endParaRPr lang="ru-RU" sz="120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>
                          <a:effectLst/>
                        </a:rPr>
                        <a:t>Высокое</a:t>
                      </a:r>
                      <a:endParaRPr lang="ru-RU" sz="12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>
                          <a:effectLst/>
                        </a:rPr>
                        <a:t>Резервные провайдеры, локальный кеш сгенерированных </a:t>
                      </a:r>
                      <a:r>
                        <a:rPr lang="en-US" sz="1200" dirty="0">
                          <a:effectLst/>
                        </a:rPr>
                        <a:t>roadmap</a:t>
                      </a:r>
                      <a:endParaRPr lang="ru-RU" sz="120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946441284"/>
                  </a:ext>
                </a:extLst>
              </a:tr>
            </a:tbl>
          </a:graphicData>
        </a:graphic>
      </p:graphicFrame>
      <p:graphicFrame>
        <p:nvGraphicFramePr>
          <p:cNvPr id="16" name="Таблица 15">
            <a:extLst>
              <a:ext uri="{FF2B5EF4-FFF2-40B4-BE49-F238E27FC236}">
                <a16:creationId xmlns:a16="http://schemas.microsoft.com/office/drawing/2014/main" id="{89713DE3-F1D4-BE28-ED5F-4FA7A860B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1428882"/>
              </p:ext>
            </p:extLst>
          </p:nvPr>
        </p:nvGraphicFramePr>
        <p:xfrm>
          <a:off x="274315" y="1884834"/>
          <a:ext cx="8595357" cy="5745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6707">
                  <a:extLst>
                    <a:ext uri="{9D8B030D-6E8A-4147-A177-3AD203B41FA5}">
                      <a16:colId xmlns:a16="http://schemas.microsoft.com/office/drawing/2014/main" val="912992874"/>
                    </a:ext>
                  </a:extLst>
                </a:gridCol>
                <a:gridCol w="1433033">
                  <a:extLst>
                    <a:ext uri="{9D8B030D-6E8A-4147-A177-3AD203B41FA5}">
                      <a16:colId xmlns:a16="http://schemas.microsoft.com/office/drawing/2014/main" val="3115028180"/>
                    </a:ext>
                  </a:extLst>
                </a:gridCol>
                <a:gridCol w="1433033">
                  <a:extLst>
                    <a:ext uri="{9D8B030D-6E8A-4147-A177-3AD203B41FA5}">
                      <a16:colId xmlns:a16="http://schemas.microsoft.com/office/drawing/2014/main" val="923416031"/>
                    </a:ext>
                  </a:extLst>
                </a:gridCol>
                <a:gridCol w="3582584">
                  <a:extLst>
                    <a:ext uri="{9D8B030D-6E8A-4147-A177-3AD203B41FA5}">
                      <a16:colId xmlns:a16="http://schemas.microsoft.com/office/drawing/2014/main" val="3172106291"/>
                    </a:ext>
                  </a:extLst>
                </a:gridCol>
              </a:tblGrid>
              <a:tr h="57456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>
                          <a:effectLst/>
                        </a:rPr>
                        <a:t>Низкое качество генерации при нечётких запросах</a:t>
                      </a:r>
                      <a:endParaRPr lang="ru-RU" sz="105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 dirty="0" err="1">
                          <a:effectLst/>
                        </a:rPr>
                        <a:t>Высокая</a:t>
                      </a:r>
                      <a:endParaRPr lang="ru-RU" sz="105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>
                          <a:effectLst/>
                        </a:rPr>
                        <a:t>Среднее</a:t>
                      </a:r>
                      <a:endParaRPr lang="ru-RU" sz="105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>
                          <a:effectLst/>
                        </a:rPr>
                        <a:t>Подсказки в интерфейсе, валидация запроса, повторная генерация</a:t>
                      </a:r>
                      <a:endParaRPr lang="ru-RU" sz="105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153648113"/>
                  </a:ext>
                </a:extLst>
              </a:tr>
            </a:tbl>
          </a:graphicData>
        </a:graphic>
      </p:graphicFrame>
      <p:graphicFrame>
        <p:nvGraphicFramePr>
          <p:cNvPr id="17" name="Таблица 16">
            <a:extLst>
              <a:ext uri="{FF2B5EF4-FFF2-40B4-BE49-F238E27FC236}">
                <a16:creationId xmlns:a16="http://schemas.microsoft.com/office/drawing/2014/main" id="{806D66A9-8F07-8F8E-BDB4-D7BFF06318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0774216"/>
              </p:ext>
            </p:extLst>
          </p:nvPr>
        </p:nvGraphicFramePr>
        <p:xfrm>
          <a:off x="274315" y="2525760"/>
          <a:ext cx="8595357" cy="53860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6707">
                  <a:extLst>
                    <a:ext uri="{9D8B030D-6E8A-4147-A177-3AD203B41FA5}">
                      <a16:colId xmlns:a16="http://schemas.microsoft.com/office/drawing/2014/main" val="877263805"/>
                    </a:ext>
                  </a:extLst>
                </a:gridCol>
                <a:gridCol w="1433033">
                  <a:extLst>
                    <a:ext uri="{9D8B030D-6E8A-4147-A177-3AD203B41FA5}">
                      <a16:colId xmlns:a16="http://schemas.microsoft.com/office/drawing/2014/main" val="670307887"/>
                    </a:ext>
                  </a:extLst>
                </a:gridCol>
                <a:gridCol w="1433033">
                  <a:extLst>
                    <a:ext uri="{9D8B030D-6E8A-4147-A177-3AD203B41FA5}">
                      <a16:colId xmlns:a16="http://schemas.microsoft.com/office/drawing/2014/main" val="3964128819"/>
                    </a:ext>
                  </a:extLst>
                </a:gridCol>
                <a:gridCol w="3582584">
                  <a:extLst>
                    <a:ext uri="{9D8B030D-6E8A-4147-A177-3AD203B41FA5}">
                      <a16:colId xmlns:a16="http://schemas.microsoft.com/office/drawing/2014/main" val="2958160091"/>
                    </a:ext>
                  </a:extLst>
                </a:gridCol>
              </a:tblGrid>
              <a:tr h="53860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>
                          <a:effectLst/>
                        </a:rPr>
                        <a:t>Превышение бюджета</a:t>
                      </a:r>
                      <a:endParaRPr lang="ru-RU" sz="12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 dirty="0" err="1">
                          <a:effectLst/>
                        </a:rPr>
                        <a:t>Средняя</a:t>
                      </a:r>
                      <a:endParaRPr lang="ru-RU" sz="120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>
                          <a:effectLst/>
                        </a:rPr>
                        <a:t>Среднее</a:t>
                      </a:r>
                      <a:endParaRPr lang="ru-RU" sz="12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>
                          <a:effectLst/>
                        </a:rPr>
                        <a:t>Поэтапная разработка с фиксацией бюджета на </a:t>
                      </a:r>
                      <a:r>
                        <a:rPr lang="en-US" sz="1200" dirty="0">
                          <a:effectLst/>
                        </a:rPr>
                        <a:t>MVP</a:t>
                      </a:r>
                      <a:r>
                        <a:rPr lang="ru-RU" sz="1200" dirty="0">
                          <a:effectLst/>
                        </a:rPr>
                        <a:t>, резервный фонд</a:t>
                      </a:r>
                      <a:endParaRPr lang="ru-RU" sz="120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157857544"/>
                  </a:ext>
                </a:extLst>
              </a:tr>
            </a:tbl>
          </a:graphicData>
        </a:graphic>
      </p:graphicFrame>
      <p:graphicFrame>
        <p:nvGraphicFramePr>
          <p:cNvPr id="18" name="Таблица 17">
            <a:extLst>
              <a:ext uri="{FF2B5EF4-FFF2-40B4-BE49-F238E27FC236}">
                <a16:creationId xmlns:a16="http://schemas.microsoft.com/office/drawing/2014/main" id="{B00C3ED2-D5A0-2E79-6709-F9A4E90A3C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3195894"/>
              </p:ext>
            </p:extLst>
          </p:nvPr>
        </p:nvGraphicFramePr>
        <p:xfrm>
          <a:off x="274315" y="3129147"/>
          <a:ext cx="8595357" cy="553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6707">
                  <a:extLst>
                    <a:ext uri="{9D8B030D-6E8A-4147-A177-3AD203B41FA5}">
                      <a16:colId xmlns:a16="http://schemas.microsoft.com/office/drawing/2014/main" val="2016511703"/>
                    </a:ext>
                  </a:extLst>
                </a:gridCol>
                <a:gridCol w="1433033">
                  <a:extLst>
                    <a:ext uri="{9D8B030D-6E8A-4147-A177-3AD203B41FA5}">
                      <a16:colId xmlns:a16="http://schemas.microsoft.com/office/drawing/2014/main" val="1031473881"/>
                    </a:ext>
                  </a:extLst>
                </a:gridCol>
                <a:gridCol w="1433033">
                  <a:extLst>
                    <a:ext uri="{9D8B030D-6E8A-4147-A177-3AD203B41FA5}">
                      <a16:colId xmlns:a16="http://schemas.microsoft.com/office/drawing/2014/main" val="1396604960"/>
                    </a:ext>
                  </a:extLst>
                </a:gridCol>
                <a:gridCol w="3582584">
                  <a:extLst>
                    <a:ext uri="{9D8B030D-6E8A-4147-A177-3AD203B41FA5}">
                      <a16:colId xmlns:a16="http://schemas.microsoft.com/office/drawing/2014/main" val="2152992779"/>
                    </a:ext>
                  </a:extLst>
                </a:gridCol>
              </a:tblGrid>
              <a:tr h="55369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 dirty="0" err="1">
                          <a:effectLst/>
                        </a:rPr>
                        <a:t>Нарушение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требований</a:t>
                      </a:r>
                      <a:r>
                        <a:rPr lang="en-US" sz="1200" dirty="0">
                          <a:effectLst/>
                        </a:rPr>
                        <a:t> ФЗ-152</a:t>
                      </a:r>
                      <a:endParaRPr lang="ru-RU" sz="120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 dirty="0" err="1">
                          <a:effectLst/>
                        </a:rPr>
                        <a:t>Низкая</a:t>
                      </a:r>
                      <a:endParaRPr lang="ru-RU" sz="120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 dirty="0" err="1">
                          <a:effectLst/>
                        </a:rPr>
                        <a:t>Высокое</a:t>
                      </a:r>
                      <a:endParaRPr lang="ru-RU" sz="120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>
                          <a:effectLst/>
                        </a:rPr>
                        <a:t>Хранение данных в РФ, консультации с юристами</a:t>
                      </a:r>
                      <a:endParaRPr lang="ru-RU" sz="120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14089035"/>
                  </a:ext>
                </a:extLst>
              </a:tr>
            </a:tbl>
          </a:graphicData>
        </a:graphic>
      </p:graphicFrame>
      <p:graphicFrame>
        <p:nvGraphicFramePr>
          <p:cNvPr id="19" name="Таблица 18">
            <a:extLst>
              <a:ext uri="{FF2B5EF4-FFF2-40B4-BE49-F238E27FC236}">
                <a16:creationId xmlns:a16="http://schemas.microsoft.com/office/drawing/2014/main" id="{D2E3E699-3781-E528-BC84-42550706D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7956124"/>
              </p:ext>
            </p:extLst>
          </p:nvPr>
        </p:nvGraphicFramePr>
        <p:xfrm>
          <a:off x="274315" y="3740079"/>
          <a:ext cx="8595358" cy="592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6708">
                  <a:extLst>
                    <a:ext uri="{9D8B030D-6E8A-4147-A177-3AD203B41FA5}">
                      <a16:colId xmlns:a16="http://schemas.microsoft.com/office/drawing/2014/main" val="984427766"/>
                    </a:ext>
                  </a:extLst>
                </a:gridCol>
                <a:gridCol w="1433033">
                  <a:extLst>
                    <a:ext uri="{9D8B030D-6E8A-4147-A177-3AD203B41FA5}">
                      <a16:colId xmlns:a16="http://schemas.microsoft.com/office/drawing/2014/main" val="3042027366"/>
                    </a:ext>
                  </a:extLst>
                </a:gridCol>
                <a:gridCol w="1433033">
                  <a:extLst>
                    <a:ext uri="{9D8B030D-6E8A-4147-A177-3AD203B41FA5}">
                      <a16:colId xmlns:a16="http://schemas.microsoft.com/office/drawing/2014/main" val="3747115023"/>
                    </a:ext>
                  </a:extLst>
                </a:gridCol>
                <a:gridCol w="3582584">
                  <a:extLst>
                    <a:ext uri="{9D8B030D-6E8A-4147-A177-3AD203B41FA5}">
                      <a16:colId xmlns:a16="http://schemas.microsoft.com/office/drawing/2014/main" val="3101142531"/>
                    </a:ext>
                  </a:extLst>
                </a:gridCol>
              </a:tblGrid>
              <a:tr h="5927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 dirty="0" err="1">
                          <a:effectLst/>
                        </a:rPr>
                        <a:t>Задержки</a:t>
                      </a:r>
                      <a:r>
                        <a:rPr lang="en-US" sz="1200" dirty="0">
                          <a:effectLst/>
                        </a:rPr>
                        <a:t> в </a:t>
                      </a:r>
                      <a:r>
                        <a:rPr lang="en-US" sz="1200" dirty="0" err="1">
                          <a:effectLst/>
                        </a:rPr>
                        <a:t>разработке</a:t>
                      </a:r>
                      <a:endParaRPr lang="ru-RU" sz="120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 dirty="0" err="1">
                          <a:effectLst/>
                        </a:rPr>
                        <a:t>Средняя</a:t>
                      </a:r>
                      <a:endParaRPr lang="ru-RU" sz="120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>
                          <a:effectLst/>
                        </a:rPr>
                        <a:t>Среднее</a:t>
                      </a:r>
                      <a:endParaRPr lang="ru-RU" sz="120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>
                          <a:effectLst/>
                        </a:rPr>
                        <a:t>Чёткое планирование спринтов, еженедельный контроль статуса</a:t>
                      </a:r>
                      <a:endParaRPr lang="ru-RU" sz="120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900241110"/>
                  </a:ext>
                </a:extLst>
              </a:tr>
            </a:tbl>
          </a:graphicData>
        </a:graphic>
      </p:graphicFrame>
      <p:graphicFrame>
        <p:nvGraphicFramePr>
          <p:cNvPr id="20" name="Таблица 19">
            <a:extLst>
              <a:ext uri="{FF2B5EF4-FFF2-40B4-BE49-F238E27FC236}">
                <a16:creationId xmlns:a16="http://schemas.microsoft.com/office/drawing/2014/main" id="{B7B525B2-0872-398D-A07C-62AFB9EDD5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825930"/>
              </p:ext>
            </p:extLst>
          </p:nvPr>
        </p:nvGraphicFramePr>
        <p:xfrm>
          <a:off x="274312" y="4416976"/>
          <a:ext cx="8595357" cy="5477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6707">
                  <a:extLst>
                    <a:ext uri="{9D8B030D-6E8A-4147-A177-3AD203B41FA5}">
                      <a16:colId xmlns:a16="http://schemas.microsoft.com/office/drawing/2014/main" val="618160238"/>
                    </a:ext>
                  </a:extLst>
                </a:gridCol>
                <a:gridCol w="1433033">
                  <a:extLst>
                    <a:ext uri="{9D8B030D-6E8A-4147-A177-3AD203B41FA5}">
                      <a16:colId xmlns:a16="http://schemas.microsoft.com/office/drawing/2014/main" val="3316533847"/>
                    </a:ext>
                  </a:extLst>
                </a:gridCol>
                <a:gridCol w="1433033">
                  <a:extLst>
                    <a:ext uri="{9D8B030D-6E8A-4147-A177-3AD203B41FA5}">
                      <a16:colId xmlns:a16="http://schemas.microsoft.com/office/drawing/2014/main" val="606755178"/>
                    </a:ext>
                  </a:extLst>
                </a:gridCol>
                <a:gridCol w="3582584">
                  <a:extLst>
                    <a:ext uri="{9D8B030D-6E8A-4147-A177-3AD203B41FA5}">
                      <a16:colId xmlns:a16="http://schemas.microsoft.com/office/drawing/2014/main" val="2244442089"/>
                    </a:ext>
                  </a:extLst>
                </a:gridCol>
              </a:tblGrid>
              <a:tr h="54779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>
                          <a:effectLst/>
                        </a:rPr>
                        <a:t>Быстрое устаревание ресурсов в </a:t>
                      </a:r>
                      <a:r>
                        <a:rPr lang="en-US" sz="1200" dirty="0">
                          <a:effectLst/>
                        </a:rPr>
                        <a:t>roadmap</a:t>
                      </a:r>
                      <a:endParaRPr lang="ru-RU" sz="120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 dirty="0" err="1">
                          <a:effectLst/>
                        </a:rPr>
                        <a:t>Высокая</a:t>
                      </a:r>
                      <a:endParaRPr lang="ru-RU" sz="120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200" dirty="0" err="1">
                          <a:effectLst/>
                        </a:rPr>
                        <a:t>Среднее</a:t>
                      </a:r>
                      <a:endParaRPr lang="ru-RU" sz="120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>
                          <a:effectLst/>
                        </a:rPr>
                        <a:t>Регулярное обновление базы ресурсов, интеграция с </a:t>
                      </a:r>
                      <a:r>
                        <a:rPr lang="en-US" sz="1200" dirty="0">
                          <a:effectLst/>
                        </a:rPr>
                        <a:t>API</a:t>
                      </a:r>
                      <a:r>
                        <a:rPr lang="ru-RU" sz="1200" dirty="0">
                          <a:effectLst/>
                        </a:rPr>
                        <a:t> актуальных курсов</a:t>
                      </a:r>
                      <a:endParaRPr lang="ru-RU" sz="120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50185089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Bar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3" name="Title"/>
          <p:cNvSpPr/>
          <p:nvPr/>
        </p:nvSpPr>
        <p:spPr>
          <a:xfrm>
            <a:off x="365760" y="180000"/>
            <a:ext cx="82296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800" b="1" kern="0" spc="300" dirty="0">
                <a:solidFill>
                  <a:srgbClr val="4CAF50"/>
                </a:solidFill>
                <a:latin typeface="Calibri" pitchFamily="34" charset="0"/>
              </a:rPr>
              <a:t>БЮДЖЕТ ПРОЕКТА</a:t>
            </a:r>
          </a:p>
        </p:txBody>
      </p:sp>
      <p:sp>
        <p:nvSpPr>
          <p:cNvPr id="4" name="Subtitle"/>
          <p:cNvSpPr/>
          <p:nvPr/>
        </p:nvSpPr>
        <p:spPr>
          <a:xfrm>
            <a:off x="365760" y="480000"/>
            <a:ext cx="82296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600" b="1" dirty="0">
                <a:solidFill>
                  <a:srgbClr val="FFFFFF"/>
                </a:solidFill>
                <a:latin typeface="Calibri" pitchFamily="34" charset="0"/>
              </a:rPr>
              <a:t>Расчёт на 12 месяцев · команда с частичной занятостью</a:t>
            </a:r>
          </a:p>
        </p:txBody>
      </p:sp>
      <p:sp>
        <p:nvSpPr>
          <p:cNvPr id="10" name="CardMVP"/>
          <p:cNvSpPr/>
          <p:nvPr/>
        </p:nvSpPr>
        <p:spPr>
          <a:xfrm>
            <a:off x="365760" y="890000"/>
            <a:ext cx="1900000" cy="2900000"/>
          </a:xfrm>
          <a:prstGeom prst="rect">
            <a:avLst/>
          </a:prstGeom>
          <a:solidFill>
            <a:srgbClr val="122946"/>
          </a:solidFill>
          <a:ln w="19050">
            <a:solidFill>
              <a:srgbClr val="3DAEE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CardMVPHdr"/>
          <p:cNvSpPr/>
          <p:nvPr/>
        </p:nvSpPr>
        <p:spPr>
          <a:xfrm>
            <a:off x="365760" y="890000"/>
            <a:ext cx="1900000" cy="380000"/>
          </a:xfrm>
          <a:prstGeom prst="rect">
            <a:avLst/>
          </a:prstGeom>
          <a:solidFill>
            <a:srgbClr val="3DAEE9">
              <a:alpha val="80000"/>
            </a:srgbClr>
          </a:solidFill>
          <a:ln w="12700">
            <a:solidFill>
              <a:srgbClr val="3DAEE9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ru-RU" sz="1300" b="1" dirty="0">
                <a:solidFill>
                  <a:srgbClr val="FFFFFF"/>
                </a:solidFill>
                <a:latin typeface="Calibri" pitchFamily="34" charset="0"/>
              </a:rPr>
              <a:t>MVP  1–3 мес.</a:t>
            </a:r>
          </a:p>
        </p:txBody>
      </p:sp>
      <p:sp>
        <p:nvSpPr>
          <p:cNvPr id="12" name="CardMVPAmt"/>
          <p:cNvSpPr/>
          <p:nvPr/>
        </p:nvSpPr>
        <p:spPr>
          <a:xfrm>
            <a:off x="365760" y="1310000"/>
            <a:ext cx="1900000" cy="6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marL="0" indent="0" algn="ctr">
              <a:buNone/>
            </a:pPr>
            <a:r>
              <a:rPr lang="ru-RU" sz="2200" b="1" dirty="0">
                <a:solidFill>
                  <a:srgbClr val="3DAEE9"/>
                </a:solidFill>
                <a:latin typeface="Calibri" pitchFamily="34" charset="0"/>
              </a:rPr>
              <a:t>250 тыс.</a:t>
            </a:r>
          </a:p>
          <a:p>
            <a:pPr marL="0" indent="0" algn="ctr">
              <a:buNone/>
            </a:pPr>
            <a:r>
              <a:rPr lang="ru-RU" sz="900" dirty="0">
                <a:solidFill>
                  <a:srgbClr val="8BAABF"/>
                </a:solidFill>
                <a:latin typeface="Calibri" pitchFamily="34" charset="0"/>
              </a:rPr>
              <a:t>рублей</a:t>
            </a:r>
          </a:p>
        </p:txBody>
      </p:sp>
      <p:sp>
        <p:nvSpPr>
          <p:cNvPr id="13" name="CardMVPItems"/>
          <p:cNvSpPr/>
          <p:nvPr/>
        </p:nvSpPr>
        <p:spPr>
          <a:xfrm>
            <a:off x="365760" y="1950000"/>
            <a:ext cx="1900000" cy="17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ru-RU" sz="1200" dirty="0">
                <a:solidFill>
                  <a:srgbClr val="8BAABF"/>
                </a:solidFill>
                <a:latin typeface="Calibri"/>
              </a:rPr>
              <a:t>Разработка — 180 тыс.</a:t>
            </a:r>
          </a:p>
          <a:p>
            <a:pPr marL="0" indent="0">
              <a:buNone/>
            </a:pPr>
            <a:r>
              <a:rPr lang="ru-RU" sz="1200" dirty="0">
                <a:solidFill>
                  <a:srgbClr val="8BAABF"/>
                </a:solidFill>
                <a:latin typeface="Calibri"/>
              </a:rPr>
              <a:t>QA — 30 тыс.</a:t>
            </a:r>
          </a:p>
          <a:p>
            <a:pPr marL="0" indent="0">
              <a:buNone/>
            </a:pPr>
            <a:r>
              <a:rPr lang="ru-RU" sz="1200" dirty="0">
                <a:solidFill>
                  <a:srgbClr val="8BAABF"/>
                </a:solidFill>
                <a:latin typeface="Calibri"/>
              </a:rPr>
              <a:t>Инфраструктура — 17 тыс.</a:t>
            </a:r>
          </a:p>
          <a:p>
            <a:pPr marL="0" indent="0">
              <a:buNone/>
            </a:pPr>
            <a:r>
              <a:rPr lang="ru-RU" sz="1200" dirty="0">
                <a:solidFill>
                  <a:srgbClr val="4CAF50"/>
                </a:solidFill>
                <a:latin typeface="Calibri"/>
              </a:rPr>
              <a:t>Резерв 10% — 23 тыс.</a:t>
            </a:r>
          </a:p>
        </p:txBody>
      </p:sp>
      <p:sp>
        <p:nvSpPr>
          <p:cNvPr id="20" name="Card11"/>
          <p:cNvSpPr/>
          <p:nvPr/>
        </p:nvSpPr>
        <p:spPr>
          <a:xfrm>
            <a:off x="2460000" y="890000"/>
            <a:ext cx="1900000" cy="2900000"/>
          </a:xfrm>
          <a:prstGeom prst="rect">
            <a:avLst/>
          </a:prstGeom>
          <a:solidFill>
            <a:srgbClr val="122946"/>
          </a:solidFill>
          <a:ln w="1905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Card11Hdr"/>
          <p:cNvSpPr/>
          <p:nvPr/>
        </p:nvSpPr>
        <p:spPr>
          <a:xfrm>
            <a:off x="2460000" y="890000"/>
            <a:ext cx="1900000" cy="380000"/>
          </a:xfrm>
          <a:prstGeom prst="rect">
            <a:avLst/>
          </a:prstGeom>
          <a:solidFill>
            <a:srgbClr val="F5A623">
              <a:alpha val="80000"/>
            </a:srgbClr>
          </a:solidFill>
          <a:ln w="12700">
            <a:solidFill>
              <a:srgbClr val="F5A623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ru-RU" sz="1300" b="1" dirty="0">
                <a:solidFill>
                  <a:srgbClr val="0D2137"/>
                </a:solidFill>
                <a:latin typeface="Calibri" pitchFamily="34" charset="0"/>
              </a:rPr>
              <a:t>Релиз 1.1  4–6 мес.</a:t>
            </a:r>
          </a:p>
        </p:txBody>
      </p:sp>
      <p:sp>
        <p:nvSpPr>
          <p:cNvPr id="22" name="Card11Amt"/>
          <p:cNvSpPr/>
          <p:nvPr/>
        </p:nvSpPr>
        <p:spPr>
          <a:xfrm>
            <a:off x="2460000" y="1310000"/>
            <a:ext cx="1900000" cy="6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marL="0" indent="0" algn="ctr">
              <a:buNone/>
            </a:pPr>
            <a:r>
              <a:rPr lang="ru-RU" sz="2200" b="1" dirty="0">
                <a:solidFill>
                  <a:srgbClr val="F5A623"/>
                </a:solidFill>
                <a:latin typeface="Calibri" pitchFamily="34" charset="0"/>
              </a:rPr>
              <a:t>300 тыс.</a:t>
            </a:r>
          </a:p>
          <a:p>
            <a:pPr marL="0" indent="0" algn="ctr">
              <a:buNone/>
            </a:pPr>
            <a:r>
              <a:rPr lang="ru-RU" sz="900" dirty="0">
                <a:solidFill>
                  <a:srgbClr val="8BAABF"/>
                </a:solidFill>
                <a:latin typeface="Calibri" pitchFamily="34" charset="0"/>
              </a:rPr>
              <a:t>рублей</a:t>
            </a:r>
          </a:p>
        </p:txBody>
      </p:sp>
      <p:sp>
        <p:nvSpPr>
          <p:cNvPr id="23" name="Card11Items"/>
          <p:cNvSpPr/>
          <p:nvPr/>
        </p:nvSpPr>
        <p:spPr>
          <a:xfrm>
            <a:off x="2460000" y="1950000"/>
            <a:ext cx="1900000" cy="17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ru-RU" sz="1200" dirty="0">
                <a:solidFill>
                  <a:srgbClr val="8BAABF"/>
                </a:solidFill>
                <a:latin typeface="Calibri"/>
              </a:rPr>
              <a:t>Разработка — 180 тыс.</a:t>
            </a:r>
          </a:p>
          <a:p>
            <a:pPr marL="0" indent="0">
              <a:buNone/>
            </a:pPr>
            <a:r>
              <a:rPr lang="ru-RU" sz="1200" dirty="0">
                <a:solidFill>
                  <a:srgbClr val="8BAABF"/>
                </a:solidFill>
                <a:latin typeface="Calibri"/>
              </a:rPr>
              <a:t>QA — 30 тыс.</a:t>
            </a:r>
          </a:p>
          <a:p>
            <a:pPr marL="0" indent="0">
              <a:buNone/>
            </a:pPr>
            <a:r>
              <a:rPr lang="ru-RU" sz="1200" dirty="0">
                <a:solidFill>
                  <a:srgbClr val="8BAABF"/>
                </a:solidFill>
                <a:latin typeface="Calibri"/>
              </a:rPr>
              <a:t>API  — 45 тыс.</a:t>
            </a:r>
          </a:p>
          <a:p>
            <a:pPr marL="0" indent="0">
              <a:buNone/>
            </a:pPr>
            <a:r>
              <a:rPr lang="ru-RU" sz="1200" dirty="0">
                <a:solidFill>
                  <a:srgbClr val="8BAABF"/>
                </a:solidFill>
                <a:latin typeface="Calibri"/>
              </a:rPr>
              <a:t>Инфраструктура, проч. — 18 тыс.</a:t>
            </a:r>
          </a:p>
          <a:p>
            <a:pPr marL="0" indent="0">
              <a:buNone/>
            </a:pPr>
            <a:r>
              <a:rPr lang="ru-RU" sz="1200" dirty="0">
                <a:solidFill>
                  <a:srgbClr val="4CAF50"/>
                </a:solidFill>
                <a:latin typeface="Calibri"/>
              </a:rPr>
              <a:t>Резерв 10% — 27 тыс.</a:t>
            </a:r>
          </a:p>
        </p:txBody>
      </p:sp>
      <p:sp>
        <p:nvSpPr>
          <p:cNvPr id="30" name="Card12"/>
          <p:cNvSpPr/>
          <p:nvPr/>
        </p:nvSpPr>
        <p:spPr>
          <a:xfrm>
            <a:off x="4555000" y="890000"/>
            <a:ext cx="1900000" cy="2900000"/>
          </a:xfrm>
          <a:prstGeom prst="rect">
            <a:avLst/>
          </a:prstGeom>
          <a:solidFill>
            <a:srgbClr val="122946"/>
          </a:solidFill>
          <a:ln w="19050">
            <a:solidFill>
              <a:srgbClr val="4CAF5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1" name="Card12Hdr"/>
          <p:cNvSpPr/>
          <p:nvPr/>
        </p:nvSpPr>
        <p:spPr>
          <a:xfrm>
            <a:off x="4555000" y="890000"/>
            <a:ext cx="1900000" cy="380000"/>
          </a:xfrm>
          <a:prstGeom prst="rect">
            <a:avLst/>
          </a:prstGeom>
          <a:solidFill>
            <a:srgbClr val="4CAF50">
              <a:alpha val="80000"/>
            </a:srgbClr>
          </a:solidFill>
          <a:ln w="12700">
            <a:solidFill>
              <a:srgbClr val="4CAF50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ru-RU" sz="1300" b="1" dirty="0">
                <a:solidFill>
                  <a:srgbClr val="0D2137"/>
                </a:solidFill>
                <a:latin typeface="Calibri" pitchFamily="34" charset="0"/>
              </a:rPr>
              <a:t>Релиз 2.0  7–12 мес.</a:t>
            </a:r>
          </a:p>
        </p:txBody>
      </p:sp>
      <p:sp>
        <p:nvSpPr>
          <p:cNvPr id="32" name="Card12Amt"/>
          <p:cNvSpPr/>
          <p:nvPr/>
        </p:nvSpPr>
        <p:spPr>
          <a:xfrm>
            <a:off x="4555000" y="1310000"/>
            <a:ext cx="1900000" cy="6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marL="0" indent="0" algn="ctr">
              <a:buNone/>
            </a:pPr>
            <a:r>
              <a:rPr lang="ru-RU" sz="2200" b="1" dirty="0">
                <a:solidFill>
                  <a:srgbClr val="4CAF50"/>
                </a:solidFill>
                <a:latin typeface="Calibri" pitchFamily="34" charset="0"/>
              </a:rPr>
              <a:t>450 тыс.</a:t>
            </a:r>
          </a:p>
          <a:p>
            <a:pPr marL="0" indent="0" algn="ctr">
              <a:buNone/>
            </a:pPr>
            <a:r>
              <a:rPr lang="ru-RU" sz="900" dirty="0">
                <a:solidFill>
                  <a:srgbClr val="8BAABF"/>
                </a:solidFill>
                <a:latin typeface="Calibri" pitchFamily="34" charset="0"/>
              </a:rPr>
              <a:t>рублей</a:t>
            </a:r>
          </a:p>
        </p:txBody>
      </p:sp>
      <p:sp>
        <p:nvSpPr>
          <p:cNvPr id="33" name="Card12Items"/>
          <p:cNvSpPr/>
          <p:nvPr/>
        </p:nvSpPr>
        <p:spPr>
          <a:xfrm>
            <a:off x="4555000" y="1950000"/>
            <a:ext cx="1900000" cy="17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ru-RU" sz="1200" dirty="0">
                <a:solidFill>
                  <a:srgbClr val="8BAABF"/>
                </a:solidFill>
                <a:latin typeface="Calibri"/>
              </a:rPr>
              <a:t>Разработка — 270 тыс.</a:t>
            </a:r>
          </a:p>
          <a:p>
            <a:pPr marL="0" indent="0">
              <a:buNone/>
            </a:pPr>
            <a:r>
              <a:rPr lang="ru-RU" sz="1200" dirty="0">
                <a:solidFill>
                  <a:srgbClr val="8BAABF"/>
                </a:solidFill>
                <a:latin typeface="Calibri"/>
              </a:rPr>
              <a:t>QA + Интегр. — 50 тыс.</a:t>
            </a:r>
          </a:p>
          <a:p>
            <a:pPr marL="0" indent="0">
              <a:buNone/>
            </a:pPr>
            <a:r>
              <a:rPr lang="ru-RU" sz="1200" dirty="0">
                <a:solidFill>
                  <a:srgbClr val="8BAABF"/>
                </a:solidFill>
                <a:latin typeface="Calibri"/>
              </a:rPr>
              <a:t>API / сервера — 89 тыс.</a:t>
            </a:r>
          </a:p>
          <a:p>
            <a:pPr marL="0" indent="0">
              <a:buNone/>
            </a:pPr>
            <a:r>
              <a:rPr lang="ru-RU" sz="1200" dirty="0">
                <a:solidFill>
                  <a:srgbClr val="4CAF50"/>
                </a:solidFill>
                <a:latin typeface="Calibri"/>
              </a:rPr>
              <a:t>Резерв 10% — 41 тыс.</a:t>
            </a:r>
          </a:p>
        </p:txBody>
      </p:sp>
      <p:sp>
        <p:nvSpPr>
          <p:cNvPr id="40" name="CardTotal"/>
          <p:cNvSpPr/>
          <p:nvPr/>
        </p:nvSpPr>
        <p:spPr>
          <a:xfrm>
            <a:off x="6650000" y="890000"/>
            <a:ext cx="2128080" cy="2900000"/>
          </a:xfrm>
          <a:prstGeom prst="rect">
            <a:avLst/>
          </a:prstGeom>
          <a:solidFill>
            <a:srgbClr val="1A6FA8">
              <a:alpha val="45000"/>
            </a:srgbClr>
          </a:solidFill>
          <a:ln w="19050">
            <a:solidFill>
              <a:srgbClr val="3DAEE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1" name="CardTotalHdr"/>
          <p:cNvSpPr/>
          <p:nvPr/>
        </p:nvSpPr>
        <p:spPr>
          <a:xfrm>
            <a:off x="6650000" y="890000"/>
            <a:ext cx="2128080" cy="380000"/>
          </a:xfrm>
          <a:prstGeom prst="rect">
            <a:avLst/>
          </a:prstGeom>
          <a:solidFill>
            <a:srgbClr val="3DAEE9"/>
          </a:solidFill>
          <a:ln w="12700">
            <a:solidFill>
              <a:srgbClr val="3DAEE9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ru-RU" sz="1300" b="1" dirty="0">
                <a:solidFill>
                  <a:srgbClr val="0D2137"/>
                </a:solidFill>
                <a:latin typeface="Calibri" pitchFamily="34" charset="0"/>
              </a:rPr>
              <a:t>ИТОГО</a:t>
            </a:r>
          </a:p>
        </p:txBody>
      </p:sp>
      <p:sp>
        <p:nvSpPr>
          <p:cNvPr id="42" name="CardTotalAmt"/>
          <p:cNvSpPr/>
          <p:nvPr/>
        </p:nvSpPr>
        <p:spPr>
          <a:xfrm>
            <a:off x="6650000" y="1310000"/>
            <a:ext cx="2128080" cy="9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marL="0" indent="0" algn="ctr">
              <a:buNone/>
            </a:pPr>
            <a:r>
              <a:rPr lang="ru-RU" sz="2800" b="1" dirty="0">
                <a:solidFill>
                  <a:srgbClr val="FFFFFF"/>
                </a:solidFill>
                <a:latin typeface="Calibri" pitchFamily="34" charset="0"/>
              </a:rPr>
              <a:t>~1,0</a:t>
            </a:r>
          </a:p>
          <a:p>
            <a:pPr marL="0" indent="0" algn="ctr">
              <a:buNone/>
            </a:pPr>
            <a:r>
              <a:rPr lang="ru-RU" sz="1400" b="1" dirty="0">
                <a:solidFill>
                  <a:srgbClr val="3DAEE9"/>
                </a:solidFill>
                <a:latin typeface="Calibri" pitchFamily="34" charset="0"/>
              </a:rPr>
              <a:t>млн руб.</a:t>
            </a:r>
          </a:p>
          <a:p>
            <a:pPr marL="0" indent="0" algn="ctr">
              <a:buNone/>
            </a:pPr>
            <a:r>
              <a:rPr lang="ru-RU" sz="800" dirty="0">
                <a:solidFill>
                  <a:srgbClr val="8BAABF"/>
                </a:solidFill>
                <a:latin typeface="Calibri" pitchFamily="34" charset="0"/>
              </a:rPr>
              <a:t>за 12 месяцев</a:t>
            </a:r>
          </a:p>
        </p:txBody>
      </p:sp>
      <p:sp>
        <p:nvSpPr>
          <p:cNvPr id="43" name="CardTotalNote"/>
          <p:cNvSpPr/>
          <p:nvPr/>
        </p:nvSpPr>
        <p:spPr>
          <a:xfrm>
            <a:off x="6650000" y="2300000"/>
            <a:ext cx="2128080" cy="14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0" indent="0" algn="ctr">
              <a:buNone/>
            </a:pPr>
            <a:r>
              <a:rPr lang="ru-RU" sz="1400" dirty="0">
                <a:solidFill>
                  <a:srgbClr val="8BAABF"/>
                </a:solidFill>
                <a:latin typeface="Calibri"/>
              </a:rPr>
              <a:t>Ставка 30–60 тыс.×мес.</a:t>
            </a:r>
          </a:p>
          <a:p>
            <a:pPr marL="0" indent="0" algn="ctr">
              <a:buNone/>
            </a:pPr>
            <a:r>
              <a:rPr lang="ru-RU" sz="1400" dirty="0">
                <a:solidFill>
                  <a:srgbClr val="8BAABF"/>
                </a:solidFill>
                <a:latin typeface="Calibri"/>
              </a:rPr>
              <a:t>частичная занятость</a:t>
            </a:r>
          </a:p>
          <a:p>
            <a:pPr marL="0" indent="0" algn="ctr">
              <a:buNone/>
            </a:pPr>
            <a:r>
              <a:rPr lang="ru-RU" sz="1400" dirty="0">
                <a:solidFill>
                  <a:srgbClr val="4CAF50"/>
                </a:solidFill>
                <a:latin typeface="Calibri"/>
              </a:rPr>
              <a:t>+ Резерв 10%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Bar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DAEE9"/>
          </a:solidFill>
          <a:ln w="12700">
            <a:solidFill>
              <a:srgbClr val="3DAEE9"/>
            </a:solidFill>
            <a:prstDash val="solid"/>
          </a:ln>
        </p:spPr>
      </p:sp>
      <p:sp>
        <p:nvSpPr>
          <p:cNvPr id="10" name="MainTitle"/>
          <p:cNvSpPr/>
          <p:nvPr/>
        </p:nvSpPr>
        <p:spPr>
          <a:xfrm>
            <a:off x="986246" y="483829"/>
            <a:ext cx="630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solidFill>
                  <a:srgbClr val="FFFFFF"/>
                </a:solidFill>
                <a:latin typeface="Calibri" pitchFamily="34" charset="0"/>
              </a:rPr>
              <a:t>Продукт решает</a:t>
            </a:r>
          </a:p>
        </p:txBody>
      </p:sp>
      <p:sp>
        <p:nvSpPr>
          <p:cNvPr id="11" name="MainTitle2"/>
          <p:cNvSpPr/>
          <p:nvPr/>
        </p:nvSpPr>
        <p:spPr>
          <a:xfrm>
            <a:off x="986246" y="943829"/>
            <a:ext cx="630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solidFill>
                  <a:srgbClr val="3DAEE9"/>
                </a:solidFill>
                <a:latin typeface="Calibri" pitchFamily="34" charset="0"/>
              </a:rPr>
              <a:t>3 реальные проблемы</a:t>
            </a:r>
          </a:p>
        </p:txBody>
      </p:sp>
      <p:sp>
        <p:nvSpPr>
          <p:cNvPr id="20" name="KPI1"/>
          <p:cNvSpPr/>
          <p:nvPr/>
        </p:nvSpPr>
        <p:spPr>
          <a:xfrm>
            <a:off x="1765760" y="1671750"/>
            <a:ext cx="1800000" cy="900000"/>
          </a:xfrm>
          <a:prstGeom prst="rect">
            <a:avLst/>
          </a:prstGeom>
          <a:solidFill>
            <a:srgbClr val="122946"/>
          </a:solidFill>
          <a:ln w="12700">
            <a:solidFill>
              <a:srgbClr val="3DAEE9"/>
            </a:solidFill>
            <a:prstDash val="solid"/>
          </a:ln>
        </p:spPr>
        <p:txBody>
          <a:bodyPr wrap="square" lIns="91440" tIns="91440" rIns="91440" bIns="91440" rtlCol="0" anchor="ctr"/>
          <a:lstStyle/>
          <a:p>
            <a:pPr marL="0" indent="0" algn="ctr">
              <a:buNone/>
            </a:pPr>
            <a:r>
              <a:rPr lang="ru-RU" sz="2600" b="1" dirty="0">
                <a:solidFill>
                  <a:srgbClr val="3DAEE9"/>
                </a:solidFill>
                <a:latin typeface="Calibri" pitchFamily="34" charset="0"/>
              </a:rPr>
              <a:t>≤</a:t>
            </a:r>
            <a:r>
              <a:rPr lang="en-US" sz="2600" b="1" dirty="0">
                <a:solidFill>
                  <a:srgbClr val="3DAEE9"/>
                </a:solidFill>
                <a:latin typeface="Calibri" pitchFamily="34" charset="0"/>
              </a:rPr>
              <a:t>2</a:t>
            </a:r>
            <a:r>
              <a:rPr lang="ru-RU" sz="2600" b="1" dirty="0">
                <a:solidFill>
                  <a:srgbClr val="3DAEE9"/>
                </a:solidFill>
                <a:latin typeface="Calibri" pitchFamily="34" charset="0"/>
              </a:rPr>
              <a:t> мин.</a:t>
            </a:r>
          </a:p>
          <a:p>
            <a:pPr marL="0" indent="0" algn="ctr">
              <a:buNone/>
            </a:pPr>
            <a:r>
              <a:rPr lang="ru-RU" sz="900" dirty="0">
                <a:solidFill>
                  <a:srgbClr val="8BAABF"/>
                </a:solidFill>
                <a:latin typeface="Calibri" pitchFamily="34" charset="0"/>
              </a:rPr>
              <a:t>время генерации </a:t>
            </a:r>
            <a:r>
              <a:rPr lang="en-US" sz="900" dirty="0">
                <a:solidFill>
                  <a:srgbClr val="8BAABF"/>
                </a:solidFill>
                <a:latin typeface="Calibri" pitchFamily="34" charset="0"/>
              </a:rPr>
              <a:t>roadmap</a:t>
            </a:r>
            <a:endParaRPr lang="ru-RU" sz="900" dirty="0">
              <a:solidFill>
                <a:srgbClr val="8BAABF"/>
              </a:solidFill>
              <a:latin typeface="Calibri" pitchFamily="34" charset="0"/>
            </a:endParaRPr>
          </a:p>
        </p:txBody>
      </p:sp>
      <p:sp>
        <p:nvSpPr>
          <p:cNvPr id="21" name="KPI2"/>
          <p:cNvSpPr/>
          <p:nvPr/>
        </p:nvSpPr>
        <p:spPr>
          <a:xfrm>
            <a:off x="3765760" y="1671750"/>
            <a:ext cx="1800000" cy="900000"/>
          </a:xfrm>
          <a:prstGeom prst="rect">
            <a:avLst/>
          </a:prstGeom>
          <a:solidFill>
            <a:srgbClr val="122946"/>
          </a:solidFill>
          <a:ln w="12700">
            <a:solidFill>
              <a:srgbClr val="4CAF50"/>
            </a:solidFill>
            <a:prstDash val="solid"/>
          </a:ln>
        </p:spPr>
        <p:txBody>
          <a:bodyPr wrap="square" lIns="91440" tIns="91440" rIns="91440" bIns="91440" rtlCol="0" anchor="ctr"/>
          <a:lstStyle/>
          <a:p>
            <a:pPr marL="0" indent="0" algn="ctr">
              <a:buNone/>
            </a:pPr>
            <a:r>
              <a:rPr lang="ru-RU" sz="2600" b="1" dirty="0">
                <a:solidFill>
                  <a:srgbClr val="4CAF50"/>
                </a:solidFill>
                <a:latin typeface="Calibri" pitchFamily="34" charset="0"/>
              </a:rPr>
              <a:t>≥8</a:t>
            </a:r>
            <a:r>
              <a:rPr lang="en-US" sz="2600" b="1" dirty="0">
                <a:solidFill>
                  <a:srgbClr val="4CAF50"/>
                </a:solidFill>
                <a:latin typeface="Calibri" pitchFamily="34" charset="0"/>
              </a:rPr>
              <a:t>0</a:t>
            </a:r>
            <a:r>
              <a:rPr lang="ru-RU" sz="2600" b="1" dirty="0">
                <a:solidFill>
                  <a:srgbClr val="4CAF50"/>
                </a:solidFill>
                <a:latin typeface="Calibri" pitchFamily="34" charset="0"/>
              </a:rPr>
              <a:t>%</a:t>
            </a:r>
          </a:p>
          <a:p>
            <a:pPr marL="0" indent="0" algn="ctr">
              <a:buNone/>
            </a:pPr>
            <a:r>
              <a:rPr lang="ru-RU" sz="900" dirty="0">
                <a:solidFill>
                  <a:srgbClr val="8BAABF"/>
                </a:solidFill>
                <a:latin typeface="Calibri" pitchFamily="34" charset="0"/>
              </a:rPr>
              <a:t>точность</a:t>
            </a:r>
            <a:r>
              <a:rPr lang="en-US" sz="900" dirty="0">
                <a:solidFill>
                  <a:srgbClr val="8BAABF"/>
                </a:solidFill>
                <a:latin typeface="Calibri" pitchFamily="34" charset="0"/>
              </a:rPr>
              <a:t> </a:t>
            </a:r>
            <a:r>
              <a:rPr lang="ru-RU" sz="900" dirty="0">
                <a:solidFill>
                  <a:srgbClr val="8BAABF"/>
                </a:solidFill>
                <a:latin typeface="Calibri" pitchFamily="34" charset="0"/>
              </a:rPr>
              <a:t>персонализации</a:t>
            </a:r>
          </a:p>
        </p:txBody>
      </p:sp>
      <p:sp>
        <p:nvSpPr>
          <p:cNvPr id="22" name="KPI3"/>
          <p:cNvSpPr/>
          <p:nvPr/>
        </p:nvSpPr>
        <p:spPr>
          <a:xfrm>
            <a:off x="5765760" y="1671750"/>
            <a:ext cx="1800000" cy="900000"/>
          </a:xfrm>
          <a:prstGeom prst="rect">
            <a:avLst/>
          </a:prstGeom>
          <a:solidFill>
            <a:srgbClr val="122946"/>
          </a:solidFill>
          <a:ln w="12700">
            <a:solidFill>
              <a:srgbClr val="F5A623"/>
            </a:solidFill>
            <a:prstDash val="solid"/>
          </a:ln>
        </p:spPr>
        <p:txBody>
          <a:bodyPr wrap="square" lIns="91440" tIns="91440" rIns="91440" bIns="91440" rtlCol="0" anchor="ctr"/>
          <a:lstStyle/>
          <a:p>
            <a:pPr marL="0" indent="0" algn="ctr">
              <a:buNone/>
            </a:pPr>
            <a:r>
              <a:rPr lang="ru-RU" sz="2600" b="1" dirty="0">
                <a:solidFill>
                  <a:srgbClr val="F5A623"/>
                </a:solidFill>
                <a:latin typeface="Calibri" pitchFamily="34" charset="0"/>
              </a:rPr>
              <a:t>99%</a:t>
            </a:r>
          </a:p>
          <a:p>
            <a:pPr marL="0" indent="0" algn="ctr">
              <a:buNone/>
            </a:pPr>
            <a:r>
              <a:rPr lang="ru-RU" sz="900" dirty="0">
                <a:solidFill>
                  <a:srgbClr val="8BAABF"/>
                </a:solidFill>
                <a:latin typeface="Calibri" pitchFamily="34" charset="0"/>
              </a:rPr>
              <a:t>доступность сервиса</a:t>
            </a:r>
          </a:p>
        </p:txBody>
      </p:sp>
      <p:sp>
        <p:nvSpPr>
          <p:cNvPr id="30" name="UniqueBlock"/>
          <p:cNvSpPr/>
          <p:nvPr/>
        </p:nvSpPr>
        <p:spPr>
          <a:xfrm>
            <a:off x="1765760" y="2900207"/>
            <a:ext cx="58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00" b="1" spc="200" dirty="0">
                <a:solidFill>
                  <a:srgbClr val="8BAABF"/>
                </a:solidFill>
                <a:latin typeface="Calibri" pitchFamily="34" charset="0"/>
              </a:rPr>
              <a:t>УНИКАЛЬНОСТЬ ПРОЕКТА</a:t>
            </a:r>
          </a:p>
        </p:txBody>
      </p:sp>
      <p:sp>
        <p:nvSpPr>
          <p:cNvPr id="31" name="Uniq1"/>
          <p:cNvSpPr/>
          <p:nvPr/>
        </p:nvSpPr>
        <p:spPr>
          <a:xfrm>
            <a:off x="1765760" y="3360207"/>
            <a:ext cx="1700000" cy="300000"/>
          </a:xfrm>
          <a:prstGeom prst="rect">
            <a:avLst/>
          </a:prstGeom>
          <a:solidFill>
            <a:schemeClr val="accent1">
              <a:alpha val="20000"/>
            </a:schemeClr>
          </a:solidFill>
          <a:ln w="12700">
            <a:solidFill>
              <a:srgbClr val="3DAEE9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ru-RU" sz="900" b="1" dirty="0">
                <a:solidFill>
                  <a:srgbClr val="0070C0"/>
                </a:solidFill>
                <a:latin typeface="Calibri" pitchFamily="34" charset="0"/>
              </a:rPr>
              <a:t>ИИ-генерация не более, чем за 2 минуты</a:t>
            </a:r>
          </a:p>
        </p:txBody>
      </p:sp>
      <p:sp>
        <p:nvSpPr>
          <p:cNvPr id="32" name="Uniq2"/>
          <p:cNvSpPr/>
          <p:nvPr/>
        </p:nvSpPr>
        <p:spPr>
          <a:xfrm>
            <a:off x="3565760" y="3360207"/>
            <a:ext cx="1900000" cy="300000"/>
          </a:xfrm>
          <a:prstGeom prst="rect">
            <a:avLst/>
          </a:prstGeom>
          <a:solidFill>
            <a:srgbClr val="00B050">
              <a:alpha val="20000"/>
            </a:srgbClr>
          </a:solidFill>
          <a:ln w="12700">
            <a:solidFill>
              <a:srgbClr val="4CAF50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ru-RU" sz="900" b="1" dirty="0">
                <a:solidFill>
                  <a:srgbClr val="00B050"/>
                </a:solidFill>
                <a:latin typeface="Calibri" pitchFamily="34" charset="0"/>
              </a:rPr>
              <a:t>Бесплатно и 24</a:t>
            </a:r>
            <a:r>
              <a:rPr lang="en-US" sz="900" b="1" dirty="0">
                <a:solidFill>
                  <a:srgbClr val="00B050"/>
                </a:solidFill>
                <a:latin typeface="Calibri" pitchFamily="34" charset="0"/>
              </a:rPr>
              <a:t>/7</a:t>
            </a:r>
            <a:endParaRPr lang="ru-RU" sz="900" b="1" dirty="0">
              <a:solidFill>
                <a:srgbClr val="00B050"/>
              </a:solidFill>
              <a:latin typeface="Calibri" pitchFamily="34" charset="0"/>
            </a:endParaRPr>
          </a:p>
        </p:txBody>
      </p:sp>
      <p:sp>
        <p:nvSpPr>
          <p:cNvPr id="33" name="Uniq3"/>
          <p:cNvSpPr/>
          <p:nvPr/>
        </p:nvSpPr>
        <p:spPr>
          <a:xfrm>
            <a:off x="5565760" y="3360207"/>
            <a:ext cx="2000000" cy="300000"/>
          </a:xfrm>
          <a:prstGeom prst="rect">
            <a:avLst/>
          </a:prstGeom>
          <a:solidFill>
            <a:srgbClr val="F5A623">
              <a:alpha val="20000"/>
            </a:srgbClr>
          </a:solidFill>
          <a:ln w="12700">
            <a:solidFill>
              <a:srgbClr val="F5A623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ru-RU" sz="900" b="1" dirty="0">
                <a:solidFill>
                  <a:srgbClr val="FFC000"/>
                </a:solidFill>
                <a:latin typeface="Calibri" pitchFamily="34" charset="0"/>
              </a:rPr>
              <a:t>Без привязки к курсу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ЛАБОРАТОРНАЯ РАБОТА №3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97280"/>
            <a:ext cx="713232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трудоёмкости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экономической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эффективности проекта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640080" y="3597941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методики  ·  7 показателей  ·  Полный анализ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1. Экономическая эффективность проекта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28600" y="960120"/>
            <a:ext cx="2743200" cy="1828800"/>
          </a:xfrm>
          <a:prstGeom prst="rect">
            <a:avLst/>
          </a:prstGeom>
          <a:solidFill>
            <a:srgbClr val="E8F4F8"/>
          </a:solidFill>
          <a:ln w="12700">
            <a:solidFill>
              <a:srgbClr val="02809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960120"/>
            <a:ext cx="64008" cy="1828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0972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ЧДД (NPV)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141732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92 024 ₽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65760" y="228600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0, проект целесообразен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72968" y="960120"/>
            <a:ext cx="2743200" cy="1828800"/>
          </a:xfrm>
          <a:prstGeom prst="rect">
            <a:avLst/>
          </a:prstGeom>
          <a:solidFill>
            <a:srgbClr val="F0F9FF"/>
          </a:solidFill>
          <a:ln w="12700">
            <a:solidFill>
              <a:srgbClr val="1E276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72968" y="960120"/>
            <a:ext cx="64008" cy="1828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55848" y="10972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Индекс доходности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10128" y="141732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310128" y="228600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1, проект эффективен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117336" y="960120"/>
            <a:ext cx="2743200" cy="1828800"/>
          </a:xfrm>
          <a:prstGeom prst="rect">
            <a:avLst/>
          </a:prstGeom>
          <a:solidFill>
            <a:srgbClr val="E8F4F8"/>
          </a:solidFill>
          <a:ln w="12700">
            <a:solidFill>
              <a:srgbClr val="02C39A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17336" y="960120"/>
            <a:ext cx="64008" cy="18288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0216" y="10972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ВНД (IRR)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141732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36,8%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254496" y="228600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20% ставки дисконтир.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28600" y="2926080"/>
            <a:ext cx="2743200" cy="1828800"/>
          </a:xfrm>
          <a:prstGeom prst="rect">
            <a:avLst/>
          </a:prstGeom>
          <a:solidFill>
            <a:srgbClr val="F0F9FF"/>
          </a:solidFill>
          <a:ln w="12700">
            <a:solidFill>
              <a:srgbClr val="02809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28600" y="2926080"/>
            <a:ext cx="64008" cy="1828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30632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 окупаемости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338328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г. 7 мес.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365760" y="425196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</a:t>
            </a:r>
            <a:r>
              <a:rPr lang="en-US" sz="95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начала</a:t>
            </a: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коммерческой </a:t>
            </a:r>
            <a:r>
              <a:rPr lang="en-US" sz="95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эксплуатации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172968" y="2926080"/>
            <a:ext cx="2743200" cy="1828800"/>
          </a:xfrm>
          <a:prstGeom prst="rect">
            <a:avLst/>
          </a:prstGeom>
          <a:solidFill>
            <a:srgbClr val="E8F4F8"/>
          </a:solidFill>
          <a:ln w="12700">
            <a:solidFill>
              <a:srgbClr val="1E276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172968" y="2926080"/>
            <a:ext cx="64008" cy="1828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55848" y="30632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(3 года)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10128" y="338328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107%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3310128" y="425196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достигается </a:t>
            </a:r>
            <a:r>
              <a:rPr lang="en-US" sz="95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доходность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117336" y="2926080"/>
            <a:ext cx="2743200" cy="1828800"/>
          </a:xfrm>
          <a:prstGeom prst="rect">
            <a:avLst/>
          </a:prstGeom>
          <a:solidFill>
            <a:srgbClr val="F0F9FF"/>
          </a:solidFill>
          <a:ln w="12700">
            <a:solidFill>
              <a:srgbClr val="02C39A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17336" y="2926080"/>
            <a:ext cx="64008" cy="18288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0216" y="30632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Точка безубыточн.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254496" y="338328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польз.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6254496" y="425196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достижимо в 1-й год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денежных потоков</a:t>
            </a:r>
            <a:endParaRPr lang="en-US" sz="1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/>
        </p:nvGraphicFramePr>
        <p:xfrm>
          <a:off x="274320" y="914400"/>
          <a:ext cx="5120640" cy="3474723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63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Показатель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Год 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Год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Год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Год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Инвестиции, 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–300 000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Выручка, 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90 000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270 000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600 000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Операц. расходы, 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112 000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190 000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Чистый CF, 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–300 000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54 000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158 000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410 000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Коэфф. дисконт.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Дисконтир. CF, 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C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–300 000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+44 982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+109 652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+237 390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" name="Chart 0"/>
          <p:cNvGraphicFramePr/>
          <p:nvPr/>
        </p:nvGraphicFramePr>
        <p:xfrm>
          <a:off x="5394960" y="914400"/>
          <a:ext cx="347472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2. Методика PERT — </a:t>
            </a:r>
            <a:r>
              <a:rPr lang="en-US" sz="1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</a:t>
            </a: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критического пути</a:t>
            </a:r>
            <a:endParaRPr lang="en-US" sz="1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6115065"/>
              </p:ext>
            </p:extLst>
          </p:nvPr>
        </p:nvGraphicFramePr>
        <p:xfrm>
          <a:off x="274320" y="914400"/>
          <a:ext cx="5257800" cy="3251200"/>
        </p:xfrm>
        <a:graphic>
          <a:graphicData uri="http://schemas.openxmlformats.org/drawingml/2006/table">
            <a:tbl>
              <a:tblPr/>
              <a:tblGrid>
                <a:gridCol w="320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№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Задача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00" kern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>
                            <a:outerShdw blurRad="38100" dist="19050" dir="2700000" algn="tl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Планирование и анализ</a:t>
                      </a:r>
                      <a:r>
                        <a:rPr lang="ru-RU" sz="1000" dirty="0">
                          <a:effectLst/>
                        </a:rPr>
                        <a:t>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,1</a:t>
                      </a: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ru-RU" sz="900" kern="1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>
                            <a:outerShdw blurRad="38100" dist="19050" dir="2700000" algn="tl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Определение требований</a:t>
                      </a:r>
                      <a:endParaRPr lang="ru-RU" sz="10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82550" marR="82550" marT="57150" marB="5715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,1</a:t>
                      </a: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</a:t>
                      </a: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00" kern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>
                            <a:outerShdw blurRad="38100" dist="19050" dir="2700000" algn="tl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Проектирование</a:t>
                      </a:r>
                      <a:r>
                        <a:rPr lang="ru-RU" sz="1000" dirty="0">
                          <a:effectLst/>
                        </a:rPr>
                        <a:t>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</a:t>
                      </a: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</a:t>
                      </a: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00" kern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>
                            <a:outerShdw blurRad="38100" dist="19050" dir="2700000" algn="tl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Разработка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</a:t>
                      </a: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1,33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00" kern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>
                            <a:outerShdw blurRad="38100" dist="19050" dir="2700000" algn="tl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Тестирование</a:t>
                      </a:r>
                      <a:r>
                        <a:rPr lang="ru-RU" sz="1000" dirty="0">
                          <a:effectLst/>
                        </a:rPr>
                        <a:t>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</a:t>
                      </a: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00" kern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>
                            <a:outerShdw blurRad="38100" dist="19050" dir="2700000" algn="tl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Развертывание + </a:t>
                      </a:r>
                      <a:r>
                        <a:rPr lang="en-US" sz="1000" kern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>
                            <a:outerShdw blurRad="38100" dist="19050" dir="2700000" algn="tl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CI / CD</a:t>
                      </a:r>
                      <a:r>
                        <a:rPr lang="ru-RU" sz="1000" dirty="0">
                          <a:effectLst/>
                        </a:rPr>
                        <a:t>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,1</a:t>
                      </a: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КП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1→</a:t>
                      </a: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00" b="1" dirty="0">
                          <a:solidFill>
                            <a:srgbClr val="CC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r>
                        <a:rPr lang="en-US" sz="1000" b="1" dirty="0">
                          <a:solidFill>
                            <a:srgbClr val="CC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</a:t>
                      </a:r>
                      <a:r>
                        <a:rPr lang="ru-RU" sz="1000" b="1" dirty="0">
                          <a:solidFill>
                            <a:srgbClr val="CC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</a:t>
                      </a: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Shape 2"/>
          <p:cNvSpPr/>
          <p:nvPr/>
        </p:nvSpPr>
        <p:spPr>
          <a:xfrm>
            <a:off x="6419088" y="1232154"/>
            <a:ext cx="2423160" cy="11887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510528" y="1255014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Критический путь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492240" y="1483614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ru-R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нед.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92240" y="1968246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ожидаемая</a:t>
            </a: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длит</a:t>
            </a:r>
            <a:r>
              <a:rPr lang="ru-RU" sz="900" i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ельность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400800" y="2720340"/>
            <a:ext cx="2423160" cy="1188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510528" y="2811780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Стандартное откл.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492240" y="3040380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 1,</a:t>
            </a:r>
            <a:r>
              <a:rPr lang="ru-R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нед.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6492240" y="3525012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по критическому пути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492240" y="4279392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необх. резерв +4 нед.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492240" y="34747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Методы функциональных точек (FP) и COCOMO II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28600" y="914400"/>
            <a:ext cx="4160520" cy="3977640"/>
          </a:xfrm>
          <a:prstGeom prst="rect">
            <a:avLst/>
          </a:prstGeom>
          <a:solidFill>
            <a:srgbClr val="E8F4F8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058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 функциональных точек (IFPUG)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/>
        </p:nvGraphicFramePr>
        <p:xfrm>
          <a:off x="320040" y="1417320"/>
          <a:ext cx="3977640" cy="2011681"/>
        </p:xfrm>
        <a:graphic>
          <a:graphicData uri="http://schemas.openxmlformats.org/drawingml/2006/table">
            <a:tbl>
              <a:tblPr/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73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Категория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3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 — Внешние входы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73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EO — Внешние выходы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73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 — Внешние запросы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73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ILF — Внутр. логич. файлы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73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EIF — Внешн. интерф. файлы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73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ИТОГО UFP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3474720"/>
            <a:ext cx="39319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VAF = 1,08 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(TDI = 43 из 70)
AFP = 103 × 1,08 = </a:t>
            </a: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111,24 ФТ
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Трудоёмкость: </a:t>
            </a: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~6,32 чел.-</a:t>
            </a:r>
            <a:r>
              <a:rPr lang="en-US" sz="1100" b="1" dirty="0" err="1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</a:t>
            </a: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0" y="914400"/>
            <a:ext cx="4343400" cy="3977640"/>
          </a:xfrm>
          <a:prstGeom prst="rect">
            <a:avLst/>
          </a:prstGeom>
          <a:solidFill>
            <a:srgbClr val="E8F4F8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09160" y="10058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COCOMO II</a:t>
            </a:r>
            <a:endParaRPr lang="en-US" sz="12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/>
        </p:nvGraphicFramePr>
        <p:xfrm>
          <a:off x="4663440" y="1417320"/>
          <a:ext cx="4114800" cy="2135778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73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</a:t>
                      </a: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актор</a:t>
                      </a:r>
                      <a:r>
                        <a:rPr lang="ru-RU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ы масштабирования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Уровень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3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73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Nominal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73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Nominal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73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Nominal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73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73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ΣSF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4663440" y="3474720"/>
            <a:ext cx="41148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= 1,0816</a:t>
            </a:r>
            <a:r>
              <a:rPr lang="ru-RU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ΣSF</a:t>
            </a:r>
            <a:r>
              <a:rPr lang="ru-RU" sz="1100" dirty="0">
                <a:latin typeface="Calibri" charset="0"/>
                <a:ea typeface="Calibri" pitchFamily="34" charset="-122"/>
                <a:cs typeface="Calibri" charset="0"/>
              </a:rPr>
              <a:t> * 0.01 + 0.91)</a:t>
            </a:r>
            <a:endParaRPr lang="ru-RU" sz="1100" b="1" dirty="0">
              <a:solidFill>
                <a:srgbClr val="02809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EAF = 0,88</a:t>
            </a:r>
            <a:r>
              <a:rPr lang="ru-RU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(произведение факторов)</a:t>
            </a: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KSLOC = 2,57  </a:t>
            </a: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(103 ФТ × 25 стр/ФТ)
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= 2,94 × 2,57^1,08 × 0,88 = </a:t>
            </a: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~7,2 чел.-мес.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Итоговые результаты и сравнение методик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74320" y="868680"/>
            <a:ext cx="4480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Показатели экономической эффективности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/>
        </p:nvGraphicFramePr>
        <p:xfrm>
          <a:off x="274320" y="1234440"/>
          <a:ext cx="4434840" cy="329184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Показатель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Значение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Оценка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ЧДД (NPV)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92 024 ₽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0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Положит.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Инт. эффект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92 024 ₽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0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Положит.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0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&gt;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ВНД (IRR)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~36,8%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0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&gt; 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окупаем.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 г. 7 мес.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0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Приемл.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ROI (3 года)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0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&gt; 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Точка безуб.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польз.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0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Достиж.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846320" y="868680"/>
            <a:ext cx="4069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Сравнение методик оценки трудоёмкости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0261443"/>
              </p:ext>
            </p:extLst>
          </p:nvPr>
        </p:nvGraphicFramePr>
        <p:xfrm>
          <a:off x="4846320" y="1252728"/>
          <a:ext cx="4231777" cy="1993392"/>
        </p:xfrm>
        <a:graphic>
          <a:graphicData uri="http://schemas.openxmlformats.org/drawingml/2006/table">
            <a:tbl>
              <a:tblPr/>
              <a:tblGrid>
                <a:gridCol w="10690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45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5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36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Методика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Трудоём-кость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Применение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7,53 мес.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Неопределён-ность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 (IFPUG)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1 112 ч.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6,32 чел.-мес.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Чёткое ТЗ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COCOMO 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 чел.-мес.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~7,2 мес.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Сложные проекты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846320" y="3337560"/>
            <a:ext cx="406908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4846320" y="3337560"/>
            <a:ext cx="64008" cy="1371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074920" y="34015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74920" y="3703320"/>
            <a:ext cx="3703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экономически привлекателен: NPV &gt; 0, IRR = 36,8% при ставке 20%. Все три методики подтверждают реалистичность сроков (6–8</a:t>
            </a:r>
            <a:r>
              <a:rPr lang="ru-RU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.). Рекомендуется предусмотреть резерв +4 нед. по PERT</a:t>
            </a:r>
            <a:r>
              <a:rPr lang="ru-RU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для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598E7-A071-E99C-847E-72F8A98A7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9C18236-5B36-6814-F43C-EC6EA4B548E8}"/>
              </a:ext>
            </a:extLst>
          </p:cNvPr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34C57E8-07C0-A397-F641-862ACE65F022}"/>
              </a:ext>
            </a:extLst>
          </p:cNvPr>
          <p:cNvSpPr/>
          <p:nvPr/>
        </p:nvSpPr>
        <p:spPr>
          <a:xfrm>
            <a:off x="594360" y="601362"/>
            <a:ext cx="8229600" cy="1970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sz="1800" b="1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ЛАБОРАТОРНАЯ РАБОТА №4</a:t>
            </a:r>
          </a:p>
          <a:p>
            <a:endParaRPr lang="ru-RU" sz="1800" b="1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r>
              <a:rPr lang="ru-RU" b="1" dirty="0">
                <a:latin typeface="Arial" panose="020B0604020202020204" pitchFamily="34" charset="0"/>
                <a:ea typeface="Arial" panose="020B0604020202020204" pitchFamily="34" charset="0"/>
              </a:rPr>
              <a:t>ПЛАНИРОВАНИЕ ВЫПОЛНЕНИЯ РАБОТ ПО ПРОЕКТУ</a:t>
            </a:r>
            <a:endParaRPr lang="en-US" b="1" dirty="0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5B6FBE0-0B0F-D0B9-6329-97E44D56FC1C}"/>
              </a:ext>
            </a:extLst>
          </p:cNvPr>
          <p:cNvSpPr/>
          <p:nvPr/>
        </p:nvSpPr>
        <p:spPr>
          <a:xfrm>
            <a:off x="594360" y="2792423"/>
            <a:ext cx="8549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MyRoadMap - </a:t>
            </a:r>
            <a:r>
              <a:rPr lang="ru-RU" sz="1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и</a:t>
            </a:r>
            <a:r>
              <a:rPr lang="en-US" sz="1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нструмент для создания персонализированных </a:t>
            </a:r>
            <a:r>
              <a:rPr lang="ru-RU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планов обучения </a:t>
            </a:r>
            <a:endParaRPr lang="en-US" dirty="0"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just">
              <a:buNone/>
            </a:pPr>
            <a:r>
              <a:rPr lang="ru-RU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в сфере 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r>
              <a:rPr lang="en-US" dirty="0"/>
              <a:t> </a:t>
            </a:r>
            <a:r>
              <a:rPr lang="en-US" sz="1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по текстовому запросу пользователя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8314712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3809B70-DAD0-666C-FBF3-BE686A7BAF92}"/>
              </a:ext>
            </a:extLst>
          </p:cNvPr>
          <p:cNvSpPr txBox="1"/>
          <p:nvPr/>
        </p:nvSpPr>
        <p:spPr>
          <a:xfrm>
            <a:off x="573063" y="88084"/>
            <a:ext cx="42413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ИЕРАРХИЧЕСКАЯ СТРУКТУРА РАБОТ (</a:t>
            </a:r>
            <a:r>
              <a:rPr lang="en-US" dirty="0"/>
              <a:t>WBS)</a:t>
            </a:r>
            <a:endParaRPr lang="ru-RU" dirty="0"/>
          </a:p>
        </p:txBody>
      </p:sp>
      <p:pic>
        <p:nvPicPr>
          <p:cNvPr id="5" name="Рисунок 4" descr="Изображение выглядит как текст, снимок экрана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EAC539BB-A4DA-29CA-369B-0F1C0D1B9B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063" y="457416"/>
            <a:ext cx="6632304" cy="444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396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19049CBA-7C44-7434-B142-9E1C99E44D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1707960"/>
              </p:ext>
            </p:extLst>
          </p:nvPr>
        </p:nvGraphicFramePr>
        <p:xfrm>
          <a:off x="380641" y="527222"/>
          <a:ext cx="7404116" cy="4450205"/>
        </p:xfrm>
        <a:graphic>
          <a:graphicData uri="http://schemas.openxmlformats.org/drawingml/2006/table">
            <a:tbl>
              <a:tblPr firstRow="1" firstCol="1" bandRow="1"/>
              <a:tblGrid>
                <a:gridCol w="1740283">
                  <a:extLst>
                    <a:ext uri="{9D8B030D-6E8A-4147-A177-3AD203B41FA5}">
                      <a16:colId xmlns:a16="http://schemas.microsoft.com/office/drawing/2014/main" val="2358686339"/>
                    </a:ext>
                  </a:extLst>
                </a:gridCol>
                <a:gridCol w="1898491">
                  <a:extLst>
                    <a:ext uri="{9D8B030D-6E8A-4147-A177-3AD203B41FA5}">
                      <a16:colId xmlns:a16="http://schemas.microsoft.com/office/drawing/2014/main" val="1856672544"/>
                    </a:ext>
                  </a:extLst>
                </a:gridCol>
                <a:gridCol w="3765342">
                  <a:extLst>
                    <a:ext uri="{9D8B030D-6E8A-4147-A177-3AD203B41FA5}">
                      <a16:colId xmlns:a16="http://schemas.microsoft.com/office/drawing/2014/main" val="1789535954"/>
                    </a:ext>
                  </a:extLst>
                </a:gridCol>
              </a:tblGrid>
              <a:tr h="252286">
                <a:tc>
                  <a:txBody>
                    <a:bodyPr/>
                    <a:lstStyle/>
                    <a:p>
                      <a:r>
                        <a:rPr lang="ru-RU" sz="105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Роль</a:t>
                      </a:r>
                      <a:endParaRPr lang="ru-RU" sz="105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9250" marR="49250" marT="29550" marB="2955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5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Направление</a:t>
                      </a:r>
                      <a:endParaRPr lang="ru-RU" sz="105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9250" marR="49250" marT="29550" marB="2955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5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Основные обязанности</a:t>
                      </a:r>
                      <a:endParaRPr lang="ru-RU" sz="105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9250" marR="49250" marT="29550" marB="2955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773001"/>
                  </a:ext>
                </a:extLst>
              </a:tr>
              <a:tr h="389419">
                <a:tc>
                  <a:txBody>
                    <a:bodyPr/>
                    <a:lstStyle/>
                    <a:p>
                      <a:r>
                        <a:rPr lang="ru-RU" sz="11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Менеджер проекта</a:t>
                      </a:r>
                      <a:r>
                        <a:rPr lang="en-US" sz="11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 (PM)</a:t>
                      </a:r>
                      <a:endParaRPr lang="ru-RU" sz="12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9250" marR="49250" marT="29550" marB="2955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5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Управление проектом</a:t>
                      </a:r>
                      <a:endParaRPr lang="ru-RU" sz="115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9250" marR="49250" marT="29550" marB="2955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5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Планирование, контроль сроков и бюджета, коммуникация со стейкхолдерами</a:t>
                      </a:r>
                      <a:endParaRPr lang="ru-RU" sz="115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9250" marR="49250" marT="29550" marB="2955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916036"/>
                  </a:ext>
                </a:extLst>
              </a:tr>
              <a:tr h="389419">
                <a:tc>
                  <a:txBody>
                    <a:bodyPr/>
                    <a:lstStyle/>
                    <a:p>
                      <a:r>
                        <a:rPr lang="ru-RU" sz="11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Аналитик</a:t>
                      </a:r>
                      <a:r>
                        <a:rPr lang="en-US" sz="11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 (AN)</a:t>
                      </a:r>
                      <a:endParaRPr lang="ru-RU" sz="12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9250" marR="49250" marT="29550" marB="2955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5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Анализ требований</a:t>
                      </a:r>
                      <a:endParaRPr lang="ru-RU" sz="115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9250" marR="49250" marT="29550" marB="2955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5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Сбор и формализация требований, написание ТЗ, описание use-cases</a:t>
                      </a:r>
                      <a:endParaRPr lang="ru-RU" sz="115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9250" marR="49250" marT="29550" marB="2955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1230910"/>
                  </a:ext>
                </a:extLst>
              </a:tr>
              <a:tr h="389419">
                <a:tc>
                  <a:txBody>
                    <a:bodyPr/>
                    <a:lstStyle/>
                    <a:p>
                      <a:r>
                        <a:rPr lang="ru-RU" sz="11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UX/UI дизайнер (</a:t>
                      </a:r>
                      <a:r>
                        <a:rPr lang="en-US" sz="11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UX</a:t>
                      </a:r>
                      <a:r>
                        <a:rPr lang="ru-RU" sz="11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/</a:t>
                      </a:r>
                      <a:r>
                        <a:rPr lang="en-US" sz="11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UI</a:t>
                      </a:r>
                      <a:r>
                        <a:rPr lang="ru-RU" sz="11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)</a:t>
                      </a:r>
                      <a:endParaRPr lang="ru-RU" sz="12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9250" marR="49250" marT="29550" marB="2955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5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Проектирование интерфейса</a:t>
                      </a:r>
                      <a:endParaRPr lang="ru-RU" sz="115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9250" marR="49250" marT="29550" marB="2955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5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Создание прототипов, user flow, дизайн-системы</a:t>
                      </a:r>
                      <a:endParaRPr lang="ru-RU" sz="115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9250" marR="49250" marT="29550" marB="2955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1365937"/>
                  </a:ext>
                </a:extLst>
              </a:tr>
              <a:tr h="389419">
                <a:tc>
                  <a:txBody>
                    <a:bodyPr/>
                    <a:lstStyle/>
                    <a:p>
                      <a:r>
                        <a:rPr lang="ru-RU" sz="11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Backend</a:t>
                      </a:r>
                      <a:r>
                        <a:rPr lang="en-US" sz="11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-</a:t>
                      </a:r>
                      <a:r>
                        <a:rPr lang="ru-RU" sz="11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разработчик</a:t>
                      </a:r>
                      <a:r>
                        <a:rPr lang="en-US" sz="11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 (Back)</a:t>
                      </a:r>
                      <a:endParaRPr lang="ru-RU" sz="12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9250" marR="49250" marT="29550" marB="2955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5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Серверная разработка</a:t>
                      </a:r>
                      <a:endParaRPr lang="ru-RU" sz="115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9250" marR="49250" marT="29550" marB="2955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5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Разработка API, интеграция LLM, логика сервера (Python/FastAPI)</a:t>
                      </a:r>
                      <a:endParaRPr lang="ru-RU" sz="115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9250" marR="49250" marT="29550" marB="2955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7439398"/>
                  </a:ext>
                </a:extLst>
              </a:tr>
              <a:tr h="389419">
                <a:tc>
                  <a:txBody>
                    <a:bodyPr/>
                    <a:lstStyle/>
                    <a:p>
                      <a:r>
                        <a:rPr lang="ru-RU" sz="11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Frontend</a:t>
                      </a:r>
                      <a:r>
                        <a:rPr lang="en-US" sz="11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-</a:t>
                      </a:r>
                      <a:r>
                        <a:rPr lang="ru-RU" sz="11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разработчик</a:t>
                      </a:r>
                      <a:r>
                        <a:rPr lang="en-US" sz="11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 (Front)</a:t>
                      </a:r>
                      <a:endParaRPr lang="ru-RU" sz="12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9250" marR="49250" marT="29550" marB="2955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5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Клиентская разработка</a:t>
                      </a:r>
                      <a:endParaRPr lang="ru-RU" sz="115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9250" marR="49250" marT="29550" marB="2955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5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Разработка интерфейса (React), верстка, взаимодействие с API</a:t>
                      </a:r>
                      <a:endParaRPr lang="ru-RU" sz="115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9250" marR="49250" marT="29550" marB="2955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64317"/>
                  </a:ext>
                </a:extLst>
              </a:tr>
              <a:tr h="389419">
                <a:tc>
                  <a:txBody>
                    <a:bodyPr/>
                    <a:lstStyle/>
                    <a:p>
                      <a:r>
                        <a:rPr lang="ru-RU" sz="11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ML-инженер</a:t>
                      </a:r>
                      <a:r>
                        <a:rPr lang="en-US" sz="11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 (ML)</a:t>
                      </a:r>
                      <a:endParaRPr lang="ru-RU" sz="12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9250" marR="49250" marT="29550" marB="2955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5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Работа с LLM</a:t>
                      </a:r>
                      <a:endParaRPr lang="ru-RU" sz="115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9250" marR="49250" marT="29550" marB="2955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5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Промпт-инжиниринг, настройка модели, оценка качества генерации</a:t>
                      </a:r>
                      <a:endParaRPr lang="ru-RU" sz="115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9250" marR="49250" marT="29550" marB="2955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417132"/>
                  </a:ext>
                </a:extLst>
              </a:tr>
              <a:tr h="389419">
                <a:tc>
                  <a:txBody>
                    <a:bodyPr/>
                    <a:lstStyle/>
                    <a:p>
                      <a:r>
                        <a:rPr lang="ru-RU" sz="11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QA-инженер</a:t>
                      </a:r>
                      <a:r>
                        <a:rPr lang="en-US" sz="11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 (QA)</a:t>
                      </a:r>
                      <a:endParaRPr lang="ru-RU" sz="12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9250" marR="49250" marT="29550" marB="2955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5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Тестирование</a:t>
                      </a:r>
                      <a:endParaRPr lang="ru-RU" sz="115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9250" marR="49250" marT="29550" marB="2955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5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Разработка тест-планов, ручное и автоматизированное тестирование</a:t>
                      </a:r>
                      <a:endParaRPr lang="ru-RU" sz="115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9250" marR="49250" marT="29550" marB="2955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519497"/>
                  </a:ext>
                </a:extLst>
              </a:tr>
              <a:tr h="389419">
                <a:tc>
                  <a:txBody>
                    <a:bodyPr/>
                    <a:lstStyle/>
                    <a:p>
                      <a:r>
                        <a:rPr lang="ru-RU" sz="11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DevOps-инженер</a:t>
                      </a:r>
                      <a:r>
                        <a:rPr lang="en-US" sz="11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 (DevOps)</a:t>
                      </a:r>
                      <a:endParaRPr lang="ru-RU" sz="12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9250" marR="49250" marT="29550" marB="2955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5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Инфраструктура и CI/CD</a:t>
                      </a:r>
                      <a:endParaRPr lang="ru-RU" sz="115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9250" marR="49250" marT="29550" marB="2955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5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Настройка серверов, пайплайнов деплоя, мониторинга</a:t>
                      </a:r>
                      <a:endParaRPr lang="ru-RU" sz="115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9250" marR="49250" marT="29550" marB="2955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1744957"/>
                  </a:ext>
                </a:extLst>
              </a:tr>
              <a:tr h="389419">
                <a:tc>
                  <a:txBody>
                    <a:bodyPr/>
                    <a:lstStyle/>
                    <a:p>
                      <a:r>
                        <a:rPr lang="ru-RU" sz="11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Администратор баз данных </a:t>
                      </a:r>
                      <a:r>
                        <a:rPr lang="en-US" sz="11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(DBA)</a:t>
                      </a:r>
                      <a:endParaRPr lang="ru-RU" sz="12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9250" marR="49250" marT="29550" marB="2955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5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База данных</a:t>
                      </a:r>
                      <a:endParaRPr lang="ru-RU" sz="115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9250" marR="49250" marT="29550" marB="2955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5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Проектирование схемы БД, оптимизация запросов</a:t>
                      </a:r>
                      <a:endParaRPr lang="ru-RU" sz="115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9250" marR="49250" marT="29550" marB="2955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8539828"/>
                  </a:ext>
                </a:extLst>
              </a:tr>
              <a:tr h="546143">
                <a:tc>
                  <a:txBody>
                    <a:bodyPr/>
                    <a:lstStyle/>
                    <a:p>
                      <a:r>
                        <a:rPr lang="ru-RU" sz="11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Специалист по информационной безопасности (</a:t>
                      </a:r>
                      <a:r>
                        <a:rPr lang="en-US" sz="11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Sec</a:t>
                      </a:r>
                      <a:r>
                        <a:rPr lang="ru-RU" sz="11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)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9250" marR="49250" marT="29550" marB="2955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5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Безопасность</a:t>
                      </a:r>
                      <a:endParaRPr lang="ru-RU" sz="115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9250" marR="49250" marT="29550" marB="2955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5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Аудит безопасности, соответствие ФЗ, защита данных</a:t>
                      </a:r>
                      <a:endParaRPr lang="ru-RU" sz="115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9250" marR="49250" marT="29550" marB="2955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9981884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E1E5D646-A0B3-584D-FB4B-05B471CB8A9A}"/>
              </a:ext>
            </a:extLst>
          </p:cNvPr>
          <p:cNvSpPr txBox="1"/>
          <p:nvPr/>
        </p:nvSpPr>
        <p:spPr>
          <a:xfrm>
            <a:off x="380641" y="116701"/>
            <a:ext cx="5352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РОЛЕВАЯ СТРУКТУРА КОМАНДЫ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29387011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73AB75F6-5CE2-9A64-6417-E876C18BE5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8914500"/>
              </p:ext>
            </p:extLst>
          </p:nvPr>
        </p:nvGraphicFramePr>
        <p:xfrm>
          <a:off x="271848" y="420139"/>
          <a:ext cx="6112472" cy="4830894"/>
        </p:xfrm>
        <a:graphic>
          <a:graphicData uri="http://schemas.openxmlformats.org/drawingml/2006/table">
            <a:tbl>
              <a:tblPr firstRow="1" firstCol="1" bandRow="1"/>
              <a:tblGrid>
                <a:gridCol w="1541182">
                  <a:extLst>
                    <a:ext uri="{9D8B030D-6E8A-4147-A177-3AD203B41FA5}">
                      <a16:colId xmlns:a16="http://schemas.microsoft.com/office/drawing/2014/main" val="2477141730"/>
                    </a:ext>
                  </a:extLst>
                </a:gridCol>
                <a:gridCol w="457129">
                  <a:extLst>
                    <a:ext uri="{9D8B030D-6E8A-4147-A177-3AD203B41FA5}">
                      <a16:colId xmlns:a16="http://schemas.microsoft.com/office/drawing/2014/main" val="2735094536"/>
                    </a:ext>
                  </a:extLst>
                </a:gridCol>
                <a:gridCol w="457129">
                  <a:extLst>
                    <a:ext uri="{9D8B030D-6E8A-4147-A177-3AD203B41FA5}">
                      <a16:colId xmlns:a16="http://schemas.microsoft.com/office/drawing/2014/main" val="1863098318"/>
                    </a:ext>
                  </a:extLst>
                </a:gridCol>
                <a:gridCol w="457129">
                  <a:extLst>
                    <a:ext uri="{9D8B030D-6E8A-4147-A177-3AD203B41FA5}">
                      <a16:colId xmlns:a16="http://schemas.microsoft.com/office/drawing/2014/main" val="3855638112"/>
                    </a:ext>
                  </a:extLst>
                </a:gridCol>
                <a:gridCol w="457129">
                  <a:extLst>
                    <a:ext uri="{9D8B030D-6E8A-4147-A177-3AD203B41FA5}">
                      <a16:colId xmlns:a16="http://schemas.microsoft.com/office/drawing/2014/main" val="1313334412"/>
                    </a:ext>
                  </a:extLst>
                </a:gridCol>
                <a:gridCol w="457129">
                  <a:extLst>
                    <a:ext uri="{9D8B030D-6E8A-4147-A177-3AD203B41FA5}">
                      <a16:colId xmlns:a16="http://schemas.microsoft.com/office/drawing/2014/main" val="3764635844"/>
                    </a:ext>
                  </a:extLst>
                </a:gridCol>
                <a:gridCol w="457129">
                  <a:extLst>
                    <a:ext uri="{9D8B030D-6E8A-4147-A177-3AD203B41FA5}">
                      <a16:colId xmlns:a16="http://schemas.microsoft.com/office/drawing/2014/main" val="1382417070"/>
                    </a:ext>
                  </a:extLst>
                </a:gridCol>
                <a:gridCol w="457129">
                  <a:extLst>
                    <a:ext uri="{9D8B030D-6E8A-4147-A177-3AD203B41FA5}">
                      <a16:colId xmlns:a16="http://schemas.microsoft.com/office/drawing/2014/main" val="3490154573"/>
                    </a:ext>
                  </a:extLst>
                </a:gridCol>
                <a:gridCol w="457129">
                  <a:extLst>
                    <a:ext uri="{9D8B030D-6E8A-4147-A177-3AD203B41FA5}">
                      <a16:colId xmlns:a16="http://schemas.microsoft.com/office/drawing/2014/main" val="33842370"/>
                    </a:ext>
                  </a:extLst>
                </a:gridCol>
                <a:gridCol w="457129">
                  <a:extLst>
                    <a:ext uri="{9D8B030D-6E8A-4147-A177-3AD203B41FA5}">
                      <a16:colId xmlns:a16="http://schemas.microsoft.com/office/drawing/2014/main" val="1029467540"/>
                    </a:ext>
                  </a:extLst>
                </a:gridCol>
                <a:gridCol w="457129">
                  <a:extLst>
                    <a:ext uri="{9D8B030D-6E8A-4147-A177-3AD203B41FA5}">
                      <a16:colId xmlns:a16="http://schemas.microsoft.com/office/drawing/2014/main" val="25680171"/>
                    </a:ext>
                  </a:extLst>
                </a:gridCol>
              </a:tblGrid>
              <a:tr h="419469">
                <a:tc>
                  <a:txBody>
                    <a:bodyPr/>
                    <a:lstStyle/>
                    <a:p>
                      <a:r>
                        <a:rPr lang="ru-RU" sz="1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Работа / Пакет</a:t>
                      </a:r>
                      <a:endParaRPr lang="ru-RU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PM</a:t>
                      </a:r>
                      <a:endParaRPr lang="ru-RU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AN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UX/UI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Back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Front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ML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QA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DevOps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DBA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Sec</a:t>
                      </a:r>
                      <a:endParaRPr lang="ru-RU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1919"/>
                  </a:ext>
                </a:extLst>
              </a:tr>
              <a:tr h="247359">
                <a:tc>
                  <a:txBody>
                    <a:bodyPr/>
                    <a:lstStyle/>
                    <a:p>
                      <a:r>
                        <a:rPr lang="ru-RU" sz="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1.1 Определение цели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О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И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340166"/>
                  </a:ext>
                </a:extLst>
              </a:tr>
              <a:tr h="247359">
                <a:tc>
                  <a:txBody>
                    <a:bodyPr/>
                    <a:lstStyle/>
                    <a:p>
                      <a:r>
                        <a:rPr lang="ru-RU" sz="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1.2 Анализ аудитории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У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О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И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5211657"/>
                  </a:ext>
                </a:extLst>
              </a:tr>
              <a:tr h="247359">
                <a:tc>
                  <a:txBody>
                    <a:bodyPr/>
                    <a:lstStyle/>
                    <a:p>
                      <a:r>
                        <a:rPr lang="ru-RU" sz="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1.3 Анализ конкурентов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У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О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И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У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4971586"/>
                  </a:ext>
                </a:extLst>
              </a:tr>
              <a:tr h="247359">
                <a:tc>
                  <a:txBody>
                    <a:bodyPr/>
                    <a:lstStyle/>
                    <a:p>
                      <a:r>
                        <a:rPr lang="ru-RU" sz="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1.4 Оценка рисков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О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У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У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У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У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7131112"/>
                  </a:ext>
                </a:extLst>
              </a:tr>
              <a:tr h="247359">
                <a:tc>
                  <a:txBody>
                    <a:bodyPr/>
                    <a:lstStyle/>
                    <a:p>
                      <a:r>
                        <a:rPr lang="ru-RU" sz="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1.5 Формирование команды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О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5197611"/>
                  </a:ext>
                </a:extLst>
              </a:tr>
              <a:tr h="247359">
                <a:tc>
                  <a:txBody>
                    <a:bodyPr/>
                    <a:lstStyle/>
                    <a:p>
                      <a:r>
                        <a:rPr lang="ru-RU" sz="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1.6 Планирование бюджета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О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У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7683219"/>
                  </a:ext>
                </a:extLst>
              </a:tr>
              <a:tr h="247359">
                <a:tc>
                  <a:txBody>
                    <a:bodyPr/>
                    <a:lstStyle/>
                    <a:p>
                      <a:r>
                        <a:rPr lang="ru-RU" sz="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2.1 Функц. требования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С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О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У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У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У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У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У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4358753"/>
                  </a:ext>
                </a:extLst>
              </a:tr>
              <a:tr h="247359">
                <a:tc>
                  <a:txBody>
                    <a:bodyPr/>
                    <a:lstStyle/>
                    <a:p>
                      <a:r>
                        <a:rPr lang="ru-RU" sz="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2.2 Нефункц. требования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С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О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И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У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И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И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2175329"/>
                  </a:ext>
                </a:extLst>
              </a:tr>
              <a:tr h="247359">
                <a:tc>
                  <a:txBody>
                    <a:bodyPr/>
                    <a:lstStyle/>
                    <a:p>
                      <a:r>
                        <a:rPr lang="ru-RU" sz="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2.3 Требования к LLM/API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С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У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У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О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5103256"/>
                  </a:ext>
                </a:extLst>
              </a:tr>
              <a:tr h="247359">
                <a:tc>
                  <a:txBody>
                    <a:bodyPr/>
                    <a:lstStyle/>
                    <a:p>
                      <a:r>
                        <a:rPr lang="ru-RU" sz="9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2.4 Требования к безопасности</a:t>
                      </a:r>
                      <a:endParaRPr lang="ru-RU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С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У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О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6336607"/>
                  </a:ext>
                </a:extLst>
              </a:tr>
              <a:tr h="346148">
                <a:tc>
                  <a:txBody>
                    <a:bodyPr/>
                    <a:lstStyle/>
                    <a:p>
                      <a:r>
                        <a:rPr lang="ru-RU" sz="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2.5 Согласование требований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О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И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5462115"/>
                  </a:ext>
                </a:extLst>
              </a:tr>
              <a:tr h="247359">
                <a:tc>
                  <a:txBody>
                    <a:bodyPr/>
                    <a:lstStyle/>
                    <a:p>
                      <a:r>
                        <a:rPr lang="ru-RU" sz="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3.1 UX/UI дизайн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С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У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О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И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1701510"/>
                  </a:ext>
                </a:extLst>
              </a:tr>
              <a:tr h="247359">
                <a:tc>
                  <a:txBody>
                    <a:bodyPr/>
                    <a:lstStyle/>
                    <a:p>
                      <a:r>
                        <a:rPr lang="ru-RU" sz="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3.2 HLD-архитектура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С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О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И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И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У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У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9388447"/>
                  </a:ext>
                </a:extLst>
              </a:tr>
              <a:tr h="247359">
                <a:tc>
                  <a:txBody>
                    <a:bodyPr/>
                    <a:lstStyle/>
                    <a:p>
                      <a:r>
                        <a:rPr lang="ru-RU" sz="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3.3 LLD-архитектура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О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И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У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И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6348814"/>
                  </a:ext>
                </a:extLst>
              </a:tr>
              <a:tr h="247359">
                <a:tc>
                  <a:txBody>
                    <a:bodyPr/>
                    <a:lstStyle/>
                    <a:p>
                      <a:r>
                        <a:rPr lang="ru-RU" sz="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3.4 Проектирование БД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У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О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0326637"/>
                  </a:ext>
                </a:extLst>
              </a:tr>
              <a:tr h="247359">
                <a:tc>
                  <a:txBody>
                    <a:bodyPr/>
                    <a:lstStyle/>
                    <a:p>
                      <a:r>
                        <a:rPr lang="ru-RU" sz="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3.5 Схема интеграций API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У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О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У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И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0136942"/>
                  </a:ext>
                </a:extLst>
              </a:tr>
              <a:tr h="247359">
                <a:tc>
                  <a:txBody>
                    <a:bodyPr/>
                    <a:lstStyle/>
                    <a:p>
                      <a:r>
                        <a:rPr lang="ru-RU" sz="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4.1 MVP: ввод + LLM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С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О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И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И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 </a:t>
                      </a:r>
                      <a:endParaRPr lang="ru-RU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87246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8C6720B-B2F6-C403-DE06-C8EC72921AD4}"/>
              </a:ext>
            </a:extLst>
          </p:cNvPr>
          <p:cNvSpPr txBox="1"/>
          <p:nvPr/>
        </p:nvSpPr>
        <p:spPr>
          <a:xfrm>
            <a:off x="271848" y="50807"/>
            <a:ext cx="4824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МАТРИЦА РАСПРЕДЕЛЕНИЯ ОТВЕТСТВЕННОСТИ</a:t>
            </a: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99027618-F588-344E-7CB1-8E8E2F3A8F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00607"/>
              </p:ext>
            </p:extLst>
          </p:nvPr>
        </p:nvGraphicFramePr>
        <p:xfrm>
          <a:off x="6600567" y="420139"/>
          <a:ext cx="2395152" cy="2606040"/>
        </p:xfrm>
        <a:graphic>
          <a:graphicData uri="http://schemas.openxmlformats.org/drawingml/2006/table">
            <a:tbl>
              <a:tblPr firstRow="1" firstCol="1" bandRow="1"/>
              <a:tblGrid>
                <a:gridCol w="2395152">
                  <a:extLst>
                    <a:ext uri="{9D8B030D-6E8A-4147-A177-3AD203B41FA5}">
                      <a16:colId xmlns:a16="http://schemas.microsoft.com/office/drawing/2014/main" val="3875954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PM</a:t>
                      </a:r>
                      <a:r>
                        <a:rPr lang="ru-RU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 - </a:t>
                      </a:r>
                      <a:r>
                        <a:rPr lang="ru-RU" sz="11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Менеджер проекта</a:t>
                      </a:r>
                      <a:r>
                        <a:rPr lang="en-US" sz="11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 </a:t>
                      </a:r>
                      <a:endParaRPr lang="ru-RU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657451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AN</a:t>
                      </a:r>
                      <a:r>
                        <a:rPr lang="ru-RU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 - </a:t>
                      </a:r>
                      <a:r>
                        <a:rPr lang="ru-RU" sz="11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Аналитик</a:t>
                      </a:r>
                      <a:endParaRPr lang="ru-RU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454351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UX</a:t>
                      </a:r>
                      <a:r>
                        <a:rPr lang="ru-RU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/</a:t>
                      </a:r>
                      <a:r>
                        <a:rPr lang="en-US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UI</a:t>
                      </a:r>
                      <a:r>
                        <a:rPr lang="ru-RU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 - </a:t>
                      </a:r>
                      <a:r>
                        <a:rPr lang="ru-RU" sz="11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UX/UI дизайнер </a:t>
                      </a:r>
                      <a:endParaRPr lang="ru-RU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92270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Back</a:t>
                      </a:r>
                      <a:r>
                        <a:rPr lang="ru-RU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 - </a:t>
                      </a:r>
                      <a:r>
                        <a:rPr lang="ru-RU" sz="1100" b="1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Backend</a:t>
                      </a:r>
                      <a:r>
                        <a:rPr lang="en-US" sz="11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-</a:t>
                      </a:r>
                      <a:r>
                        <a:rPr lang="ru-RU" sz="11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разработчик</a:t>
                      </a:r>
                      <a:endParaRPr lang="ru-RU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35014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Front</a:t>
                      </a:r>
                      <a:r>
                        <a:rPr lang="ru-RU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 - </a:t>
                      </a:r>
                      <a:r>
                        <a:rPr lang="ru-RU" sz="1100" b="1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Frontend</a:t>
                      </a:r>
                      <a:r>
                        <a:rPr lang="en-US" sz="11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-</a:t>
                      </a:r>
                      <a:r>
                        <a:rPr lang="ru-RU" sz="11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разработчик</a:t>
                      </a:r>
                      <a:r>
                        <a:rPr lang="en-US" sz="11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 </a:t>
                      </a:r>
                      <a:endParaRPr lang="ru-RU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08754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ML</a:t>
                      </a:r>
                      <a:r>
                        <a:rPr lang="ru-RU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 - </a:t>
                      </a:r>
                      <a:r>
                        <a:rPr lang="ru-RU" sz="11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ML-инженер</a:t>
                      </a:r>
                      <a:endParaRPr lang="ru-RU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84964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QA</a:t>
                      </a:r>
                      <a:r>
                        <a:rPr lang="ru-RU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 - </a:t>
                      </a:r>
                      <a:r>
                        <a:rPr lang="ru-RU" sz="11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QA-инженер</a:t>
                      </a:r>
                      <a:r>
                        <a:rPr lang="en-US" sz="11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 </a:t>
                      </a:r>
                      <a:endParaRPr lang="ru-RU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945781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DevOps</a:t>
                      </a:r>
                      <a:r>
                        <a:rPr lang="ru-RU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 - </a:t>
                      </a:r>
                      <a:r>
                        <a:rPr lang="ru-RU" sz="1100" b="1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DevOps</a:t>
                      </a:r>
                      <a:r>
                        <a:rPr lang="ru-RU" sz="11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-инженер</a:t>
                      </a:r>
                      <a:endParaRPr lang="ru-RU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4819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DBA</a:t>
                      </a:r>
                      <a:r>
                        <a:rPr lang="ru-RU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 - </a:t>
                      </a:r>
                      <a:r>
                        <a:rPr lang="ru-RU" sz="11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Администратор баз данных </a:t>
                      </a:r>
                      <a:endParaRPr lang="ru-RU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558158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Sec</a:t>
                      </a:r>
                      <a:r>
                        <a:rPr lang="ru-RU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 - </a:t>
                      </a:r>
                      <a:r>
                        <a:rPr lang="ru-RU" sz="11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Специалист по информационной безопасности </a:t>
                      </a:r>
                      <a:endParaRPr lang="ru-RU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41340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72047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>
            <a:extLst>
              <a:ext uri="{FF2B5EF4-FFF2-40B4-BE49-F238E27FC236}">
                <a16:creationId xmlns:a16="http://schemas.microsoft.com/office/drawing/2014/main" id="{C95BF072-B57C-B94E-B27E-F2A1D23AC04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12792188"/>
              </p:ext>
            </p:extLst>
          </p:nvPr>
        </p:nvGraphicFramePr>
        <p:xfrm>
          <a:off x="304799" y="180535"/>
          <a:ext cx="5719042" cy="49629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Документ" r:id="rId2" imgW="6146800" imgH="5334000" progId="Word.Document.12">
                  <p:embed/>
                </p:oleObj>
              </mc:Choice>
              <mc:Fallback>
                <p:oleObj name="Документ" r:id="rId2" imgW="6146800" imgH="5334000" progId="Word.Documen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04799" y="180535"/>
                        <a:ext cx="5719042" cy="49629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47C0167C-30CE-B971-453B-6330EF2BC0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4180144"/>
              </p:ext>
            </p:extLst>
          </p:nvPr>
        </p:nvGraphicFramePr>
        <p:xfrm>
          <a:off x="6341473" y="180535"/>
          <a:ext cx="2395152" cy="2606040"/>
        </p:xfrm>
        <a:graphic>
          <a:graphicData uri="http://schemas.openxmlformats.org/drawingml/2006/table">
            <a:tbl>
              <a:tblPr firstRow="1" firstCol="1" bandRow="1"/>
              <a:tblGrid>
                <a:gridCol w="2395152">
                  <a:extLst>
                    <a:ext uri="{9D8B030D-6E8A-4147-A177-3AD203B41FA5}">
                      <a16:colId xmlns:a16="http://schemas.microsoft.com/office/drawing/2014/main" val="257028822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PM</a:t>
                      </a:r>
                      <a:r>
                        <a:rPr lang="ru-RU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 - </a:t>
                      </a:r>
                      <a:r>
                        <a:rPr lang="ru-RU" sz="11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Менеджер проекта</a:t>
                      </a:r>
                      <a:r>
                        <a:rPr lang="en-US" sz="11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 </a:t>
                      </a:r>
                      <a:endParaRPr lang="ru-RU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907008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AN</a:t>
                      </a:r>
                      <a:r>
                        <a:rPr lang="ru-RU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 - </a:t>
                      </a:r>
                      <a:r>
                        <a:rPr lang="ru-RU" sz="11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Аналитик</a:t>
                      </a:r>
                      <a:endParaRPr lang="ru-RU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255350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UX</a:t>
                      </a:r>
                      <a:r>
                        <a:rPr lang="ru-RU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/</a:t>
                      </a:r>
                      <a:r>
                        <a:rPr lang="en-US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UI</a:t>
                      </a:r>
                      <a:r>
                        <a:rPr lang="ru-RU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 - </a:t>
                      </a:r>
                      <a:r>
                        <a:rPr lang="ru-RU" sz="11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UX/UI дизайнер </a:t>
                      </a:r>
                      <a:endParaRPr lang="ru-RU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098841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Back</a:t>
                      </a:r>
                      <a:r>
                        <a:rPr lang="ru-RU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 - </a:t>
                      </a:r>
                      <a:r>
                        <a:rPr lang="ru-RU" sz="1100" b="1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Backend</a:t>
                      </a:r>
                      <a:r>
                        <a:rPr lang="en-US" sz="11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-</a:t>
                      </a:r>
                      <a:r>
                        <a:rPr lang="ru-RU" sz="11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разработчик</a:t>
                      </a:r>
                      <a:endParaRPr lang="ru-RU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09395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Front</a:t>
                      </a:r>
                      <a:r>
                        <a:rPr lang="ru-RU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 - </a:t>
                      </a:r>
                      <a:r>
                        <a:rPr lang="ru-RU" sz="1100" b="1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Frontend</a:t>
                      </a:r>
                      <a:r>
                        <a:rPr lang="en-US" sz="11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-</a:t>
                      </a:r>
                      <a:r>
                        <a:rPr lang="ru-RU" sz="11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разработчик</a:t>
                      </a:r>
                      <a:r>
                        <a:rPr lang="en-US" sz="11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 </a:t>
                      </a:r>
                      <a:endParaRPr lang="ru-RU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38180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ML</a:t>
                      </a:r>
                      <a:r>
                        <a:rPr lang="ru-RU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 - </a:t>
                      </a:r>
                      <a:r>
                        <a:rPr lang="ru-RU" sz="11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ML-инженер</a:t>
                      </a:r>
                      <a:endParaRPr lang="ru-RU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69799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QA</a:t>
                      </a:r>
                      <a:r>
                        <a:rPr lang="ru-RU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 - </a:t>
                      </a:r>
                      <a:r>
                        <a:rPr lang="ru-RU" sz="11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QA-инженер</a:t>
                      </a:r>
                      <a:r>
                        <a:rPr lang="en-US" sz="11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 </a:t>
                      </a:r>
                      <a:endParaRPr lang="ru-RU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44677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DevOps</a:t>
                      </a:r>
                      <a:r>
                        <a:rPr lang="ru-RU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 - </a:t>
                      </a:r>
                      <a:r>
                        <a:rPr lang="ru-RU" sz="1100" b="1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DevOps</a:t>
                      </a:r>
                      <a:r>
                        <a:rPr lang="ru-RU" sz="11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-инженер</a:t>
                      </a:r>
                      <a:endParaRPr lang="ru-RU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656933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DBA</a:t>
                      </a:r>
                      <a:r>
                        <a:rPr lang="ru-RU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 - </a:t>
                      </a:r>
                      <a:r>
                        <a:rPr lang="ru-RU" sz="11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Администратор баз данных </a:t>
                      </a:r>
                      <a:endParaRPr lang="ru-RU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6356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Sec</a:t>
                      </a:r>
                      <a:r>
                        <a:rPr lang="ru-RU" sz="10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 - </a:t>
                      </a:r>
                      <a:r>
                        <a:rPr lang="ru-RU" sz="11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rial" panose="020B0604020202020204" pitchFamily="34" charset="0"/>
                        </a:rPr>
                        <a:t>Специалист по информационной безопасности </a:t>
                      </a:r>
                      <a:endParaRPr lang="ru-RU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1174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91237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1170</TotalTime>
  <Words>1995</Words>
  <Application>Microsoft Macintosh PowerPoint</Application>
  <PresentationFormat>Экран (16:9)</PresentationFormat>
  <Paragraphs>692</Paragraphs>
  <Slides>21</Slides>
  <Notes>13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8" baseType="lpstr">
      <vt:lpstr>Arial</vt:lpstr>
      <vt:lpstr>Calibri</vt:lpstr>
      <vt:lpstr>Cambria</vt:lpstr>
      <vt:lpstr>Symbol</vt:lpstr>
      <vt:lpstr>Times New Roman</vt:lpstr>
      <vt:lpstr>Office Theme</vt:lpstr>
      <vt:lpstr>Документ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RoadMap AI — Лабораторная работа №1</dc:title>
  <dc:subject>PptxGenJS Presentation</dc:subject>
  <dc:creator>PptxGenJS</dc:creator>
  <cp:lastModifiedBy>e314</cp:lastModifiedBy>
  <cp:revision>14</cp:revision>
  <dcterms:created xsi:type="dcterms:W3CDTF">2026-04-16T13:20:24Z</dcterms:created>
  <dcterms:modified xsi:type="dcterms:W3CDTF">2026-06-08T10:49:30Z</dcterms:modified>
</cp:coreProperties>
</file>