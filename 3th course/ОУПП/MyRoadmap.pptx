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263" r:id="rId6"/>
    <p:sldId id="262" r:id="rId7"/>
    <p:sldId id="264" r:id="rId8"/>
    <p:sldId id="265" r:id="rId9"/>
    <p:sldId id="266" r:id="rId10"/>
    <p:sldId id="267" r:id="rId11"/>
    <p:sldId id="268" r:id="rId12"/>
    <p:sldId id="257" r:id="rId13"/>
    <p:sldId id="269" r:id="rId14"/>
    <p:sldId id="270" r:id="rId15"/>
    <p:sldId id="271" r:id="rId16"/>
    <p:sldId id="26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19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ru-RU" sz="1200" b="0" i="0" u="none" strike="noStrike">
                <a:solidFill>
                  <a:srgbClr val="1E293B"/>
                </a:solidFill>
                <a:latin typeface="Arial"/>
              </a:rPr>
              <a:t>Дисконтированные </a:t>
            </a:r>
            <a:r>
              <a:rPr lang="en" sz="1200" b="0" i="0" u="none" strike="noStrike">
                <a:solidFill>
                  <a:srgbClr val="1E293B"/>
                </a:solidFill>
                <a:latin typeface="Arial"/>
              </a:rPr>
              <a:t>CF, </a:t>
            </a:r>
            <a:r>
              <a:rPr lang="ru-RU" sz="1200" b="0" i="0" u="none" strike="noStrike">
                <a:solidFill>
                  <a:srgbClr val="1E293B"/>
                </a:solidFill>
                <a:latin typeface="Arial"/>
              </a:rPr>
              <a:t>₽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Дисконтированный CF</c:v>
                </c:pt>
              </c:strCache>
            </c:strRef>
          </c:tx>
          <c:spPr>
            <a:solidFill>
              <a:srgbClr val="CC333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D57-0C44-92FA-2FDC0053E268}"/>
              </c:ext>
            </c:extLst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D57-0C44-92FA-2FDC0053E268}"/>
              </c:ext>
            </c:extLst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D57-0C44-92FA-2FDC0053E268}"/>
              </c:ext>
            </c:extLst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D57-0C44-92FA-2FDC0053E26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Год 0</c:v>
                </c:pt>
                <c:pt idx="1">
                  <c:v>Год 1</c:v>
                </c:pt>
                <c:pt idx="2">
                  <c:v>Год 2</c:v>
                </c:pt>
                <c:pt idx="3">
                  <c:v>Год 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-300000</c:v>
                </c:pt>
                <c:pt idx="1">
                  <c:v>44982</c:v>
                </c:pt>
                <c:pt idx="2">
                  <c:v>109652</c:v>
                </c:pt>
                <c:pt idx="3">
                  <c:v>237390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D57-0C44-92FA-2FDC0053E2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E8F4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5088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MyRoadMap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94360" y="2381598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 для создания персонализированных </a:t>
            </a:r>
            <a:r>
              <a:rPr lang="ru-RU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планов обучения </a:t>
            </a:r>
            <a:endParaRPr lang="en-US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ru-RU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в сфере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r>
              <a:rPr lang="en-US" dirty="0"/>
              <a:t> </a:t>
            </a: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по текстовому запросу пользователя</a:t>
            </a:r>
            <a:endParaRPr lang="en-US" sz="1800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A5998C5D-414C-EF0D-5D27-DE7E567E491E}"/>
              </a:ext>
            </a:extLst>
          </p:cNvPr>
          <p:cNvSpPr/>
          <p:nvPr/>
        </p:nvSpPr>
        <p:spPr>
          <a:xfrm>
            <a:off x="6537960" y="166255"/>
            <a:ext cx="2560320" cy="2560320"/>
          </a:xfrm>
          <a:prstGeom prst="ellipse">
            <a:avLst/>
          </a:prstGeom>
          <a:solidFill>
            <a:srgbClr val="2563EB">
              <a:alpha val="10000"/>
            </a:srgbClr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53081A57-E4D5-57A2-5C88-A666F24643B3}"/>
              </a:ext>
            </a:extLst>
          </p:cNvPr>
          <p:cNvSpPr/>
          <p:nvPr/>
        </p:nvSpPr>
        <p:spPr>
          <a:xfrm>
            <a:off x="7744968" y="440575"/>
            <a:ext cx="146304" cy="2011680"/>
          </a:xfrm>
          <a:prstGeom prst="rect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CCF2E22A-020D-A094-963C-6BD998ACEFAF}"/>
              </a:ext>
            </a:extLst>
          </p:cNvPr>
          <p:cNvSpPr/>
          <p:nvPr/>
        </p:nvSpPr>
        <p:spPr>
          <a:xfrm>
            <a:off x="6739128" y="1373263"/>
            <a:ext cx="2157984" cy="146304"/>
          </a:xfrm>
          <a:prstGeom prst="rect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8F50AE00-C3F0-30DB-3E64-1411F12188C4}"/>
              </a:ext>
            </a:extLst>
          </p:cNvPr>
          <p:cNvSpPr/>
          <p:nvPr/>
        </p:nvSpPr>
        <p:spPr>
          <a:xfrm>
            <a:off x="7589520" y="1236103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ПОЗИЦИОНИРОВАНИЕ ПРОДУКТА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Проблема, целевой рынок и ценностное предложение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2336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347472" y="166420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347472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1636776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Многие новички впадают в ступор при виде огромного количества материала и зачастую не понимают, какой именно подходит под их уровень и условия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359152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347472" y="2414016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347472" y="24140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3232" y="2386584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Существующие </a:t>
            </a:r>
            <a:r>
              <a:rPr lang="ru-RU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решения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шаблонные,</a:t>
            </a:r>
            <a:r>
              <a:rPr lang="ru-RU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не подстраиваются под определенного человека и его уровень знаний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099816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347472" y="3163824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347472" y="31638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3232" y="3136392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 понять, с чего начать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в IT без ментора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849624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347472" y="3913632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347472" y="3913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3232" y="3886200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Платные курсы стоят дорого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не всегда подходят конкретному пользователю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1097280"/>
            <a:ext cx="420624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4663440" y="10972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63440" y="1600200"/>
            <a:ext cx="420624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4736592" y="16642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20640" y="1636776"/>
            <a:ext cx="36393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Персонализированный roadmap по текстовому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запросу — </a:t>
            </a:r>
            <a:r>
              <a:rPr lang="ru-RU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точечно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</a:t>
            </a:r>
            <a:r>
              <a:rPr lang="ru-RU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мгновенно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2350008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4736592" y="241401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20640" y="2386584"/>
            <a:ext cx="36393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навыков, целей и свободного времени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составлении плана обучения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3099816"/>
            <a:ext cx="420624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4736592" y="316382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20640" y="3136392"/>
            <a:ext cx="36393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Чёткий пошаговый маршрут с ресурсами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контрольными точками прогресса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3849624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Text 33"/>
          <p:cNvSpPr/>
          <p:nvPr/>
        </p:nvSpPr>
        <p:spPr>
          <a:xfrm>
            <a:off x="4736592" y="39136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20640" y="3886200"/>
            <a:ext cx="363931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Искуственный интеллект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постоянно адаптирует план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меняющи</a:t>
            </a:r>
            <a:r>
              <a:rPr lang="ru-RU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йся рынок и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возможности пользователя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 НУЖЕН ЭТОТ ПРОДУКТ?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аудитория и их потребности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11480" y="1261872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411480" y="1261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129844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/ новичок в 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Хочет: войти в IT, но не знает с чего начать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33172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Получает: Готовый план обучения с нуля под его специализацию и темп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2" y="1106424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41605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4892040" y="1261872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4892040" y="1261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59552" y="129844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Специалист на смене профессии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92024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Хочет: переквалифицироваться в </a:t>
            </a:r>
            <a:r>
              <a:rPr lang="ru-RU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другую подсферу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233172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Получает: </a:t>
            </a:r>
            <a:r>
              <a:rPr lang="ru-RU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Чёткий план</a:t>
            </a: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переквалификации </a:t>
            </a: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учётом уже имеющихся навыков и дефицита времени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274320" y="2971800"/>
            <a:ext cx="416052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411480" y="3136392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411480" y="31363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78992" y="317296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cs typeface="Calibri" pitchFamily="34" charset="-120"/>
              </a:rPr>
              <a:t>IT– </a:t>
            </a:r>
            <a:r>
              <a:rPr lang="ru-RU" sz="1300" b="1" dirty="0">
                <a:solidFill>
                  <a:srgbClr val="0F172A"/>
                </a:solidFill>
                <a:latin typeface="Calibri" pitchFamily="34" charset="0"/>
                <a:cs typeface="Calibri" pitchFamily="34" charset="-120"/>
              </a:rPr>
              <a:t>специалист, желающий повысить квалификацию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379476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Хочет: вырасти до middle/senior, не знает как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420624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Получает: Структурированный план прокачки конкретных навыков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297180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4754880" y="2971800"/>
            <a:ext cx="4160520" cy="731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Shape 26"/>
          <p:cNvSpPr/>
          <p:nvPr/>
        </p:nvSpPr>
        <p:spPr>
          <a:xfrm>
            <a:off x="4892040" y="3136392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4892040" y="31363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59552" y="3172968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Наставник по обучению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92040" y="379476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 Хочет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: </a:t>
            </a:r>
            <a:r>
              <a:rPr lang="ru-RU" sz="10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составить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/ </a:t>
            </a:r>
            <a:r>
              <a:rPr lang="ru-RU" sz="10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подкорректировать учебный план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92040" y="420624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Получает: Индивидуальный план адаптации и роста для подопечного</a:t>
            </a:r>
            <a:endParaRPr lang="en-US" sz="105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НЕДОСТАТКИ СУЩЕСТВУЮЩИХ РЕШЕНИЙ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Сравнительный анализ альтернатив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851313"/>
              </p:ext>
            </p:extLst>
          </p:nvPr>
        </p:nvGraphicFramePr>
        <p:xfrm>
          <a:off x="274320" y="1051560"/>
          <a:ext cx="8595360" cy="318211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Критерий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Онлайн-курсы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(Stepik, Udemy)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 / блоги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Менторы / коучи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MyRoadMap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Персонализация под пользователя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Есть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Есть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Учёт свободного времени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Есть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Есть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Бесплатный доступ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Есть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Есть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Есть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Быстрый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подбор плана обучения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Есть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Есть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Есть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Адаптируется к прогрессу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Да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3" name="Text 1"/>
          <p:cNvSpPr/>
          <p:nvPr/>
        </p:nvSpPr>
        <p:spPr>
          <a:xfrm>
            <a:off x="274320" y="7589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ВОЗМОЖНОСТИ ПРОДУКТА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7263" y="48453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22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КЛЮЧЕВЫЕ ФУНКЦИИ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MVP </a:t>
            </a:r>
            <a:r>
              <a:rPr lang="ru-RU" sz="22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И ПЕРВЫХ РЕЛИЗОВ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01168" y="137160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201168" y="1371600"/>
            <a:ext cx="73152" cy="1737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2304288" y="1481328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36192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667512" y="1837944"/>
            <a:ext cx="164592" cy="164592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347472" y="199339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Текстовый ввод запроса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" y="2441448"/>
            <a:ext cx="25511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описывает цель, уровень и свободное время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82112" y="137160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3182112" y="1371600"/>
            <a:ext cx="73152" cy="1737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5285232" y="1481328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92424" y="1581912"/>
            <a:ext cx="347472" cy="310896"/>
          </a:xfrm>
          <a:prstGeom prst="rect">
            <a:avLst/>
          </a:prstGeom>
          <a:solidFill>
            <a:srgbClr val="2563EB">
              <a:alpha val="85000"/>
            </a:srgbClr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3474720" y="165506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3584448" y="165506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3474720" y="1783080"/>
            <a:ext cx="1828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3566160" y="1536192"/>
            <a:ext cx="0" cy="73152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3538728" y="1499616"/>
            <a:ext cx="64008" cy="640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3328416" y="199339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ИИ-генерация roadmap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28416" y="2441448"/>
            <a:ext cx="25511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анализирует запрос и строит пошаговый план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53912" y="137160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6153912" y="1371600"/>
            <a:ext cx="73152" cy="1737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8257032" y="1481328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55080" y="1536192"/>
            <a:ext cx="320040" cy="402336"/>
          </a:xfrm>
          <a:prstGeom prst="rect">
            <a:avLst/>
          </a:prstGeom>
          <a:solidFill>
            <a:srgbClr val="2563EB">
              <a:alpha val="15000"/>
            </a:srgbClr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Shape 28"/>
          <p:cNvSpPr/>
          <p:nvPr/>
        </p:nvSpPr>
        <p:spPr>
          <a:xfrm>
            <a:off x="6409944" y="1627632"/>
            <a:ext cx="18288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Shape 29"/>
          <p:cNvSpPr/>
          <p:nvPr/>
        </p:nvSpPr>
        <p:spPr>
          <a:xfrm>
            <a:off x="6409944" y="1700784"/>
            <a:ext cx="18288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Shape 30"/>
          <p:cNvSpPr/>
          <p:nvPr/>
        </p:nvSpPr>
        <p:spPr>
          <a:xfrm>
            <a:off x="6409944" y="1773936"/>
            <a:ext cx="128016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/>
          <p:nvPr/>
        </p:nvSpPr>
        <p:spPr>
          <a:xfrm>
            <a:off x="6300216" y="199339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по источникам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00216" y="2441448"/>
            <a:ext cx="25511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u-RU" sz="10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Анализ вакансий на рынке, подбор курсов, статей, учебной литературы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01168" y="324612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6" name="Shape 34"/>
          <p:cNvSpPr/>
          <p:nvPr/>
        </p:nvSpPr>
        <p:spPr>
          <a:xfrm>
            <a:off x="201168" y="3246120"/>
            <a:ext cx="73152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8" name="Text 36"/>
          <p:cNvSpPr/>
          <p:nvPr/>
        </p:nvSpPr>
        <p:spPr>
          <a:xfrm>
            <a:off x="2304288" y="3355848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3547872"/>
            <a:ext cx="109728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0" name="Shape 38"/>
          <p:cNvSpPr/>
          <p:nvPr/>
        </p:nvSpPr>
        <p:spPr>
          <a:xfrm>
            <a:off x="365760" y="3502152"/>
            <a:ext cx="36576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1" name="Shape 39"/>
          <p:cNvSpPr/>
          <p:nvPr/>
        </p:nvSpPr>
        <p:spPr>
          <a:xfrm>
            <a:off x="694944" y="3547872"/>
            <a:ext cx="109728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2" name="Shape 40"/>
          <p:cNvSpPr/>
          <p:nvPr/>
        </p:nvSpPr>
        <p:spPr>
          <a:xfrm>
            <a:off x="768096" y="3502152"/>
            <a:ext cx="36576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3" name="Shape 41"/>
          <p:cNvSpPr/>
          <p:nvPr/>
        </p:nvSpPr>
        <p:spPr>
          <a:xfrm>
            <a:off x="548640" y="3465576"/>
            <a:ext cx="73152" cy="256032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4" name="Text 42"/>
          <p:cNvSpPr/>
          <p:nvPr/>
        </p:nvSpPr>
        <p:spPr>
          <a:xfrm>
            <a:off x="347472" y="386791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Взаимодействие с API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47472" y="4315968"/>
            <a:ext cx="25511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</a:t>
            </a:r>
            <a:r>
              <a:rPr lang="ru-RU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сторонними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API для генерации и обновления планов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182112" y="324612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7" name="Shape 45"/>
          <p:cNvSpPr/>
          <p:nvPr/>
        </p:nvSpPr>
        <p:spPr>
          <a:xfrm>
            <a:off x="3182112" y="3246120"/>
            <a:ext cx="73152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9" name="Text 47"/>
          <p:cNvSpPr/>
          <p:nvPr/>
        </p:nvSpPr>
        <p:spPr>
          <a:xfrm>
            <a:off x="5285232" y="3355848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438144" y="3410712"/>
            <a:ext cx="219456" cy="219456"/>
          </a:xfrm>
          <a:prstGeom prst="ellipse">
            <a:avLst/>
          </a:prstGeom>
          <a:solidFill>
            <a:srgbClr val="F59E0B">
              <a:alpha val="85000"/>
            </a:srgbClr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1" name="Shape 49"/>
          <p:cNvSpPr/>
          <p:nvPr/>
        </p:nvSpPr>
        <p:spPr>
          <a:xfrm>
            <a:off x="3383280" y="3648456"/>
            <a:ext cx="329184" cy="164592"/>
          </a:xfrm>
          <a:prstGeom prst="rect">
            <a:avLst/>
          </a:prstGeom>
          <a:solidFill>
            <a:srgbClr val="F59E0B">
              <a:alpha val="85000"/>
            </a:srgbClr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2" name="Text 50"/>
          <p:cNvSpPr/>
          <p:nvPr/>
        </p:nvSpPr>
        <p:spPr>
          <a:xfrm>
            <a:off x="3328416" y="386791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пользователя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3328416" y="4315968"/>
            <a:ext cx="25511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навыков, целей и прогресса между сессиями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153912" y="324612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5" name="Shape 53"/>
          <p:cNvSpPr/>
          <p:nvPr/>
        </p:nvSpPr>
        <p:spPr>
          <a:xfrm>
            <a:off x="6153912" y="3246120"/>
            <a:ext cx="73152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7" name="Text 55"/>
          <p:cNvSpPr/>
          <p:nvPr/>
        </p:nvSpPr>
        <p:spPr>
          <a:xfrm>
            <a:off x="8257032" y="3355848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355080" y="3593592"/>
            <a:ext cx="329184" cy="219456"/>
          </a:xfrm>
          <a:prstGeom prst="rect">
            <a:avLst/>
          </a:prstGeom>
          <a:solidFill>
            <a:srgbClr val="F59E0B">
              <a:alpha val="15000"/>
            </a:srgbClr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9" name="Shape 57"/>
          <p:cNvSpPr/>
          <p:nvPr/>
        </p:nvSpPr>
        <p:spPr>
          <a:xfrm>
            <a:off x="6519672" y="3575304"/>
            <a:ext cx="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0" name="Shape 58"/>
          <p:cNvSpPr/>
          <p:nvPr/>
        </p:nvSpPr>
        <p:spPr>
          <a:xfrm>
            <a:off x="6446520" y="3465576"/>
            <a:ext cx="73152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1" name="Shape 59"/>
          <p:cNvSpPr/>
          <p:nvPr/>
        </p:nvSpPr>
        <p:spPr>
          <a:xfrm>
            <a:off x="6519672" y="3392424"/>
            <a:ext cx="73152" cy="73152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2" name="Text 60"/>
          <p:cNvSpPr/>
          <p:nvPr/>
        </p:nvSpPr>
        <p:spPr>
          <a:xfrm>
            <a:off x="6300216" y="386791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Адаптация и экспорт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6300216" y="4315968"/>
            <a:ext cx="25511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 roadmap под прогресс + экспорт в PDF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237744" y="1097280"/>
            <a:ext cx="2788920" cy="3749040"/>
          </a:xfrm>
          <a:prstGeom prst="rect">
            <a:avLst/>
          </a:prstGeom>
          <a:solidFill>
            <a:schemeClr val="bg1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278892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338328" y="111556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920240" y="116128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</a:t>
            </a:r>
            <a:r>
              <a:rPr lang="ru-RU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мес.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170992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  Текстовый ввод запроса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258568"/>
            <a:ext cx="2514600" cy="45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365760" y="2368296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  ИИ-генерация roadmap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16936"/>
            <a:ext cx="2514600" cy="45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365760" y="3026664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  Отображение этапов обучения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575304"/>
            <a:ext cx="2514600" cy="45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365760" y="368503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  Базовый UI мобильного приложения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72968" y="1097280"/>
            <a:ext cx="2788920" cy="3749040"/>
          </a:xfrm>
          <a:prstGeom prst="rect">
            <a:avLst/>
          </a:prstGeom>
          <a:solidFill>
            <a:schemeClr val="bg1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3172968" y="1097280"/>
            <a:ext cx="2788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3282696" y="111556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1.1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64608" y="116128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ru-RU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мес.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3310128" y="170992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  Профиль пользователя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10128" y="2258568"/>
            <a:ext cx="2514600" cy="45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3310128" y="2368296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  Экспорт roadmap в PDF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10128" y="2916936"/>
            <a:ext cx="2514600" cy="45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3310128" y="3026664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  Сохранение истории roadmap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10128" y="3575304"/>
            <a:ext cx="2514600" cy="45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3310128" y="368503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  Адаптация плана под прогресс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17336" y="1097280"/>
            <a:ext cx="2788920" cy="3749040"/>
          </a:xfrm>
          <a:prstGeom prst="rect">
            <a:avLst/>
          </a:prstGeom>
          <a:solidFill>
            <a:schemeClr val="bg1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Shape 27"/>
          <p:cNvSpPr/>
          <p:nvPr/>
        </p:nvSpPr>
        <p:spPr>
          <a:xfrm>
            <a:off x="6117336" y="1097280"/>
            <a:ext cx="27889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6227064" y="111556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 1.2 - 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2.0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7808976" y="116128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ru-RU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мес.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6254496" y="170992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  Рекомендации ресурсов (курсы, статьи)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54496" y="2258568"/>
            <a:ext cx="2514600" cy="45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Text 32"/>
          <p:cNvSpPr/>
          <p:nvPr/>
        </p:nvSpPr>
        <p:spPr>
          <a:xfrm>
            <a:off x="6254496" y="2368296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  Чекпоинты и трекинг прогресса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54496" y="2916936"/>
            <a:ext cx="2514600" cy="45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8" name="Text 36"/>
          <p:cNvSpPr/>
          <p:nvPr/>
        </p:nvSpPr>
        <p:spPr>
          <a:xfrm>
            <a:off x="6227064" y="2994661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  Онбординг и Push-уведомления</a:t>
            </a:r>
            <a:endParaRPr lang="en-US" sz="1100" dirty="0"/>
          </a:p>
        </p:txBody>
      </p:sp>
      <p:sp>
        <p:nvSpPr>
          <p:cNvPr id="43" name="Shape 0">
            <a:extLst>
              <a:ext uri="{FF2B5EF4-FFF2-40B4-BE49-F238E27FC236}">
                <a16:creationId xmlns:a16="http://schemas.microsoft.com/office/drawing/2014/main" id="{C889ECA1-865F-F7AF-B63E-0F9255B80B4F}"/>
              </a:ext>
            </a:extLst>
          </p:cNvPr>
          <p:cNvSpPr/>
          <p:nvPr/>
        </p:nvSpPr>
        <p:spPr>
          <a:xfrm>
            <a:off x="0" y="0"/>
            <a:ext cx="9144000" cy="1042415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44" name="Text 1">
            <a:extLst>
              <a:ext uri="{FF2B5EF4-FFF2-40B4-BE49-F238E27FC236}">
                <a16:creationId xmlns:a16="http://schemas.microsoft.com/office/drawing/2014/main" id="{15085753-CA32-54A9-EEC2-08EFBEEBC261}"/>
              </a:ext>
            </a:extLst>
          </p:cNvPr>
          <p:cNvSpPr/>
          <p:nvPr/>
        </p:nvSpPr>
        <p:spPr>
          <a:xfrm>
            <a:off x="277263" y="69494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1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И ДОРОЖНАЯ КАРТА</a:t>
            </a:r>
            <a:endParaRPr lang="en-US" sz="1100" dirty="0"/>
          </a:p>
        </p:txBody>
      </p:sp>
      <p:sp>
        <p:nvSpPr>
          <p:cNvPr id="45" name="Text 2">
            <a:extLst>
              <a:ext uri="{FF2B5EF4-FFF2-40B4-BE49-F238E27FC236}">
                <a16:creationId xmlns:a16="http://schemas.microsoft.com/office/drawing/2014/main" id="{7997DC6C-3CB4-3C3B-5B36-EF796FD4A259}"/>
              </a:ext>
            </a:extLst>
          </p:cNvPr>
          <p:cNvSpPr/>
          <p:nvPr/>
        </p:nvSpPr>
        <p:spPr>
          <a:xfrm>
            <a:off x="277263" y="48453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месяцев · бюджет MVP </a:t>
            </a:r>
            <a:r>
              <a:rPr lang="ru-RU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ru-RU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тыс. руб. · ИИ-генерация, без </a:t>
            </a:r>
            <a:r>
              <a:rPr lang="ru-RU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ментора</a:t>
            </a:r>
            <a:endParaRPr lang="en-US" sz="2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AccentBar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3DAEE9"/>
          </a:solidFill>
          <a:ln w="12700">
            <a:solidFill>
              <a:srgbClr val="3DAEE9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800" b="1" kern="0" spc="300" dirty="0">
                <a:solidFill>
                  <a:srgbClr val="3DAEE9"/>
                </a:solidFill>
                <a:latin typeface="Calibri" pitchFamily="34" charset="0"/>
              </a:rPr>
              <a:t>УЧАСТНИКИ ПРОЕКТА</a:t>
            </a:r>
          </a:p>
        </p:txBody>
      </p:sp>
      <p:sp>
        <p:nvSpPr>
          <p:cNvPr id="5" name="Subtitle"/>
          <p:cNvSpPr/>
          <p:nvPr/>
        </p:nvSpPr>
        <p:spPr>
          <a:xfrm>
            <a:off x="365760" y="4206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800" b="1" dirty="0">
                <a:solidFill>
                  <a:srgbClr val="FFFFFF"/>
                </a:solidFill>
                <a:latin typeface="Calibri" pitchFamily="34" charset="0"/>
              </a:rPr>
              <a:t>Ключевые участники и заинтересованные стороны</a:t>
            </a:r>
          </a:p>
        </p:txBody>
      </p:sp>
      <p:sp>
        <p:nvSpPr>
          <p:cNvPr id="10" name="CardTeam"/>
          <p:cNvSpPr/>
          <p:nvPr/>
        </p:nvSpPr>
        <p:spPr>
          <a:xfrm>
            <a:off x="274320" y="1020240"/>
            <a:ext cx="4160520" cy="36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CardHdrTeam"/>
          <p:cNvSpPr/>
          <p:nvPr/>
        </p:nvSpPr>
        <p:spPr>
          <a:xfrm>
            <a:off x="274320" y="1020240"/>
            <a:ext cx="416052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2" name="CardHdrTxtTeam"/>
          <p:cNvSpPr/>
          <p:nvPr/>
        </p:nvSpPr>
        <p:spPr>
          <a:xfrm>
            <a:off x="365760" y="1020240"/>
            <a:ext cx="397728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ru-RU" sz="1100" b="1" dirty="0">
                <a:solidFill>
                  <a:srgbClr val="3DAEE9"/>
                </a:solidFill>
                <a:latin typeface="Calibri" pitchFamily="34" charset="0"/>
              </a:rPr>
              <a:t>Команда разработки</a:t>
            </a:r>
          </a:p>
        </p:txBody>
      </p:sp>
      <p:sp>
        <p:nvSpPr>
          <p:cNvPr id="13" name="TeamRoles"/>
          <p:cNvSpPr/>
          <p:nvPr/>
        </p:nvSpPr>
        <p:spPr>
          <a:xfrm>
            <a:off x="365760" y="1450000"/>
            <a:ext cx="3977280" cy="320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342900" lvl="0" indent="-342900">
              <a:lnSpc>
                <a:spcPct val="115000"/>
              </a:lnSpc>
              <a:buFont typeface="Symbol" pitchFamily="2" charset="2"/>
              <a:buChar char=""/>
              <a:tabLst>
                <a:tab pos="228600" algn="l"/>
              </a:tabLst>
            </a:pPr>
            <a:r>
              <a:rPr lang="ru-RU" sz="11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Руководитель</a:t>
            </a: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endParaRPr lang="en-US" sz="1100" b="1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Symbol" pitchFamily="2" charset="2"/>
              <a:buChar char=""/>
              <a:tabLst>
                <a:tab pos="228600" algn="l"/>
              </a:tabLst>
            </a:pPr>
            <a:r>
              <a:rPr lang="ru-RU" sz="11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Аналитики</a:t>
            </a:r>
          </a:p>
          <a:p>
            <a:pPr marL="342900" lvl="0" indent="-342900">
              <a:lnSpc>
                <a:spcPct val="115000"/>
              </a:lnSpc>
              <a:buFont typeface="Symbol" pitchFamily="2" charset="2"/>
              <a:buChar char=""/>
              <a:tabLst>
                <a:tab pos="228600" algn="l"/>
              </a:tabLst>
            </a:pPr>
            <a:endParaRPr lang="ru-RU" sz="1100" b="1" dirty="0">
              <a:latin typeface="Calibri" panose="020F0502020204030204" pitchFamily="34" charset="0"/>
              <a:ea typeface="MS Mincho" panose="02020609040205080304" pitchFamily="49" charset="-128"/>
              <a:cs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Symbol" pitchFamily="2" charset="2"/>
              <a:buChar char=""/>
              <a:tabLst>
                <a:tab pos="228600" algn="l"/>
              </a:tabLst>
            </a:pPr>
            <a:r>
              <a:rPr lang="ru-RU" sz="11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Разработчики</a:t>
            </a:r>
          </a:p>
          <a:p>
            <a:pPr marL="342900" lvl="0" indent="-342900">
              <a:lnSpc>
                <a:spcPct val="115000"/>
              </a:lnSpc>
              <a:buFont typeface="Symbol" pitchFamily="2" charset="2"/>
              <a:buChar char=""/>
              <a:tabLst>
                <a:tab pos="228600" algn="l"/>
              </a:tabLst>
            </a:pPr>
            <a:endParaRPr lang="ru-RU" sz="1100" b="1" dirty="0">
              <a:latin typeface="Calibri" panose="020F0502020204030204" pitchFamily="34" charset="0"/>
              <a:ea typeface="MS Mincho" panose="02020609040205080304" pitchFamily="49" charset="-128"/>
              <a:cs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Symbol" pitchFamily="2" charset="2"/>
              <a:buChar char=""/>
              <a:tabLst>
                <a:tab pos="228600" algn="l"/>
              </a:tabLst>
            </a:pPr>
            <a:r>
              <a:rPr lang="ru-RU" sz="11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Тестировщики</a:t>
            </a:r>
          </a:p>
          <a:p>
            <a:pPr marL="342900" lvl="0" indent="-342900">
              <a:lnSpc>
                <a:spcPct val="115000"/>
              </a:lnSpc>
              <a:buFont typeface="Symbol" pitchFamily="2" charset="2"/>
              <a:buChar char=""/>
              <a:tabLst>
                <a:tab pos="228600" algn="l"/>
              </a:tabLst>
            </a:pPr>
            <a:endParaRPr lang="ru-RU" sz="1100" b="1" dirty="0">
              <a:latin typeface="Calibri" panose="020F0502020204030204" pitchFamily="34" charset="0"/>
              <a:ea typeface="MS Mincho" panose="02020609040205080304" pitchFamily="49" charset="-128"/>
              <a:cs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Symbol" pitchFamily="2" charset="2"/>
              <a:buChar char=""/>
              <a:tabLst>
                <a:tab pos="228600" algn="l"/>
              </a:tabLst>
            </a:pPr>
            <a:r>
              <a:rPr lang="ru-RU" sz="11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Архитектор системы</a:t>
            </a:r>
          </a:p>
          <a:p>
            <a:pPr marL="342900" lvl="0" indent="-342900">
              <a:lnSpc>
                <a:spcPct val="115000"/>
              </a:lnSpc>
              <a:buFont typeface="Symbol" pitchFamily="2" charset="2"/>
              <a:buChar char=""/>
              <a:tabLst>
                <a:tab pos="228600" algn="l"/>
              </a:tabLst>
            </a:pPr>
            <a:endParaRPr lang="ru-RU" sz="1100" b="1" dirty="0">
              <a:latin typeface="Calibri" panose="020F0502020204030204" pitchFamily="34" charset="0"/>
              <a:ea typeface="MS Mincho" panose="02020609040205080304" pitchFamily="49" charset="-128"/>
              <a:cs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Symbol" pitchFamily="2" charset="2"/>
              <a:buChar char=""/>
              <a:tabLst>
                <a:tab pos="228600" algn="l"/>
              </a:tabLst>
            </a:pPr>
            <a:r>
              <a:rPr lang="ru-RU" sz="11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Менеджер проекта</a:t>
            </a:r>
          </a:p>
          <a:p>
            <a:pPr marL="342900" lvl="0" indent="-342900">
              <a:lnSpc>
                <a:spcPct val="115000"/>
              </a:lnSpc>
              <a:buFont typeface="Symbol" pitchFamily="2" charset="2"/>
              <a:buChar char=""/>
              <a:tabLst>
                <a:tab pos="228600" algn="l"/>
              </a:tabLst>
            </a:pPr>
            <a:endParaRPr lang="ru-RU" sz="1100" b="1" dirty="0">
              <a:latin typeface="Calibri" panose="020F0502020204030204" pitchFamily="34" charset="0"/>
              <a:ea typeface="MS Mincho" panose="02020609040205080304" pitchFamily="49" charset="-128"/>
              <a:cs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Symbol" pitchFamily="2" charset="2"/>
              <a:buChar char=""/>
              <a:tabLst>
                <a:tab pos="228600" algn="l"/>
              </a:tabLst>
            </a:pPr>
            <a:r>
              <a:rPr lang="en-US" sz="11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DevOps-</a:t>
            </a:r>
            <a:r>
              <a:rPr lang="ru-RU" sz="1100" b="1" dirty="0"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инженер и т. д.</a:t>
            </a:r>
            <a:endParaRPr lang="ru-RU" sz="1100" b="1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alibri" panose="020F0502020204030204" pitchFamily="34" charset="0"/>
            </a:endParaRPr>
          </a:p>
        </p:txBody>
      </p:sp>
      <p:sp>
        <p:nvSpPr>
          <p:cNvPr id="20" name="CardExt"/>
          <p:cNvSpPr/>
          <p:nvPr/>
        </p:nvSpPr>
        <p:spPr>
          <a:xfrm>
            <a:off x="4708560" y="1020240"/>
            <a:ext cx="4160520" cy="36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CardHdrExt"/>
          <p:cNvSpPr/>
          <p:nvPr/>
        </p:nvSpPr>
        <p:spPr>
          <a:xfrm>
            <a:off x="4708560" y="1020240"/>
            <a:ext cx="416052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2" name="CardHdrTxtExt"/>
          <p:cNvSpPr/>
          <p:nvPr/>
        </p:nvSpPr>
        <p:spPr>
          <a:xfrm>
            <a:off x="4800000" y="1020240"/>
            <a:ext cx="397728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ru-RU" sz="1100" b="1" dirty="0">
                <a:solidFill>
                  <a:srgbClr val="F5A623"/>
                </a:solidFill>
                <a:latin typeface="Calibri" pitchFamily="34" charset="0"/>
              </a:rPr>
              <a:t>Заинтересованные  стороны</a:t>
            </a:r>
          </a:p>
        </p:txBody>
      </p:sp>
      <p:sp>
        <p:nvSpPr>
          <p:cNvPr id="23" name="ExtRoles"/>
          <p:cNvSpPr/>
          <p:nvPr/>
        </p:nvSpPr>
        <p:spPr>
          <a:xfrm>
            <a:off x="4800000" y="1450000"/>
            <a:ext cx="3977280" cy="320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342900" lvl="0" indent="-342900">
              <a:lnSpc>
                <a:spcPct val="115000"/>
              </a:lnSpc>
              <a:buFont typeface="Symbol" pitchFamily="2" charset="2"/>
              <a:buChar char=""/>
              <a:tabLst>
                <a:tab pos="228600" algn="l"/>
              </a:tabLst>
            </a:pPr>
            <a:r>
              <a:rPr lang="ru-RU" sz="11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Пользователи: студенты, начинающие специалисты, люди на смене профессии, </a:t>
            </a:r>
            <a:r>
              <a:rPr lang="en-US" sz="11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IT</a:t>
            </a:r>
            <a:r>
              <a:rPr lang="ru-RU" sz="11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-специалисты.</a:t>
            </a:r>
            <a:endParaRPr lang="en-US" sz="1100" b="1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alibri" panose="020F0502020204030204" pitchFamily="34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endParaRPr lang="ru-RU" sz="1100" b="1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Symbol" pitchFamily="2" charset="2"/>
              <a:buChar char=""/>
              <a:tabLst>
                <a:tab pos="228600" algn="l"/>
              </a:tabLst>
            </a:pPr>
            <a:r>
              <a:rPr lang="ru-RU" sz="11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Поставщики </a:t>
            </a:r>
            <a:r>
              <a:rPr lang="en-US" sz="11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API</a:t>
            </a:r>
            <a:r>
              <a:rPr lang="ru-RU" sz="11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 и </a:t>
            </a:r>
            <a:r>
              <a:rPr lang="en-US" sz="11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AI</a:t>
            </a:r>
            <a:r>
              <a:rPr lang="ru-RU" sz="11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-сервисов: </a:t>
            </a:r>
            <a:r>
              <a:rPr lang="en-US" sz="11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OpenAI</a:t>
            </a:r>
            <a:r>
              <a:rPr lang="ru-RU" sz="11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, </a:t>
            </a:r>
            <a:r>
              <a:rPr lang="en-US" sz="11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GitHub</a:t>
            </a:r>
            <a:r>
              <a:rPr lang="ru-RU" sz="11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, </a:t>
            </a:r>
            <a:r>
              <a:rPr lang="en-US" sz="11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hh</a:t>
            </a:r>
            <a:r>
              <a:rPr lang="ru-RU" sz="11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.</a:t>
            </a:r>
            <a:r>
              <a:rPr lang="en-US" sz="11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ru</a:t>
            </a:r>
            <a:r>
              <a:rPr lang="ru-RU" sz="11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, образовательные платформы.</a:t>
            </a:r>
            <a:endParaRPr lang="en-US" sz="1100" b="1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alibri" panose="020F0502020204030204" pitchFamily="34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endParaRPr lang="ru-RU" sz="1100" b="1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Symbol" pitchFamily="2" charset="2"/>
              <a:buChar char=""/>
              <a:tabLst>
                <a:tab pos="228600" algn="l"/>
              </a:tabLst>
            </a:pPr>
            <a:r>
              <a:rPr lang="ru-RU" sz="11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Компании-партнёры и </a:t>
            </a:r>
            <a:r>
              <a:rPr lang="en-US" sz="11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HR</a:t>
            </a:r>
            <a:r>
              <a:rPr lang="ru-RU" sz="11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: заинтересованы в ускоренной подготовке </a:t>
            </a:r>
            <a:r>
              <a:rPr lang="en-US" sz="11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IT</a:t>
            </a:r>
            <a:r>
              <a:rPr lang="ru-RU" sz="11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-специалистов.</a:t>
            </a:r>
            <a:endParaRPr lang="en-US" sz="1100" b="1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alibri" panose="020F0502020204030204" pitchFamily="34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endParaRPr lang="ru-RU" sz="1100" b="1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alibri" panose="020F050202020403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itchFamily="2" charset="2"/>
              <a:buChar char=""/>
              <a:tabLst>
                <a:tab pos="228600" algn="l"/>
              </a:tabLst>
            </a:pPr>
            <a:r>
              <a:rPr lang="ru-RU" sz="11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Конкуренты: онлайн-школы, платформы </a:t>
            </a:r>
            <a:r>
              <a:rPr lang="en-US" sz="11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roadmap</a:t>
            </a:r>
            <a:r>
              <a:rPr lang="ru-RU" sz="1100" b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 и карьерные сервисы.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AccentBar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800" b="1" kern="0" spc="300" dirty="0">
                <a:solidFill>
                  <a:srgbClr val="E74C3C"/>
                </a:solidFill>
                <a:latin typeface="Calibri" pitchFamily="34" charset="0"/>
              </a:rPr>
              <a:t>РИСКИ ПРОЕКТА</a:t>
            </a:r>
          </a:p>
        </p:txBody>
      </p:sp>
      <p:sp>
        <p:nvSpPr>
          <p:cNvPr id="5" name="Subtitle"/>
          <p:cNvSpPr/>
          <p:nvPr/>
        </p:nvSpPr>
        <p:spPr>
          <a:xfrm>
            <a:off x="365760" y="4206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800" b="1" dirty="0">
                <a:solidFill>
                  <a:srgbClr val="FFFFFF"/>
                </a:solidFill>
                <a:latin typeface="Calibri" pitchFamily="34" charset="0"/>
              </a:rPr>
              <a:t>Суммарный уровень рисков — СРЕДНИЙ</a:t>
            </a:r>
          </a:p>
        </p:txBody>
      </p:sp>
      <p:sp>
        <p:nvSpPr>
          <p:cNvPr id="10" name="RiskHdr"/>
          <p:cNvSpPr/>
          <p:nvPr/>
        </p:nvSpPr>
        <p:spPr>
          <a:xfrm>
            <a:off x="274320" y="1010000"/>
            <a:ext cx="8595360" cy="300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ru-RU" sz="900" b="1" dirty="0">
                <a:solidFill>
                  <a:srgbClr val="8BAABF"/>
                </a:solidFill>
                <a:latin typeface="Calibri" pitchFamily="34" charset="0"/>
              </a:rPr>
              <a:t>       РИСК                                                     	                      ВЕРОЯТНОСТЬ         	           ВЛИЯНИЕ                                                                   МЕРА МИТИГАЦИИ</a:t>
            </a:r>
          </a:p>
        </p:txBody>
      </p:sp>
      <p:sp>
        <p:nvSpPr>
          <p:cNvPr id="11" name="Risk1"/>
          <p:cNvSpPr/>
          <p:nvPr/>
        </p:nvSpPr>
        <p:spPr>
          <a:xfrm>
            <a:off x="274320" y="1309999"/>
            <a:ext cx="8595360" cy="533317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36000" rIns="91440" bIns="36000" rtlCol="0" anchor="ctr"/>
          <a:lstStyle/>
          <a:p>
            <a:pPr marL="0" indent="0">
              <a:buNone/>
            </a:pPr>
            <a:endParaRPr lang="ru-RU" sz="1400" dirty="0">
              <a:solidFill>
                <a:srgbClr val="1A252F"/>
              </a:solidFill>
              <a:latin typeface="Calibri" pitchFamily="34" charset="0"/>
            </a:endParaRPr>
          </a:p>
        </p:txBody>
      </p:sp>
      <p:sp>
        <p:nvSpPr>
          <p:cNvPr id="12" name="Risk2"/>
          <p:cNvSpPr/>
          <p:nvPr/>
        </p:nvSpPr>
        <p:spPr>
          <a:xfrm>
            <a:off x="274320" y="1922253"/>
            <a:ext cx="8595360" cy="533317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36000" rIns="91440" bIns="36000" rtlCol="0" anchor="ctr"/>
          <a:lstStyle/>
          <a:p>
            <a:pPr marL="0" indent="0">
              <a:buNone/>
            </a:pPr>
            <a:endParaRPr lang="ru-RU" sz="1400" dirty="0">
              <a:solidFill>
                <a:srgbClr val="1A252F"/>
              </a:solidFill>
              <a:latin typeface="Calibri" pitchFamily="34" charset="0"/>
            </a:endParaRPr>
          </a:p>
        </p:txBody>
      </p:sp>
      <p:sp>
        <p:nvSpPr>
          <p:cNvPr id="13" name="Risk3"/>
          <p:cNvSpPr/>
          <p:nvPr/>
        </p:nvSpPr>
        <p:spPr>
          <a:xfrm>
            <a:off x="274320" y="2524178"/>
            <a:ext cx="8595360" cy="53636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36000" rIns="91440" bIns="36000" rtlCol="0" anchor="ctr"/>
          <a:lstStyle/>
          <a:p>
            <a:pPr marL="0" indent="0">
              <a:buNone/>
            </a:pPr>
            <a:endParaRPr lang="ru-RU" sz="1400" dirty="0">
              <a:solidFill>
                <a:srgbClr val="1A252F"/>
              </a:solidFill>
              <a:latin typeface="Calibri" pitchFamily="34" charset="0"/>
            </a:endParaRPr>
          </a:p>
        </p:txBody>
      </p:sp>
      <p:sp>
        <p:nvSpPr>
          <p:cNvPr id="14" name="Risk4"/>
          <p:cNvSpPr/>
          <p:nvPr/>
        </p:nvSpPr>
        <p:spPr>
          <a:xfrm>
            <a:off x="274320" y="3134041"/>
            <a:ext cx="8595360" cy="53636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36000" rIns="91440" bIns="36000" rtlCol="0" anchor="ctr"/>
          <a:lstStyle/>
          <a:p>
            <a:pPr marL="0" indent="0">
              <a:buNone/>
            </a:pPr>
            <a:endParaRPr lang="ru-RU" sz="1400" dirty="0">
              <a:solidFill>
                <a:srgbClr val="1A252F"/>
              </a:solidFill>
              <a:latin typeface="Calibri" pitchFamily="34" charset="0"/>
            </a:endParaRPr>
          </a:p>
        </p:txBody>
      </p:sp>
      <p:sp>
        <p:nvSpPr>
          <p:cNvPr id="15" name="Risk5"/>
          <p:cNvSpPr/>
          <p:nvPr/>
        </p:nvSpPr>
        <p:spPr>
          <a:xfrm>
            <a:off x="274320" y="3743906"/>
            <a:ext cx="8595360" cy="5363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36000" rIns="91440" bIns="36000" rtlCol="0" anchor="ctr"/>
          <a:lstStyle/>
          <a:p>
            <a:pPr marL="0" indent="0">
              <a:buNone/>
            </a:pPr>
            <a:endParaRPr lang="ru-RU" sz="1400" dirty="0">
              <a:solidFill>
                <a:srgbClr val="1A252F"/>
              </a:solidFill>
              <a:latin typeface="Calibri" pitchFamily="34" charset="0"/>
            </a:endParaRPr>
          </a:p>
        </p:txBody>
      </p:sp>
      <p:sp>
        <p:nvSpPr>
          <p:cNvPr id="8" name="Risk5">
            <a:extLst>
              <a:ext uri="{FF2B5EF4-FFF2-40B4-BE49-F238E27FC236}">
                <a16:creationId xmlns:a16="http://schemas.microsoft.com/office/drawing/2014/main" id="{051C406C-1616-EC35-1536-5E56A98C02A9}"/>
              </a:ext>
            </a:extLst>
          </p:cNvPr>
          <p:cNvSpPr/>
          <p:nvPr/>
        </p:nvSpPr>
        <p:spPr>
          <a:xfrm>
            <a:off x="274312" y="4418217"/>
            <a:ext cx="8595360" cy="5363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36000" rIns="91440" bIns="36000" rtlCol="0" anchor="ctr"/>
          <a:lstStyle/>
          <a:p>
            <a:pPr marL="0" indent="0">
              <a:buNone/>
            </a:pPr>
            <a:endParaRPr lang="ru-RU" sz="1400" dirty="0">
              <a:solidFill>
                <a:srgbClr val="1A252F"/>
              </a:solidFill>
              <a:latin typeface="Calibri" pitchFamily="34" charset="0"/>
            </a:endParaRP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4A44463B-9045-159F-A268-6BF423A13E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163363"/>
              </p:ext>
            </p:extLst>
          </p:nvPr>
        </p:nvGraphicFramePr>
        <p:xfrm>
          <a:off x="274319" y="1308380"/>
          <a:ext cx="8595358" cy="5403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6708">
                  <a:extLst>
                    <a:ext uri="{9D8B030D-6E8A-4147-A177-3AD203B41FA5}">
                      <a16:colId xmlns:a16="http://schemas.microsoft.com/office/drawing/2014/main" val="2028476115"/>
                    </a:ext>
                  </a:extLst>
                </a:gridCol>
                <a:gridCol w="1433033">
                  <a:extLst>
                    <a:ext uri="{9D8B030D-6E8A-4147-A177-3AD203B41FA5}">
                      <a16:colId xmlns:a16="http://schemas.microsoft.com/office/drawing/2014/main" val="859267920"/>
                    </a:ext>
                  </a:extLst>
                </a:gridCol>
                <a:gridCol w="1433033">
                  <a:extLst>
                    <a:ext uri="{9D8B030D-6E8A-4147-A177-3AD203B41FA5}">
                      <a16:colId xmlns:a16="http://schemas.microsoft.com/office/drawing/2014/main" val="1558782679"/>
                    </a:ext>
                  </a:extLst>
                </a:gridCol>
                <a:gridCol w="3582584">
                  <a:extLst>
                    <a:ext uri="{9D8B030D-6E8A-4147-A177-3AD203B41FA5}">
                      <a16:colId xmlns:a16="http://schemas.microsoft.com/office/drawing/2014/main" val="4020317781"/>
                    </a:ext>
                  </a:extLst>
                </a:gridCol>
              </a:tblGrid>
              <a:tr h="5403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Недоступность</a:t>
                      </a:r>
                      <a:r>
                        <a:rPr lang="en-US" sz="1200" dirty="0">
                          <a:effectLst/>
                        </a:rPr>
                        <a:t> LLM / </a:t>
                      </a:r>
                      <a:r>
                        <a:rPr lang="en-US" sz="1200" dirty="0" err="1">
                          <a:effectLst/>
                        </a:rPr>
                        <a:t>внешних</a:t>
                      </a:r>
                      <a:r>
                        <a:rPr lang="en-US" sz="1200" dirty="0">
                          <a:effectLst/>
                        </a:rPr>
                        <a:t> API </a:t>
                      </a:r>
                      <a:endParaRPr lang="ru-RU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Средняя</a:t>
                      </a:r>
                      <a:endParaRPr lang="ru-RU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Высокое</a:t>
                      </a:r>
                      <a:endParaRPr lang="ru-RU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 dirty="0">
                          <a:effectLst/>
                        </a:rPr>
                        <a:t>Резервные провайдеры, локальный кеш сгенерированных </a:t>
                      </a:r>
                      <a:r>
                        <a:rPr lang="en-US" sz="1200" dirty="0">
                          <a:effectLst/>
                        </a:rPr>
                        <a:t>roadmap</a:t>
                      </a:r>
                      <a:endParaRPr lang="ru-RU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94644128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89713DE3-F1D4-BE28-ED5F-4FA7A860B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428882"/>
              </p:ext>
            </p:extLst>
          </p:nvPr>
        </p:nvGraphicFramePr>
        <p:xfrm>
          <a:off x="274315" y="1884834"/>
          <a:ext cx="8595357" cy="5745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6707">
                  <a:extLst>
                    <a:ext uri="{9D8B030D-6E8A-4147-A177-3AD203B41FA5}">
                      <a16:colId xmlns:a16="http://schemas.microsoft.com/office/drawing/2014/main" val="912992874"/>
                    </a:ext>
                  </a:extLst>
                </a:gridCol>
                <a:gridCol w="1433033">
                  <a:extLst>
                    <a:ext uri="{9D8B030D-6E8A-4147-A177-3AD203B41FA5}">
                      <a16:colId xmlns:a16="http://schemas.microsoft.com/office/drawing/2014/main" val="3115028180"/>
                    </a:ext>
                  </a:extLst>
                </a:gridCol>
                <a:gridCol w="1433033">
                  <a:extLst>
                    <a:ext uri="{9D8B030D-6E8A-4147-A177-3AD203B41FA5}">
                      <a16:colId xmlns:a16="http://schemas.microsoft.com/office/drawing/2014/main" val="923416031"/>
                    </a:ext>
                  </a:extLst>
                </a:gridCol>
                <a:gridCol w="3582584">
                  <a:extLst>
                    <a:ext uri="{9D8B030D-6E8A-4147-A177-3AD203B41FA5}">
                      <a16:colId xmlns:a16="http://schemas.microsoft.com/office/drawing/2014/main" val="3172106291"/>
                    </a:ext>
                  </a:extLst>
                </a:gridCol>
              </a:tblGrid>
              <a:tr h="5745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 dirty="0">
                          <a:effectLst/>
                        </a:rPr>
                        <a:t>Низкое качество генерации при нечётких запросах</a:t>
                      </a:r>
                      <a:endParaRPr lang="ru-RU" sz="105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Высокая</a:t>
                      </a:r>
                      <a:endParaRPr lang="ru-RU" sz="105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Среднее</a:t>
                      </a:r>
                      <a:endParaRPr lang="ru-RU" sz="105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 dirty="0">
                          <a:effectLst/>
                        </a:rPr>
                        <a:t>Подсказки в интерфейсе, валидация запроса, повторная генерация</a:t>
                      </a:r>
                      <a:endParaRPr lang="ru-RU" sz="105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153648113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806D66A9-8F07-8F8E-BDB4-D7BFF06318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774216"/>
              </p:ext>
            </p:extLst>
          </p:nvPr>
        </p:nvGraphicFramePr>
        <p:xfrm>
          <a:off x="274315" y="2525760"/>
          <a:ext cx="8595357" cy="5386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6707">
                  <a:extLst>
                    <a:ext uri="{9D8B030D-6E8A-4147-A177-3AD203B41FA5}">
                      <a16:colId xmlns:a16="http://schemas.microsoft.com/office/drawing/2014/main" val="877263805"/>
                    </a:ext>
                  </a:extLst>
                </a:gridCol>
                <a:gridCol w="1433033">
                  <a:extLst>
                    <a:ext uri="{9D8B030D-6E8A-4147-A177-3AD203B41FA5}">
                      <a16:colId xmlns:a16="http://schemas.microsoft.com/office/drawing/2014/main" val="670307887"/>
                    </a:ext>
                  </a:extLst>
                </a:gridCol>
                <a:gridCol w="1433033">
                  <a:extLst>
                    <a:ext uri="{9D8B030D-6E8A-4147-A177-3AD203B41FA5}">
                      <a16:colId xmlns:a16="http://schemas.microsoft.com/office/drawing/2014/main" val="3964128819"/>
                    </a:ext>
                  </a:extLst>
                </a:gridCol>
                <a:gridCol w="3582584">
                  <a:extLst>
                    <a:ext uri="{9D8B030D-6E8A-4147-A177-3AD203B41FA5}">
                      <a16:colId xmlns:a16="http://schemas.microsoft.com/office/drawing/2014/main" val="2958160091"/>
                    </a:ext>
                  </a:extLst>
                </a:gridCol>
              </a:tblGrid>
              <a:tr h="5386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Превышение бюджета</a:t>
                      </a:r>
                      <a:endParaRPr lang="ru-RU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Средняя</a:t>
                      </a:r>
                      <a:endParaRPr lang="ru-RU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Среднее</a:t>
                      </a:r>
                      <a:endParaRPr lang="ru-RU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 dirty="0">
                          <a:effectLst/>
                        </a:rPr>
                        <a:t>Поэтапная разработка с фиксацией бюджета на </a:t>
                      </a:r>
                      <a:r>
                        <a:rPr lang="en-US" sz="1200" dirty="0">
                          <a:effectLst/>
                        </a:rPr>
                        <a:t>MVP</a:t>
                      </a:r>
                      <a:r>
                        <a:rPr lang="ru-RU" sz="1200" dirty="0">
                          <a:effectLst/>
                        </a:rPr>
                        <a:t>, резервный фонд</a:t>
                      </a:r>
                      <a:endParaRPr lang="ru-RU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1578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B00C3ED2-D5A0-2E79-6709-F9A4E90A3C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195894"/>
              </p:ext>
            </p:extLst>
          </p:nvPr>
        </p:nvGraphicFramePr>
        <p:xfrm>
          <a:off x="274315" y="3129147"/>
          <a:ext cx="8595357" cy="553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6707">
                  <a:extLst>
                    <a:ext uri="{9D8B030D-6E8A-4147-A177-3AD203B41FA5}">
                      <a16:colId xmlns:a16="http://schemas.microsoft.com/office/drawing/2014/main" val="2016511703"/>
                    </a:ext>
                  </a:extLst>
                </a:gridCol>
                <a:gridCol w="1433033">
                  <a:extLst>
                    <a:ext uri="{9D8B030D-6E8A-4147-A177-3AD203B41FA5}">
                      <a16:colId xmlns:a16="http://schemas.microsoft.com/office/drawing/2014/main" val="1031473881"/>
                    </a:ext>
                  </a:extLst>
                </a:gridCol>
                <a:gridCol w="1433033">
                  <a:extLst>
                    <a:ext uri="{9D8B030D-6E8A-4147-A177-3AD203B41FA5}">
                      <a16:colId xmlns:a16="http://schemas.microsoft.com/office/drawing/2014/main" val="1396604960"/>
                    </a:ext>
                  </a:extLst>
                </a:gridCol>
                <a:gridCol w="3582584">
                  <a:extLst>
                    <a:ext uri="{9D8B030D-6E8A-4147-A177-3AD203B41FA5}">
                      <a16:colId xmlns:a16="http://schemas.microsoft.com/office/drawing/2014/main" val="2152992779"/>
                    </a:ext>
                  </a:extLst>
                </a:gridCol>
              </a:tblGrid>
              <a:tr h="5536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Нарушение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требований</a:t>
                      </a:r>
                      <a:r>
                        <a:rPr lang="en-US" sz="1200" dirty="0">
                          <a:effectLst/>
                        </a:rPr>
                        <a:t> ФЗ-152</a:t>
                      </a:r>
                      <a:endParaRPr lang="ru-RU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Низкая</a:t>
                      </a:r>
                      <a:endParaRPr lang="ru-RU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Высокое</a:t>
                      </a:r>
                      <a:endParaRPr lang="ru-RU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 dirty="0">
                          <a:effectLst/>
                        </a:rPr>
                        <a:t>Хранение данных в РФ, консультации с юристами</a:t>
                      </a:r>
                      <a:endParaRPr lang="ru-RU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14089035"/>
                  </a:ext>
                </a:extLst>
              </a:tr>
            </a:tbl>
          </a:graphicData>
        </a:graphic>
      </p:graphicFrame>
      <p:graphicFrame>
        <p:nvGraphicFramePr>
          <p:cNvPr id="19" name="Таблица 18">
            <a:extLst>
              <a:ext uri="{FF2B5EF4-FFF2-40B4-BE49-F238E27FC236}">
                <a16:creationId xmlns:a16="http://schemas.microsoft.com/office/drawing/2014/main" id="{D2E3E699-3781-E528-BC84-42550706D8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956124"/>
              </p:ext>
            </p:extLst>
          </p:nvPr>
        </p:nvGraphicFramePr>
        <p:xfrm>
          <a:off x="274315" y="3740079"/>
          <a:ext cx="8595358" cy="592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6708">
                  <a:extLst>
                    <a:ext uri="{9D8B030D-6E8A-4147-A177-3AD203B41FA5}">
                      <a16:colId xmlns:a16="http://schemas.microsoft.com/office/drawing/2014/main" val="984427766"/>
                    </a:ext>
                  </a:extLst>
                </a:gridCol>
                <a:gridCol w="1433033">
                  <a:extLst>
                    <a:ext uri="{9D8B030D-6E8A-4147-A177-3AD203B41FA5}">
                      <a16:colId xmlns:a16="http://schemas.microsoft.com/office/drawing/2014/main" val="3042027366"/>
                    </a:ext>
                  </a:extLst>
                </a:gridCol>
                <a:gridCol w="1433033">
                  <a:extLst>
                    <a:ext uri="{9D8B030D-6E8A-4147-A177-3AD203B41FA5}">
                      <a16:colId xmlns:a16="http://schemas.microsoft.com/office/drawing/2014/main" val="3747115023"/>
                    </a:ext>
                  </a:extLst>
                </a:gridCol>
                <a:gridCol w="3582584">
                  <a:extLst>
                    <a:ext uri="{9D8B030D-6E8A-4147-A177-3AD203B41FA5}">
                      <a16:colId xmlns:a16="http://schemas.microsoft.com/office/drawing/2014/main" val="3101142531"/>
                    </a:ext>
                  </a:extLst>
                </a:gridCol>
              </a:tblGrid>
              <a:tr h="5927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Задержки</a:t>
                      </a:r>
                      <a:r>
                        <a:rPr lang="en-US" sz="1200" dirty="0">
                          <a:effectLst/>
                        </a:rPr>
                        <a:t> в </a:t>
                      </a:r>
                      <a:r>
                        <a:rPr lang="en-US" sz="1200" dirty="0" err="1">
                          <a:effectLst/>
                        </a:rPr>
                        <a:t>разработке</a:t>
                      </a:r>
                      <a:endParaRPr lang="ru-RU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Средняя</a:t>
                      </a:r>
                      <a:endParaRPr lang="ru-RU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Среднее</a:t>
                      </a:r>
                      <a:endParaRPr lang="ru-RU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 dirty="0">
                          <a:effectLst/>
                        </a:rPr>
                        <a:t>Чёткое планирование спринтов, еженедельный контроль статуса</a:t>
                      </a:r>
                      <a:endParaRPr lang="ru-RU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900241110"/>
                  </a:ext>
                </a:extLst>
              </a:tr>
            </a:tbl>
          </a:graphicData>
        </a:graphic>
      </p:graphicFrame>
      <p:graphicFrame>
        <p:nvGraphicFramePr>
          <p:cNvPr id="20" name="Таблица 19">
            <a:extLst>
              <a:ext uri="{FF2B5EF4-FFF2-40B4-BE49-F238E27FC236}">
                <a16:creationId xmlns:a16="http://schemas.microsoft.com/office/drawing/2014/main" id="{B7B525B2-0872-398D-A07C-62AFB9EDD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25930"/>
              </p:ext>
            </p:extLst>
          </p:nvPr>
        </p:nvGraphicFramePr>
        <p:xfrm>
          <a:off x="274312" y="4416976"/>
          <a:ext cx="8595357" cy="5477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6707">
                  <a:extLst>
                    <a:ext uri="{9D8B030D-6E8A-4147-A177-3AD203B41FA5}">
                      <a16:colId xmlns:a16="http://schemas.microsoft.com/office/drawing/2014/main" val="618160238"/>
                    </a:ext>
                  </a:extLst>
                </a:gridCol>
                <a:gridCol w="1433033">
                  <a:extLst>
                    <a:ext uri="{9D8B030D-6E8A-4147-A177-3AD203B41FA5}">
                      <a16:colId xmlns:a16="http://schemas.microsoft.com/office/drawing/2014/main" val="3316533847"/>
                    </a:ext>
                  </a:extLst>
                </a:gridCol>
                <a:gridCol w="1433033">
                  <a:extLst>
                    <a:ext uri="{9D8B030D-6E8A-4147-A177-3AD203B41FA5}">
                      <a16:colId xmlns:a16="http://schemas.microsoft.com/office/drawing/2014/main" val="606755178"/>
                    </a:ext>
                  </a:extLst>
                </a:gridCol>
                <a:gridCol w="3582584">
                  <a:extLst>
                    <a:ext uri="{9D8B030D-6E8A-4147-A177-3AD203B41FA5}">
                      <a16:colId xmlns:a16="http://schemas.microsoft.com/office/drawing/2014/main" val="2244442089"/>
                    </a:ext>
                  </a:extLst>
                </a:gridCol>
              </a:tblGrid>
              <a:tr h="5477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 dirty="0">
                          <a:effectLst/>
                        </a:rPr>
                        <a:t>Быстрое устаревание ресурсов в </a:t>
                      </a:r>
                      <a:r>
                        <a:rPr lang="en-US" sz="1200" dirty="0">
                          <a:effectLst/>
                        </a:rPr>
                        <a:t>roadmap</a:t>
                      </a:r>
                      <a:endParaRPr lang="ru-RU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Высокая</a:t>
                      </a:r>
                      <a:endParaRPr lang="ru-RU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 err="1">
                          <a:effectLst/>
                        </a:rPr>
                        <a:t>Среднее</a:t>
                      </a:r>
                      <a:endParaRPr lang="ru-RU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200" dirty="0">
                          <a:effectLst/>
                        </a:rPr>
                        <a:t>Регулярное обновление базы ресурсов, интеграция с </a:t>
                      </a:r>
                      <a:r>
                        <a:rPr lang="en-US" sz="1200" dirty="0">
                          <a:effectLst/>
                        </a:rPr>
                        <a:t>API</a:t>
                      </a:r>
                      <a:r>
                        <a:rPr lang="ru-RU" sz="1200" dirty="0">
                          <a:effectLst/>
                        </a:rPr>
                        <a:t> актуальных курсов</a:t>
                      </a:r>
                      <a:endParaRPr lang="ru-RU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50185089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365760" y="180000"/>
            <a:ext cx="82296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800" b="1" kern="0" spc="300" dirty="0">
                <a:solidFill>
                  <a:srgbClr val="4CAF50"/>
                </a:solidFill>
                <a:latin typeface="Calibri" pitchFamily="34" charset="0"/>
              </a:rPr>
              <a:t>БЮДЖЕТ ПРОЕКТА</a:t>
            </a:r>
          </a:p>
        </p:txBody>
      </p:sp>
      <p:sp>
        <p:nvSpPr>
          <p:cNvPr id="4" name="Subtitle"/>
          <p:cNvSpPr/>
          <p:nvPr/>
        </p:nvSpPr>
        <p:spPr>
          <a:xfrm>
            <a:off x="365760" y="480000"/>
            <a:ext cx="82296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</a:rPr>
              <a:t>Расчёт на 12 месяцев · команда с частичной занятостью</a:t>
            </a:r>
          </a:p>
        </p:txBody>
      </p:sp>
      <p:sp>
        <p:nvSpPr>
          <p:cNvPr id="10" name="CardMVP"/>
          <p:cNvSpPr/>
          <p:nvPr/>
        </p:nvSpPr>
        <p:spPr>
          <a:xfrm>
            <a:off x="365760" y="890000"/>
            <a:ext cx="1900000" cy="2900000"/>
          </a:xfrm>
          <a:prstGeom prst="rect">
            <a:avLst/>
          </a:prstGeom>
          <a:solidFill>
            <a:srgbClr val="122946"/>
          </a:solidFill>
          <a:ln w="19050">
            <a:solidFill>
              <a:srgbClr val="3DAE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CardMVPHdr"/>
          <p:cNvSpPr/>
          <p:nvPr/>
        </p:nvSpPr>
        <p:spPr>
          <a:xfrm>
            <a:off x="365760" y="890000"/>
            <a:ext cx="1900000" cy="380000"/>
          </a:xfrm>
          <a:prstGeom prst="rect">
            <a:avLst/>
          </a:prstGeom>
          <a:solidFill>
            <a:srgbClr val="3DAEE9">
              <a:alpha val="80000"/>
            </a:srgbClr>
          </a:solidFill>
          <a:ln w="12700">
            <a:solidFill>
              <a:srgbClr val="3DAEE9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FFFFFF"/>
                </a:solidFill>
                <a:latin typeface="Calibri" pitchFamily="34" charset="0"/>
              </a:rPr>
              <a:t>MVP  1–3 мес.</a:t>
            </a:r>
          </a:p>
        </p:txBody>
      </p:sp>
      <p:sp>
        <p:nvSpPr>
          <p:cNvPr id="12" name="CardMVPAmt"/>
          <p:cNvSpPr/>
          <p:nvPr/>
        </p:nvSpPr>
        <p:spPr>
          <a:xfrm>
            <a:off x="365760" y="1310000"/>
            <a:ext cx="1900000" cy="60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ru-RU" sz="2200" b="1" dirty="0">
                <a:solidFill>
                  <a:srgbClr val="3DAEE9"/>
                </a:solidFill>
                <a:latin typeface="Calibri" pitchFamily="34" charset="0"/>
              </a:rPr>
              <a:t>250 тыс.</a:t>
            </a:r>
          </a:p>
          <a:p>
            <a:pPr marL="0" indent="0" algn="ctr">
              <a:buNone/>
            </a:pPr>
            <a:r>
              <a:rPr lang="ru-RU" sz="900" dirty="0">
                <a:solidFill>
                  <a:srgbClr val="8BAABF"/>
                </a:solidFill>
                <a:latin typeface="Calibri" pitchFamily="34" charset="0"/>
              </a:rPr>
              <a:t>рублей</a:t>
            </a:r>
          </a:p>
        </p:txBody>
      </p:sp>
      <p:sp>
        <p:nvSpPr>
          <p:cNvPr id="13" name="CardMVPItems"/>
          <p:cNvSpPr/>
          <p:nvPr/>
        </p:nvSpPr>
        <p:spPr>
          <a:xfrm>
            <a:off x="365760" y="1950000"/>
            <a:ext cx="1900000" cy="17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ru-RU" sz="1200" dirty="0">
                <a:solidFill>
                  <a:srgbClr val="8BAABF"/>
                </a:solidFill>
                <a:latin typeface="Calibri"/>
              </a:rPr>
              <a:t>Разработка — 180 тыс.</a:t>
            </a:r>
          </a:p>
          <a:p>
            <a:pPr marL="0" indent="0">
              <a:buNone/>
            </a:pPr>
            <a:r>
              <a:rPr lang="ru-RU" sz="1200" dirty="0">
                <a:solidFill>
                  <a:srgbClr val="8BAABF"/>
                </a:solidFill>
                <a:latin typeface="Calibri"/>
              </a:rPr>
              <a:t>QA — 30 тыс.</a:t>
            </a:r>
          </a:p>
          <a:p>
            <a:pPr marL="0" indent="0">
              <a:buNone/>
            </a:pPr>
            <a:r>
              <a:rPr lang="ru-RU" sz="1200" dirty="0">
                <a:solidFill>
                  <a:srgbClr val="8BAABF"/>
                </a:solidFill>
                <a:latin typeface="Calibri"/>
              </a:rPr>
              <a:t>Инфраструктура — 17 тыс.</a:t>
            </a:r>
          </a:p>
          <a:p>
            <a:pPr marL="0" indent="0">
              <a:buNone/>
            </a:pPr>
            <a:r>
              <a:rPr lang="ru-RU" sz="1200" dirty="0">
                <a:solidFill>
                  <a:srgbClr val="4CAF50"/>
                </a:solidFill>
                <a:latin typeface="Calibri"/>
              </a:rPr>
              <a:t>Резерв 10% — 23 тыс.</a:t>
            </a:r>
          </a:p>
        </p:txBody>
      </p:sp>
      <p:sp>
        <p:nvSpPr>
          <p:cNvPr id="20" name="Card11"/>
          <p:cNvSpPr/>
          <p:nvPr/>
        </p:nvSpPr>
        <p:spPr>
          <a:xfrm>
            <a:off x="2460000" y="890000"/>
            <a:ext cx="1900000" cy="2900000"/>
          </a:xfrm>
          <a:prstGeom prst="rect">
            <a:avLst/>
          </a:prstGeom>
          <a:solidFill>
            <a:srgbClr val="122946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Card11Hdr"/>
          <p:cNvSpPr/>
          <p:nvPr/>
        </p:nvSpPr>
        <p:spPr>
          <a:xfrm>
            <a:off x="2460000" y="890000"/>
            <a:ext cx="1900000" cy="380000"/>
          </a:xfrm>
          <a:prstGeom prst="rect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0D2137"/>
                </a:solidFill>
                <a:latin typeface="Calibri" pitchFamily="34" charset="0"/>
              </a:rPr>
              <a:t>Релиз 1.1  4–6 мес.</a:t>
            </a:r>
          </a:p>
        </p:txBody>
      </p:sp>
      <p:sp>
        <p:nvSpPr>
          <p:cNvPr id="22" name="Card11Amt"/>
          <p:cNvSpPr/>
          <p:nvPr/>
        </p:nvSpPr>
        <p:spPr>
          <a:xfrm>
            <a:off x="2460000" y="1310000"/>
            <a:ext cx="1900000" cy="60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ru-RU" sz="2200" b="1" dirty="0">
                <a:solidFill>
                  <a:srgbClr val="F5A623"/>
                </a:solidFill>
                <a:latin typeface="Calibri" pitchFamily="34" charset="0"/>
              </a:rPr>
              <a:t>300 тыс.</a:t>
            </a:r>
          </a:p>
          <a:p>
            <a:pPr marL="0" indent="0" algn="ctr">
              <a:buNone/>
            </a:pPr>
            <a:r>
              <a:rPr lang="ru-RU" sz="900" dirty="0">
                <a:solidFill>
                  <a:srgbClr val="8BAABF"/>
                </a:solidFill>
                <a:latin typeface="Calibri" pitchFamily="34" charset="0"/>
              </a:rPr>
              <a:t>рублей</a:t>
            </a:r>
          </a:p>
        </p:txBody>
      </p:sp>
      <p:sp>
        <p:nvSpPr>
          <p:cNvPr id="23" name="Card11Items"/>
          <p:cNvSpPr/>
          <p:nvPr/>
        </p:nvSpPr>
        <p:spPr>
          <a:xfrm>
            <a:off x="2460000" y="1950000"/>
            <a:ext cx="1900000" cy="17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ru-RU" sz="1200" dirty="0">
                <a:solidFill>
                  <a:srgbClr val="8BAABF"/>
                </a:solidFill>
                <a:latin typeface="Calibri"/>
              </a:rPr>
              <a:t>Разработка — 180 тыс.</a:t>
            </a:r>
          </a:p>
          <a:p>
            <a:pPr marL="0" indent="0">
              <a:buNone/>
            </a:pPr>
            <a:r>
              <a:rPr lang="ru-RU" sz="1200" dirty="0">
                <a:solidFill>
                  <a:srgbClr val="8BAABF"/>
                </a:solidFill>
                <a:latin typeface="Calibri"/>
              </a:rPr>
              <a:t>QA — 30 тыс.</a:t>
            </a:r>
          </a:p>
          <a:p>
            <a:pPr marL="0" indent="0">
              <a:buNone/>
            </a:pPr>
            <a:r>
              <a:rPr lang="ru-RU" sz="1200" dirty="0">
                <a:solidFill>
                  <a:srgbClr val="8BAABF"/>
                </a:solidFill>
                <a:latin typeface="Calibri"/>
              </a:rPr>
              <a:t>API  — 45 тыс.</a:t>
            </a:r>
          </a:p>
          <a:p>
            <a:pPr marL="0" indent="0">
              <a:buNone/>
            </a:pPr>
            <a:r>
              <a:rPr lang="ru-RU" sz="1200" dirty="0">
                <a:solidFill>
                  <a:srgbClr val="8BAABF"/>
                </a:solidFill>
                <a:latin typeface="Calibri"/>
              </a:rPr>
              <a:t>Инфраструктура, проч. — 18 тыс.</a:t>
            </a:r>
          </a:p>
          <a:p>
            <a:pPr marL="0" indent="0">
              <a:buNone/>
            </a:pPr>
            <a:r>
              <a:rPr lang="ru-RU" sz="1200" dirty="0">
                <a:solidFill>
                  <a:srgbClr val="4CAF50"/>
                </a:solidFill>
                <a:latin typeface="Calibri"/>
              </a:rPr>
              <a:t>Резерв 10% — 27 тыс.</a:t>
            </a:r>
          </a:p>
        </p:txBody>
      </p:sp>
      <p:sp>
        <p:nvSpPr>
          <p:cNvPr id="30" name="Card12"/>
          <p:cNvSpPr/>
          <p:nvPr/>
        </p:nvSpPr>
        <p:spPr>
          <a:xfrm>
            <a:off x="4555000" y="890000"/>
            <a:ext cx="1900000" cy="2900000"/>
          </a:xfrm>
          <a:prstGeom prst="rect">
            <a:avLst/>
          </a:prstGeom>
          <a:solidFill>
            <a:srgbClr val="122946"/>
          </a:solidFill>
          <a:ln w="1905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Card12Hdr"/>
          <p:cNvSpPr/>
          <p:nvPr/>
        </p:nvSpPr>
        <p:spPr>
          <a:xfrm>
            <a:off x="4555000" y="890000"/>
            <a:ext cx="1900000" cy="380000"/>
          </a:xfrm>
          <a:prstGeom prst="rect">
            <a:avLst/>
          </a:prstGeom>
          <a:solidFill>
            <a:srgbClr val="4CAF50">
              <a:alpha val="80000"/>
            </a:srgbClr>
          </a:solidFill>
          <a:ln w="12700">
            <a:solidFill>
              <a:srgbClr val="4CAF50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0D2137"/>
                </a:solidFill>
                <a:latin typeface="Calibri" pitchFamily="34" charset="0"/>
              </a:rPr>
              <a:t>Релиз 2.0  7–12 мес.</a:t>
            </a:r>
          </a:p>
        </p:txBody>
      </p:sp>
      <p:sp>
        <p:nvSpPr>
          <p:cNvPr id="32" name="Card12Amt"/>
          <p:cNvSpPr/>
          <p:nvPr/>
        </p:nvSpPr>
        <p:spPr>
          <a:xfrm>
            <a:off x="4555000" y="1310000"/>
            <a:ext cx="1900000" cy="60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ru-RU" sz="2200" b="1" dirty="0">
                <a:solidFill>
                  <a:srgbClr val="4CAF50"/>
                </a:solidFill>
                <a:latin typeface="Calibri" pitchFamily="34" charset="0"/>
              </a:rPr>
              <a:t>450 тыс.</a:t>
            </a:r>
          </a:p>
          <a:p>
            <a:pPr marL="0" indent="0" algn="ctr">
              <a:buNone/>
            </a:pPr>
            <a:r>
              <a:rPr lang="ru-RU" sz="900" dirty="0">
                <a:solidFill>
                  <a:srgbClr val="8BAABF"/>
                </a:solidFill>
                <a:latin typeface="Calibri" pitchFamily="34" charset="0"/>
              </a:rPr>
              <a:t>рублей</a:t>
            </a:r>
          </a:p>
        </p:txBody>
      </p:sp>
      <p:sp>
        <p:nvSpPr>
          <p:cNvPr id="33" name="Card12Items"/>
          <p:cNvSpPr/>
          <p:nvPr/>
        </p:nvSpPr>
        <p:spPr>
          <a:xfrm>
            <a:off x="4555000" y="1950000"/>
            <a:ext cx="1900000" cy="17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ru-RU" sz="1200" dirty="0">
                <a:solidFill>
                  <a:srgbClr val="8BAABF"/>
                </a:solidFill>
                <a:latin typeface="Calibri"/>
              </a:rPr>
              <a:t>Разработка — 270 тыс.</a:t>
            </a:r>
          </a:p>
          <a:p>
            <a:pPr marL="0" indent="0">
              <a:buNone/>
            </a:pPr>
            <a:r>
              <a:rPr lang="ru-RU" sz="1200" dirty="0">
                <a:solidFill>
                  <a:srgbClr val="8BAABF"/>
                </a:solidFill>
                <a:latin typeface="Calibri"/>
              </a:rPr>
              <a:t>QA + Интегр. — 50 тыс.</a:t>
            </a:r>
          </a:p>
          <a:p>
            <a:pPr marL="0" indent="0">
              <a:buNone/>
            </a:pPr>
            <a:r>
              <a:rPr lang="ru-RU" sz="1200" dirty="0">
                <a:solidFill>
                  <a:srgbClr val="8BAABF"/>
                </a:solidFill>
                <a:latin typeface="Calibri"/>
              </a:rPr>
              <a:t>API / сервера — 89 тыс.</a:t>
            </a:r>
          </a:p>
          <a:p>
            <a:pPr marL="0" indent="0">
              <a:buNone/>
            </a:pPr>
            <a:r>
              <a:rPr lang="ru-RU" sz="1200" dirty="0">
                <a:solidFill>
                  <a:srgbClr val="4CAF50"/>
                </a:solidFill>
                <a:latin typeface="Calibri"/>
              </a:rPr>
              <a:t>Резерв 10% — 41 тыс.</a:t>
            </a:r>
          </a:p>
        </p:txBody>
      </p:sp>
      <p:sp>
        <p:nvSpPr>
          <p:cNvPr id="40" name="CardTotal"/>
          <p:cNvSpPr/>
          <p:nvPr/>
        </p:nvSpPr>
        <p:spPr>
          <a:xfrm>
            <a:off x="6650000" y="890000"/>
            <a:ext cx="2128080" cy="2900000"/>
          </a:xfrm>
          <a:prstGeom prst="rect">
            <a:avLst/>
          </a:prstGeom>
          <a:solidFill>
            <a:srgbClr val="1A6FA8">
              <a:alpha val="45000"/>
            </a:srgbClr>
          </a:solidFill>
          <a:ln w="19050">
            <a:solidFill>
              <a:srgbClr val="3DAE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CardTotalHdr"/>
          <p:cNvSpPr/>
          <p:nvPr/>
        </p:nvSpPr>
        <p:spPr>
          <a:xfrm>
            <a:off x="6650000" y="890000"/>
            <a:ext cx="2128080" cy="380000"/>
          </a:xfrm>
          <a:prstGeom prst="rect">
            <a:avLst/>
          </a:prstGeom>
          <a:solidFill>
            <a:srgbClr val="3DAEE9"/>
          </a:solidFill>
          <a:ln w="12700">
            <a:solidFill>
              <a:srgbClr val="3DAEE9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ru-RU" sz="1300" b="1" dirty="0">
                <a:solidFill>
                  <a:srgbClr val="0D2137"/>
                </a:solidFill>
                <a:latin typeface="Calibri" pitchFamily="34" charset="0"/>
              </a:rPr>
              <a:t>ИТОГО</a:t>
            </a:r>
          </a:p>
        </p:txBody>
      </p:sp>
      <p:sp>
        <p:nvSpPr>
          <p:cNvPr id="42" name="CardTotalAmt"/>
          <p:cNvSpPr/>
          <p:nvPr/>
        </p:nvSpPr>
        <p:spPr>
          <a:xfrm>
            <a:off x="6650000" y="1310000"/>
            <a:ext cx="2128080" cy="90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ru-RU" sz="2800" b="1" dirty="0">
                <a:solidFill>
                  <a:srgbClr val="FFFFFF"/>
                </a:solidFill>
                <a:latin typeface="Calibri" pitchFamily="34" charset="0"/>
              </a:rPr>
              <a:t>~1,0</a:t>
            </a:r>
          </a:p>
          <a:p>
            <a:pPr marL="0" indent="0" algn="ctr">
              <a:buNone/>
            </a:pPr>
            <a:r>
              <a:rPr lang="ru-RU" sz="1400" b="1" dirty="0">
                <a:solidFill>
                  <a:srgbClr val="3DAEE9"/>
                </a:solidFill>
                <a:latin typeface="Calibri" pitchFamily="34" charset="0"/>
              </a:rPr>
              <a:t>млн руб.</a:t>
            </a:r>
          </a:p>
          <a:p>
            <a:pPr marL="0" indent="0" algn="ctr">
              <a:buNone/>
            </a:pPr>
            <a:r>
              <a:rPr lang="ru-RU" sz="800" dirty="0">
                <a:solidFill>
                  <a:srgbClr val="8BAABF"/>
                </a:solidFill>
                <a:latin typeface="Calibri" pitchFamily="34" charset="0"/>
              </a:rPr>
              <a:t>за 12 месяцев</a:t>
            </a:r>
          </a:p>
        </p:txBody>
      </p:sp>
      <p:sp>
        <p:nvSpPr>
          <p:cNvPr id="43" name="CardTotalNote"/>
          <p:cNvSpPr/>
          <p:nvPr/>
        </p:nvSpPr>
        <p:spPr>
          <a:xfrm>
            <a:off x="6650000" y="2300000"/>
            <a:ext cx="2128080" cy="140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 algn="ctr">
              <a:buNone/>
            </a:pPr>
            <a:r>
              <a:rPr lang="ru-RU" sz="1400" dirty="0">
                <a:solidFill>
                  <a:srgbClr val="8BAABF"/>
                </a:solidFill>
                <a:latin typeface="Calibri"/>
              </a:rPr>
              <a:t>Ставка 30–60 тыс.×мес.</a:t>
            </a:r>
          </a:p>
          <a:p>
            <a:pPr marL="0" indent="0" algn="ctr">
              <a:buNone/>
            </a:pPr>
            <a:r>
              <a:rPr lang="ru-RU" sz="1400" dirty="0">
                <a:solidFill>
                  <a:srgbClr val="8BAABF"/>
                </a:solidFill>
                <a:latin typeface="Calibri"/>
              </a:rPr>
              <a:t>частичная занятость</a:t>
            </a:r>
          </a:p>
          <a:p>
            <a:pPr marL="0" indent="0" algn="ctr">
              <a:buNone/>
            </a:pPr>
            <a:r>
              <a:rPr lang="ru-RU" sz="1400" dirty="0">
                <a:solidFill>
                  <a:srgbClr val="4CAF50"/>
                </a:solidFill>
                <a:latin typeface="Calibri"/>
              </a:rPr>
              <a:t>+ Резерв 10%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DAEE9"/>
          </a:solidFill>
          <a:ln w="12700">
            <a:solidFill>
              <a:srgbClr val="3DAEE9"/>
            </a:solidFill>
            <a:prstDash val="solid"/>
          </a:ln>
        </p:spPr>
      </p:sp>
      <p:sp>
        <p:nvSpPr>
          <p:cNvPr id="10" name="MainTitle"/>
          <p:cNvSpPr/>
          <p:nvPr/>
        </p:nvSpPr>
        <p:spPr>
          <a:xfrm>
            <a:off x="986246" y="483829"/>
            <a:ext cx="630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200" b="1" dirty="0">
                <a:solidFill>
                  <a:srgbClr val="FFFFFF"/>
                </a:solidFill>
                <a:latin typeface="Calibri" pitchFamily="34" charset="0"/>
              </a:rPr>
              <a:t>Продукт решает</a:t>
            </a:r>
          </a:p>
        </p:txBody>
      </p:sp>
      <p:sp>
        <p:nvSpPr>
          <p:cNvPr id="11" name="MainTitle2"/>
          <p:cNvSpPr/>
          <p:nvPr/>
        </p:nvSpPr>
        <p:spPr>
          <a:xfrm>
            <a:off x="986246" y="943829"/>
            <a:ext cx="630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200" b="1" dirty="0">
                <a:solidFill>
                  <a:srgbClr val="3DAEE9"/>
                </a:solidFill>
                <a:latin typeface="Calibri" pitchFamily="34" charset="0"/>
              </a:rPr>
              <a:t>3 реальные проблемы</a:t>
            </a:r>
          </a:p>
        </p:txBody>
      </p:sp>
      <p:sp>
        <p:nvSpPr>
          <p:cNvPr id="20" name="KPI1"/>
          <p:cNvSpPr/>
          <p:nvPr/>
        </p:nvSpPr>
        <p:spPr>
          <a:xfrm>
            <a:off x="1765760" y="1671750"/>
            <a:ext cx="1800000" cy="900000"/>
          </a:xfrm>
          <a:prstGeom prst="rect">
            <a:avLst/>
          </a:prstGeom>
          <a:solidFill>
            <a:srgbClr val="122946"/>
          </a:solidFill>
          <a:ln w="12700">
            <a:solidFill>
              <a:srgbClr val="3DAEE9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ru-RU" sz="2600" b="1" dirty="0">
                <a:solidFill>
                  <a:srgbClr val="3DAEE9"/>
                </a:solidFill>
                <a:latin typeface="Calibri" pitchFamily="34" charset="0"/>
              </a:rPr>
              <a:t>≤</a:t>
            </a:r>
            <a:r>
              <a:rPr lang="en-US" sz="2600" b="1" dirty="0">
                <a:solidFill>
                  <a:srgbClr val="3DAEE9"/>
                </a:solidFill>
                <a:latin typeface="Calibri" pitchFamily="34" charset="0"/>
              </a:rPr>
              <a:t>2</a:t>
            </a:r>
            <a:r>
              <a:rPr lang="ru-RU" sz="2600" b="1" dirty="0">
                <a:solidFill>
                  <a:srgbClr val="3DAEE9"/>
                </a:solidFill>
                <a:latin typeface="Calibri" pitchFamily="34" charset="0"/>
              </a:rPr>
              <a:t> мин.</a:t>
            </a:r>
          </a:p>
          <a:p>
            <a:pPr marL="0" indent="0" algn="ctr">
              <a:buNone/>
            </a:pPr>
            <a:r>
              <a:rPr lang="ru-RU" sz="900" dirty="0">
                <a:solidFill>
                  <a:srgbClr val="8BAABF"/>
                </a:solidFill>
                <a:latin typeface="Calibri" pitchFamily="34" charset="0"/>
              </a:rPr>
              <a:t>время генерации </a:t>
            </a:r>
            <a:r>
              <a:rPr lang="en-US" sz="900" dirty="0">
                <a:solidFill>
                  <a:srgbClr val="8BAABF"/>
                </a:solidFill>
                <a:latin typeface="Calibri" pitchFamily="34" charset="0"/>
              </a:rPr>
              <a:t>roadmap</a:t>
            </a:r>
            <a:endParaRPr lang="ru-RU" sz="900" dirty="0">
              <a:solidFill>
                <a:srgbClr val="8BAABF"/>
              </a:solidFill>
              <a:latin typeface="Calibri" pitchFamily="34" charset="0"/>
            </a:endParaRPr>
          </a:p>
        </p:txBody>
      </p:sp>
      <p:sp>
        <p:nvSpPr>
          <p:cNvPr id="21" name="KPI2"/>
          <p:cNvSpPr/>
          <p:nvPr/>
        </p:nvSpPr>
        <p:spPr>
          <a:xfrm>
            <a:off x="3765760" y="1671750"/>
            <a:ext cx="1800000" cy="900000"/>
          </a:xfrm>
          <a:prstGeom prst="rect">
            <a:avLst/>
          </a:prstGeom>
          <a:solidFill>
            <a:srgbClr val="122946"/>
          </a:solidFill>
          <a:ln w="12700">
            <a:solidFill>
              <a:srgbClr val="4CAF50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ru-RU" sz="2600" b="1" dirty="0">
                <a:solidFill>
                  <a:srgbClr val="4CAF50"/>
                </a:solidFill>
                <a:latin typeface="Calibri" pitchFamily="34" charset="0"/>
              </a:rPr>
              <a:t>≥8</a:t>
            </a:r>
            <a:r>
              <a:rPr lang="en-US" sz="2600" b="1" dirty="0">
                <a:solidFill>
                  <a:srgbClr val="4CAF50"/>
                </a:solidFill>
                <a:latin typeface="Calibri" pitchFamily="34" charset="0"/>
              </a:rPr>
              <a:t>0</a:t>
            </a:r>
            <a:r>
              <a:rPr lang="ru-RU" sz="2600" b="1" dirty="0">
                <a:solidFill>
                  <a:srgbClr val="4CAF50"/>
                </a:solidFill>
                <a:latin typeface="Calibri" pitchFamily="34" charset="0"/>
              </a:rPr>
              <a:t>%</a:t>
            </a:r>
          </a:p>
          <a:p>
            <a:pPr marL="0" indent="0" algn="ctr">
              <a:buNone/>
            </a:pPr>
            <a:r>
              <a:rPr lang="ru-RU" sz="900" dirty="0">
                <a:solidFill>
                  <a:srgbClr val="8BAABF"/>
                </a:solidFill>
                <a:latin typeface="Calibri" pitchFamily="34" charset="0"/>
              </a:rPr>
              <a:t>точность</a:t>
            </a:r>
            <a:r>
              <a:rPr lang="en-US" sz="900" dirty="0">
                <a:solidFill>
                  <a:srgbClr val="8BAABF"/>
                </a:solidFill>
                <a:latin typeface="Calibri" pitchFamily="34" charset="0"/>
              </a:rPr>
              <a:t> </a:t>
            </a:r>
            <a:r>
              <a:rPr lang="ru-RU" sz="900" dirty="0">
                <a:solidFill>
                  <a:srgbClr val="8BAABF"/>
                </a:solidFill>
                <a:latin typeface="Calibri" pitchFamily="34" charset="0"/>
              </a:rPr>
              <a:t>персонализации</a:t>
            </a:r>
          </a:p>
        </p:txBody>
      </p:sp>
      <p:sp>
        <p:nvSpPr>
          <p:cNvPr id="22" name="KPI3"/>
          <p:cNvSpPr/>
          <p:nvPr/>
        </p:nvSpPr>
        <p:spPr>
          <a:xfrm>
            <a:off x="5765760" y="1671750"/>
            <a:ext cx="1800000" cy="900000"/>
          </a:xfrm>
          <a:prstGeom prst="rect">
            <a:avLst/>
          </a:prstGeom>
          <a:solidFill>
            <a:srgbClr val="122946"/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ru-RU" sz="2600" b="1" dirty="0">
                <a:solidFill>
                  <a:srgbClr val="F5A623"/>
                </a:solidFill>
                <a:latin typeface="Calibri" pitchFamily="34" charset="0"/>
              </a:rPr>
              <a:t>99%</a:t>
            </a:r>
          </a:p>
          <a:p>
            <a:pPr marL="0" indent="0" algn="ctr">
              <a:buNone/>
            </a:pPr>
            <a:r>
              <a:rPr lang="ru-RU" sz="900" dirty="0">
                <a:solidFill>
                  <a:srgbClr val="8BAABF"/>
                </a:solidFill>
                <a:latin typeface="Calibri" pitchFamily="34" charset="0"/>
              </a:rPr>
              <a:t>доступность сервиса</a:t>
            </a:r>
          </a:p>
        </p:txBody>
      </p:sp>
      <p:sp>
        <p:nvSpPr>
          <p:cNvPr id="30" name="UniqueBlock"/>
          <p:cNvSpPr/>
          <p:nvPr/>
        </p:nvSpPr>
        <p:spPr>
          <a:xfrm>
            <a:off x="1765760" y="2900207"/>
            <a:ext cx="58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b="1" spc="200" dirty="0">
                <a:solidFill>
                  <a:srgbClr val="8BAABF"/>
                </a:solidFill>
                <a:latin typeface="Calibri" pitchFamily="34" charset="0"/>
              </a:rPr>
              <a:t>УНИКАЛЬНОСТЬ ПРОЕКТА</a:t>
            </a:r>
          </a:p>
        </p:txBody>
      </p:sp>
      <p:sp>
        <p:nvSpPr>
          <p:cNvPr id="31" name="Uniq1"/>
          <p:cNvSpPr/>
          <p:nvPr/>
        </p:nvSpPr>
        <p:spPr>
          <a:xfrm>
            <a:off x="1765760" y="3360207"/>
            <a:ext cx="1700000" cy="300000"/>
          </a:xfrm>
          <a:prstGeom prst="rect">
            <a:avLst/>
          </a:prstGeom>
          <a:solidFill>
            <a:schemeClr val="accent1">
              <a:alpha val="20000"/>
            </a:schemeClr>
          </a:solidFill>
          <a:ln w="12700">
            <a:solidFill>
              <a:srgbClr val="3DAEE9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ru-RU" sz="900" b="1" dirty="0">
                <a:solidFill>
                  <a:srgbClr val="0070C0"/>
                </a:solidFill>
                <a:latin typeface="Calibri" pitchFamily="34" charset="0"/>
              </a:rPr>
              <a:t>ИИ-генерация не более, чем за 2 минуты</a:t>
            </a:r>
          </a:p>
        </p:txBody>
      </p:sp>
      <p:sp>
        <p:nvSpPr>
          <p:cNvPr id="32" name="Uniq2"/>
          <p:cNvSpPr/>
          <p:nvPr/>
        </p:nvSpPr>
        <p:spPr>
          <a:xfrm>
            <a:off x="3565760" y="3360207"/>
            <a:ext cx="1900000" cy="300000"/>
          </a:xfrm>
          <a:prstGeom prst="rect">
            <a:avLst/>
          </a:prstGeom>
          <a:solidFill>
            <a:srgbClr val="00B050">
              <a:alpha val="20000"/>
            </a:srgbClr>
          </a:solidFill>
          <a:ln w="12700">
            <a:solidFill>
              <a:srgbClr val="4CAF50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ru-RU" sz="900" b="1" dirty="0">
                <a:solidFill>
                  <a:srgbClr val="00B050"/>
                </a:solidFill>
                <a:latin typeface="Calibri" pitchFamily="34" charset="0"/>
              </a:rPr>
              <a:t>Бесплатно и 24</a:t>
            </a:r>
            <a:r>
              <a:rPr lang="en-US" sz="900" b="1" dirty="0">
                <a:solidFill>
                  <a:srgbClr val="00B050"/>
                </a:solidFill>
                <a:latin typeface="Calibri" pitchFamily="34" charset="0"/>
              </a:rPr>
              <a:t>/7</a:t>
            </a:r>
            <a:endParaRPr lang="ru-RU" sz="900" b="1" dirty="0">
              <a:solidFill>
                <a:srgbClr val="00B050"/>
              </a:solidFill>
              <a:latin typeface="Calibri" pitchFamily="34" charset="0"/>
            </a:endParaRPr>
          </a:p>
        </p:txBody>
      </p:sp>
      <p:sp>
        <p:nvSpPr>
          <p:cNvPr id="33" name="Uniq3"/>
          <p:cNvSpPr/>
          <p:nvPr/>
        </p:nvSpPr>
        <p:spPr>
          <a:xfrm>
            <a:off x="5565760" y="3360207"/>
            <a:ext cx="2000000" cy="300000"/>
          </a:xfrm>
          <a:prstGeom prst="rect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ru-RU" sz="900" b="1" dirty="0">
                <a:solidFill>
                  <a:srgbClr val="FFC000"/>
                </a:solidFill>
                <a:latin typeface="Calibri" pitchFamily="34" charset="0"/>
              </a:rPr>
              <a:t>Без привязки к курсу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ЛАБОРАТОРНАЯ РАБОТА №3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1323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трудоёмкости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экономической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эффективности проекта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3597941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методики  ·  7 показателей  ·  Полный анализ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1. Экономическая эффективность проекта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743200" cy="1828800"/>
          </a:xfrm>
          <a:prstGeom prst="rect">
            <a:avLst/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64008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ЧДД (NPV)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92 024 ₽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0, проект целесообразен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72968" y="960120"/>
            <a:ext cx="2743200" cy="1828800"/>
          </a:xfrm>
          <a:prstGeom prst="rect">
            <a:avLst/>
          </a:prstGeom>
          <a:solidFill>
            <a:srgbClr val="F0F9FF"/>
          </a:solidFill>
          <a:ln w="12700">
            <a:solidFill>
              <a:srgbClr val="1E276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960120"/>
            <a:ext cx="64008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097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 доходности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10128" y="14173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10128" y="22860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1, проект эффективен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17336" y="960120"/>
            <a:ext cx="2743200" cy="1828800"/>
          </a:xfrm>
          <a:prstGeom prst="rect">
            <a:avLst/>
          </a:prstGeom>
          <a:solidFill>
            <a:srgbClr val="E8F4F8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960120"/>
            <a:ext cx="64008" cy="1828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1097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ВНД (IRR)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54496" y="14173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36,8%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54496" y="22860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20% ставки дисконтир.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926080"/>
            <a:ext cx="2743200" cy="1828800"/>
          </a:xfrm>
          <a:prstGeom prst="rect">
            <a:avLst/>
          </a:prstGeom>
          <a:solidFill>
            <a:srgbClr val="F0F9FF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926080"/>
            <a:ext cx="64008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063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 окупаемости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38328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г. 7 мес.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65760" y="42519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</a:t>
            </a:r>
            <a:r>
              <a:rPr lang="en-US" sz="95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начала</a:t>
            </a: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коммерческой </a:t>
            </a:r>
            <a:r>
              <a:rPr lang="en-US" sz="95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эксплуатации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72968" y="2926080"/>
            <a:ext cx="2743200" cy="1828800"/>
          </a:xfrm>
          <a:prstGeom prst="rect">
            <a:avLst/>
          </a:prstGeom>
          <a:solidFill>
            <a:srgbClr val="E8F4F8"/>
          </a:solidFill>
          <a:ln w="12700">
            <a:solidFill>
              <a:srgbClr val="1E276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72968" y="2926080"/>
            <a:ext cx="64008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55848" y="3063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(3 года)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10128" y="338328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107%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310128" y="42519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достигается </a:t>
            </a:r>
            <a:r>
              <a:rPr lang="en-US" sz="95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доходность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17336" y="2926080"/>
            <a:ext cx="2743200" cy="1828800"/>
          </a:xfrm>
          <a:prstGeom prst="rect">
            <a:avLst/>
          </a:prstGeom>
          <a:solidFill>
            <a:srgbClr val="F0F9FF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17336" y="2926080"/>
            <a:ext cx="64008" cy="1828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0216" y="3063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безубыточн.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54496" y="338328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польз.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254496" y="42519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достижимо в 1-й год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денежных потоков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274320" y="914400"/>
          <a:ext cx="5120640" cy="3474723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63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Показатель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Год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Год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Год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Год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Инвестиции,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–300 000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Выручка,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Операц. расходы,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Чистый CF,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–300 000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Коэфф. дисконт.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Дисконтир. CF,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–300 000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+44 982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+109 652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+237 390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5394960" y="914400"/>
          <a:ext cx="34747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2. Методика PERT — Оценка сроков MVP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274320" y="914400"/>
          <a:ext cx="5257800" cy="3657600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Задача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Анализ требований и архитектура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Обучение модели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Разработка backend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Разработка мобильного клиента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Интеграция LLM и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Тестирование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Развёртывание и выпуск MVP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КП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1→3→5→6→7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6400800" y="914400"/>
            <a:ext cx="242316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510528" y="10058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Критический путь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492240" y="12344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16,56 нед.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92240" y="171907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ожидаемая длит. MVP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0" y="2194560"/>
            <a:ext cx="242316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0528" y="22860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Стандартное откл.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92240" y="25146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1,32 нед.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492240" y="299923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по критическому пути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400800" y="3474720"/>
            <a:ext cx="242316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14" name="Text 11"/>
          <p:cNvSpPr/>
          <p:nvPr/>
        </p:nvSpPr>
        <p:spPr>
          <a:xfrm>
            <a:off x="6510528" y="35661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Вероятность в 17 нед.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492240" y="37947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62,9%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492240" y="427939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необх. резерв +4 нед.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492240" y="3474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Методы функциональных точек (FP) и COCOMO II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160520" cy="3977640"/>
          </a:xfrm>
          <a:prstGeom prst="rect">
            <a:avLst/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функциональных точек (IFPUG)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320040" y="1417320"/>
          <a:ext cx="3977640" cy="2011681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Категория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 — Внешние входы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EO — Внешние выходы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 — Внешние запросы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ILF — Внутр. логич. файлы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EIF — Внешн. интерф. файлы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ИТОГО UFP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474720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 = 1,08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(TDI = 43 из 70)
AFP = 103 × 1,08 = 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111,24 ФТ
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Трудоёмкость: </a:t>
            </a: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~6,32 чел.-</a:t>
            </a:r>
            <a:r>
              <a:rPr lang="en-US" sz="1100" b="1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</a:t>
            </a: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0" y="914400"/>
            <a:ext cx="4343400" cy="3977640"/>
          </a:xfrm>
          <a:prstGeom prst="rect">
            <a:avLst/>
          </a:prstGeom>
          <a:solidFill>
            <a:srgbClr val="E8F4F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0916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COCOMO II</a:t>
            </a:r>
            <a:endParaRPr lang="en-US" sz="12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/>
        </p:nvGraphicFramePr>
        <p:xfrm>
          <a:off x="4663440" y="1417320"/>
          <a:ext cx="4114800" cy="213577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</a:t>
                      </a:r>
                      <a:r>
                        <a:rPr lang="en-US" sz="10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актор</a:t>
                      </a:r>
                      <a:r>
                        <a:rPr lang="ru-RU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ы масштабирования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ΣSF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663440" y="3474720"/>
            <a:ext cx="4114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1,0816</a:t>
            </a:r>
            <a:r>
              <a:rPr lang="ru-RU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ΣSF</a:t>
            </a:r>
            <a:r>
              <a:rPr lang="ru-RU" sz="1100" dirty="0">
                <a:latin typeface="Calibri" charset="0"/>
                <a:ea typeface="Calibri" pitchFamily="34" charset="-122"/>
                <a:cs typeface="Calibri" charset="0"/>
              </a:rPr>
              <a:t> * 0.01 + 0.91)</a:t>
            </a:r>
            <a:endParaRPr lang="ru-RU" sz="1100" b="1" dirty="0">
              <a:solidFill>
                <a:srgbClr val="02809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EAF = 0,88</a:t>
            </a:r>
            <a:r>
              <a:rPr lang="ru-RU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(произведение факторов)</a:t>
            </a: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KSLOC = 2,57  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(103 ФТ × 25 стр/ФТ)
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= 2,94 × 2,57^1,08 × 0,88 = 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~7,2 чел.-мес.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Итоговые результаты и сравнение методик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Показатели экономической эффективности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274320" y="1234440"/>
          <a:ext cx="4434840" cy="32918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Показатель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Значение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Оценка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ЧДД (NPV)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92 024 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Положит.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Инт. эффект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92 024 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Положит.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&gt;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ВНД (IRR)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~36,8%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&gt; 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Срок окупаем.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г. 7 мес.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Приемл.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 (3 года)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&gt; 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Точка безуб.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польз.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Достиж.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846320" y="86868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методик оценки трудоёмкости</a:t>
            </a:r>
            <a:endParaRPr lang="en-US" sz="11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/>
        </p:nvGraphicFramePr>
        <p:xfrm>
          <a:off x="4846320" y="1252728"/>
          <a:ext cx="4231777" cy="1993392"/>
        </p:xfrm>
        <a:graphic>
          <a:graphicData uri="http://schemas.openxmlformats.org/drawingml/2006/table">
            <a:tbl>
              <a:tblPr/>
              <a:tblGrid>
                <a:gridCol w="1069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36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83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Методика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Трудоём-кость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Сроки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Применение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16,56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нед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Неопределён-ность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 (IFPUG)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1 112 ч.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6,32 чел.-мес.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Чёткое ТЗ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COCOMO 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 чел.-мес.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~7,2 мес.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Сложные проекты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846320" y="3337560"/>
            <a:ext cx="406908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846320" y="3337560"/>
            <a:ext cx="64008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074920" y="34015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074920" y="3703320"/>
            <a:ext cx="3703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экономически привлекателен: NPV &gt; 0, IRR = 36,8% при ставке 20%. Все три методики подтверждают реалистичность сроков (6–8 чел.-мес.). Рекомендуется предусмотреть резерв +4 нед. по PERT</a:t>
            </a:r>
            <a:r>
              <a:rPr lang="ru-RU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для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</TotalTime>
  <Words>1454</Words>
  <Application>Microsoft Macintosh PowerPoint</Application>
  <PresentationFormat>Экран (16:9)</PresentationFormat>
  <Paragraphs>441</Paragraphs>
  <Slides>16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Symbol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RoadMap AI — Лабораторная работа №1</dc:title>
  <dc:subject>PptxGenJS Presentation</dc:subject>
  <dc:creator>PptxGenJS</dc:creator>
  <cp:lastModifiedBy>e314</cp:lastModifiedBy>
  <cp:revision>10</cp:revision>
  <dcterms:created xsi:type="dcterms:W3CDTF">2026-04-16T13:20:24Z</dcterms:created>
  <dcterms:modified xsi:type="dcterms:W3CDTF">2026-05-29T07:40:01Z</dcterms:modified>
</cp:coreProperties>
</file>