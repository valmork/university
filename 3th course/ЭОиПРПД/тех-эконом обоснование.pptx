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2" r:id="rId6"/>
    <p:sldId id="264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95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91840"/>
            <a:ext cx="8979408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0A500"/>
                </a:solidFill>
              </a:rPr>
              <a:t>«НаВырост»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4937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</a:rPr>
              <a:t>Технико-экономическое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обоснование</a:t>
            </a:r>
            <a:r>
              <a:rPr lang="ru-RU" sz="2200" dirty="0">
                <a:solidFill>
                  <a:srgbClr val="FFFFFF"/>
                </a:solidFill>
              </a:rPr>
              <a:t> продукта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8CA5"/>
                </a:solidFill>
              </a:rPr>
              <a:t>Техническое</a:t>
            </a:r>
            <a:r>
              <a:rPr lang="en-US" sz="1100" dirty="0">
                <a:solidFill>
                  <a:srgbClr val="6B8CA5"/>
                </a:solidFill>
              </a:rPr>
              <a:t> </a:t>
            </a:r>
            <a:r>
              <a:rPr lang="en-US" sz="1100" dirty="0" err="1">
                <a:solidFill>
                  <a:srgbClr val="6B8CA5"/>
                </a:solidFill>
              </a:rPr>
              <a:t>обоснование</a:t>
            </a:r>
            <a:r>
              <a:rPr lang="en-US" sz="1100" dirty="0">
                <a:solidFill>
                  <a:srgbClr val="6B8CA5"/>
                </a:solidFill>
              </a:rPr>
              <a:t> · </a:t>
            </a:r>
            <a:r>
              <a:rPr lang="en-US" sz="1100" dirty="0" err="1">
                <a:solidFill>
                  <a:srgbClr val="6B8CA5"/>
                </a:solidFill>
              </a:rPr>
              <a:t>Организационное</a:t>
            </a:r>
            <a:r>
              <a:rPr lang="ru-RU" sz="1100" dirty="0">
                <a:solidFill>
                  <a:srgbClr val="6B8CA5"/>
                </a:solidFill>
              </a:rPr>
              <a:t> </a:t>
            </a:r>
            <a:r>
              <a:rPr lang="en-US" sz="1100" dirty="0" err="1">
                <a:solidFill>
                  <a:srgbClr val="6B8CA5"/>
                </a:solidFill>
              </a:rPr>
              <a:t>обоснование</a:t>
            </a:r>
            <a:r>
              <a:rPr lang="en-US" sz="1100" dirty="0">
                <a:solidFill>
                  <a:srgbClr val="6B8CA5"/>
                </a:solidFill>
              </a:rPr>
              <a:t> · Экономическое обоснование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1. ТЕХНИЧЕСКОЕ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D2C54"/>
                </a:solidFill>
              </a:rPr>
              <a:t>Актуальность</a:t>
            </a:r>
            <a:r>
              <a:rPr lang="en-US" sz="2800" b="1" dirty="0">
                <a:solidFill>
                  <a:srgbClr val="0D2C54"/>
                </a:solidFill>
              </a:rPr>
              <a:t> </a:t>
            </a:r>
            <a:r>
              <a:rPr lang="ru-RU" sz="2800" b="1" dirty="0">
                <a:solidFill>
                  <a:srgbClr val="0D2C54"/>
                </a:solidFill>
              </a:rPr>
              <a:t>продукта и </a:t>
            </a:r>
            <a:r>
              <a:rPr lang="en-US" sz="2800" b="1" dirty="0" err="1">
                <a:solidFill>
                  <a:srgbClr val="0D2C54"/>
                </a:solidFill>
              </a:rPr>
              <a:t>технологии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2C54"/>
                </a:solidFill>
              </a:rPr>
              <a:t>Рост</a:t>
            </a:r>
            <a:r>
              <a:rPr lang="en-US" sz="1200" b="1" dirty="0">
                <a:solidFill>
                  <a:srgbClr val="0D2C54"/>
                </a:solidFill>
              </a:rPr>
              <a:t> </a:t>
            </a:r>
            <a:r>
              <a:rPr lang="ru-RU" sz="1200" b="1" dirty="0">
                <a:solidFill>
                  <a:srgbClr val="0D2C54"/>
                </a:solidFill>
              </a:rPr>
              <a:t>использования детьми смартфонов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</a:rPr>
              <a:t>Смартфоны, соцсети и игры занимают значительную часть дня ребёнка. Потребность в умных инструментах контроля стремительно растёт.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54"/>
                </a:solidFill>
              </a:rPr>
              <a:t>Отсутствие комплексных решений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</a:rPr>
              <a:t>Существующие </a:t>
            </a:r>
            <a:r>
              <a:rPr lang="en-US" sz="1000" dirty="0" err="1">
                <a:solidFill>
                  <a:srgbClr val="1A2E3D"/>
                </a:solidFill>
              </a:rPr>
              <a:t>продукты</a:t>
            </a:r>
            <a:r>
              <a:rPr lang="en-US" sz="1000" dirty="0">
                <a:solidFill>
                  <a:srgbClr val="1A2E3D"/>
                </a:solidFill>
              </a:rPr>
              <a:t> строятся только на блокировках — они не обучают финансовой грамотности и не мотивируют.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2783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54"/>
                </a:solidFill>
              </a:rPr>
              <a:t>Зрелость мобильных технологий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</a:rPr>
              <a:t>Экосистемы iOS и Android предоставляют Screen Time API и Accessibility API — готовую технологическую базу для реализации концепции.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0D2C54"/>
                </a:solidFill>
              </a:rPr>
              <a:t>Обучение</a:t>
            </a:r>
            <a:r>
              <a:rPr lang="en-US" sz="1200" b="1" dirty="0">
                <a:solidFill>
                  <a:srgbClr val="0D2C54"/>
                </a:solidFill>
              </a:rPr>
              <a:t> и геймификация как тренд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1A2E3D"/>
                </a:solidFill>
              </a:rPr>
              <a:t>Геймификация</a:t>
            </a:r>
            <a:r>
              <a:rPr lang="en-US" sz="1000" dirty="0">
                <a:solidFill>
                  <a:srgbClr val="1A2E3D"/>
                </a:solidFill>
              </a:rPr>
              <a:t> в обучении показывает высокую вовлечённость; интеграция с образовательными платформами — сформировавшийся рынок.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1. ТЕХНИЧЕСКОЕ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C54"/>
                </a:solidFill>
              </a:rPr>
              <a:t>Технологии и техническая реализуемость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54"/>
                </a:solidFill>
              </a:rPr>
              <a:t>Стек технологий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389120" cy="45720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502920" y="1773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7EA4"/>
                </a:solidFill>
              </a:rPr>
              <a:t>Backend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Node.js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76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50" b="1" dirty="0">
                <a:solidFill>
                  <a:srgbClr val="0A7EA4"/>
                </a:solidFill>
              </a:rPr>
              <a:t>База данных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389120" cy="45720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797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7EA4"/>
                </a:solidFill>
              </a:rPr>
              <a:t>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REST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82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50" b="1" dirty="0">
                <a:solidFill>
                  <a:srgbClr val="0A7EA4"/>
                </a:solidFill>
              </a:rPr>
              <a:t>Формат данных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4655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389120" cy="45720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85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50" b="1" dirty="0">
                <a:solidFill>
                  <a:srgbClr val="0A7EA4"/>
                </a:solidFill>
              </a:rPr>
              <a:t>Клиент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9684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Android / 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50" b="1" dirty="0">
                <a:solidFill>
                  <a:srgbClr val="0A7EA4"/>
                </a:solidFill>
              </a:rPr>
              <a:t>Безопасность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4714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</a:rPr>
              <a:t>HTTPS + Hash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1417320"/>
            <a:ext cx="0" cy="3474720"/>
          </a:xfrm>
          <a:prstGeom prst="line">
            <a:avLst/>
          </a:prstGeom>
          <a:noFill/>
          <a:ln w="12700">
            <a:solidFill>
              <a:srgbClr val="D0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54"/>
                </a:solidFill>
              </a:rPr>
              <a:t>Почему проект технически реализуем?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1810512"/>
            <a:ext cx="256032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1801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</a:rPr>
              <a:t>Все используемые API </a:t>
            </a:r>
            <a:r>
              <a:rPr lang="en-US" sz="950" dirty="0" err="1">
                <a:solidFill>
                  <a:srgbClr val="1A2E3D"/>
                </a:solidFill>
              </a:rPr>
              <a:t>бесплатны</a:t>
            </a:r>
            <a:r>
              <a:rPr lang="en-US" sz="950" dirty="0">
                <a:solidFill>
                  <a:srgbClr val="1A2E3D"/>
                </a:solidFill>
              </a:rPr>
              <a:t> (Screen Time, Accessibility встроены в ОС)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2432304"/>
            <a:ext cx="256032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</a:rPr>
              <a:t>Команда из 6 специалистов охватывает весь стек за 3 </a:t>
            </a:r>
            <a:r>
              <a:rPr lang="en-US" sz="950" dirty="0" err="1">
                <a:solidFill>
                  <a:srgbClr val="1A2E3D"/>
                </a:solidFill>
              </a:rPr>
              <a:t>месяца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57800" y="3054096"/>
            <a:ext cx="256032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/>
              <a:t>Все необходимые технологии существуют и массово используются на практике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3675888"/>
            <a:ext cx="256032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dirty="0">
                <a:solidFill>
                  <a:srgbClr val="1A2E3D"/>
                </a:solidFill>
              </a:rPr>
              <a:t>Поддерживается масштабирование продукта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57800" y="4297680"/>
            <a:ext cx="256032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42885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</a:rPr>
              <a:t>Аудит </a:t>
            </a:r>
            <a:r>
              <a:rPr lang="en-US" sz="950" dirty="0" err="1">
                <a:solidFill>
                  <a:srgbClr val="1A2E3D"/>
                </a:solidFill>
              </a:rPr>
              <a:t>безопасности</a:t>
            </a:r>
            <a:r>
              <a:rPr lang="en-US" sz="950" dirty="0">
                <a:solidFill>
                  <a:srgbClr val="1A2E3D"/>
                </a:solidFill>
              </a:rPr>
              <a:t> </a:t>
            </a:r>
            <a:r>
              <a:rPr lang="en-US" sz="950" dirty="0" err="1">
                <a:solidFill>
                  <a:srgbClr val="1A2E3D"/>
                </a:solidFill>
              </a:rPr>
              <a:t>включён</a:t>
            </a:r>
            <a:r>
              <a:rPr lang="en-US" sz="950" dirty="0">
                <a:solidFill>
                  <a:srgbClr val="1A2E3D"/>
                </a:solidFill>
              </a:rPr>
              <a:t> в </a:t>
            </a:r>
            <a:r>
              <a:rPr lang="en-US" sz="950" dirty="0" err="1">
                <a:solidFill>
                  <a:srgbClr val="1A2E3D"/>
                </a:solidFill>
              </a:rPr>
              <a:t>смету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2. ОРГАНИЗАЦИОННОЕ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D2C54"/>
                </a:solidFill>
              </a:rPr>
              <a:t>Оценка</a:t>
            </a:r>
            <a:r>
              <a:rPr lang="en-US" sz="2800" b="1" dirty="0">
                <a:solidFill>
                  <a:srgbClr val="0D2C54"/>
                </a:solidFill>
              </a:rPr>
              <a:t> </a:t>
            </a:r>
            <a:r>
              <a:rPr lang="en-US" sz="2800" b="1" dirty="0" err="1">
                <a:solidFill>
                  <a:srgbClr val="0D2C54"/>
                </a:solidFill>
              </a:rPr>
              <a:t>затрат</a:t>
            </a:r>
            <a:r>
              <a:rPr lang="ru-RU" sz="2800" b="1" dirty="0">
                <a:solidFill>
                  <a:srgbClr val="0D2C54"/>
                </a:solidFill>
              </a:rPr>
              <a:t> </a:t>
            </a:r>
            <a:r>
              <a:rPr lang="en-US" sz="2800" b="1" dirty="0">
                <a:solidFill>
                  <a:srgbClr val="0D2C54"/>
                </a:solidFill>
              </a:rPr>
              <a:t>c </a:t>
            </a:r>
            <a:r>
              <a:rPr lang="ru-RU" sz="2800" b="1" dirty="0">
                <a:solidFill>
                  <a:srgbClr val="0D2C54"/>
                </a:solidFill>
              </a:rPr>
              <a:t>учетом неопределенности</a:t>
            </a:r>
            <a:r>
              <a:rPr lang="en-US" sz="2800" b="1" dirty="0">
                <a:solidFill>
                  <a:srgbClr val="0D2C54"/>
                </a:solidFill>
              </a:rPr>
              <a:t>: метод PERT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CA5"/>
                </a:solidFill>
              </a:rPr>
              <a:t>Programme Evaluation and Review Technique — три сценария с учётом неопределённости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solidFill>
            <a:srgbClr val="E8F1F7"/>
          </a:solidFill>
          <a:ln w="12700">
            <a:solidFill>
              <a:srgbClr val="D0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C54"/>
                </a:solidFill>
              </a:rPr>
              <a:t>S_PERT = (O + 4 × M + P) / 6          σ = (P − O) / 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148840" cy="292608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Статья затрат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920240"/>
            <a:ext cx="1234440" cy="292608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Оптимист (O)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1920" y="1920240"/>
            <a:ext cx="1234440" cy="292608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Вероятный (M)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7800" y="1920240"/>
            <a:ext cx="1234440" cy="292608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Пессимист (P)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83680" y="1920240"/>
            <a:ext cx="1371600" cy="292608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920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PERT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25856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ФОТ с отчислениями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06040" y="225856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258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985 000 ₽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0" y="225856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2258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1 150 000 ₽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57800" y="225856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258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1 420 000 ₽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225856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258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1 167 500 ₽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532888"/>
            <a:ext cx="21488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Накладные расходы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06040" y="253288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90 000 ₽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253288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120 000 ₽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57800" y="253288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150 000 ₽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2532888"/>
            <a:ext cx="137160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5328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120 000 ₽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280720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ПО и лицензии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06040" y="280720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40 000 ₽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931920" y="280720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52 000 ₽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57800" y="280720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70 000 ₽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83680" y="280720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28072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53 000 ₽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081528"/>
            <a:ext cx="21488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081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Облачная инфраструктура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06040" y="308152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5176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65 000 ₽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931920" y="308152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7764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87 000 ₽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57800" y="308152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120 000 ₽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83680" y="3081528"/>
            <a:ext cx="137160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3081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88 833 ₽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335584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355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Сторонние API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606040" y="335584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51760" y="3355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20 000 ₽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931920" y="335584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77640" y="3355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32 000 ₽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57800" y="335584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3355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50 000 ₽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83680" y="33558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29400" y="33558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33 000 ₽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3630168"/>
            <a:ext cx="21488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Документация и тестирование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606040" y="363016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5176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50 000 ₽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931920" y="363016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7764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70 000 ₽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257800" y="3630168"/>
            <a:ext cx="123444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100 000 ₽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583680" y="3630168"/>
            <a:ext cx="1371600" cy="256032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3630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71 667 ₽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" y="390448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Прочие прямые расходы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606040" y="390448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5176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50 000 ₽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931920" y="390448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7764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67 000 ₽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257800" y="390448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90 000 ₽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583680" y="390448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29400" y="3904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7EA4"/>
                </a:solidFill>
              </a:rPr>
              <a:t>68 000 ₽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" y="4251960"/>
            <a:ext cx="8385048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83680" y="4251960"/>
            <a:ext cx="13716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Итого PERT (с резервом 10%</a:t>
            </a:r>
            <a:r>
              <a:rPr lang="ru-RU" sz="900" b="1" dirty="0">
                <a:solidFill>
                  <a:srgbClr val="FFFFFF"/>
                </a:solidFill>
              </a:rPr>
              <a:t> и без учёта НДС</a:t>
            </a:r>
            <a:r>
              <a:rPr lang="en-US" sz="900" b="1" dirty="0">
                <a:solidFill>
                  <a:srgbClr val="FFFFFF"/>
                </a:solidFill>
              </a:rPr>
              <a:t>)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629400" y="4251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1 762 200 ₽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5"/>
                </a:solidFill>
              </a:rPr>
              <a:t>σ = 74 861 ₽  |  Нижняя граница: 1 687 339 ₽  |  Верхняя граница: 1 837 061 ₽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2. ОРГАНИЗАЦИОННОЕ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C54"/>
                </a:solidFill>
              </a:rPr>
              <a:t>Метод </a:t>
            </a:r>
            <a:r>
              <a:rPr lang="en-US" sz="2800" b="1" dirty="0" err="1">
                <a:solidFill>
                  <a:srgbClr val="0D2C54"/>
                </a:solidFill>
              </a:rPr>
              <a:t>функциональных</a:t>
            </a:r>
            <a:r>
              <a:rPr lang="en-US" sz="2800" b="1" dirty="0">
                <a:solidFill>
                  <a:srgbClr val="0D2C54"/>
                </a:solidFill>
              </a:rPr>
              <a:t> </a:t>
            </a:r>
            <a:r>
              <a:rPr lang="en-US" sz="2800" b="1" dirty="0" err="1">
                <a:solidFill>
                  <a:srgbClr val="0D2C54"/>
                </a:solidFill>
              </a:rPr>
              <a:t>точек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CA5"/>
                </a:solidFill>
              </a:rPr>
              <a:t>Function Point Analysis — оценка по </a:t>
            </a:r>
            <a:r>
              <a:rPr lang="en-US" sz="1300" i="1" dirty="0" err="1">
                <a:solidFill>
                  <a:srgbClr val="6B8CA5"/>
                </a:solidFill>
              </a:rPr>
              <a:t>объёму</a:t>
            </a:r>
            <a:r>
              <a:rPr lang="en-US" sz="1300" i="1" dirty="0">
                <a:solidFill>
                  <a:srgbClr val="6B8CA5"/>
                </a:solidFill>
              </a:rPr>
              <a:t> </a:t>
            </a:r>
            <a:r>
              <a:rPr lang="en-US" sz="1300" i="1" dirty="0" err="1">
                <a:solidFill>
                  <a:srgbClr val="6B8CA5"/>
                </a:solidFill>
              </a:rPr>
              <a:t>функциональности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solidFill>
            <a:srgbClr val="E8F1F7"/>
          </a:solidFill>
          <a:ln w="12700">
            <a:solidFill>
              <a:srgbClr val="D0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C54"/>
                </a:solidFill>
              </a:rPr>
              <a:t>FP_скорр = UFP × VAF        Стоимость = FP_скорр × Стоимость_1FP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C54"/>
                </a:solidFill>
              </a:rPr>
              <a:t>Типы функциональных точек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1481328" cy="274320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12140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Тип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20240" y="2121408"/>
            <a:ext cx="475488" cy="274320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212140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Вес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2121408"/>
            <a:ext cx="566928" cy="274320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212140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Кол-во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0" y="2121408"/>
            <a:ext cx="612648" cy="274320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21214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Итого FP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4813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43230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EI (Внешний ввод)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2432304"/>
            <a:ext cx="47548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43230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2432304"/>
            <a:ext cx="5669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2432304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34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0" y="2432304"/>
            <a:ext cx="61264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2432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102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14813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74320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EO (Внешний вывод)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2743200"/>
            <a:ext cx="475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2743200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743200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274320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26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0" y="2743200"/>
            <a:ext cx="612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5536" y="2743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104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054096"/>
            <a:ext cx="14813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05409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EQ (Внешний запрос)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20240" y="3054096"/>
            <a:ext cx="47548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305409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3054096"/>
            <a:ext cx="5669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5456" y="3054096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20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08960" y="3054096"/>
            <a:ext cx="61264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5536" y="30540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60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364992"/>
            <a:ext cx="14813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36499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ILF (Внутр. файл)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920240" y="3364992"/>
            <a:ext cx="475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56816" y="3364992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68880" y="3364992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05456" y="3364992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9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108960" y="3364992"/>
            <a:ext cx="612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45536" y="33649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63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675888"/>
            <a:ext cx="14813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367588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EIF (Внешн. файл)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20240" y="3675888"/>
            <a:ext cx="47548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56816" y="367588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468880" y="3675888"/>
            <a:ext cx="56692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05456" y="367588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3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108960" y="3675888"/>
            <a:ext cx="612648" cy="274320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45536" y="3675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15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986784"/>
            <a:ext cx="1481328" cy="274320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398678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UFP (итого)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920240" y="3986784"/>
            <a:ext cx="475488" cy="274320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56816" y="398678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468880" y="3986784"/>
            <a:ext cx="566928" cy="274320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05456" y="3986784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—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108960" y="3986784"/>
            <a:ext cx="612648" cy="274320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45536" y="39867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344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023360" y="1828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C54"/>
                </a:solidFill>
              </a:rPr>
              <a:t>Параметры расчёта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023360" y="2121408"/>
            <a:ext cx="32004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9080" y="212140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UFP (нескорректированные FP)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269480" y="2121408"/>
            <a:ext cx="1508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69480" y="212140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344 FP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023360" y="2423160"/>
            <a:ext cx="320040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69080" y="242316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VAF (коэфф. сложности)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69480" y="2423160"/>
            <a:ext cx="150876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480" y="242316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1,15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23360" y="2724912"/>
            <a:ext cx="32004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69080" y="272491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AFP (скорректированные FP)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269480" y="2724912"/>
            <a:ext cx="1508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9480" y="272491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396 FP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023360" y="3026664"/>
            <a:ext cx="320040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69080" y="302666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Стоимость 1 FP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269480" y="3026664"/>
            <a:ext cx="150876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69480" y="302666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4 000 ₽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023360" y="3328416"/>
            <a:ext cx="32004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69080" y="332841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Базовая стоимость разработки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269480" y="3328416"/>
            <a:ext cx="1508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69480" y="332841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1 584 000 ₽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023360" y="3630168"/>
            <a:ext cx="320040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69080" y="363016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Резерв рисков 10%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269480" y="3630168"/>
            <a:ext cx="150876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69480" y="363016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158 400 ₽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023360" y="3931920"/>
            <a:ext cx="3200400" cy="26517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69080" y="393192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ИТОГО FPA без НДС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69480" y="3931920"/>
            <a:ext cx="1508760" cy="26517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480" y="393192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1 742 400 ₽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023360" y="4233672"/>
            <a:ext cx="320040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69080" y="423367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</a:rPr>
              <a:t>НДС 20%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269480" y="4233672"/>
            <a:ext cx="1508760" cy="26517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69480" y="423367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348 480 ₽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023360" y="4535424"/>
            <a:ext cx="3200400" cy="265176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69080" y="453542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ИТОГО с НДС (FPA)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269480" y="4535424"/>
            <a:ext cx="1508760" cy="265176"/>
          </a:xfrm>
          <a:prstGeom prst="rect">
            <a:avLst/>
          </a:prstGeom>
          <a:solidFill>
            <a:srgbClr val="0A7EA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69480" y="453542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2 090 880 ₽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365760" y="4881825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5"/>
                </a:solidFill>
              </a:rPr>
              <a:t>VAF = 1,15 обусловлен: мобильная платформа + сторонние API + требования ФЗ-152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3. ЭКОНОМИЧЕСКОЕ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C54"/>
                </a:solidFill>
              </a:rPr>
              <a:t>Чистый дисконтированный доход (ЧДД / NPV) и срок окупаемости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07386" cy="320040"/>
          </a:xfrm>
          <a:prstGeom prst="rect">
            <a:avLst/>
          </a:prstGeom>
          <a:solidFill>
            <a:srgbClr val="E8F1F7"/>
          </a:solidFill>
          <a:ln w="12700">
            <a:solidFill>
              <a:srgbClr val="D0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32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C54"/>
                </a:solidFill>
              </a:rPr>
              <a:t>r = 18%        I₀ = 2 080 980 ₽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C54"/>
                </a:solidFill>
              </a:rPr>
              <a:t>Дисконтированные денежные потоки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749808" cy="31089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103120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Год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2103120"/>
            <a:ext cx="1344168" cy="31089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1031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CF (₽)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1207008" cy="31089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2103120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Дисконт (18%)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0" y="2103120"/>
            <a:ext cx="1435608" cy="310896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1031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PV (₽)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749808" cy="310896"/>
          </a:xfrm>
          <a:prstGeom prst="rect">
            <a:avLst/>
          </a:prstGeom>
          <a:solidFill>
            <a:srgbClr val="FFE8E8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50592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43000" y="2450592"/>
            <a:ext cx="1344168" cy="310896"/>
          </a:xfrm>
          <a:prstGeom prst="rect">
            <a:avLst/>
          </a:prstGeom>
          <a:solidFill>
            <a:srgbClr val="FFE8E8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24505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−2 080 980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14600" y="2450592"/>
            <a:ext cx="1207008" cy="310896"/>
          </a:xfrm>
          <a:prstGeom prst="rect">
            <a:avLst/>
          </a:prstGeom>
          <a:solidFill>
            <a:srgbClr val="FFE8E8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2450592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1,000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2450592"/>
            <a:ext cx="1435608" cy="310896"/>
          </a:xfrm>
          <a:prstGeom prst="rect">
            <a:avLst/>
          </a:prstGeom>
          <a:solidFill>
            <a:srgbClr val="FFE8E8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4505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−2 080 980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798064"/>
            <a:ext cx="7498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798064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43000" y="2798064"/>
            <a:ext cx="13441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1 310 185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14600" y="2798064"/>
            <a:ext cx="12070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51176" y="2798064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0,847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2798064"/>
            <a:ext cx="14356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27980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1 109 600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145536"/>
            <a:ext cx="7498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145536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43000" y="3145536"/>
            <a:ext cx="134416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9576" y="31455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4 588 230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14600" y="3145536"/>
            <a:ext cx="12070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51176" y="3145536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0,718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49040" y="3145536"/>
            <a:ext cx="14356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3145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3 294 250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493008"/>
            <a:ext cx="7498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493008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43000" y="3493008"/>
            <a:ext cx="13441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79576" y="34930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9 128 600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14600" y="3493008"/>
            <a:ext cx="12070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51176" y="3493008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0,609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749040" y="3493008"/>
            <a:ext cx="14356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85616" y="34930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5 557 100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840480"/>
            <a:ext cx="7498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3840480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143000" y="3840480"/>
            <a:ext cx="134416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957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13 000 000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14600" y="3840480"/>
            <a:ext cx="12070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51176" y="3840480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0,516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749040" y="3840480"/>
            <a:ext cx="1435608" cy="310896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85616" y="3840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6 706 100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4187952"/>
            <a:ext cx="7498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187952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</a:rPr>
              <a:t>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143000" y="4187952"/>
            <a:ext cx="13441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79576" y="4187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16 000 000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14600" y="4187952"/>
            <a:ext cx="12070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51176" y="4187952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D"/>
                </a:solidFill>
              </a:rPr>
              <a:t>0,437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749040" y="4187952"/>
            <a:ext cx="143560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85616" y="41879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A7EA4"/>
                </a:solidFill>
              </a:rPr>
              <a:t>6 993 000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517136"/>
            <a:ext cx="480060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5171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NPV (ЧДД) ≈ 14–16 млн ₽  →  Проект экономически эффективен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39496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C54"/>
                </a:solidFill>
              </a:rPr>
              <a:t>Срок окупаемости (PP)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394960" y="2176272"/>
            <a:ext cx="342900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32120" y="2231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D2C54"/>
                </a:solidFill>
              </a:rPr>
              <a:t>После</a:t>
            </a:r>
            <a:r>
              <a:rPr lang="en-US" sz="1000" b="1" dirty="0">
                <a:solidFill>
                  <a:srgbClr val="0D2C54"/>
                </a:solidFill>
              </a:rPr>
              <a:t> </a:t>
            </a:r>
            <a:r>
              <a:rPr lang="ru-RU" sz="1000" b="1" dirty="0">
                <a:solidFill>
                  <a:srgbClr val="0D2C54"/>
                </a:solidFill>
              </a:rPr>
              <a:t>1-ого </a:t>
            </a:r>
            <a:r>
              <a:rPr lang="en-US" sz="1000" b="1" dirty="0" err="1">
                <a:solidFill>
                  <a:srgbClr val="0D2C54"/>
                </a:solidFill>
              </a:rPr>
              <a:t>года</a:t>
            </a:r>
            <a:r>
              <a:rPr lang="en-US" sz="1000" b="1" dirty="0">
                <a:solidFill>
                  <a:srgbClr val="0D2C54"/>
                </a:solidFill>
              </a:rPr>
              <a:t> 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532120" y="2450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1 310 185 ₽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532120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CA5"/>
                </a:solidFill>
              </a:rPr>
              <a:t>Не окупился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94960" y="3136392"/>
            <a:ext cx="3429000" cy="822960"/>
          </a:xfrm>
          <a:prstGeom prst="rect">
            <a:avLst/>
          </a:prstGeom>
          <a:solidFill>
            <a:srgbClr val="E8F1F7"/>
          </a:solidFill>
          <a:ln w="25400">
            <a:solidFill>
              <a:srgbClr val="0A7EA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32120" y="3191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D2C54"/>
                </a:solidFill>
              </a:rPr>
              <a:t>После</a:t>
            </a:r>
            <a:r>
              <a:rPr lang="en-US" sz="1000" b="1" dirty="0">
                <a:solidFill>
                  <a:srgbClr val="0D2C54"/>
                </a:solidFill>
              </a:rPr>
              <a:t> </a:t>
            </a:r>
            <a:r>
              <a:rPr lang="ru-RU" sz="1000" b="1" dirty="0">
                <a:solidFill>
                  <a:srgbClr val="0D2C54"/>
                </a:solidFill>
              </a:rPr>
              <a:t>2-ого </a:t>
            </a:r>
            <a:r>
              <a:rPr lang="en-US" sz="1000" b="1" dirty="0" err="1">
                <a:solidFill>
                  <a:srgbClr val="0D2C54"/>
                </a:solidFill>
              </a:rPr>
              <a:t>года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53212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5 898 415 ₽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532120" y="3657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D53"/>
                </a:solidFill>
              </a:rPr>
              <a:t>✓ Окупился!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394960" y="4160520"/>
            <a:ext cx="3429000" cy="50292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9496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Срок окупаемости: 1,5–2 года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5E180C-EE46-F01F-2263-F25D6B2D1758}"/>
                  </a:ext>
                </a:extLst>
              </p:cNvPr>
              <p:cNvSpPr txBox="1"/>
              <p:nvPr/>
            </p:nvSpPr>
            <p:spPr>
              <a:xfrm>
                <a:off x="4023505" y="859074"/>
                <a:ext cx="3940611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5E180C-EE46-F01F-2263-F25D6B2D1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505" y="859074"/>
                <a:ext cx="3940611" cy="988476"/>
              </a:xfrm>
              <a:prstGeom prst="rect">
                <a:avLst/>
              </a:prstGeom>
              <a:blipFill>
                <a:blip r:embed="rId3"/>
                <a:stretch>
                  <a:fillRect t="-150633" b="-21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CA5"/>
                </a:solidFill>
              </a:rPr>
              <a:t>3. ЭКОНОМИЧЕСКОЕ ОБОСНОВАНИЕ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C54"/>
                </a:solidFill>
              </a:rPr>
              <a:t>Сводные показатели экономической эффективности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6132"/>
            <a:ext cx="2011680" cy="1051560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018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2,08 млн 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504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Первоначальные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инвестиции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56132"/>
            <a:ext cx="2011680" cy="10515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018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1,5–2 года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16504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Срок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окупаемости (СО)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56132"/>
            <a:ext cx="2011680" cy="1051560"/>
          </a:xfrm>
          <a:prstGeom prst="rect">
            <a:avLst/>
          </a:prstGeom>
          <a:solidFill>
            <a:srgbClr val="2E7D53"/>
          </a:solidFill>
          <a:ln w="12700">
            <a:solidFill>
              <a:srgbClr val="2E7D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018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14–16 млн 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6504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ЧДД / NPV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(5 лет, r=18%)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1056132"/>
            <a:ext cx="2011680" cy="1051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1018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3,5–4,2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16504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Индекс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прибыльности (PI)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154957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C54"/>
                </a:solidFill>
              </a:rPr>
              <a:t>Внутренняя норма доходности (IRR)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56709"/>
            <a:ext cx="4114800" cy="548640"/>
          </a:xfrm>
          <a:prstGeom prst="rect">
            <a:avLst/>
          </a:prstGeom>
          <a:solidFill>
            <a:srgbClr val="E8F1F7"/>
          </a:solidFill>
          <a:ln w="12700">
            <a:solidFill>
              <a:srgbClr val="D0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56709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7EA4"/>
                </a:solidFill>
              </a:rPr>
              <a:t>IRR ≈ 45–60%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97480" y="2456709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</a:rPr>
              <a:t>Значительно превышает ставку дисконтирования (18%) и альтернативные вложения.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154957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C54"/>
                </a:solidFill>
              </a:rPr>
              <a:t>Точка безубыточности (BEP)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56709"/>
            <a:ext cx="4114800" cy="548640"/>
          </a:xfrm>
          <a:prstGeom prst="rect">
            <a:avLst/>
          </a:prstGeom>
          <a:solidFill>
            <a:srgbClr val="E8F1F7"/>
          </a:solidFill>
          <a:ln w="12700">
            <a:solidFill>
              <a:srgbClr val="D0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456709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7EA4"/>
                </a:solidFill>
              </a:rPr>
              <a:t>~900–1 200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456709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</a:rPr>
              <a:t>платных </a:t>
            </a:r>
            <a:r>
              <a:rPr lang="en-US" sz="800" dirty="0" err="1">
                <a:solidFill>
                  <a:srgbClr val="1A2E3D"/>
                </a:solidFill>
              </a:rPr>
              <a:t>подписчиков</a:t>
            </a:r>
            <a:r>
              <a:rPr lang="en-US" sz="800" dirty="0">
                <a:solidFill>
                  <a:srgbClr val="1A2E3D"/>
                </a:solidFill>
              </a:rPr>
              <a:t>.</a:t>
            </a:r>
            <a:r>
              <a:rPr lang="ru-RU" sz="800" dirty="0">
                <a:solidFill>
                  <a:srgbClr val="1A2E3D"/>
                </a:solidFill>
              </a:rPr>
              <a:t> </a:t>
            </a:r>
            <a:r>
              <a:rPr lang="en-US" sz="800" dirty="0" err="1">
                <a:solidFill>
                  <a:srgbClr val="1A2E3D"/>
                </a:solidFill>
              </a:rPr>
              <a:t>Достигается</a:t>
            </a:r>
            <a:r>
              <a:rPr lang="en-US" sz="800" dirty="0">
                <a:solidFill>
                  <a:srgbClr val="1A2E3D"/>
                </a:solidFill>
              </a:rPr>
              <a:t> уже в 1-й </a:t>
            </a:r>
            <a:r>
              <a:rPr lang="en-US" sz="800" dirty="0" err="1">
                <a:solidFill>
                  <a:srgbClr val="1A2E3D"/>
                </a:solidFill>
              </a:rPr>
              <a:t>год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151653"/>
            <a:ext cx="5458968" cy="246888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15165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Показатель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3151653"/>
            <a:ext cx="2898648" cy="246888"/>
          </a:xfrm>
          <a:prstGeom prst="rect">
            <a:avLst/>
          </a:prstGeom>
          <a:solidFill>
            <a:srgbClr val="0D2C54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7024" y="315165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Значение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425973"/>
            <a:ext cx="545896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42597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Первоначальные инвестиции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52160" y="3425973"/>
            <a:ext cx="289864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07024" y="342597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2,08 млн ₽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700293"/>
            <a:ext cx="54589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70029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Срок окупаемости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52160" y="3700293"/>
            <a:ext cx="28986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7024" y="370029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1,5–2 года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974613"/>
            <a:ext cx="545896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97461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ЧДД (NPV)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2160" y="3974613"/>
            <a:ext cx="289864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07024" y="397461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~14–16 млн ₽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248933"/>
            <a:ext cx="54589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424893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Индекс прибыльности (PI)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52160" y="4248933"/>
            <a:ext cx="28986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07024" y="424893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3,5–4,2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523253"/>
            <a:ext cx="545896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452325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IRR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52160" y="4523253"/>
            <a:ext cx="2898648" cy="246888"/>
          </a:xfrm>
          <a:prstGeom prst="rect">
            <a:avLst/>
          </a:prstGeom>
          <a:solidFill>
            <a:srgbClr val="E8F1F7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07024" y="452325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~45–60%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4797573"/>
            <a:ext cx="54589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4797573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3D"/>
                </a:solidFill>
              </a:rPr>
              <a:t>Точка безубыточности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852160" y="4797573"/>
            <a:ext cx="28986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7024" y="4797573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</a:rPr>
              <a:t>~900–1 200 польз.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474720"/>
            <a:ext cx="8979408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 о целесообразности инвестиций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33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0972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Срок окупаемости 1,5–2 года — отличный результат для SaaS-продукта.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NPV ≈ 14–16 млн ₽ за 5 лет при инвестициях 2,08 млн ₽ — существенная прибыль сверх затрат.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1865376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PI = 3,5–4,2: каждый вложенный рубль возвращает почти 4 рубля дисконтированной прибыли.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249424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IRR = 45–60% значительно превышает ставку дисконтирования (18%).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633472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Масштабируемость SaaS: предельные издержки на пользователя — всего ~31 ₽/год.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54096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0175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5"/>
                </a:solidFill>
              </a:rPr>
              <a:t>Риски: конкуренция, маркетинговые </a:t>
            </a:r>
            <a:r>
              <a:rPr lang="en-US" sz="1100" dirty="0" err="1">
                <a:solidFill>
                  <a:srgbClr val="6B8CA5"/>
                </a:solidFill>
              </a:rPr>
              <a:t>затраты</a:t>
            </a:r>
            <a:r>
              <a:rPr lang="en-US" sz="1100" dirty="0">
                <a:solidFill>
                  <a:srgbClr val="6B8CA5"/>
                </a:solidFill>
              </a:rPr>
              <a:t>,</a:t>
            </a:r>
            <a:r>
              <a:rPr lang="ru-RU" sz="1100" dirty="0">
                <a:solidFill>
                  <a:srgbClr val="6B8CA5"/>
                </a:solidFill>
              </a:rPr>
              <a:t> непредвиденные внешние обстоятельства,</a:t>
            </a:r>
            <a:r>
              <a:rPr lang="en-US" sz="1100" dirty="0">
                <a:solidFill>
                  <a:srgbClr val="6B8CA5"/>
                </a:solidFill>
              </a:rPr>
              <a:t> зависимость от магазинов — не перекрывают эффект.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" y="3772930"/>
            <a:ext cx="8321040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77293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D2E"/>
                </a:solidFill>
              </a:rPr>
              <a:t>Проект «НаВырост» рекомендуется к финансированию как эффективный,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D2E"/>
                </a:solidFill>
              </a:rPr>
              <a:t>быстроокупаемый и масштабируемый цифровой продукт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935</Words>
  <Application>Microsoft Macintosh PowerPoint</Application>
  <PresentationFormat>Экран (16:9)</PresentationFormat>
  <Paragraphs>242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Технико-экономическое обоснование «НаВырост»</dc:title>
  <dc:subject>PptxGenJS Presentation</dc:subject>
  <dc:creator>PptxGenJS</dc:creator>
  <cp:lastModifiedBy>e314</cp:lastModifiedBy>
  <cp:revision>3</cp:revision>
  <dcterms:created xsi:type="dcterms:W3CDTF">2026-05-27T06:49:35Z</dcterms:created>
  <dcterms:modified xsi:type="dcterms:W3CDTF">2026-05-27T07:40:27Z</dcterms:modified>
</cp:coreProperties>
</file>