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League Spartan" charset="1" panose="00000800000000000000"/>
      <p:regular r:id="rId17"/>
    </p:embeddedFont>
    <p:embeddedFont>
      <p:font typeface="Poppins" charset="1" panose="00000500000000000000"/>
      <p:regular r:id="rId18"/>
    </p:embeddedFont>
    <p:embeddedFont>
      <p:font typeface="Garamond" charset="1" panose="02020404030301010803"/>
      <p:regular r:id="rId19"/>
    </p:embeddedFont>
    <p:embeddedFont>
      <p:font typeface="Garamond Bold" charset="1" panose="02020804030307010803"/>
      <p:regular r:id="rId20"/>
    </p:embeddedFont>
    <p:embeddedFont>
      <p:font typeface="Roboto" charset="1" panose="02000000000000000000"/>
      <p:regular r:id="rId21"/>
    </p:embeddedFont>
    <p:embeddedFont>
      <p:font typeface="Poppins Bold" charset="1" panose="00000800000000000000"/>
      <p:regular r:id="rId22"/>
    </p:embeddedFont>
    <p:embeddedFont>
      <p:font typeface="Roboto Bold" charset="1" panose="02000000000000000000"/>
      <p:regular r:id="rId23"/>
    </p:embeddedFont>
    <p:embeddedFont>
      <p:font typeface="Bryndan Write" charset="1" panose="02000503000000000000"/>
      <p:regular r:id="rId24"/>
    </p:embeddedFont>
    <p:embeddedFont>
      <p:font typeface="Archivo Black" charset="1" panose="020B0A03020202020B04"/>
      <p:regular r:id="rId25"/>
    </p:embeddedFont>
    <p:embeddedFont>
      <p:font typeface="Calibri (MS) Bold" charset="1" panose="020F0702030404030204"/>
      <p:regular r:id="rId26"/>
    </p:embeddedFont>
    <p:embeddedFont>
      <p:font typeface="Calibri (MS)" charset="1" panose="020F0502020204030204"/>
      <p:regular r:id="rId27"/>
    </p:embeddedFont>
    <p:embeddedFont>
      <p:font typeface="Arimo Bold" charset="1" panose="020B07040202020202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Relationship Id="rId8" Target="../media/image2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9.png" Type="http://schemas.openxmlformats.org/officeDocument/2006/relationships/image"/><Relationship Id="rId4" Target="../media/image30.svg" Type="http://schemas.openxmlformats.org/officeDocument/2006/relationships/image"/><Relationship Id="rId5" Target="../media/image31.png" Type="http://schemas.openxmlformats.org/officeDocument/2006/relationships/image"/><Relationship Id="rId6" Target="../media/image3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33.png" Type="http://schemas.openxmlformats.org/officeDocument/2006/relationships/image"/><Relationship Id="rId4" Target="../media/image34.svg" Type="http://schemas.openxmlformats.org/officeDocument/2006/relationships/image"/><Relationship Id="rId5" Target="../media/image35.png" Type="http://schemas.openxmlformats.org/officeDocument/2006/relationships/image"/><Relationship Id="rId6" Target="../media/image36.png" Type="http://schemas.openxmlformats.org/officeDocument/2006/relationships/image"/><Relationship Id="rId7" Target="../media/image3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svg" Type="http://schemas.openxmlformats.org/officeDocument/2006/relationships/image"/><Relationship Id="rId4" Target="../media/image40.png" Type="http://schemas.openxmlformats.org/officeDocument/2006/relationships/image"/><Relationship Id="rId5" Target="../media/image41.png" Type="http://schemas.openxmlformats.org/officeDocument/2006/relationships/image"/><Relationship Id="rId6" Target="../media/image42.png" Type="http://schemas.openxmlformats.org/officeDocument/2006/relationships/image"/><Relationship Id="rId7" Target="../media/image4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Relationship Id="rId3" Target="../media/image4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130303" y="3876923"/>
            <a:ext cx="3086100" cy="2352323"/>
          </a:xfrm>
          <a:custGeom>
            <a:avLst/>
            <a:gdLst/>
            <a:ahLst/>
            <a:cxnLst/>
            <a:rect r="r" b="b" t="t" l="l"/>
            <a:pathLst>
              <a:path h="2352323" w="3086100">
                <a:moveTo>
                  <a:pt x="0" y="0"/>
                </a:moveTo>
                <a:lnTo>
                  <a:pt x="3086100" y="0"/>
                </a:lnTo>
                <a:lnTo>
                  <a:pt x="3086100" y="2352322"/>
                </a:lnTo>
                <a:lnTo>
                  <a:pt x="0" y="23523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467344" y="3876923"/>
            <a:ext cx="3086100" cy="2352323"/>
          </a:xfrm>
          <a:custGeom>
            <a:avLst/>
            <a:gdLst/>
            <a:ahLst/>
            <a:cxnLst/>
            <a:rect r="r" b="b" t="t" l="l"/>
            <a:pathLst>
              <a:path h="2352323" w="3086100">
                <a:moveTo>
                  <a:pt x="0" y="0"/>
                </a:moveTo>
                <a:lnTo>
                  <a:pt x="3086100" y="0"/>
                </a:lnTo>
                <a:lnTo>
                  <a:pt x="3086100" y="2352322"/>
                </a:lnTo>
                <a:lnTo>
                  <a:pt x="0" y="23523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251541" y="3469567"/>
            <a:ext cx="3330235" cy="3347857"/>
            <a:chOff x="0" y="0"/>
            <a:chExt cx="4440314" cy="44638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40301" cy="4463796"/>
            </a:xfrm>
            <a:custGeom>
              <a:avLst/>
              <a:gdLst/>
              <a:ahLst/>
              <a:cxnLst/>
              <a:rect r="r" b="b" t="t" l="l"/>
              <a:pathLst>
                <a:path h="4463796" w="4440301">
                  <a:moveTo>
                    <a:pt x="0" y="0"/>
                  </a:moveTo>
                  <a:lnTo>
                    <a:pt x="4440301" y="0"/>
                  </a:lnTo>
                  <a:lnTo>
                    <a:pt x="4440301" y="4463796"/>
                  </a:lnTo>
                  <a:lnTo>
                    <a:pt x="0" y="4463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2405463" y="3052705"/>
            <a:ext cx="9846088" cy="35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00"/>
              </a:lnSpc>
            </a:pPr>
            <a:r>
              <a:rPr lang="en-US" sz="10500" b="true">
                <a:solidFill>
                  <a:srgbClr val="5E17E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НАВЫРОСТ</a:t>
            </a:r>
          </a:p>
          <a:p>
            <a:pPr algn="ctr">
              <a:lnSpc>
                <a:spcPts val="11571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3065088" y="4991100"/>
            <a:ext cx="8526828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Превращаем экранное время детей</a:t>
            </a:r>
          </a:p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в образование и финансовую грамотность.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44612" y="7339098"/>
            <a:ext cx="10706938" cy="1408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Свяжитесь с нами!</a:t>
            </a:r>
          </a:p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Наша почта: </a:t>
            </a:r>
            <a:r>
              <a:rPr lang="en-US" sz="3800" b="true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navyrost_support@yandex.ru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59" r="0" b="-9259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253576" y="1047626"/>
            <a:ext cx="21599119" cy="1513608"/>
          </a:xfrm>
          <a:custGeom>
            <a:avLst/>
            <a:gdLst/>
            <a:ahLst/>
            <a:cxnLst/>
            <a:rect r="r" b="b" t="t" l="l"/>
            <a:pathLst>
              <a:path h="1513608" w="21599119">
                <a:moveTo>
                  <a:pt x="0" y="0"/>
                </a:moveTo>
                <a:lnTo>
                  <a:pt x="21599119" y="0"/>
                </a:lnTo>
                <a:lnTo>
                  <a:pt x="21599119" y="1513608"/>
                </a:lnTo>
                <a:lnTo>
                  <a:pt x="0" y="15136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199012" y="1152973"/>
            <a:ext cx="8421405" cy="1403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33"/>
              </a:lnSpc>
            </a:pPr>
            <a:r>
              <a:rPr lang="en-US" sz="7382" b="true">
                <a:solidFill>
                  <a:srgbClr val="FFDE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РЕАЛИИ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616828" y="6524777"/>
            <a:ext cx="3054353" cy="942108"/>
          </a:xfrm>
          <a:custGeom>
            <a:avLst/>
            <a:gdLst/>
            <a:ahLst/>
            <a:cxnLst/>
            <a:rect r="r" b="b" t="t" l="l"/>
            <a:pathLst>
              <a:path h="942108" w="3054353">
                <a:moveTo>
                  <a:pt x="0" y="0"/>
                </a:moveTo>
                <a:lnTo>
                  <a:pt x="3054353" y="0"/>
                </a:lnTo>
                <a:lnTo>
                  <a:pt x="3054353" y="942109"/>
                </a:lnTo>
                <a:lnTo>
                  <a:pt x="0" y="9421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347823" y="6789677"/>
            <a:ext cx="3592354" cy="593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8"/>
              </a:lnSpc>
            </a:pPr>
            <a:r>
              <a:rPr lang="en-US" sz="3147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VISIT US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409359" y="8688896"/>
            <a:ext cx="759904" cy="759904"/>
            <a:chOff x="0" y="0"/>
            <a:chExt cx="1013206" cy="10132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3206" cy="1013206"/>
            </a:xfrm>
            <a:custGeom>
              <a:avLst/>
              <a:gdLst/>
              <a:ahLst/>
              <a:cxnLst/>
              <a:rect r="r" b="b" t="t" l="l"/>
              <a:pathLst>
                <a:path h="1013206" w="1013206">
                  <a:moveTo>
                    <a:pt x="0" y="0"/>
                  </a:moveTo>
                  <a:lnTo>
                    <a:pt x="1013206" y="0"/>
                  </a:lnTo>
                  <a:lnTo>
                    <a:pt x="1013206" y="1013206"/>
                  </a:lnTo>
                  <a:lnTo>
                    <a:pt x="0" y="10132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105699" y="8659101"/>
            <a:ext cx="762324" cy="762324"/>
            <a:chOff x="0" y="0"/>
            <a:chExt cx="1016432" cy="10164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16381" cy="1016381"/>
            </a:xfrm>
            <a:custGeom>
              <a:avLst/>
              <a:gdLst/>
              <a:ahLst/>
              <a:cxnLst/>
              <a:rect r="r" b="b" t="t" l="l"/>
              <a:pathLst>
                <a:path h="1016381" w="1016381">
                  <a:moveTo>
                    <a:pt x="0" y="0"/>
                  </a:moveTo>
                  <a:lnTo>
                    <a:pt x="1016381" y="0"/>
                  </a:lnTo>
                  <a:lnTo>
                    <a:pt x="1016381" y="1016381"/>
                  </a:lnTo>
                  <a:lnTo>
                    <a:pt x="0" y="10163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268073" y="8640470"/>
            <a:ext cx="5610568" cy="649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1"/>
              </a:lnSpc>
            </a:pPr>
            <a:r>
              <a:rPr lang="en-US" sz="331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www.reallygreatsite.com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522480" y="8686076"/>
            <a:ext cx="3500342" cy="649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1"/>
              </a:lnSpc>
            </a:pPr>
            <a:r>
              <a:rPr lang="en-US" sz="331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+123-456-7890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3277867" y="3174063"/>
            <a:ext cx="11980412" cy="6274737"/>
            <a:chOff x="0" y="0"/>
            <a:chExt cx="15973882" cy="83663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973933" cy="8366379"/>
            </a:xfrm>
            <a:custGeom>
              <a:avLst/>
              <a:gdLst/>
              <a:ahLst/>
              <a:cxnLst/>
              <a:rect r="r" b="b" t="t" l="l"/>
              <a:pathLst>
                <a:path h="8366379" w="15973933">
                  <a:moveTo>
                    <a:pt x="0" y="0"/>
                  </a:moveTo>
                  <a:lnTo>
                    <a:pt x="15973933" y="0"/>
                  </a:lnTo>
                  <a:lnTo>
                    <a:pt x="15973933" y="8366379"/>
                  </a:lnTo>
                  <a:lnTo>
                    <a:pt x="0" y="83663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4" t="0" r="-24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-180823"/>
            <a:ext cx="6379959" cy="10467823"/>
          </a:xfrm>
          <a:custGeom>
            <a:avLst/>
            <a:gdLst/>
            <a:ahLst/>
            <a:cxnLst/>
            <a:rect r="r" b="b" t="t" l="l"/>
            <a:pathLst>
              <a:path h="10467823" w="6379959">
                <a:moveTo>
                  <a:pt x="0" y="0"/>
                </a:moveTo>
                <a:lnTo>
                  <a:pt x="6379959" y="0"/>
                </a:lnTo>
                <a:lnTo>
                  <a:pt x="6379959" y="10467823"/>
                </a:lnTo>
                <a:lnTo>
                  <a:pt x="0" y="104678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27209" y="3403549"/>
            <a:ext cx="5246370" cy="5246370"/>
            <a:chOff x="0" y="0"/>
            <a:chExt cx="6995160" cy="6995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995160" cy="6995160"/>
            </a:xfrm>
            <a:custGeom>
              <a:avLst/>
              <a:gdLst/>
              <a:ahLst/>
              <a:cxnLst/>
              <a:rect r="r" b="b" t="t" l="l"/>
              <a:pathLst>
                <a:path h="6995160" w="6995160">
                  <a:moveTo>
                    <a:pt x="3497580" y="0"/>
                  </a:moveTo>
                  <a:cubicBezTo>
                    <a:pt x="1565910" y="0"/>
                    <a:pt x="0" y="1565910"/>
                    <a:pt x="0" y="3497580"/>
                  </a:cubicBezTo>
                  <a:cubicBezTo>
                    <a:pt x="0" y="5429250"/>
                    <a:pt x="1565910" y="6995160"/>
                    <a:pt x="3497580" y="6995160"/>
                  </a:cubicBezTo>
                  <a:cubicBezTo>
                    <a:pt x="5429250" y="6995160"/>
                    <a:pt x="6995160" y="5429250"/>
                    <a:pt x="6995160" y="3497580"/>
                  </a:cubicBezTo>
                  <a:cubicBezTo>
                    <a:pt x="6995160" y="1565910"/>
                    <a:pt x="5429250" y="0"/>
                    <a:pt x="349758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1188072"/>
            <a:ext cx="4243378" cy="880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591"/>
              </a:lnSpc>
            </a:pPr>
            <a:r>
              <a:rPr lang="en-US" sz="4708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ПРОБЛЕМА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208634" y="2068601"/>
            <a:ext cx="1868262" cy="1868262"/>
          </a:xfrm>
          <a:custGeom>
            <a:avLst/>
            <a:gdLst/>
            <a:ahLst/>
            <a:cxnLst/>
            <a:rect r="r" b="b" t="t" l="l"/>
            <a:pathLst>
              <a:path h="1868262" w="1868262">
                <a:moveTo>
                  <a:pt x="0" y="0"/>
                </a:moveTo>
                <a:lnTo>
                  <a:pt x="1868262" y="0"/>
                </a:lnTo>
                <a:lnTo>
                  <a:pt x="1868262" y="1868262"/>
                </a:lnTo>
                <a:lnTo>
                  <a:pt x="0" y="18682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208634" y="4672136"/>
            <a:ext cx="1868262" cy="1868262"/>
          </a:xfrm>
          <a:custGeom>
            <a:avLst/>
            <a:gdLst/>
            <a:ahLst/>
            <a:cxnLst/>
            <a:rect r="r" b="b" t="t" l="l"/>
            <a:pathLst>
              <a:path h="1868262" w="1868262">
                <a:moveTo>
                  <a:pt x="0" y="0"/>
                </a:moveTo>
                <a:lnTo>
                  <a:pt x="1868262" y="0"/>
                </a:lnTo>
                <a:lnTo>
                  <a:pt x="1868262" y="1868262"/>
                </a:lnTo>
                <a:lnTo>
                  <a:pt x="0" y="18682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208634" y="7273823"/>
            <a:ext cx="1868262" cy="1868262"/>
          </a:xfrm>
          <a:custGeom>
            <a:avLst/>
            <a:gdLst/>
            <a:ahLst/>
            <a:cxnLst/>
            <a:rect r="r" b="b" t="t" l="l"/>
            <a:pathLst>
              <a:path h="1868262" w="1868262">
                <a:moveTo>
                  <a:pt x="0" y="0"/>
                </a:moveTo>
                <a:lnTo>
                  <a:pt x="1868262" y="0"/>
                </a:lnTo>
                <a:lnTo>
                  <a:pt x="1868262" y="1868262"/>
                </a:lnTo>
                <a:lnTo>
                  <a:pt x="0" y="18682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323349" y="2436943"/>
            <a:ext cx="1638833" cy="1343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323344" y="4991100"/>
            <a:ext cx="1638833" cy="1450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323349" y="7597673"/>
            <a:ext cx="1638833" cy="1450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10271" y="2513143"/>
            <a:ext cx="5948362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</a:pPr>
            <a:r>
              <a:rPr lang="en-US" sz="27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90 % семей</a:t>
            </a: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конфликтуют из-за гаджетов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10271" y="5010988"/>
            <a:ext cx="5948362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</a:pPr>
            <a:r>
              <a:rPr lang="en-US" sz="27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слабое обучение</a:t>
            </a: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финансовой грамотности в школе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10271" y="7613599"/>
            <a:ext cx="5948362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</a:pPr>
            <a:r>
              <a:rPr lang="en-US" sz="27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блокировки не работают</a:t>
            </a:r>
          </a:p>
          <a:p>
            <a:pPr algn="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дети находят обходы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69653" y="794566"/>
            <a:ext cx="8418643" cy="1017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sz="5308" b="true">
                <a:solidFill>
                  <a:srgbClr val="5E17E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СИСТЕМА МОТИВАЦИИ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800100"/>
            <a:ext cx="4842081" cy="1012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1"/>
              </a:lnSpc>
            </a:pPr>
            <a:r>
              <a:rPr lang="en-US" sz="515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РЕШЕНИЕ -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771081" y="8526790"/>
            <a:ext cx="12745837" cy="96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Ребёнок получает не просто награду, а учится </a:t>
            </a:r>
            <a:r>
              <a:rPr lang="en-US" b="true" sz="27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управлять ресурсами</a:t>
            </a: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b="true" sz="27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ставить цели</a:t>
            </a: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и понимать </a:t>
            </a:r>
            <a:r>
              <a:rPr lang="en-US" b="true" sz="27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ценность времени.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3728058" y="2491206"/>
            <a:ext cx="10831884" cy="5646119"/>
            <a:chOff x="0" y="0"/>
            <a:chExt cx="14442511" cy="7528159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9602621" y="494901"/>
              <a:ext cx="3178894" cy="7917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69"/>
                </a:lnSpc>
                <a:spcBef>
                  <a:spcPct val="0"/>
                </a:spcBef>
              </a:pPr>
              <a:r>
                <a:rPr lang="en-US" sz="3406">
                  <a:solidFill>
                    <a:srgbClr val="000000"/>
                  </a:solidFill>
                  <a:latin typeface="Bryndan Write"/>
                  <a:ea typeface="Bryndan Write"/>
                  <a:cs typeface="Bryndan Write"/>
                  <a:sym typeface="Bryndan Write"/>
                </a:rPr>
                <a:t>РОДИТЕЛЬ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8990104" y="3188864"/>
              <a:ext cx="4904878" cy="165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45"/>
                </a:lnSpc>
              </a:pPr>
              <a:r>
                <a:rPr lang="en-US" sz="2389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Подтверждает</a:t>
              </a:r>
            </a:p>
            <a:p>
              <a:pPr algn="l">
                <a:lnSpc>
                  <a:spcPts val="3345"/>
                </a:lnSpc>
              </a:pPr>
              <a:r>
                <a:rPr lang="en-US" sz="2389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выполнение</a:t>
              </a:r>
            </a:p>
            <a:p>
              <a:pPr algn="l">
                <a:lnSpc>
                  <a:spcPts val="3345"/>
                </a:lnSpc>
                <a:spcBef>
                  <a:spcPct val="0"/>
                </a:spcBef>
              </a:pPr>
              <a:r>
                <a:rPr lang="en-US" sz="2389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с отчётом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8990104" y="5216259"/>
              <a:ext cx="4904878" cy="10939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45"/>
                </a:lnSpc>
                <a:spcBef>
                  <a:spcPct val="0"/>
                </a:spcBef>
              </a:pPr>
              <a:r>
                <a:rPr lang="en-US" sz="2389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Отслеживает статистику ребёнка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8990104" y="1714621"/>
              <a:ext cx="4583620" cy="10939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45"/>
                </a:lnSpc>
              </a:pPr>
              <a:r>
                <a:rPr lang="en-US" sz="2389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Даёт задания</a:t>
              </a:r>
            </a:p>
            <a:p>
              <a:pPr algn="l">
                <a:lnSpc>
                  <a:spcPts val="3345"/>
                </a:lnSpc>
                <a:spcBef>
                  <a:spcPct val="0"/>
                </a:spcBef>
              </a:pPr>
              <a:r>
                <a:rPr lang="en-US" sz="2389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и ценность в ИВ</a:t>
              </a:r>
            </a:p>
          </p:txBody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442511" cy="7528159"/>
            </a:xfrm>
            <a:custGeom>
              <a:avLst/>
              <a:gdLst/>
              <a:ahLst/>
              <a:cxnLst/>
              <a:rect r="r" b="b" t="t" l="l"/>
              <a:pathLst>
                <a:path h="7528159" w="14442511">
                  <a:moveTo>
                    <a:pt x="0" y="0"/>
                  </a:moveTo>
                  <a:lnTo>
                    <a:pt x="14442511" y="0"/>
                  </a:lnTo>
                  <a:lnTo>
                    <a:pt x="14442511" y="7528159"/>
                  </a:lnTo>
                  <a:lnTo>
                    <a:pt x="0" y="7528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1" id="11"/>
            <p:cNvGrpSpPr/>
            <p:nvPr/>
          </p:nvGrpSpPr>
          <p:grpSpPr>
            <a:xfrm rot="0">
              <a:off x="601056" y="1771771"/>
              <a:ext cx="279980" cy="279980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E17EB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45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1235762" y="1628858"/>
              <a:ext cx="4604992" cy="10837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67"/>
                </a:lnSpc>
                <a:spcBef>
                  <a:spcPct val="0"/>
                </a:spcBef>
              </a:pPr>
              <a:r>
                <a:rPr lang="en-US" sz="2405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Учится / выполняет задания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235762" y="3198389"/>
              <a:ext cx="4604992" cy="10837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67"/>
                </a:lnSpc>
                <a:spcBef>
                  <a:spcPct val="0"/>
                </a:spcBef>
              </a:pPr>
              <a:r>
                <a:rPr lang="en-US" sz="2405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Зарабатывает игровую валюту (ИВ)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235762" y="4767920"/>
              <a:ext cx="4604992" cy="16425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67"/>
                </a:lnSpc>
                <a:spcBef>
                  <a:spcPct val="0"/>
                </a:spcBef>
              </a:pPr>
              <a:r>
                <a:rPr lang="en-US" sz="2405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Тратит на досуг / копит ИВ или выводит средства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2050134" y="546428"/>
              <a:ext cx="2141368" cy="7402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7"/>
                </a:lnSpc>
                <a:spcBef>
                  <a:spcPct val="0"/>
                </a:spcBef>
              </a:pPr>
              <a:r>
                <a:rPr lang="en-US" sz="3198">
                  <a:solidFill>
                    <a:srgbClr val="000000"/>
                  </a:solidFill>
                  <a:latin typeface="Bryndan Write"/>
                  <a:ea typeface="Bryndan Write"/>
                  <a:cs typeface="Bryndan Write"/>
                  <a:sym typeface="Bryndan Write"/>
                </a:rPr>
                <a:t>РЕБЁНОК</a:t>
              </a:r>
            </a:p>
          </p:txBody>
        </p:sp>
        <p:grpSp>
          <p:nvGrpSpPr>
            <p:cNvPr name="Group 18" id="18"/>
            <p:cNvGrpSpPr/>
            <p:nvPr/>
          </p:nvGrpSpPr>
          <p:grpSpPr>
            <a:xfrm rot="0">
              <a:off x="601056" y="3358184"/>
              <a:ext cx="279980" cy="279980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E17EB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45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601056" y="4944597"/>
              <a:ext cx="279980" cy="279980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E17EB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45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8442576" y="1898771"/>
              <a:ext cx="279980" cy="279980"/>
              <a:chOff x="0" y="0"/>
              <a:chExt cx="812800" cy="8128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45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8442576" y="5434631"/>
              <a:ext cx="279980" cy="279980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45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8442576" y="3407900"/>
              <a:ext cx="279980" cy="279980"/>
              <a:chOff x="0" y="0"/>
              <a:chExt cx="812800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45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87655" y="8504030"/>
            <a:ext cx="3642751" cy="431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6"/>
              </a:lnSpc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Главный экран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47140" y="1358070"/>
            <a:ext cx="3923779" cy="6800562"/>
            <a:chOff x="0" y="0"/>
            <a:chExt cx="4665662" cy="808636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665599" cy="8086344"/>
            </a:xfrm>
            <a:custGeom>
              <a:avLst/>
              <a:gdLst/>
              <a:ahLst/>
              <a:cxnLst/>
              <a:rect r="r" b="b" t="t" l="l"/>
              <a:pathLst>
                <a:path h="8086344" w="4665599">
                  <a:moveTo>
                    <a:pt x="0" y="0"/>
                  </a:moveTo>
                  <a:lnTo>
                    <a:pt x="4665599" y="0"/>
                  </a:lnTo>
                  <a:lnTo>
                    <a:pt x="4665599" y="8086344"/>
                  </a:lnTo>
                  <a:lnTo>
                    <a:pt x="0" y="8086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661" r="-103586" b="-106564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878822" y="1358070"/>
            <a:ext cx="3850799" cy="6800562"/>
            <a:chOff x="0" y="0"/>
            <a:chExt cx="4578883" cy="80863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78858" cy="8086344"/>
            </a:xfrm>
            <a:custGeom>
              <a:avLst/>
              <a:gdLst/>
              <a:ahLst/>
              <a:cxnLst/>
              <a:rect r="r" b="b" t="t" l="l"/>
              <a:pathLst>
                <a:path h="8086344" w="4578858">
                  <a:moveTo>
                    <a:pt x="0" y="0"/>
                  </a:moveTo>
                  <a:lnTo>
                    <a:pt x="4578858" y="0"/>
                  </a:lnTo>
                  <a:lnTo>
                    <a:pt x="4578858" y="8086344"/>
                  </a:lnTo>
                  <a:lnTo>
                    <a:pt x="0" y="8086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1687" t="-3409" r="-3868" b="-10490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5504366" y="1358070"/>
            <a:ext cx="3378097" cy="6800562"/>
            <a:chOff x="0" y="0"/>
            <a:chExt cx="4016806" cy="808636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16795" cy="8086344"/>
            </a:xfrm>
            <a:custGeom>
              <a:avLst/>
              <a:gdLst/>
              <a:ahLst/>
              <a:cxnLst/>
              <a:rect r="r" b="b" t="t" l="l"/>
              <a:pathLst>
                <a:path h="8086344" w="4016795">
                  <a:moveTo>
                    <a:pt x="0" y="0"/>
                  </a:moveTo>
                  <a:lnTo>
                    <a:pt x="4016795" y="0"/>
                  </a:lnTo>
                  <a:lnTo>
                    <a:pt x="4016795" y="8086344"/>
                  </a:lnTo>
                  <a:lnTo>
                    <a:pt x="0" y="8086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449" t="-106580" r="-12192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284252" y="1358070"/>
            <a:ext cx="3393989" cy="6800562"/>
            <a:chOff x="0" y="0"/>
            <a:chExt cx="4035703" cy="80863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35716" cy="8086344"/>
            </a:xfrm>
            <a:custGeom>
              <a:avLst/>
              <a:gdLst/>
              <a:ahLst/>
              <a:cxnLst/>
              <a:rect r="r" b="b" t="t" l="l"/>
              <a:pathLst>
                <a:path h="8086344" w="4035716">
                  <a:moveTo>
                    <a:pt x="0" y="0"/>
                  </a:moveTo>
                  <a:lnTo>
                    <a:pt x="4035716" y="0"/>
                  </a:lnTo>
                  <a:lnTo>
                    <a:pt x="4035716" y="8086344"/>
                  </a:lnTo>
                  <a:lnTo>
                    <a:pt x="0" y="8086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2510" t="-106576" r="-8764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5372039" y="8504030"/>
            <a:ext cx="3642751" cy="431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6"/>
              </a:lnSpc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Биржа задач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59872" y="8504030"/>
            <a:ext cx="3642751" cy="431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6"/>
              </a:lnSpc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Магазин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955022" y="8504030"/>
            <a:ext cx="3829393" cy="431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6"/>
              </a:lnSpc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Кабинет родителя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170919" y="9162983"/>
            <a:ext cx="3861197" cy="472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5"/>
              </a:lnSpc>
            </a:pPr>
            <a:r>
              <a:rPr lang="en-US" sz="2389">
                <a:solidFill>
                  <a:srgbClr val="5E17EB"/>
                </a:solidFill>
                <a:latin typeface="Archivo Black"/>
                <a:ea typeface="Archivo Black"/>
                <a:cs typeface="Archivo Black"/>
                <a:sym typeface="Archivo Black"/>
              </a:rPr>
              <a:t>(пользователь - ребёнок)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955022" y="9162983"/>
            <a:ext cx="4022884" cy="472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5"/>
              </a:lnSpc>
            </a:pPr>
            <a:r>
              <a:rPr lang="en-US" sz="2389">
                <a:solidFill>
                  <a:srgbClr val="5E17EB"/>
                </a:solidFill>
                <a:latin typeface="Archivo Black"/>
                <a:ea typeface="Archivo Black"/>
                <a:cs typeface="Archivo Black"/>
                <a:sym typeface="Archivo Black"/>
              </a:rPr>
              <a:t>(пользователь - родитель)</a:t>
            </a:r>
          </a:p>
        </p:txBody>
      </p:sp>
      <p:sp>
        <p:nvSpPr>
          <p:cNvPr name="AutoShape 16" id="16"/>
          <p:cNvSpPr/>
          <p:nvPr/>
        </p:nvSpPr>
        <p:spPr>
          <a:xfrm>
            <a:off x="-700831" y="1009650"/>
            <a:ext cx="19970166" cy="0"/>
          </a:xfrm>
          <a:prstGeom prst="line">
            <a:avLst/>
          </a:prstGeom>
          <a:ln cap="flat" w="38100">
            <a:solidFill>
              <a:srgbClr val="FFDE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-1102620" y="9077970"/>
            <a:ext cx="19970166" cy="0"/>
          </a:xfrm>
          <a:prstGeom prst="line">
            <a:avLst/>
          </a:prstGeom>
          <a:ln cap="flat" w="38100">
            <a:solidFill>
              <a:srgbClr val="FFDE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V="true">
            <a:off x="12878822" y="-1826451"/>
            <a:ext cx="0" cy="19970166"/>
          </a:xfrm>
          <a:prstGeom prst="line">
            <a:avLst/>
          </a:prstGeom>
          <a:ln cap="flat" w="38100">
            <a:solidFill>
              <a:srgbClr val="FFDE59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181100" y="3515325"/>
            <a:ext cx="6119251" cy="1513608"/>
          </a:xfrm>
          <a:custGeom>
            <a:avLst/>
            <a:gdLst/>
            <a:ahLst/>
            <a:cxnLst/>
            <a:rect r="r" b="b" t="t" l="l"/>
            <a:pathLst>
              <a:path h="1513608" w="6119251">
                <a:moveTo>
                  <a:pt x="0" y="0"/>
                </a:moveTo>
                <a:lnTo>
                  <a:pt x="6119251" y="0"/>
                </a:lnTo>
                <a:lnTo>
                  <a:pt x="6119251" y="1513608"/>
                </a:lnTo>
                <a:lnTo>
                  <a:pt x="0" y="15136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866719" y="3515325"/>
            <a:ext cx="6119251" cy="1513608"/>
          </a:xfrm>
          <a:custGeom>
            <a:avLst/>
            <a:gdLst/>
            <a:ahLst/>
            <a:cxnLst/>
            <a:rect r="r" b="b" t="t" l="l"/>
            <a:pathLst>
              <a:path h="1513608" w="6119251">
                <a:moveTo>
                  <a:pt x="0" y="0"/>
                </a:moveTo>
                <a:lnTo>
                  <a:pt x="6119250" y="0"/>
                </a:lnTo>
                <a:lnTo>
                  <a:pt x="6119250" y="1513608"/>
                </a:lnTo>
                <a:lnTo>
                  <a:pt x="0" y="15136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81100" y="6582146"/>
            <a:ext cx="6119251" cy="1513608"/>
          </a:xfrm>
          <a:custGeom>
            <a:avLst/>
            <a:gdLst/>
            <a:ahLst/>
            <a:cxnLst/>
            <a:rect r="r" b="b" t="t" l="l"/>
            <a:pathLst>
              <a:path h="1513608" w="6119251">
                <a:moveTo>
                  <a:pt x="0" y="0"/>
                </a:moveTo>
                <a:lnTo>
                  <a:pt x="6119251" y="0"/>
                </a:lnTo>
                <a:lnTo>
                  <a:pt x="6119251" y="1513609"/>
                </a:lnTo>
                <a:lnTo>
                  <a:pt x="0" y="15136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866719" y="6582146"/>
            <a:ext cx="6119251" cy="1513608"/>
          </a:xfrm>
          <a:custGeom>
            <a:avLst/>
            <a:gdLst/>
            <a:ahLst/>
            <a:cxnLst/>
            <a:rect r="r" b="b" t="t" l="l"/>
            <a:pathLst>
              <a:path h="1513608" w="6119251">
                <a:moveTo>
                  <a:pt x="0" y="0"/>
                </a:moveTo>
                <a:lnTo>
                  <a:pt x="6119250" y="0"/>
                </a:lnTo>
                <a:lnTo>
                  <a:pt x="6119250" y="1513609"/>
                </a:lnTo>
                <a:lnTo>
                  <a:pt x="0" y="15136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4982823" y="2935586"/>
            <a:ext cx="748998" cy="664435"/>
            <a:chOff x="0" y="0"/>
            <a:chExt cx="998665" cy="8859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8601" cy="885952"/>
            </a:xfrm>
            <a:custGeom>
              <a:avLst/>
              <a:gdLst/>
              <a:ahLst/>
              <a:cxnLst/>
              <a:rect r="r" b="b" t="t" l="l"/>
              <a:pathLst>
                <a:path h="885952" w="998601">
                  <a:moveTo>
                    <a:pt x="0" y="0"/>
                  </a:moveTo>
                  <a:lnTo>
                    <a:pt x="998601" y="0"/>
                  </a:lnTo>
                  <a:lnTo>
                    <a:pt x="998601" y="885952"/>
                  </a:lnTo>
                  <a:lnTo>
                    <a:pt x="0" y="8859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6" b="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978184" y="2903534"/>
            <a:ext cx="731787" cy="611638"/>
            <a:chOff x="0" y="0"/>
            <a:chExt cx="975716" cy="81551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75741" cy="815467"/>
            </a:xfrm>
            <a:custGeom>
              <a:avLst/>
              <a:gdLst/>
              <a:ahLst/>
              <a:cxnLst/>
              <a:rect r="r" b="b" t="t" l="l"/>
              <a:pathLst>
                <a:path h="815467" w="975741">
                  <a:moveTo>
                    <a:pt x="0" y="0"/>
                  </a:moveTo>
                  <a:lnTo>
                    <a:pt x="975741" y="0"/>
                  </a:lnTo>
                  <a:lnTo>
                    <a:pt x="975741" y="815467"/>
                  </a:lnTo>
                  <a:lnTo>
                    <a:pt x="0" y="815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2" b="-6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842148" y="5992492"/>
            <a:ext cx="664531" cy="589502"/>
            <a:chOff x="0" y="0"/>
            <a:chExt cx="886041" cy="78600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86079" cy="786003"/>
            </a:xfrm>
            <a:custGeom>
              <a:avLst/>
              <a:gdLst/>
              <a:ahLst/>
              <a:cxnLst/>
              <a:rect r="r" b="b" t="t" l="l"/>
              <a:pathLst>
                <a:path h="786003" w="886079">
                  <a:moveTo>
                    <a:pt x="0" y="0"/>
                  </a:moveTo>
                  <a:lnTo>
                    <a:pt x="886079" y="0"/>
                  </a:lnTo>
                  <a:lnTo>
                    <a:pt x="886079" y="786003"/>
                  </a:lnTo>
                  <a:lnTo>
                    <a:pt x="0" y="7860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4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578648" y="6007103"/>
            <a:ext cx="765429" cy="629479"/>
            <a:chOff x="0" y="0"/>
            <a:chExt cx="1020572" cy="83930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0572" cy="839343"/>
            </a:xfrm>
            <a:custGeom>
              <a:avLst/>
              <a:gdLst/>
              <a:ahLst/>
              <a:cxnLst/>
              <a:rect r="r" b="b" t="t" l="l"/>
              <a:pathLst>
                <a:path h="839343" w="1020572">
                  <a:moveTo>
                    <a:pt x="0" y="0"/>
                  </a:moveTo>
                  <a:lnTo>
                    <a:pt x="1020572" y="0"/>
                  </a:lnTo>
                  <a:lnTo>
                    <a:pt x="1020572" y="839343"/>
                  </a:lnTo>
                  <a:lnTo>
                    <a:pt x="0" y="8393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6047" r="0" b="-6044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28700" y="800100"/>
            <a:ext cx="8581044" cy="1012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1"/>
              </a:lnSpc>
            </a:pPr>
            <a:r>
              <a:rPr lang="en-US" sz="515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ОСНОВНОЙ ФУНКЦИОНАЛ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82814" y="3888524"/>
            <a:ext cx="5575202" cy="8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Учёт каждой минуты как ценного актива.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109054" y="3856130"/>
            <a:ext cx="5634571" cy="938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Список задач с определённой суммой поощрения.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23435" y="6922941"/>
            <a:ext cx="5634571" cy="946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Обмен игровой валюты на реальные и цифровые бонусы.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071678" y="6922941"/>
            <a:ext cx="5634571" cy="938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Детальные отчёты о поведении ребёнка в приложении.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13380" y="6005417"/>
            <a:ext cx="8581044" cy="541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5E17EB"/>
                </a:solidFill>
                <a:latin typeface="Roboto Bold"/>
                <a:ea typeface="Roboto Bold"/>
                <a:cs typeface="Roboto Bold"/>
                <a:sym typeface="Roboto Bold"/>
              </a:rPr>
              <a:t>МАГАЗИН НАГРАД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351399" y="6005417"/>
            <a:ext cx="8581044" cy="541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5E17EB"/>
                </a:solidFill>
                <a:latin typeface="Roboto Bold"/>
                <a:ea typeface="Roboto Bold"/>
                <a:cs typeface="Roboto Bold"/>
                <a:sym typeface="Roboto Bold"/>
              </a:rPr>
              <a:t>АНАЛИТИКА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351399" y="2941415"/>
            <a:ext cx="8581044" cy="541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5E17EB"/>
                </a:solidFill>
                <a:latin typeface="Roboto Bold"/>
                <a:ea typeface="Roboto Bold"/>
                <a:cs typeface="Roboto Bold"/>
                <a:sym typeface="Roboto Bold"/>
              </a:rPr>
              <a:t>БИРЖА ЗАДАЧ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13380" y="2941415"/>
            <a:ext cx="3805838" cy="576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5E17EB"/>
                </a:solidFill>
                <a:latin typeface="Roboto Bold"/>
                <a:ea typeface="Roboto Bold"/>
                <a:cs typeface="Roboto Bold"/>
                <a:sym typeface="Roboto Bold"/>
              </a:rPr>
              <a:t>КОШЕЛЁК ВРЕМЕНИ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432075" y="2972448"/>
            <a:ext cx="5922245" cy="11572761"/>
          </a:xfrm>
          <a:custGeom>
            <a:avLst/>
            <a:gdLst/>
            <a:ahLst/>
            <a:cxnLst/>
            <a:rect r="r" b="b" t="t" l="l"/>
            <a:pathLst>
              <a:path h="11572761" w="5922245">
                <a:moveTo>
                  <a:pt x="0" y="0"/>
                </a:moveTo>
                <a:lnTo>
                  <a:pt x="5922245" y="0"/>
                </a:lnTo>
                <a:lnTo>
                  <a:pt x="5922245" y="11572760"/>
                </a:lnTo>
                <a:lnTo>
                  <a:pt x="0" y="115727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22255" y="491319"/>
            <a:ext cx="4842081" cy="1017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sz="5308" b="true">
                <a:solidFill>
                  <a:srgbClr val="5E17E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РЫНОК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1476" y="2370296"/>
            <a:ext cx="5634571" cy="630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Целевая аудитория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91476" y="3276390"/>
            <a:ext cx="5634571" cy="5407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Родители (25+)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Доход: средний+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Базовые навыки пользования цифровыми устройствами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Устали от борьбы за гаджеты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Хотят помогать развитию ребёнка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719749" y="2320290"/>
            <a:ext cx="5634571" cy="770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8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Объём рынка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719749" y="3199238"/>
            <a:ext cx="5634571" cy="2733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~28 млн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детей 7–14 лет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719749" y="4969107"/>
            <a:ext cx="5634571" cy="3448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~12 млн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семей с доходом выше среднего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59" r="0" b="-9259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593847" y="1095480"/>
            <a:ext cx="5245103" cy="1513608"/>
          </a:xfrm>
          <a:custGeom>
            <a:avLst/>
            <a:gdLst/>
            <a:ahLst/>
            <a:cxnLst/>
            <a:rect r="r" b="b" t="t" l="l"/>
            <a:pathLst>
              <a:path h="1513608" w="5245103">
                <a:moveTo>
                  <a:pt x="0" y="0"/>
                </a:moveTo>
                <a:lnTo>
                  <a:pt x="5245103" y="0"/>
                </a:lnTo>
                <a:lnTo>
                  <a:pt x="5245103" y="1513608"/>
                </a:lnTo>
                <a:lnTo>
                  <a:pt x="0" y="15136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843922" y="1095480"/>
            <a:ext cx="5118097" cy="1513608"/>
          </a:xfrm>
          <a:custGeom>
            <a:avLst/>
            <a:gdLst/>
            <a:ahLst/>
            <a:cxnLst/>
            <a:rect r="r" b="b" t="t" l="l"/>
            <a:pathLst>
              <a:path h="1513608" w="5118097">
                <a:moveTo>
                  <a:pt x="0" y="0"/>
                </a:moveTo>
                <a:lnTo>
                  <a:pt x="5118097" y="0"/>
                </a:lnTo>
                <a:lnTo>
                  <a:pt x="5118097" y="1513608"/>
                </a:lnTo>
                <a:lnTo>
                  <a:pt x="0" y="15136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263228" y="1200826"/>
            <a:ext cx="9761544" cy="1408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33"/>
              </a:lnSpc>
            </a:pPr>
            <a:r>
              <a:rPr lang="en-US" sz="7382" b="true">
                <a:solidFill>
                  <a:srgbClr val="5E17E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АНАЛИЗ АНАЛОГОВ</a:t>
            </a:r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779652" y="2901950"/>
          <a:ext cx="14728696" cy="6356350"/>
        </p:xfrm>
        <a:graphic>
          <a:graphicData uri="http://schemas.openxmlformats.org/drawingml/2006/table">
            <a:tbl>
              <a:tblPr/>
              <a:tblGrid>
                <a:gridCol w="2481682"/>
                <a:gridCol w="1916155"/>
                <a:gridCol w="2189430"/>
                <a:gridCol w="1919907"/>
                <a:gridCol w="2108761"/>
                <a:gridCol w="2057020"/>
                <a:gridCol w="2055742"/>
              </a:tblGrid>
              <a:tr h="6012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Функция \ Аналог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24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НаВырост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24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Googl</a:t>
                      </a: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 Family Link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24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Kidslox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24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GoHenry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24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Greenlight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24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OurHome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24E8"/>
                    </a:solidFill>
                  </a:tcPr>
                </a:tc>
              </a:tr>
              <a:tr h="9066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К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онтроль экранного времени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8A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00BF63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Да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00BF63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Да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00BF63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Да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313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Нет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313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Нет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313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Нет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</a:tr>
              <a:tr h="9066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Родительский к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онтроль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8A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00BF63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Да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00BF63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Да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00BF63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Да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751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Частично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751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Частично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313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Нет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</a:tr>
              <a:tr h="9066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Ф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инансовая мотивация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8A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00BF63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Да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313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Нет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313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Нет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00BF63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Да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00BF63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Да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313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Нет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</a:tr>
              <a:tr h="61082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Выполнение задач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8A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00BF63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Да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313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Нет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313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Нет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751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Частично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751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Частично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00BF63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Да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</a:tr>
              <a:tr h="61082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Геймификация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8A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00BF63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Да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313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Нет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313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Нет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751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Частично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751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Частично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00BF63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Да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</a:tr>
              <a:tr h="9066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Встроенная система наград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8A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00BF63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Да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313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Нет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313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Нет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313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Нет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313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Нет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00BF63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Да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</a:tr>
              <a:tr h="9066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Развитие навыков в базовых действиях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8A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00BF63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Да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313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Нет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313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Нет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313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Нет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313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Нет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313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Нет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8128845" y="2649426"/>
            <a:ext cx="9489919" cy="7149427"/>
          </a:xfrm>
          <a:custGeom>
            <a:avLst/>
            <a:gdLst/>
            <a:ahLst/>
            <a:cxnLst/>
            <a:rect r="r" b="b" t="t" l="l"/>
            <a:pathLst>
              <a:path h="7149427" w="9489919">
                <a:moveTo>
                  <a:pt x="0" y="0"/>
                </a:moveTo>
                <a:lnTo>
                  <a:pt x="9489919" y="0"/>
                </a:lnTo>
                <a:lnTo>
                  <a:pt x="9489919" y="7149427"/>
                </a:lnTo>
                <a:lnTo>
                  <a:pt x="0" y="71494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567899" y="3363811"/>
            <a:ext cx="8611810" cy="5888412"/>
            <a:chOff x="0" y="0"/>
            <a:chExt cx="11482413" cy="78512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482451" cy="7851267"/>
            </a:xfrm>
            <a:custGeom>
              <a:avLst/>
              <a:gdLst/>
              <a:ahLst/>
              <a:cxnLst/>
              <a:rect r="r" b="b" t="t" l="l"/>
              <a:pathLst>
                <a:path h="7851267" w="11482451">
                  <a:moveTo>
                    <a:pt x="0" y="0"/>
                  </a:moveTo>
                  <a:lnTo>
                    <a:pt x="11482451" y="0"/>
                  </a:lnTo>
                  <a:lnTo>
                    <a:pt x="11482451" y="7851267"/>
                  </a:lnTo>
                  <a:lnTo>
                    <a:pt x="0" y="78512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262558" y="406670"/>
            <a:ext cx="19332169" cy="2187426"/>
          </a:xfrm>
          <a:custGeom>
            <a:avLst/>
            <a:gdLst/>
            <a:ahLst/>
            <a:cxnLst/>
            <a:rect r="r" b="b" t="t" l="l"/>
            <a:pathLst>
              <a:path h="2187426" w="19332169">
                <a:moveTo>
                  <a:pt x="0" y="0"/>
                </a:moveTo>
                <a:lnTo>
                  <a:pt x="19332168" y="0"/>
                </a:lnTo>
                <a:lnTo>
                  <a:pt x="19332168" y="2187426"/>
                </a:lnTo>
                <a:lnTo>
                  <a:pt x="0" y="21874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868872" y="1576407"/>
            <a:ext cx="4668126" cy="1017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sz="5308" b="true">
                <a:solidFill>
                  <a:srgbClr val="FFDE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И РАЗВИТИЕ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68872" y="800100"/>
            <a:ext cx="4842081" cy="1012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1"/>
              </a:lnSpc>
            </a:pPr>
            <a:r>
              <a:rPr lang="en-US" sz="515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СТОИМОСТЬ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68872" y="3398949"/>
            <a:ext cx="5634571" cy="696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Подписка: </a:t>
            </a:r>
            <a:r>
              <a:rPr lang="en-US" sz="3500" b="true">
                <a:solidFill>
                  <a:srgbClr val="5E17EB"/>
                </a:solidFill>
                <a:latin typeface="Poppins Bold"/>
                <a:ea typeface="Poppins Bold"/>
                <a:cs typeface="Poppins Bold"/>
                <a:sym typeface="Poppins Bold"/>
              </a:rPr>
              <a:t>299 ₽/мес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68872" y="4673889"/>
            <a:ext cx="5634571" cy="249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Прогноз: </a:t>
            </a:r>
            <a:r>
              <a:rPr lang="en-US" sz="3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  <a:r>
              <a:rPr lang="en-US" sz="3500" b="true">
                <a:solidFill>
                  <a:srgbClr val="5E17EB"/>
                </a:solidFill>
                <a:latin typeface="Poppins Bold"/>
                <a:ea typeface="Poppins Bold"/>
                <a:cs typeface="Poppins Bold"/>
                <a:sym typeface="Poppins Bold"/>
              </a:rPr>
              <a:t>00 тыс.</a:t>
            </a: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активных пользователей в приложении семей за 3 года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68872" y="7185317"/>
            <a:ext cx="4407637" cy="125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Выручка: </a:t>
            </a:r>
            <a:r>
              <a:rPr lang="en-US" sz="3500" b="true">
                <a:solidFill>
                  <a:srgbClr val="5E17EB"/>
                </a:solidFill>
                <a:latin typeface="Poppins Bold"/>
                <a:ea typeface="Poppins Bold"/>
                <a:cs typeface="Poppins Bold"/>
                <a:sym typeface="Poppins Bold"/>
              </a:rPr>
              <a:t>50 млн ₽</a:t>
            </a:r>
            <a:r>
              <a:rPr lang="en-US" sz="3500" b="true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к 2028 году 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051030" y="3622358"/>
            <a:ext cx="1431608" cy="401955"/>
            <a:chOff x="0" y="0"/>
            <a:chExt cx="1908810" cy="5359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50800" y="49479"/>
              <a:ext cx="1806264" cy="436883"/>
            </a:xfrm>
            <a:custGeom>
              <a:avLst/>
              <a:gdLst/>
              <a:ahLst/>
              <a:cxnLst/>
              <a:rect r="r" b="b" t="t" l="l"/>
              <a:pathLst>
                <a:path h="436883" w="1806264">
                  <a:moveTo>
                    <a:pt x="165100" y="36881"/>
                  </a:moveTo>
                  <a:cubicBezTo>
                    <a:pt x="363220" y="22911"/>
                    <a:pt x="441960" y="43231"/>
                    <a:pt x="543560" y="48311"/>
                  </a:cubicBezTo>
                  <a:cubicBezTo>
                    <a:pt x="699770" y="55931"/>
                    <a:pt x="957580" y="59741"/>
                    <a:pt x="1137920" y="48311"/>
                  </a:cubicBezTo>
                  <a:cubicBezTo>
                    <a:pt x="1289050" y="40691"/>
                    <a:pt x="1456690" y="2591"/>
                    <a:pt x="1553210" y="1321"/>
                  </a:cubicBezTo>
                  <a:cubicBezTo>
                    <a:pt x="1604010" y="51"/>
                    <a:pt x="1639570" y="1321"/>
                    <a:pt x="1671320" y="10211"/>
                  </a:cubicBezTo>
                  <a:cubicBezTo>
                    <a:pt x="1694180" y="16561"/>
                    <a:pt x="1710690" y="26721"/>
                    <a:pt x="1727200" y="39421"/>
                  </a:cubicBezTo>
                  <a:cubicBezTo>
                    <a:pt x="1744980" y="52121"/>
                    <a:pt x="1760220" y="68631"/>
                    <a:pt x="1771650" y="85141"/>
                  </a:cubicBezTo>
                  <a:cubicBezTo>
                    <a:pt x="1784350" y="102921"/>
                    <a:pt x="1793240" y="123241"/>
                    <a:pt x="1799590" y="143561"/>
                  </a:cubicBezTo>
                  <a:cubicBezTo>
                    <a:pt x="1804670" y="163881"/>
                    <a:pt x="1807210" y="185471"/>
                    <a:pt x="1805940" y="207061"/>
                  </a:cubicBezTo>
                  <a:cubicBezTo>
                    <a:pt x="1804670" y="227381"/>
                    <a:pt x="1800860" y="248971"/>
                    <a:pt x="1793240" y="269291"/>
                  </a:cubicBezTo>
                  <a:cubicBezTo>
                    <a:pt x="1785620" y="288341"/>
                    <a:pt x="1774190" y="307391"/>
                    <a:pt x="1760220" y="323901"/>
                  </a:cubicBezTo>
                  <a:cubicBezTo>
                    <a:pt x="1747520" y="340411"/>
                    <a:pt x="1729740" y="354381"/>
                    <a:pt x="1711960" y="365811"/>
                  </a:cubicBezTo>
                  <a:cubicBezTo>
                    <a:pt x="1694180" y="375971"/>
                    <a:pt x="1673860" y="384861"/>
                    <a:pt x="1653540" y="388671"/>
                  </a:cubicBezTo>
                  <a:cubicBezTo>
                    <a:pt x="1633220" y="393751"/>
                    <a:pt x="1610360" y="395021"/>
                    <a:pt x="1590040" y="392481"/>
                  </a:cubicBezTo>
                  <a:cubicBezTo>
                    <a:pt x="1568450" y="391211"/>
                    <a:pt x="1546860" y="384861"/>
                    <a:pt x="1527810" y="375971"/>
                  </a:cubicBezTo>
                  <a:cubicBezTo>
                    <a:pt x="1508760" y="367081"/>
                    <a:pt x="1489710" y="355651"/>
                    <a:pt x="1474470" y="340411"/>
                  </a:cubicBezTo>
                  <a:cubicBezTo>
                    <a:pt x="1459230" y="326441"/>
                    <a:pt x="1446530" y="308661"/>
                    <a:pt x="1436370" y="290881"/>
                  </a:cubicBezTo>
                  <a:cubicBezTo>
                    <a:pt x="1426210" y="271831"/>
                    <a:pt x="1418590" y="250241"/>
                    <a:pt x="1414780" y="229921"/>
                  </a:cubicBezTo>
                  <a:cubicBezTo>
                    <a:pt x="1412240" y="209601"/>
                    <a:pt x="1412240" y="186741"/>
                    <a:pt x="1414780" y="166421"/>
                  </a:cubicBezTo>
                  <a:cubicBezTo>
                    <a:pt x="1418590" y="146101"/>
                    <a:pt x="1424940" y="124511"/>
                    <a:pt x="1435100" y="105461"/>
                  </a:cubicBezTo>
                  <a:cubicBezTo>
                    <a:pt x="1445260" y="87681"/>
                    <a:pt x="1457960" y="69901"/>
                    <a:pt x="1473200" y="54661"/>
                  </a:cubicBezTo>
                  <a:cubicBezTo>
                    <a:pt x="1488440" y="40691"/>
                    <a:pt x="1506220" y="27991"/>
                    <a:pt x="1525270" y="19101"/>
                  </a:cubicBezTo>
                  <a:cubicBezTo>
                    <a:pt x="1544320" y="10211"/>
                    <a:pt x="1565910" y="3861"/>
                    <a:pt x="1587500" y="1321"/>
                  </a:cubicBezTo>
                  <a:cubicBezTo>
                    <a:pt x="1607820" y="-1219"/>
                    <a:pt x="1630680" y="51"/>
                    <a:pt x="1651000" y="3861"/>
                  </a:cubicBezTo>
                  <a:cubicBezTo>
                    <a:pt x="1671320" y="8941"/>
                    <a:pt x="1691640" y="16561"/>
                    <a:pt x="1710690" y="27991"/>
                  </a:cubicBezTo>
                  <a:cubicBezTo>
                    <a:pt x="1728470" y="38151"/>
                    <a:pt x="1744980" y="53391"/>
                    <a:pt x="1758950" y="68631"/>
                  </a:cubicBezTo>
                  <a:cubicBezTo>
                    <a:pt x="1772920" y="85141"/>
                    <a:pt x="1784350" y="104191"/>
                    <a:pt x="1791970" y="123241"/>
                  </a:cubicBezTo>
                  <a:cubicBezTo>
                    <a:pt x="1799590" y="142291"/>
                    <a:pt x="1804670" y="163881"/>
                    <a:pt x="1805940" y="185471"/>
                  </a:cubicBezTo>
                  <a:cubicBezTo>
                    <a:pt x="1807210" y="205791"/>
                    <a:pt x="1804670" y="228651"/>
                    <a:pt x="1799590" y="248971"/>
                  </a:cubicBezTo>
                  <a:cubicBezTo>
                    <a:pt x="1794510" y="269291"/>
                    <a:pt x="1784350" y="289611"/>
                    <a:pt x="1772920" y="306121"/>
                  </a:cubicBezTo>
                  <a:cubicBezTo>
                    <a:pt x="1761490" y="323901"/>
                    <a:pt x="1746250" y="340411"/>
                    <a:pt x="1729740" y="353111"/>
                  </a:cubicBezTo>
                  <a:cubicBezTo>
                    <a:pt x="1713230" y="365811"/>
                    <a:pt x="1692910" y="375971"/>
                    <a:pt x="1673860" y="383591"/>
                  </a:cubicBezTo>
                  <a:cubicBezTo>
                    <a:pt x="1653540" y="389941"/>
                    <a:pt x="1642110" y="389941"/>
                    <a:pt x="1610360" y="393751"/>
                  </a:cubicBezTo>
                  <a:cubicBezTo>
                    <a:pt x="1526540" y="405181"/>
                    <a:pt x="1305560" y="429311"/>
                    <a:pt x="1137920" y="434391"/>
                  </a:cubicBezTo>
                  <a:cubicBezTo>
                    <a:pt x="946150" y="440741"/>
                    <a:pt x="670560" y="434391"/>
                    <a:pt x="523240" y="421691"/>
                  </a:cubicBezTo>
                  <a:cubicBezTo>
                    <a:pt x="439420" y="414071"/>
                    <a:pt x="392430" y="392481"/>
                    <a:pt x="328930" y="389941"/>
                  </a:cubicBezTo>
                  <a:cubicBezTo>
                    <a:pt x="270510" y="386131"/>
                    <a:pt x="203200" y="407721"/>
                    <a:pt x="157480" y="400101"/>
                  </a:cubicBezTo>
                  <a:cubicBezTo>
                    <a:pt x="124460" y="395021"/>
                    <a:pt x="96520" y="381051"/>
                    <a:pt x="76200" y="368351"/>
                  </a:cubicBezTo>
                  <a:cubicBezTo>
                    <a:pt x="60960" y="358191"/>
                    <a:pt x="53340" y="351841"/>
                    <a:pt x="43180" y="337871"/>
                  </a:cubicBezTo>
                  <a:cubicBezTo>
                    <a:pt x="29210" y="318821"/>
                    <a:pt x="11430" y="281991"/>
                    <a:pt x="3810" y="259131"/>
                  </a:cubicBezTo>
                  <a:cubicBezTo>
                    <a:pt x="0" y="242621"/>
                    <a:pt x="0" y="229921"/>
                    <a:pt x="0" y="215951"/>
                  </a:cubicBezTo>
                  <a:cubicBezTo>
                    <a:pt x="0" y="200711"/>
                    <a:pt x="1270" y="188011"/>
                    <a:pt x="6350" y="171501"/>
                  </a:cubicBezTo>
                  <a:cubicBezTo>
                    <a:pt x="13970" y="148641"/>
                    <a:pt x="29210" y="115621"/>
                    <a:pt x="48260" y="95301"/>
                  </a:cubicBezTo>
                  <a:cubicBezTo>
                    <a:pt x="67310" y="73711"/>
                    <a:pt x="100330" y="55931"/>
                    <a:pt x="121920" y="47041"/>
                  </a:cubicBezTo>
                  <a:cubicBezTo>
                    <a:pt x="137160" y="40691"/>
                    <a:pt x="165100" y="36881"/>
                    <a:pt x="165100" y="36881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2573000" y="3805238"/>
            <a:ext cx="340995" cy="340995"/>
            <a:chOff x="0" y="0"/>
            <a:chExt cx="454660" cy="4546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50640" y="48157"/>
              <a:ext cx="348140" cy="354989"/>
            </a:xfrm>
            <a:custGeom>
              <a:avLst/>
              <a:gdLst/>
              <a:ahLst/>
              <a:cxnLst/>
              <a:rect r="r" b="b" t="t" l="l"/>
              <a:pathLst>
                <a:path h="354989" w="348140">
                  <a:moveTo>
                    <a:pt x="348140" y="124563"/>
                  </a:moveTo>
                  <a:cubicBezTo>
                    <a:pt x="348140" y="236323"/>
                    <a:pt x="335440" y="265533"/>
                    <a:pt x="317660" y="287123"/>
                  </a:cubicBezTo>
                  <a:cubicBezTo>
                    <a:pt x="301150" y="308713"/>
                    <a:pt x="275750" y="327763"/>
                    <a:pt x="251620" y="339193"/>
                  </a:cubicBezTo>
                  <a:cubicBezTo>
                    <a:pt x="226220" y="350623"/>
                    <a:pt x="194470" y="356973"/>
                    <a:pt x="167800" y="354433"/>
                  </a:cubicBezTo>
                  <a:cubicBezTo>
                    <a:pt x="139860" y="353163"/>
                    <a:pt x="109380" y="344273"/>
                    <a:pt x="86520" y="329033"/>
                  </a:cubicBezTo>
                  <a:cubicBezTo>
                    <a:pt x="62390" y="315063"/>
                    <a:pt x="40800" y="293473"/>
                    <a:pt x="25560" y="269343"/>
                  </a:cubicBezTo>
                  <a:cubicBezTo>
                    <a:pt x="11590" y="246483"/>
                    <a:pt x="2700" y="216003"/>
                    <a:pt x="160" y="188063"/>
                  </a:cubicBezTo>
                  <a:cubicBezTo>
                    <a:pt x="-1110" y="160123"/>
                    <a:pt x="5240" y="129643"/>
                    <a:pt x="16670" y="104243"/>
                  </a:cubicBezTo>
                  <a:cubicBezTo>
                    <a:pt x="26830" y="78843"/>
                    <a:pt x="47150" y="54713"/>
                    <a:pt x="68740" y="36933"/>
                  </a:cubicBezTo>
                  <a:cubicBezTo>
                    <a:pt x="90330" y="20423"/>
                    <a:pt x="119540" y="7723"/>
                    <a:pt x="146210" y="2643"/>
                  </a:cubicBezTo>
                  <a:cubicBezTo>
                    <a:pt x="172880" y="-2437"/>
                    <a:pt x="204630" y="103"/>
                    <a:pt x="231300" y="7723"/>
                  </a:cubicBezTo>
                  <a:cubicBezTo>
                    <a:pt x="257970" y="15343"/>
                    <a:pt x="303690" y="52173"/>
                    <a:pt x="303690" y="52173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2372975" y="3805238"/>
            <a:ext cx="340995" cy="340995"/>
            <a:chOff x="0" y="0"/>
            <a:chExt cx="454660" cy="4546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50609" y="48157"/>
              <a:ext cx="346900" cy="354989"/>
            </a:xfrm>
            <a:custGeom>
              <a:avLst/>
              <a:gdLst/>
              <a:ahLst/>
              <a:cxnLst/>
              <a:rect r="r" b="b" t="t" l="l"/>
              <a:pathLst>
                <a:path h="354989" w="346900">
                  <a:moveTo>
                    <a:pt x="346901" y="124563"/>
                  </a:moveTo>
                  <a:cubicBezTo>
                    <a:pt x="346901" y="236323"/>
                    <a:pt x="334201" y="265533"/>
                    <a:pt x="317691" y="287123"/>
                  </a:cubicBezTo>
                  <a:cubicBezTo>
                    <a:pt x="299911" y="308713"/>
                    <a:pt x="275781" y="327763"/>
                    <a:pt x="250381" y="339193"/>
                  </a:cubicBezTo>
                  <a:cubicBezTo>
                    <a:pt x="224981" y="350623"/>
                    <a:pt x="194501" y="356973"/>
                    <a:pt x="166561" y="354433"/>
                  </a:cubicBezTo>
                  <a:cubicBezTo>
                    <a:pt x="138621" y="353163"/>
                    <a:pt x="109411" y="344273"/>
                    <a:pt x="85281" y="329033"/>
                  </a:cubicBezTo>
                  <a:cubicBezTo>
                    <a:pt x="62421" y="315063"/>
                    <a:pt x="39561" y="293473"/>
                    <a:pt x="25591" y="269343"/>
                  </a:cubicBezTo>
                  <a:cubicBezTo>
                    <a:pt x="11621" y="246483"/>
                    <a:pt x="1461" y="216003"/>
                    <a:pt x="191" y="188063"/>
                  </a:cubicBezTo>
                  <a:cubicBezTo>
                    <a:pt x="-1079" y="160123"/>
                    <a:pt x="4001" y="129643"/>
                    <a:pt x="15431" y="104243"/>
                  </a:cubicBezTo>
                  <a:cubicBezTo>
                    <a:pt x="26861" y="78843"/>
                    <a:pt x="45911" y="54713"/>
                    <a:pt x="67501" y="36933"/>
                  </a:cubicBezTo>
                  <a:cubicBezTo>
                    <a:pt x="89091" y="20423"/>
                    <a:pt x="118301" y="7723"/>
                    <a:pt x="144971" y="2643"/>
                  </a:cubicBezTo>
                  <a:cubicBezTo>
                    <a:pt x="172911" y="-2437"/>
                    <a:pt x="204661" y="103"/>
                    <a:pt x="230061" y="7723"/>
                  </a:cubicBezTo>
                  <a:cubicBezTo>
                    <a:pt x="256731" y="15343"/>
                    <a:pt x="303721" y="52173"/>
                    <a:pt x="303721" y="52173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1954828" y="3705225"/>
            <a:ext cx="340995" cy="340995"/>
            <a:chOff x="0" y="0"/>
            <a:chExt cx="454660" cy="4546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50609" y="47829"/>
              <a:ext cx="346981" cy="354952"/>
            </a:xfrm>
            <a:custGeom>
              <a:avLst/>
              <a:gdLst/>
              <a:ahLst/>
              <a:cxnLst/>
              <a:rect r="r" b="b" t="t" l="l"/>
              <a:pathLst>
                <a:path h="354952" w="346981">
                  <a:moveTo>
                    <a:pt x="346901" y="124891"/>
                  </a:moveTo>
                  <a:cubicBezTo>
                    <a:pt x="348171" y="236651"/>
                    <a:pt x="334201" y="265861"/>
                    <a:pt x="317691" y="287451"/>
                  </a:cubicBezTo>
                  <a:cubicBezTo>
                    <a:pt x="301181" y="309041"/>
                    <a:pt x="275781" y="328091"/>
                    <a:pt x="250381" y="339521"/>
                  </a:cubicBezTo>
                  <a:cubicBezTo>
                    <a:pt x="224981" y="350951"/>
                    <a:pt x="194501" y="356031"/>
                    <a:pt x="166561" y="354761"/>
                  </a:cubicBezTo>
                  <a:cubicBezTo>
                    <a:pt x="139891" y="353491"/>
                    <a:pt x="109411" y="343331"/>
                    <a:pt x="85281" y="329361"/>
                  </a:cubicBezTo>
                  <a:cubicBezTo>
                    <a:pt x="62421" y="315391"/>
                    <a:pt x="39561" y="292531"/>
                    <a:pt x="25591" y="269671"/>
                  </a:cubicBezTo>
                  <a:cubicBezTo>
                    <a:pt x="11621" y="245541"/>
                    <a:pt x="1461" y="215061"/>
                    <a:pt x="191" y="188391"/>
                  </a:cubicBezTo>
                  <a:cubicBezTo>
                    <a:pt x="-1079" y="160451"/>
                    <a:pt x="4001" y="129971"/>
                    <a:pt x="15431" y="104571"/>
                  </a:cubicBezTo>
                  <a:cubicBezTo>
                    <a:pt x="26861" y="79171"/>
                    <a:pt x="45911" y="55041"/>
                    <a:pt x="67501" y="37261"/>
                  </a:cubicBezTo>
                  <a:cubicBezTo>
                    <a:pt x="90361" y="20751"/>
                    <a:pt x="118301" y="8051"/>
                    <a:pt x="146241" y="2971"/>
                  </a:cubicBezTo>
                  <a:cubicBezTo>
                    <a:pt x="172911" y="-2109"/>
                    <a:pt x="204661" y="-839"/>
                    <a:pt x="230061" y="8051"/>
                  </a:cubicBezTo>
                  <a:cubicBezTo>
                    <a:pt x="256731" y="15671"/>
                    <a:pt x="303721" y="51231"/>
                    <a:pt x="303721" y="51231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2021502" y="3621405"/>
            <a:ext cx="340995" cy="340995"/>
            <a:chOff x="0" y="0"/>
            <a:chExt cx="454660" cy="4546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50609" y="48157"/>
              <a:ext cx="348171" cy="354989"/>
            </a:xfrm>
            <a:custGeom>
              <a:avLst/>
              <a:gdLst/>
              <a:ahLst/>
              <a:cxnLst/>
              <a:rect r="r" b="b" t="t" l="l"/>
              <a:pathLst>
                <a:path h="354989" w="348171">
                  <a:moveTo>
                    <a:pt x="348171" y="124563"/>
                  </a:moveTo>
                  <a:cubicBezTo>
                    <a:pt x="348171" y="236323"/>
                    <a:pt x="335471" y="265533"/>
                    <a:pt x="317691" y="287123"/>
                  </a:cubicBezTo>
                  <a:cubicBezTo>
                    <a:pt x="301181" y="308713"/>
                    <a:pt x="275781" y="327763"/>
                    <a:pt x="250381" y="339193"/>
                  </a:cubicBezTo>
                  <a:cubicBezTo>
                    <a:pt x="226251" y="350623"/>
                    <a:pt x="194501" y="356973"/>
                    <a:pt x="167831" y="354433"/>
                  </a:cubicBezTo>
                  <a:cubicBezTo>
                    <a:pt x="139891" y="353163"/>
                    <a:pt x="109411" y="344273"/>
                    <a:pt x="86551" y="329033"/>
                  </a:cubicBezTo>
                  <a:cubicBezTo>
                    <a:pt x="62421" y="315063"/>
                    <a:pt x="39561" y="293473"/>
                    <a:pt x="25591" y="269343"/>
                  </a:cubicBezTo>
                  <a:cubicBezTo>
                    <a:pt x="11621" y="245213"/>
                    <a:pt x="2731" y="216003"/>
                    <a:pt x="191" y="188063"/>
                  </a:cubicBezTo>
                  <a:cubicBezTo>
                    <a:pt x="-1079" y="160123"/>
                    <a:pt x="4001" y="129643"/>
                    <a:pt x="15431" y="104243"/>
                  </a:cubicBezTo>
                  <a:cubicBezTo>
                    <a:pt x="26861" y="78843"/>
                    <a:pt x="47181" y="54713"/>
                    <a:pt x="68771" y="36933"/>
                  </a:cubicBezTo>
                  <a:cubicBezTo>
                    <a:pt x="90361" y="20423"/>
                    <a:pt x="118301" y="7723"/>
                    <a:pt x="146241" y="2643"/>
                  </a:cubicBezTo>
                  <a:cubicBezTo>
                    <a:pt x="172911" y="-2437"/>
                    <a:pt x="204661" y="103"/>
                    <a:pt x="231331" y="7723"/>
                  </a:cubicBezTo>
                  <a:cubicBezTo>
                    <a:pt x="256731" y="15343"/>
                    <a:pt x="303721" y="52173"/>
                    <a:pt x="303721" y="52173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2005310" y="3604260"/>
            <a:ext cx="340995" cy="340995"/>
            <a:chOff x="0" y="0"/>
            <a:chExt cx="454660" cy="4546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50244" y="48157"/>
              <a:ext cx="347266" cy="355893"/>
            </a:xfrm>
            <a:custGeom>
              <a:avLst/>
              <a:gdLst/>
              <a:ahLst/>
              <a:cxnLst/>
              <a:rect r="r" b="b" t="t" l="l"/>
              <a:pathLst>
                <a:path h="355893" w="347266">
                  <a:moveTo>
                    <a:pt x="347266" y="124563"/>
                  </a:moveTo>
                  <a:cubicBezTo>
                    <a:pt x="347266" y="237593"/>
                    <a:pt x="334566" y="265533"/>
                    <a:pt x="318056" y="287123"/>
                  </a:cubicBezTo>
                  <a:cubicBezTo>
                    <a:pt x="300276" y="308713"/>
                    <a:pt x="276146" y="329033"/>
                    <a:pt x="250746" y="340463"/>
                  </a:cubicBezTo>
                  <a:cubicBezTo>
                    <a:pt x="225346" y="351893"/>
                    <a:pt x="194866" y="356973"/>
                    <a:pt x="166926" y="355703"/>
                  </a:cubicBezTo>
                  <a:cubicBezTo>
                    <a:pt x="138986" y="353163"/>
                    <a:pt x="109776" y="344273"/>
                    <a:pt x="85646" y="330303"/>
                  </a:cubicBezTo>
                  <a:cubicBezTo>
                    <a:pt x="61516" y="316333"/>
                    <a:pt x="39926" y="293473"/>
                    <a:pt x="25956" y="269343"/>
                  </a:cubicBezTo>
                  <a:cubicBezTo>
                    <a:pt x="10716" y="246483"/>
                    <a:pt x="1826" y="216003"/>
                    <a:pt x="556" y="188063"/>
                  </a:cubicBezTo>
                  <a:cubicBezTo>
                    <a:pt x="-1984" y="161393"/>
                    <a:pt x="4366" y="129643"/>
                    <a:pt x="15796" y="105513"/>
                  </a:cubicBezTo>
                  <a:cubicBezTo>
                    <a:pt x="27226" y="80113"/>
                    <a:pt x="46276" y="54713"/>
                    <a:pt x="67866" y="38203"/>
                  </a:cubicBezTo>
                  <a:cubicBezTo>
                    <a:pt x="89456" y="20423"/>
                    <a:pt x="118666" y="7723"/>
                    <a:pt x="145336" y="2643"/>
                  </a:cubicBezTo>
                  <a:cubicBezTo>
                    <a:pt x="173276" y="-2437"/>
                    <a:pt x="203756" y="103"/>
                    <a:pt x="230426" y="7723"/>
                  </a:cubicBezTo>
                  <a:cubicBezTo>
                    <a:pt x="257096" y="16613"/>
                    <a:pt x="302816" y="52173"/>
                    <a:pt x="302816" y="52173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0477500" y="3446145"/>
            <a:ext cx="5012055" cy="741045"/>
            <a:chOff x="0" y="0"/>
            <a:chExt cx="6682740" cy="9880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50800" y="50800"/>
              <a:ext cx="6579870" cy="886460"/>
            </a:xfrm>
            <a:custGeom>
              <a:avLst/>
              <a:gdLst/>
              <a:ahLst/>
              <a:cxnLst/>
              <a:rect r="r" b="b" t="t" l="l"/>
              <a:pathLst>
                <a:path h="886460" w="6579870">
                  <a:moveTo>
                    <a:pt x="0" y="336550"/>
                  </a:moveTo>
                  <a:cubicBezTo>
                    <a:pt x="2540" y="312420"/>
                    <a:pt x="3810" y="300990"/>
                    <a:pt x="3810" y="300990"/>
                  </a:cubicBezTo>
                  <a:cubicBezTo>
                    <a:pt x="3810" y="299720"/>
                    <a:pt x="7620" y="288290"/>
                    <a:pt x="10160" y="283210"/>
                  </a:cubicBezTo>
                  <a:cubicBezTo>
                    <a:pt x="12700" y="276860"/>
                    <a:pt x="16510" y="265430"/>
                    <a:pt x="16510" y="265430"/>
                  </a:cubicBezTo>
                  <a:cubicBezTo>
                    <a:pt x="16510" y="265430"/>
                    <a:pt x="24130" y="255270"/>
                    <a:pt x="26670" y="250190"/>
                  </a:cubicBezTo>
                  <a:cubicBezTo>
                    <a:pt x="30480" y="245110"/>
                    <a:pt x="36830" y="234950"/>
                    <a:pt x="36830" y="234950"/>
                  </a:cubicBezTo>
                  <a:cubicBezTo>
                    <a:pt x="38100" y="234950"/>
                    <a:pt x="46990" y="227330"/>
                    <a:pt x="50800" y="222250"/>
                  </a:cubicBezTo>
                  <a:cubicBezTo>
                    <a:pt x="55880" y="218440"/>
                    <a:pt x="64770" y="210820"/>
                    <a:pt x="64770" y="210820"/>
                  </a:cubicBezTo>
                  <a:cubicBezTo>
                    <a:pt x="64770" y="210820"/>
                    <a:pt x="76200" y="204470"/>
                    <a:pt x="81280" y="201930"/>
                  </a:cubicBezTo>
                  <a:cubicBezTo>
                    <a:pt x="86360" y="199390"/>
                    <a:pt x="97790" y="193040"/>
                    <a:pt x="97790" y="193040"/>
                  </a:cubicBezTo>
                  <a:cubicBezTo>
                    <a:pt x="97790" y="193040"/>
                    <a:pt x="109220" y="190500"/>
                    <a:pt x="115570" y="187960"/>
                  </a:cubicBezTo>
                  <a:cubicBezTo>
                    <a:pt x="121920" y="186690"/>
                    <a:pt x="133350" y="184150"/>
                    <a:pt x="133350" y="184150"/>
                  </a:cubicBezTo>
                  <a:cubicBezTo>
                    <a:pt x="133350" y="184150"/>
                    <a:pt x="146050" y="184150"/>
                    <a:pt x="151130" y="184150"/>
                  </a:cubicBezTo>
                  <a:cubicBezTo>
                    <a:pt x="157480" y="184150"/>
                    <a:pt x="170180" y="182880"/>
                    <a:pt x="170180" y="184150"/>
                  </a:cubicBezTo>
                  <a:cubicBezTo>
                    <a:pt x="171450" y="182880"/>
                    <a:pt x="290830" y="148590"/>
                    <a:pt x="363220" y="134620"/>
                  </a:cubicBezTo>
                  <a:cubicBezTo>
                    <a:pt x="454660" y="119380"/>
                    <a:pt x="585470" y="109220"/>
                    <a:pt x="678180" y="102870"/>
                  </a:cubicBezTo>
                  <a:cubicBezTo>
                    <a:pt x="749300" y="96520"/>
                    <a:pt x="802640" y="92710"/>
                    <a:pt x="869950" y="92710"/>
                  </a:cubicBezTo>
                  <a:cubicBezTo>
                    <a:pt x="943610" y="91440"/>
                    <a:pt x="1024890" y="95250"/>
                    <a:pt x="1102360" y="101600"/>
                  </a:cubicBezTo>
                  <a:cubicBezTo>
                    <a:pt x="1179830" y="107950"/>
                    <a:pt x="1258570" y="123190"/>
                    <a:pt x="1337310" y="133350"/>
                  </a:cubicBezTo>
                  <a:cubicBezTo>
                    <a:pt x="1417320" y="142240"/>
                    <a:pt x="1515110" y="149860"/>
                    <a:pt x="1579880" y="158750"/>
                  </a:cubicBezTo>
                  <a:cubicBezTo>
                    <a:pt x="1624330" y="165100"/>
                    <a:pt x="1666240" y="176530"/>
                    <a:pt x="1692910" y="176530"/>
                  </a:cubicBezTo>
                  <a:cubicBezTo>
                    <a:pt x="1706880" y="177800"/>
                    <a:pt x="1709420" y="173990"/>
                    <a:pt x="1727200" y="173990"/>
                  </a:cubicBezTo>
                  <a:cubicBezTo>
                    <a:pt x="1774190" y="171450"/>
                    <a:pt x="1910080" y="172720"/>
                    <a:pt x="1995170" y="172720"/>
                  </a:cubicBezTo>
                  <a:cubicBezTo>
                    <a:pt x="2070100" y="172720"/>
                    <a:pt x="2137410" y="168910"/>
                    <a:pt x="2209800" y="171450"/>
                  </a:cubicBezTo>
                  <a:cubicBezTo>
                    <a:pt x="2284730" y="172720"/>
                    <a:pt x="2390140" y="177800"/>
                    <a:pt x="2434590" y="184150"/>
                  </a:cubicBezTo>
                  <a:cubicBezTo>
                    <a:pt x="2454910" y="186690"/>
                    <a:pt x="2465070" y="189230"/>
                    <a:pt x="2476500" y="191770"/>
                  </a:cubicBezTo>
                  <a:cubicBezTo>
                    <a:pt x="2482850" y="194310"/>
                    <a:pt x="2487930" y="196850"/>
                    <a:pt x="2494280" y="199390"/>
                  </a:cubicBezTo>
                  <a:cubicBezTo>
                    <a:pt x="2499360" y="200660"/>
                    <a:pt x="2506980" y="201930"/>
                    <a:pt x="2512060" y="204470"/>
                  </a:cubicBezTo>
                  <a:cubicBezTo>
                    <a:pt x="2515870" y="205740"/>
                    <a:pt x="2517140" y="208280"/>
                    <a:pt x="2519680" y="209550"/>
                  </a:cubicBezTo>
                  <a:cubicBezTo>
                    <a:pt x="2522220" y="210820"/>
                    <a:pt x="2526030" y="212090"/>
                    <a:pt x="2528570" y="213360"/>
                  </a:cubicBezTo>
                  <a:cubicBezTo>
                    <a:pt x="2533650" y="215900"/>
                    <a:pt x="2538730" y="222250"/>
                    <a:pt x="2543810" y="226060"/>
                  </a:cubicBezTo>
                  <a:cubicBezTo>
                    <a:pt x="2548890" y="229870"/>
                    <a:pt x="2555240" y="233680"/>
                    <a:pt x="2559050" y="236220"/>
                  </a:cubicBezTo>
                  <a:cubicBezTo>
                    <a:pt x="2561590" y="238760"/>
                    <a:pt x="2562860" y="242570"/>
                    <a:pt x="2565400" y="243840"/>
                  </a:cubicBezTo>
                  <a:cubicBezTo>
                    <a:pt x="2566670" y="246380"/>
                    <a:pt x="2569210" y="247650"/>
                    <a:pt x="2571750" y="250190"/>
                  </a:cubicBezTo>
                  <a:cubicBezTo>
                    <a:pt x="2575560" y="254000"/>
                    <a:pt x="2578100" y="261620"/>
                    <a:pt x="2581910" y="266700"/>
                  </a:cubicBezTo>
                  <a:cubicBezTo>
                    <a:pt x="2585720" y="271780"/>
                    <a:pt x="2590800" y="278130"/>
                    <a:pt x="2593340" y="281940"/>
                  </a:cubicBezTo>
                  <a:cubicBezTo>
                    <a:pt x="2594610" y="285750"/>
                    <a:pt x="2594610" y="288290"/>
                    <a:pt x="2595880" y="290830"/>
                  </a:cubicBezTo>
                  <a:cubicBezTo>
                    <a:pt x="2597150" y="294640"/>
                    <a:pt x="2599690" y="295910"/>
                    <a:pt x="2600960" y="299720"/>
                  </a:cubicBezTo>
                  <a:cubicBezTo>
                    <a:pt x="2603500" y="304800"/>
                    <a:pt x="2603500" y="312420"/>
                    <a:pt x="2604770" y="318770"/>
                  </a:cubicBezTo>
                  <a:cubicBezTo>
                    <a:pt x="2607310" y="323850"/>
                    <a:pt x="2609850" y="331470"/>
                    <a:pt x="2611120" y="336550"/>
                  </a:cubicBezTo>
                  <a:cubicBezTo>
                    <a:pt x="2612390" y="340360"/>
                    <a:pt x="2611120" y="342900"/>
                    <a:pt x="2611120" y="345440"/>
                  </a:cubicBezTo>
                  <a:cubicBezTo>
                    <a:pt x="2611120" y="349250"/>
                    <a:pt x="2612390" y="351790"/>
                    <a:pt x="2613660" y="355600"/>
                  </a:cubicBezTo>
                  <a:cubicBezTo>
                    <a:pt x="2613660" y="360680"/>
                    <a:pt x="2611120" y="368300"/>
                    <a:pt x="2611120" y="374650"/>
                  </a:cubicBezTo>
                  <a:cubicBezTo>
                    <a:pt x="2611120" y="381000"/>
                    <a:pt x="2611120" y="388620"/>
                    <a:pt x="2611120" y="393700"/>
                  </a:cubicBezTo>
                  <a:cubicBezTo>
                    <a:pt x="2609850" y="397510"/>
                    <a:pt x="2608580" y="400050"/>
                    <a:pt x="2607310" y="402590"/>
                  </a:cubicBezTo>
                  <a:cubicBezTo>
                    <a:pt x="2607310" y="405130"/>
                    <a:pt x="2607310" y="408940"/>
                    <a:pt x="2606040" y="411480"/>
                  </a:cubicBezTo>
                  <a:cubicBezTo>
                    <a:pt x="2604770" y="416560"/>
                    <a:pt x="2595880" y="425450"/>
                    <a:pt x="2598420" y="429260"/>
                  </a:cubicBezTo>
                  <a:cubicBezTo>
                    <a:pt x="2604770" y="438150"/>
                    <a:pt x="2696210" y="430530"/>
                    <a:pt x="2707640" y="426720"/>
                  </a:cubicBezTo>
                  <a:cubicBezTo>
                    <a:pt x="2708910" y="426720"/>
                    <a:pt x="2708910" y="425450"/>
                    <a:pt x="2710180" y="425450"/>
                  </a:cubicBezTo>
                  <a:cubicBezTo>
                    <a:pt x="2713990" y="422910"/>
                    <a:pt x="2724150" y="415290"/>
                    <a:pt x="2725420" y="415290"/>
                  </a:cubicBezTo>
                  <a:cubicBezTo>
                    <a:pt x="2725420" y="415290"/>
                    <a:pt x="2735580" y="411480"/>
                    <a:pt x="2740660" y="408940"/>
                  </a:cubicBezTo>
                  <a:cubicBezTo>
                    <a:pt x="2747010" y="406400"/>
                    <a:pt x="2757170" y="402590"/>
                    <a:pt x="2757170" y="402590"/>
                  </a:cubicBezTo>
                  <a:cubicBezTo>
                    <a:pt x="2757170" y="402590"/>
                    <a:pt x="2768600" y="401320"/>
                    <a:pt x="2774950" y="401320"/>
                  </a:cubicBezTo>
                  <a:cubicBezTo>
                    <a:pt x="2780030" y="400050"/>
                    <a:pt x="2791460" y="398780"/>
                    <a:pt x="2791460" y="398780"/>
                  </a:cubicBezTo>
                  <a:cubicBezTo>
                    <a:pt x="2791460" y="398780"/>
                    <a:pt x="2912110" y="400050"/>
                    <a:pt x="2984500" y="396240"/>
                  </a:cubicBezTo>
                  <a:cubicBezTo>
                    <a:pt x="3082290" y="393700"/>
                    <a:pt x="3204210" y="379730"/>
                    <a:pt x="3326130" y="374650"/>
                  </a:cubicBezTo>
                  <a:cubicBezTo>
                    <a:pt x="3465830" y="368300"/>
                    <a:pt x="3702050" y="367030"/>
                    <a:pt x="3776980" y="365760"/>
                  </a:cubicBezTo>
                  <a:cubicBezTo>
                    <a:pt x="3802380" y="365760"/>
                    <a:pt x="3826510" y="369570"/>
                    <a:pt x="3827780" y="365760"/>
                  </a:cubicBezTo>
                  <a:cubicBezTo>
                    <a:pt x="3829050" y="364490"/>
                    <a:pt x="3822700" y="358140"/>
                    <a:pt x="3822700" y="358140"/>
                  </a:cubicBezTo>
                  <a:cubicBezTo>
                    <a:pt x="3822700" y="358140"/>
                    <a:pt x="3816350" y="345440"/>
                    <a:pt x="3813810" y="339090"/>
                  </a:cubicBezTo>
                  <a:cubicBezTo>
                    <a:pt x="3811270" y="332740"/>
                    <a:pt x="3806190" y="318770"/>
                    <a:pt x="3806190" y="318770"/>
                  </a:cubicBezTo>
                  <a:cubicBezTo>
                    <a:pt x="3804920" y="318770"/>
                    <a:pt x="3803650" y="304800"/>
                    <a:pt x="3802380" y="297180"/>
                  </a:cubicBezTo>
                  <a:cubicBezTo>
                    <a:pt x="3801110" y="290830"/>
                    <a:pt x="3798570" y="276860"/>
                    <a:pt x="3798570" y="276860"/>
                  </a:cubicBezTo>
                  <a:cubicBezTo>
                    <a:pt x="3798570" y="276860"/>
                    <a:pt x="3799840" y="261620"/>
                    <a:pt x="3799840" y="255270"/>
                  </a:cubicBezTo>
                  <a:cubicBezTo>
                    <a:pt x="3801110" y="247650"/>
                    <a:pt x="3801110" y="233680"/>
                    <a:pt x="3802380" y="233680"/>
                  </a:cubicBezTo>
                  <a:cubicBezTo>
                    <a:pt x="3802380" y="233680"/>
                    <a:pt x="3806190" y="219710"/>
                    <a:pt x="3808730" y="213360"/>
                  </a:cubicBezTo>
                  <a:cubicBezTo>
                    <a:pt x="3811270" y="205740"/>
                    <a:pt x="3815080" y="193040"/>
                    <a:pt x="3815080" y="193040"/>
                  </a:cubicBezTo>
                  <a:cubicBezTo>
                    <a:pt x="3815080" y="193040"/>
                    <a:pt x="3822700" y="180340"/>
                    <a:pt x="3826510" y="173990"/>
                  </a:cubicBezTo>
                  <a:cubicBezTo>
                    <a:pt x="3830320" y="168910"/>
                    <a:pt x="3837940" y="156210"/>
                    <a:pt x="3837940" y="156210"/>
                  </a:cubicBezTo>
                  <a:cubicBezTo>
                    <a:pt x="3837940" y="156210"/>
                    <a:pt x="3848100" y="146050"/>
                    <a:pt x="3853180" y="140970"/>
                  </a:cubicBezTo>
                  <a:cubicBezTo>
                    <a:pt x="3858260" y="135890"/>
                    <a:pt x="3868420" y="127000"/>
                    <a:pt x="3868420" y="125730"/>
                  </a:cubicBezTo>
                  <a:cubicBezTo>
                    <a:pt x="3869690" y="125730"/>
                    <a:pt x="3881120" y="119380"/>
                    <a:pt x="3887470" y="115570"/>
                  </a:cubicBezTo>
                  <a:cubicBezTo>
                    <a:pt x="3893820" y="111760"/>
                    <a:pt x="3905250" y="104140"/>
                    <a:pt x="3906520" y="104140"/>
                  </a:cubicBezTo>
                  <a:cubicBezTo>
                    <a:pt x="3906520" y="104140"/>
                    <a:pt x="3920490" y="100330"/>
                    <a:pt x="3926840" y="99060"/>
                  </a:cubicBezTo>
                  <a:cubicBezTo>
                    <a:pt x="3933190" y="96520"/>
                    <a:pt x="3947160" y="92710"/>
                    <a:pt x="3947160" y="92710"/>
                  </a:cubicBezTo>
                  <a:cubicBezTo>
                    <a:pt x="3948430" y="92710"/>
                    <a:pt x="4076700" y="72390"/>
                    <a:pt x="4144010" y="66040"/>
                  </a:cubicBezTo>
                  <a:cubicBezTo>
                    <a:pt x="4216400" y="57150"/>
                    <a:pt x="4291330" y="52070"/>
                    <a:pt x="4368800" y="46990"/>
                  </a:cubicBezTo>
                  <a:cubicBezTo>
                    <a:pt x="4451350" y="41910"/>
                    <a:pt x="4542790" y="40640"/>
                    <a:pt x="4626610" y="34290"/>
                  </a:cubicBezTo>
                  <a:cubicBezTo>
                    <a:pt x="4707890" y="29210"/>
                    <a:pt x="4785360" y="16510"/>
                    <a:pt x="4866640" y="12700"/>
                  </a:cubicBezTo>
                  <a:cubicBezTo>
                    <a:pt x="4950460" y="7620"/>
                    <a:pt x="5121910" y="6350"/>
                    <a:pt x="5124450" y="6350"/>
                  </a:cubicBezTo>
                  <a:cubicBezTo>
                    <a:pt x="5124450" y="6350"/>
                    <a:pt x="5139690" y="5080"/>
                    <a:pt x="5147310" y="3810"/>
                  </a:cubicBezTo>
                  <a:cubicBezTo>
                    <a:pt x="5153660" y="2540"/>
                    <a:pt x="5168900" y="0"/>
                    <a:pt x="5168900" y="0"/>
                  </a:cubicBezTo>
                  <a:cubicBezTo>
                    <a:pt x="5170170" y="0"/>
                    <a:pt x="5184140" y="1270"/>
                    <a:pt x="5191760" y="2540"/>
                  </a:cubicBezTo>
                  <a:cubicBezTo>
                    <a:pt x="5199380" y="3810"/>
                    <a:pt x="5214620" y="5080"/>
                    <a:pt x="5214620" y="5080"/>
                  </a:cubicBezTo>
                  <a:cubicBezTo>
                    <a:pt x="5214620" y="5080"/>
                    <a:pt x="5228590" y="10160"/>
                    <a:pt x="5236210" y="12700"/>
                  </a:cubicBezTo>
                  <a:cubicBezTo>
                    <a:pt x="5243830" y="15240"/>
                    <a:pt x="5257800" y="20320"/>
                    <a:pt x="5257800" y="20320"/>
                  </a:cubicBezTo>
                  <a:cubicBezTo>
                    <a:pt x="5257800" y="20320"/>
                    <a:pt x="5270500" y="29210"/>
                    <a:pt x="5276850" y="33020"/>
                  </a:cubicBezTo>
                  <a:cubicBezTo>
                    <a:pt x="5283200" y="36830"/>
                    <a:pt x="5295900" y="45720"/>
                    <a:pt x="5295900" y="45720"/>
                  </a:cubicBezTo>
                  <a:cubicBezTo>
                    <a:pt x="5295900" y="45720"/>
                    <a:pt x="5306060" y="57150"/>
                    <a:pt x="5311140" y="62230"/>
                  </a:cubicBezTo>
                  <a:cubicBezTo>
                    <a:pt x="5316220" y="68580"/>
                    <a:pt x="5326380" y="78740"/>
                    <a:pt x="5326380" y="78740"/>
                  </a:cubicBezTo>
                  <a:cubicBezTo>
                    <a:pt x="5326380" y="80010"/>
                    <a:pt x="5334000" y="92710"/>
                    <a:pt x="5337810" y="99060"/>
                  </a:cubicBezTo>
                  <a:cubicBezTo>
                    <a:pt x="5341620" y="105410"/>
                    <a:pt x="5347970" y="119380"/>
                    <a:pt x="5349240" y="119380"/>
                  </a:cubicBezTo>
                  <a:cubicBezTo>
                    <a:pt x="5349240" y="119380"/>
                    <a:pt x="5353050" y="137160"/>
                    <a:pt x="5354320" y="140970"/>
                  </a:cubicBezTo>
                  <a:cubicBezTo>
                    <a:pt x="5354320" y="142240"/>
                    <a:pt x="5354320" y="143510"/>
                    <a:pt x="5355590" y="143510"/>
                  </a:cubicBezTo>
                  <a:cubicBezTo>
                    <a:pt x="5355590" y="143510"/>
                    <a:pt x="5355590" y="143510"/>
                    <a:pt x="5358130" y="143510"/>
                  </a:cubicBezTo>
                  <a:cubicBezTo>
                    <a:pt x="5374640" y="147320"/>
                    <a:pt x="5614670" y="214630"/>
                    <a:pt x="5615940" y="215900"/>
                  </a:cubicBezTo>
                  <a:cubicBezTo>
                    <a:pt x="5615940" y="215900"/>
                    <a:pt x="5629910" y="215900"/>
                    <a:pt x="5637530" y="217170"/>
                  </a:cubicBezTo>
                  <a:cubicBezTo>
                    <a:pt x="5643880" y="217170"/>
                    <a:pt x="5659120" y="218440"/>
                    <a:pt x="5659120" y="218440"/>
                  </a:cubicBezTo>
                  <a:cubicBezTo>
                    <a:pt x="5659120" y="218440"/>
                    <a:pt x="5673090" y="223520"/>
                    <a:pt x="5679440" y="224790"/>
                  </a:cubicBezTo>
                  <a:cubicBezTo>
                    <a:pt x="5687060" y="227330"/>
                    <a:pt x="5701030" y="232410"/>
                    <a:pt x="5701030" y="232410"/>
                  </a:cubicBezTo>
                  <a:cubicBezTo>
                    <a:pt x="5701030" y="232410"/>
                    <a:pt x="5713730" y="240030"/>
                    <a:pt x="5718810" y="243840"/>
                  </a:cubicBezTo>
                  <a:cubicBezTo>
                    <a:pt x="5725160" y="247650"/>
                    <a:pt x="5737860" y="255270"/>
                    <a:pt x="5737860" y="255270"/>
                  </a:cubicBezTo>
                  <a:cubicBezTo>
                    <a:pt x="5737860" y="255270"/>
                    <a:pt x="5748020" y="265430"/>
                    <a:pt x="5753100" y="270510"/>
                  </a:cubicBezTo>
                  <a:cubicBezTo>
                    <a:pt x="5758180" y="275590"/>
                    <a:pt x="5768340" y="285750"/>
                    <a:pt x="5768340" y="287020"/>
                  </a:cubicBezTo>
                  <a:cubicBezTo>
                    <a:pt x="5768340" y="287020"/>
                    <a:pt x="5775960" y="298450"/>
                    <a:pt x="5779770" y="304800"/>
                  </a:cubicBezTo>
                  <a:cubicBezTo>
                    <a:pt x="5783580" y="311150"/>
                    <a:pt x="5791200" y="323850"/>
                    <a:pt x="5791200" y="323850"/>
                  </a:cubicBezTo>
                  <a:cubicBezTo>
                    <a:pt x="5791200" y="323850"/>
                    <a:pt x="5795010" y="337820"/>
                    <a:pt x="5797550" y="345440"/>
                  </a:cubicBezTo>
                  <a:cubicBezTo>
                    <a:pt x="5798820" y="351790"/>
                    <a:pt x="5802630" y="365760"/>
                    <a:pt x="5802630" y="365760"/>
                  </a:cubicBezTo>
                  <a:cubicBezTo>
                    <a:pt x="5803900" y="367030"/>
                    <a:pt x="5803900" y="381000"/>
                    <a:pt x="5803900" y="387350"/>
                  </a:cubicBezTo>
                  <a:cubicBezTo>
                    <a:pt x="5805170" y="394970"/>
                    <a:pt x="5805170" y="408940"/>
                    <a:pt x="5805170" y="410210"/>
                  </a:cubicBezTo>
                  <a:cubicBezTo>
                    <a:pt x="5805170" y="410210"/>
                    <a:pt x="5801360" y="429260"/>
                    <a:pt x="5801360" y="431800"/>
                  </a:cubicBezTo>
                  <a:cubicBezTo>
                    <a:pt x="5801360" y="431800"/>
                    <a:pt x="5800090" y="431800"/>
                    <a:pt x="5801360" y="433070"/>
                  </a:cubicBezTo>
                  <a:cubicBezTo>
                    <a:pt x="5805170" y="436880"/>
                    <a:pt x="5916930" y="434340"/>
                    <a:pt x="5984240" y="434340"/>
                  </a:cubicBezTo>
                  <a:cubicBezTo>
                    <a:pt x="6070600" y="434340"/>
                    <a:pt x="6196330" y="434340"/>
                    <a:pt x="6277610" y="433070"/>
                  </a:cubicBezTo>
                  <a:cubicBezTo>
                    <a:pt x="6333490" y="431800"/>
                    <a:pt x="6419850" y="427990"/>
                    <a:pt x="6421120" y="427990"/>
                  </a:cubicBezTo>
                  <a:cubicBezTo>
                    <a:pt x="6421120" y="427990"/>
                    <a:pt x="6433820" y="429260"/>
                    <a:pt x="6440170" y="430530"/>
                  </a:cubicBezTo>
                  <a:cubicBezTo>
                    <a:pt x="6446520" y="430530"/>
                    <a:pt x="6457950" y="431800"/>
                    <a:pt x="6459220" y="433070"/>
                  </a:cubicBezTo>
                  <a:cubicBezTo>
                    <a:pt x="6459220" y="433070"/>
                    <a:pt x="6470650" y="436880"/>
                    <a:pt x="6477000" y="439420"/>
                  </a:cubicBezTo>
                  <a:cubicBezTo>
                    <a:pt x="6482080" y="441960"/>
                    <a:pt x="6494780" y="445770"/>
                    <a:pt x="6494780" y="445770"/>
                  </a:cubicBezTo>
                  <a:cubicBezTo>
                    <a:pt x="6494780" y="445770"/>
                    <a:pt x="6504940" y="453390"/>
                    <a:pt x="6510020" y="455930"/>
                  </a:cubicBezTo>
                  <a:cubicBezTo>
                    <a:pt x="6516370" y="459740"/>
                    <a:pt x="6526530" y="467360"/>
                    <a:pt x="6526530" y="467360"/>
                  </a:cubicBezTo>
                  <a:cubicBezTo>
                    <a:pt x="6526530" y="467360"/>
                    <a:pt x="6535420" y="476250"/>
                    <a:pt x="6539230" y="481330"/>
                  </a:cubicBezTo>
                  <a:cubicBezTo>
                    <a:pt x="6543040" y="486410"/>
                    <a:pt x="6551930" y="495300"/>
                    <a:pt x="6551930" y="495300"/>
                  </a:cubicBezTo>
                  <a:cubicBezTo>
                    <a:pt x="6551930" y="496570"/>
                    <a:pt x="6558280" y="506730"/>
                    <a:pt x="6560820" y="513080"/>
                  </a:cubicBezTo>
                  <a:cubicBezTo>
                    <a:pt x="6564630" y="518160"/>
                    <a:pt x="6569710" y="529590"/>
                    <a:pt x="6569710" y="529590"/>
                  </a:cubicBezTo>
                  <a:cubicBezTo>
                    <a:pt x="6569710" y="529590"/>
                    <a:pt x="6573520" y="542290"/>
                    <a:pt x="6574790" y="548640"/>
                  </a:cubicBezTo>
                  <a:cubicBezTo>
                    <a:pt x="6576060" y="554990"/>
                    <a:pt x="6579870" y="566420"/>
                    <a:pt x="6579870" y="566420"/>
                  </a:cubicBezTo>
                  <a:cubicBezTo>
                    <a:pt x="6579870" y="566420"/>
                    <a:pt x="6579870" y="579120"/>
                    <a:pt x="6579870" y="585470"/>
                  </a:cubicBezTo>
                  <a:cubicBezTo>
                    <a:pt x="6579870" y="591820"/>
                    <a:pt x="6579870" y="604520"/>
                    <a:pt x="6579870" y="604520"/>
                  </a:cubicBezTo>
                  <a:cubicBezTo>
                    <a:pt x="6579870" y="605790"/>
                    <a:pt x="6577330" y="617220"/>
                    <a:pt x="6574790" y="623570"/>
                  </a:cubicBezTo>
                  <a:cubicBezTo>
                    <a:pt x="6573520" y="629920"/>
                    <a:pt x="6570980" y="642620"/>
                    <a:pt x="6570980" y="642620"/>
                  </a:cubicBezTo>
                  <a:cubicBezTo>
                    <a:pt x="6570980" y="642620"/>
                    <a:pt x="6564630" y="654050"/>
                    <a:pt x="6562090" y="659130"/>
                  </a:cubicBezTo>
                  <a:cubicBezTo>
                    <a:pt x="6559550" y="665480"/>
                    <a:pt x="6553200" y="675640"/>
                    <a:pt x="6553200" y="676910"/>
                  </a:cubicBezTo>
                  <a:cubicBezTo>
                    <a:pt x="6553200" y="676910"/>
                    <a:pt x="6544310" y="685800"/>
                    <a:pt x="6540500" y="690880"/>
                  </a:cubicBezTo>
                  <a:cubicBezTo>
                    <a:pt x="6536690" y="695960"/>
                    <a:pt x="6527800" y="704850"/>
                    <a:pt x="6527800" y="704850"/>
                  </a:cubicBezTo>
                  <a:cubicBezTo>
                    <a:pt x="6527800" y="704850"/>
                    <a:pt x="6517640" y="712470"/>
                    <a:pt x="6512560" y="716280"/>
                  </a:cubicBezTo>
                  <a:cubicBezTo>
                    <a:pt x="6507480" y="720090"/>
                    <a:pt x="6497320" y="727710"/>
                    <a:pt x="6497320" y="727710"/>
                  </a:cubicBezTo>
                  <a:cubicBezTo>
                    <a:pt x="6496050" y="727710"/>
                    <a:pt x="6484620" y="731520"/>
                    <a:pt x="6478270" y="734060"/>
                  </a:cubicBezTo>
                  <a:cubicBezTo>
                    <a:pt x="6473190" y="736600"/>
                    <a:pt x="6461760" y="741680"/>
                    <a:pt x="6460490" y="741680"/>
                  </a:cubicBezTo>
                  <a:cubicBezTo>
                    <a:pt x="6460490" y="741680"/>
                    <a:pt x="6447790" y="742950"/>
                    <a:pt x="6441440" y="744220"/>
                  </a:cubicBezTo>
                  <a:cubicBezTo>
                    <a:pt x="6435090" y="744220"/>
                    <a:pt x="6423660" y="745490"/>
                    <a:pt x="6422390" y="745490"/>
                  </a:cubicBezTo>
                  <a:cubicBezTo>
                    <a:pt x="6422390" y="745490"/>
                    <a:pt x="6281420" y="768350"/>
                    <a:pt x="6200140" y="773430"/>
                  </a:cubicBezTo>
                  <a:cubicBezTo>
                    <a:pt x="6104890" y="781050"/>
                    <a:pt x="5984240" y="781050"/>
                    <a:pt x="5883910" y="778510"/>
                  </a:cubicBezTo>
                  <a:cubicBezTo>
                    <a:pt x="5792470" y="775970"/>
                    <a:pt x="5666740" y="765810"/>
                    <a:pt x="5623560" y="763270"/>
                  </a:cubicBezTo>
                  <a:cubicBezTo>
                    <a:pt x="5609590" y="762000"/>
                    <a:pt x="5603240" y="762000"/>
                    <a:pt x="5595620" y="760730"/>
                  </a:cubicBezTo>
                  <a:cubicBezTo>
                    <a:pt x="5589270" y="760730"/>
                    <a:pt x="5586730" y="762000"/>
                    <a:pt x="5577840" y="762000"/>
                  </a:cubicBezTo>
                  <a:cubicBezTo>
                    <a:pt x="5548630" y="763270"/>
                    <a:pt x="5412740" y="769620"/>
                    <a:pt x="5386070" y="774700"/>
                  </a:cubicBezTo>
                  <a:cubicBezTo>
                    <a:pt x="5379720" y="775970"/>
                    <a:pt x="5373370" y="779780"/>
                    <a:pt x="5373370" y="779780"/>
                  </a:cubicBezTo>
                  <a:cubicBezTo>
                    <a:pt x="5373370" y="779780"/>
                    <a:pt x="5359400" y="781050"/>
                    <a:pt x="5351780" y="782320"/>
                  </a:cubicBezTo>
                  <a:cubicBezTo>
                    <a:pt x="5345430" y="783590"/>
                    <a:pt x="5331460" y="784860"/>
                    <a:pt x="5331460" y="784860"/>
                  </a:cubicBezTo>
                  <a:cubicBezTo>
                    <a:pt x="5331460" y="784860"/>
                    <a:pt x="5255260" y="783590"/>
                    <a:pt x="5231130" y="784860"/>
                  </a:cubicBezTo>
                  <a:cubicBezTo>
                    <a:pt x="5217160" y="786130"/>
                    <a:pt x="5207000" y="787400"/>
                    <a:pt x="5200650" y="787400"/>
                  </a:cubicBezTo>
                  <a:cubicBezTo>
                    <a:pt x="5196840" y="787400"/>
                    <a:pt x="5194300" y="787400"/>
                    <a:pt x="5194300" y="787400"/>
                  </a:cubicBezTo>
                  <a:cubicBezTo>
                    <a:pt x="5193030" y="787400"/>
                    <a:pt x="5177790" y="798830"/>
                    <a:pt x="5177790" y="798830"/>
                  </a:cubicBezTo>
                  <a:cubicBezTo>
                    <a:pt x="5177790" y="798830"/>
                    <a:pt x="5165090" y="803910"/>
                    <a:pt x="5160010" y="806450"/>
                  </a:cubicBezTo>
                  <a:cubicBezTo>
                    <a:pt x="5153660" y="808990"/>
                    <a:pt x="5140960" y="814070"/>
                    <a:pt x="5140960" y="814070"/>
                  </a:cubicBezTo>
                  <a:cubicBezTo>
                    <a:pt x="5140960" y="814070"/>
                    <a:pt x="5128260" y="816610"/>
                    <a:pt x="5121910" y="817880"/>
                  </a:cubicBezTo>
                  <a:cubicBezTo>
                    <a:pt x="5115560" y="819150"/>
                    <a:pt x="5102860" y="820420"/>
                    <a:pt x="5101590" y="820420"/>
                  </a:cubicBezTo>
                  <a:cubicBezTo>
                    <a:pt x="5101590" y="820420"/>
                    <a:pt x="4765040" y="834390"/>
                    <a:pt x="4685030" y="836930"/>
                  </a:cubicBezTo>
                  <a:cubicBezTo>
                    <a:pt x="4652010" y="836930"/>
                    <a:pt x="4638040" y="835660"/>
                    <a:pt x="4616450" y="836930"/>
                  </a:cubicBezTo>
                  <a:cubicBezTo>
                    <a:pt x="4594860" y="838200"/>
                    <a:pt x="4582160" y="839470"/>
                    <a:pt x="4555490" y="840740"/>
                  </a:cubicBezTo>
                  <a:cubicBezTo>
                    <a:pt x="4500880" y="843280"/>
                    <a:pt x="4394200" y="843280"/>
                    <a:pt x="4315460" y="848360"/>
                  </a:cubicBezTo>
                  <a:cubicBezTo>
                    <a:pt x="4239260" y="852170"/>
                    <a:pt x="4177030" y="861060"/>
                    <a:pt x="4089400" y="864870"/>
                  </a:cubicBezTo>
                  <a:cubicBezTo>
                    <a:pt x="3971290" y="868680"/>
                    <a:pt x="3671570" y="866140"/>
                    <a:pt x="3670300" y="866140"/>
                  </a:cubicBezTo>
                  <a:cubicBezTo>
                    <a:pt x="3670300" y="866140"/>
                    <a:pt x="3657600" y="864870"/>
                    <a:pt x="3651250" y="863600"/>
                  </a:cubicBezTo>
                  <a:cubicBezTo>
                    <a:pt x="3646170" y="863600"/>
                    <a:pt x="3633470" y="862330"/>
                    <a:pt x="3633470" y="862330"/>
                  </a:cubicBezTo>
                  <a:cubicBezTo>
                    <a:pt x="3632200" y="862330"/>
                    <a:pt x="3628390" y="859790"/>
                    <a:pt x="3623310" y="858520"/>
                  </a:cubicBezTo>
                  <a:cubicBezTo>
                    <a:pt x="3596640" y="854710"/>
                    <a:pt x="3468370" y="868680"/>
                    <a:pt x="3403600" y="873760"/>
                  </a:cubicBezTo>
                  <a:cubicBezTo>
                    <a:pt x="3351530" y="877570"/>
                    <a:pt x="3265170" y="886460"/>
                    <a:pt x="3263900" y="886460"/>
                  </a:cubicBezTo>
                  <a:cubicBezTo>
                    <a:pt x="3263900" y="886460"/>
                    <a:pt x="3252470" y="886460"/>
                    <a:pt x="3246120" y="885190"/>
                  </a:cubicBezTo>
                  <a:cubicBezTo>
                    <a:pt x="3239770" y="885190"/>
                    <a:pt x="3228340" y="885190"/>
                    <a:pt x="3228340" y="885190"/>
                  </a:cubicBezTo>
                  <a:cubicBezTo>
                    <a:pt x="3227070" y="885190"/>
                    <a:pt x="3215640" y="881380"/>
                    <a:pt x="3210560" y="880110"/>
                  </a:cubicBezTo>
                  <a:cubicBezTo>
                    <a:pt x="3204210" y="877570"/>
                    <a:pt x="3192780" y="873760"/>
                    <a:pt x="3192780" y="873760"/>
                  </a:cubicBezTo>
                  <a:cubicBezTo>
                    <a:pt x="3192780" y="873760"/>
                    <a:pt x="3182620" y="867410"/>
                    <a:pt x="3177540" y="864870"/>
                  </a:cubicBezTo>
                  <a:cubicBezTo>
                    <a:pt x="3172460" y="862330"/>
                    <a:pt x="3162300" y="855980"/>
                    <a:pt x="3162300" y="855980"/>
                  </a:cubicBezTo>
                  <a:cubicBezTo>
                    <a:pt x="3161030" y="855980"/>
                    <a:pt x="3153410" y="847090"/>
                    <a:pt x="3148330" y="843280"/>
                  </a:cubicBezTo>
                  <a:cubicBezTo>
                    <a:pt x="3144520" y="838200"/>
                    <a:pt x="3135630" y="830580"/>
                    <a:pt x="3135630" y="830580"/>
                  </a:cubicBezTo>
                  <a:cubicBezTo>
                    <a:pt x="3135630" y="830580"/>
                    <a:pt x="3129280" y="820420"/>
                    <a:pt x="3126740" y="814070"/>
                  </a:cubicBezTo>
                  <a:cubicBezTo>
                    <a:pt x="3122930" y="808990"/>
                    <a:pt x="3116580" y="798830"/>
                    <a:pt x="3116580" y="798830"/>
                  </a:cubicBezTo>
                  <a:cubicBezTo>
                    <a:pt x="3116580" y="798830"/>
                    <a:pt x="3112770" y="787400"/>
                    <a:pt x="3111500" y="782320"/>
                  </a:cubicBezTo>
                  <a:cubicBezTo>
                    <a:pt x="3108960" y="775970"/>
                    <a:pt x="3106420" y="764540"/>
                    <a:pt x="3106420" y="764540"/>
                  </a:cubicBezTo>
                  <a:cubicBezTo>
                    <a:pt x="3106420" y="764540"/>
                    <a:pt x="3108960" y="751840"/>
                    <a:pt x="3105150" y="746760"/>
                  </a:cubicBezTo>
                  <a:cubicBezTo>
                    <a:pt x="3088640" y="732790"/>
                    <a:pt x="2966720" y="746760"/>
                    <a:pt x="2915920" y="746760"/>
                  </a:cubicBezTo>
                  <a:cubicBezTo>
                    <a:pt x="2881630" y="746760"/>
                    <a:pt x="2860040" y="745490"/>
                    <a:pt x="2828290" y="746760"/>
                  </a:cubicBezTo>
                  <a:cubicBezTo>
                    <a:pt x="2788920" y="748030"/>
                    <a:pt x="2753360" y="755650"/>
                    <a:pt x="2697480" y="756920"/>
                  </a:cubicBezTo>
                  <a:cubicBezTo>
                    <a:pt x="2599690" y="760730"/>
                    <a:pt x="2430780" y="755650"/>
                    <a:pt x="2291080" y="754380"/>
                  </a:cubicBezTo>
                  <a:cubicBezTo>
                    <a:pt x="2139950" y="754380"/>
                    <a:pt x="1959610" y="753110"/>
                    <a:pt x="1823720" y="751840"/>
                  </a:cubicBezTo>
                  <a:cubicBezTo>
                    <a:pt x="1719580" y="751840"/>
                    <a:pt x="1582420" y="749300"/>
                    <a:pt x="1545590" y="750570"/>
                  </a:cubicBezTo>
                  <a:cubicBezTo>
                    <a:pt x="1536700" y="750570"/>
                    <a:pt x="1529080" y="750570"/>
                    <a:pt x="1529080" y="750570"/>
                  </a:cubicBezTo>
                  <a:cubicBezTo>
                    <a:pt x="1529080" y="750570"/>
                    <a:pt x="1526540" y="750570"/>
                    <a:pt x="1522730" y="750570"/>
                  </a:cubicBezTo>
                  <a:cubicBezTo>
                    <a:pt x="1510030" y="749300"/>
                    <a:pt x="1471930" y="750570"/>
                    <a:pt x="1432560" y="749300"/>
                  </a:cubicBezTo>
                  <a:cubicBezTo>
                    <a:pt x="1363980" y="748030"/>
                    <a:pt x="1231900" y="740410"/>
                    <a:pt x="1145540" y="739140"/>
                  </a:cubicBezTo>
                  <a:cubicBezTo>
                    <a:pt x="1074420" y="737870"/>
                    <a:pt x="952500" y="739140"/>
                    <a:pt x="952500" y="739140"/>
                  </a:cubicBezTo>
                  <a:cubicBezTo>
                    <a:pt x="951230" y="739140"/>
                    <a:pt x="939800" y="736600"/>
                    <a:pt x="934720" y="735330"/>
                  </a:cubicBezTo>
                  <a:cubicBezTo>
                    <a:pt x="928370" y="735330"/>
                    <a:pt x="916940" y="732790"/>
                    <a:pt x="915670" y="732790"/>
                  </a:cubicBezTo>
                  <a:cubicBezTo>
                    <a:pt x="915670" y="732790"/>
                    <a:pt x="905510" y="728980"/>
                    <a:pt x="899160" y="726440"/>
                  </a:cubicBezTo>
                  <a:cubicBezTo>
                    <a:pt x="894080" y="723900"/>
                    <a:pt x="882650" y="718820"/>
                    <a:pt x="882650" y="718820"/>
                  </a:cubicBezTo>
                  <a:cubicBezTo>
                    <a:pt x="882650" y="718820"/>
                    <a:pt x="872490" y="711200"/>
                    <a:pt x="868680" y="708660"/>
                  </a:cubicBezTo>
                  <a:cubicBezTo>
                    <a:pt x="864870" y="706120"/>
                    <a:pt x="864870" y="702310"/>
                    <a:pt x="858520" y="701040"/>
                  </a:cubicBezTo>
                  <a:cubicBezTo>
                    <a:pt x="838200" y="693420"/>
                    <a:pt x="759460" y="698500"/>
                    <a:pt x="693420" y="695960"/>
                  </a:cubicBezTo>
                  <a:cubicBezTo>
                    <a:pt x="598170" y="692150"/>
                    <a:pt x="408940" y="687070"/>
                    <a:pt x="342900" y="675640"/>
                  </a:cubicBezTo>
                  <a:cubicBezTo>
                    <a:pt x="316230" y="670560"/>
                    <a:pt x="300990" y="661670"/>
                    <a:pt x="287020" y="657860"/>
                  </a:cubicBezTo>
                  <a:cubicBezTo>
                    <a:pt x="279400" y="656590"/>
                    <a:pt x="275590" y="656590"/>
                    <a:pt x="270510" y="655320"/>
                  </a:cubicBezTo>
                  <a:cubicBezTo>
                    <a:pt x="264160" y="654050"/>
                    <a:pt x="252730" y="651510"/>
                    <a:pt x="252730" y="651510"/>
                  </a:cubicBezTo>
                  <a:cubicBezTo>
                    <a:pt x="252730" y="651510"/>
                    <a:pt x="242570" y="647700"/>
                    <a:pt x="236220" y="645160"/>
                  </a:cubicBezTo>
                  <a:cubicBezTo>
                    <a:pt x="231140" y="642620"/>
                    <a:pt x="220980" y="637540"/>
                    <a:pt x="220980" y="637540"/>
                  </a:cubicBezTo>
                  <a:cubicBezTo>
                    <a:pt x="220980" y="637540"/>
                    <a:pt x="210820" y="631190"/>
                    <a:pt x="207010" y="627380"/>
                  </a:cubicBezTo>
                  <a:cubicBezTo>
                    <a:pt x="201930" y="623570"/>
                    <a:pt x="193040" y="617220"/>
                    <a:pt x="193040" y="615950"/>
                  </a:cubicBezTo>
                  <a:cubicBezTo>
                    <a:pt x="193040" y="615950"/>
                    <a:pt x="185420" y="607060"/>
                    <a:pt x="181610" y="603250"/>
                  </a:cubicBezTo>
                  <a:cubicBezTo>
                    <a:pt x="177800" y="598170"/>
                    <a:pt x="171450" y="589280"/>
                    <a:pt x="171450" y="589280"/>
                  </a:cubicBezTo>
                  <a:cubicBezTo>
                    <a:pt x="170180" y="589280"/>
                    <a:pt x="166370" y="577850"/>
                    <a:pt x="163830" y="572770"/>
                  </a:cubicBezTo>
                  <a:cubicBezTo>
                    <a:pt x="161290" y="567690"/>
                    <a:pt x="156210" y="557530"/>
                    <a:pt x="156210" y="557530"/>
                  </a:cubicBezTo>
                  <a:cubicBezTo>
                    <a:pt x="156210" y="557530"/>
                    <a:pt x="153670" y="546100"/>
                    <a:pt x="152400" y="539750"/>
                  </a:cubicBezTo>
                  <a:cubicBezTo>
                    <a:pt x="152400" y="534670"/>
                    <a:pt x="149860" y="523240"/>
                    <a:pt x="149860" y="523240"/>
                  </a:cubicBezTo>
                  <a:cubicBezTo>
                    <a:pt x="149860" y="521970"/>
                    <a:pt x="149860" y="510540"/>
                    <a:pt x="151130" y="505460"/>
                  </a:cubicBezTo>
                  <a:cubicBezTo>
                    <a:pt x="151130" y="501650"/>
                    <a:pt x="152400" y="497840"/>
                    <a:pt x="151130" y="495300"/>
                  </a:cubicBezTo>
                  <a:cubicBezTo>
                    <a:pt x="148590" y="491490"/>
                    <a:pt x="140970" y="490220"/>
                    <a:pt x="135890" y="487680"/>
                  </a:cubicBezTo>
                  <a:cubicBezTo>
                    <a:pt x="129540" y="486410"/>
                    <a:pt x="123190" y="485140"/>
                    <a:pt x="118110" y="483870"/>
                  </a:cubicBezTo>
                  <a:cubicBezTo>
                    <a:pt x="111760" y="482600"/>
                    <a:pt x="100330" y="480060"/>
                    <a:pt x="100330" y="480060"/>
                  </a:cubicBezTo>
                  <a:cubicBezTo>
                    <a:pt x="99060" y="480060"/>
                    <a:pt x="88900" y="473710"/>
                    <a:pt x="83820" y="471170"/>
                  </a:cubicBezTo>
                  <a:cubicBezTo>
                    <a:pt x="77470" y="468630"/>
                    <a:pt x="67310" y="462280"/>
                    <a:pt x="67310" y="462280"/>
                  </a:cubicBezTo>
                  <a:cubicBezTo>
                    <a:pt x="67310" y="462280"/>
                    <a:pt x="57150" y="454660"/>
                    <a:pt x="53340" y="450850"/>
                  </a:cubicBezTo>
                  <a:cubicBezTo>
                    <a:pt x="48260" y="447040"/>
                    <a:pt x="39370" y="438150"/>
                    <a:pt x="39370" y="438150"/>
                  </a:cubicBezTo>
                  <a:cubicBezTo>
                    <a:pt x="39370" y="438150"/>
                    <a:pt x="31750" y="427990"/>
                    <a:pt x="27940" y="422910"/>
                  </a:cubicBezTo>
                  <a:cubicBezTo>
                    <a:pt x="25400" y="417830"/>
                    <a:pt x="17780" y="408940"/>
                    <a:pt x="17780" y="407670"/>
                  </a:cubicBezTo>
                  <a:cubicBezTo>
                    <a:pt x="17780" y="407670"/>
                    <a:pt x="13970" y="396240"/>
                    <a:pt x="11430" y="391160"/>
                  </a:cubicBezTo>
                  <a:cubicBezTo>
                    <a:pt x="8890" y="384810"/>
                    <a:pt x="5080" y="373380"/>
                    <a:pt x="5080" y="373380"/>
                  </a:cubicBezTo>
                  <a:cubicBezTo>
                    <a:pt x="3810" y="373380"/>
                    <a:pt x="2540" y="361950"/>
                    <a:pt x="2540" y="355600"/>
                  </a:cubicBezTo>
                  <a:cubicBezTo>
                    <a:pt x="1270" y="349250"/>
                    <a:pt x="0" y="337820"/>
                    <a:pt x="0" y="33655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0884932" y="3611429"/>
            <a:ext cx="4197191" cy="483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Рост прибыли (млн руб.)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479280"/>
            <a:ext cx="18288000" cy="3653057"/>
          </a:xfrm>
          <a:custGeom>
            <a:avLst/>
            <a:gdLst/>
            <a:ahLst/>
            <a:cxnLst/>
            <a:rect r="r" b="b" t="t" l="l"/>
            <a:pathLst>
              <a:path h="3653057" w="18288000">
                <a:moveTo>
                  <a:pt x="0" y="0"/>
                </a:moveTo>
                <a:lnTo>
                  <a:pt x="18288000" y="0"/>
                </a:lnTo>
                <a:lnTo>
                  <a:pt x="18288000" y="3653057"/>
                </a:lnTo>
                <a:lnTo>
                  <a:pt x="0" y="36530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41538" y="288198"/>
            <a:ext cx="6756387" cy="1065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39"/>
              </a:lnSpc>
            </a:pPr>
            <a:r>
              <a:rPr lang="en-US" sz="5672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НАША КОМАНДА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304030" y="1877968"/>
            <a:ext cx="2743200" cy="2739790"/>
            <a:chOff x="0" y="0"/>
            <a:chExt cx="3657600" cy="3653053"/>
          </a:xfrm>
        </p:grpSpPr>
        <p:sp>
          <p:nvSpPr>
            <p:cNvPr name="Freeform 5" id="5" descr="Изображение выглядит как Человеческое лицо, графическая вставка, иллюстрация, рисунок  Содержимое, созданное искусственным интеллектом, может быть неверным."/>
            <p:cNvSpPr/>
            <p:nvPr/>
          </p:nvSpPr>
          <p:spPr>
            <a:xfrm flipH="false" flipV="false" rot="0">
              <a:off x="0" y="0"/>
              <a:ext cx="3657600" cy="3653028"/>
            </a:xfrm>
            <a:custGeom>
              <a:avLst/>
              <a:gdLst/>
              <a:ahLst/>
              <a:cxnLst/>
              <a:rect r="r" b="b" t="t" l="l"/>
              <a:pathLst>
                <a:path h="365302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3653028"/>
                  </a:lnTo>
                  <a:lnTo>
                    <a:pt x="0" y="36530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2" r="0" b="-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02561" y="1890941"/>
            <a:ext cx="2825086" cy="2739790"/>
            <a:chOff x="0" y="0"/>
            <a:chExt cx="3766782" cy="3653053"/>
          </a:xfrm>
        </p:grpSpPr>
        <p:sp>
          <p:nvSpPr>
            <p:cNvPr name="Freeform 7" id="7" descr="Изображение выглядит как иллюстрация, графическая вставка, рисунок, мультфильм  Содержимое, созданное искусственным интеллектом, может быть неверным."/>
            <p:cNvSpPr/>
            <p:nvPr/>
          </p:nvSpPr>
          <p:spPr>
            <a:xfrm flipH="false" flipV="false" rot="0">
              <a:off x="0" y="0"/>
              <a:ext cx="3766820" cy="3653028"/>
            </a:xfrm>
            <a:custGeom>
              <a:avLst/>
              <a:gdLst/>
              <a:ahLst/>
              <a:cxnLst/>
              <a:rect r="r" b="b" t="t" l="l"/>
              <a:pathLst>
                <a:path h="3653028" w="3766820">
                  <a:moveTo>
                    <a:pt x="0" y="0"/>
                  </a:moveTo>
                  <a:lnTo>
                    <a:pt x="3766820" y="0"/>
                  </a:lnTo>
                  <a:lnTo>
                    <a:pt x="3766820" y="3653028"/>
                  </a:lnTo>
                  <a:lnTo>
                    <a:pt x="0" y="36530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556" r="1" b="-1557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858127" y="1878825"/>
            <a:ext cx="2743200" cy="2743200"/>
            <a:chOff x="0" y="0"/>
            <a:chExt cx="3657600" cy="3657600"/>
          </a:xfrm>
        </p:grpSpPr>
        <p:sp>
          <p:nvSpPr>
            <p:cNvPr name="Freeform 9" id="9" descr="Изображение выглядит как очки, Человеческое лицо, костюм, одежда  Содержимое, созданное искусственным интеллектом, может быть неверным."/>
            <p:cNvSpPr/>
            <p:nvPr/>
          </p:nvSpPr>
          <p:spPr>
            <a:xfrm flipH="false" flipV="false" rot="0">
              <a:off x="0" y="0"/>
              <a:ext cx="36576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3657600"/>
                  </a:lnTo>
                  <a:lnTo>
                    <a:pt x="0" y="3657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43204" y="5523929"/>
            <a:ext cx="3484712" cy="240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Ирина Алешина </a:t>
            </a:r>
            <a:r>
              <a:rPr lang="en-US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— CEO с опытом управления проектами.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В рамках университетских проектов и самостоятельного обучения развивает навыки управления, планирования и командной координации.</a:t>
            </a:r>
          </a:p>
          <a:p>
            <a:pPr algn="l">
              <a:lnSpc>
                <a:spcPts val="2160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14142491" y="1926041"/>
            <a:ext cx="2743200" cy="2743200"/>
            <a:chOff x="0" y="0"/>
            <a:chExt cx="3657600" cy="3657600"/>
          </a:xfrm>
        </p:grpSpPr>
        <p:sp>
          <p:nvSpPr>
            <p:cNvPr name="Freeform 12" id="12" descr="Изображение выглядит как Человеческое лицо, иллюстрация, девочка, мультфильм  Содержимое, созданное искусственным интеллектом, может быть неверным."/>
            <p:cNvSpPr/>
            <p:nvPr/>
          </p:nvSpPr>
          <p:spPr>
            <a:xfrm flipH="false" flipV="false" rot="0">
              <a:off x="0" y="0"/>
              <a:ext cx="36576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3657600"/>
                  </a:lnTo>
                  <a:lnTo>
                    <a:pt x="0" y="3657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5071415" y="5525272"/>
            <a:ext cx="3491294" cy="240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Антон Королев </a:t>
            </a:r>
            <a:r>
              <a:rPr lang="en-US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— мобильный разработчик.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Развивает навыки мобильной разработки, архитектуры приложений и интеграции сервисов в рамках учебных и практических проектов.</a:t>
            </a:r>
          </a:p>
          <a:p>
            <a:pPr algn="ctr">
              <a:lnSpc>
                <a:spcPts val="216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9463792" y="5525272"/>
            <a:ext cx="3523707" cy="267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Николай Питель </a:t>
            </a:r>
            <a:r>
              <a:rPr lang="en-US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— Backend-разработчик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Развивает навыки работы с backend-архитектурой, базами данных и взаимодействием клиентской и серверной частей в рамках учебных и практических проектов.</a:t>
            </a:r>
          </a:p>
          <a:p>
            <a:pPr algn="ctr">
              <a:lnSpc>
                <a:spcPts val="216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3763568" y="5531853"/>
            <a:ext cx="3491046" cy="294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Мария Новикова </a:t>
            </a:r>
            <a:r>
              <a:rPr lang="en-US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— разработчик системной логики и данных.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Развивает навыки работы с данными, системным проектированием и техническим анализом в рамках университетской подготовки и командной разработки.</a:t>
            </a:r>
          </a:p>
          <a:p>
            <a:pPr algn="ctr">
              <a:lnSpc>
                <a:spcPts val="216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91124" y="-265176"/>
            <a:ext cx="7924028" cy="2336540"/>
          </a:xfrm>
          <a:custGeom>
            <a:avLst/>
            <a:gdLst/>
            <a:ahLst/>
            <a:cxnLst/>
            <a:rect r="r" b="b" t="t" l="l"/>
            <a:pathLst>
              <a:path h="2336540" w="7924028">
                <a:moveTo>
                  <a:pt x="0" y="0"/>
                </a:moveTo>
                <a:lnTo>
                  <a:pt x="7924028" y="0"/>
                </a:lnTo>
                <a:lnTo>
                  <a:pt x="7924028" y="2336540"/>
                </a:lnTo>
                <a:lnTo>
                  <a:pt x="0" y="23365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11523" y="412509"/>
            <a:ext cx="6021381" cy="996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31"/>
              </a:lnSpc>
            </a:pPr>
            <a:r>
              <a:rPr lang="en-US" sz="5308">
                <a:solidFill>
                  <a:srgbClr val="004AAD"/>
                </a:solidFill>
                <a:latin typeface="Roboto"/>
                <a:ea typeface="Roboto"/>
                <a:cs typeface="Roboto"/>
                <a:sym typeface="Roboto"/>
              </a:rPr>
              <a:t>ИНВЕСТИЦИИ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29692" y="2947321"/>
            <a:ext cx="6769084" cy="919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39"/>
              </a:lnSpc>
            </a:pPr>
            <a:r>
              <a:rPr lang="en-US" sz="4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Привлекаем 850.000 ₽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08016" y="4147004"/>
            <a:ext cx="6769084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Доля инвесторов 10% прибыли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17516" y="7694962"/>
            <a:ext cx="6769084" cy="625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true" sz="2000" i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*Закупка серверов, ПО для разработки и тестирования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7516" y="8408556"/>
            <a:ext cx="6769084" cy="317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true" sz="2000" i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**Составление ПДн и иных соглашений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284822" y="1064376"/>
            <a:ext cx="9646861" cy="8345375"/>
            <a:chOff x="0" y="0"/>
            <a:chExt cx="12862481" cy="11127166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2862481" cy="2467623"/>
              <a:chOff x="0" y="0"/>
              <a:chExt cx="14287144" cy="274093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4287119" cy="2740914"/>
              </a:xfrm>
              <a:custGeom>
                <a:avLst/>
                <a:gdLst/>
                <a:ahLst/>
                <a:cxnLst/>
                <a:rect r="r" b="b" t="t" l="l"/>
                <a:pathLst>
                  <a:path h="2740914" w="14287119">
                    <a:moveTo>
                      <a:pt x="0" y="456819"/>
                    </a:moveTo>
                    <a:cubicBezTo>
                      <a:pt x="0" y="204470"/>
                      <a:pt x="204470" y="0"/>
                      <a:pt x="456819" y="0"/>
                    </a:cubicBezTo>
                    <a:lnTo>
                      <a:pt x="13830300" y="0"/>
                    </a:lnTo>
                    <a:cubicBezTo>
                      <a:pt x="14082649" y="0"/>
                      <a:pt x="14287119" y="204470"/>
                      <a:pt x="14287119" y="456819"/>
                    </a:cubicBezTo>
                    <a:lnTo>
                      <a:pt x="14287119" y="2284095"/>
                    </a:lnTo>
                    <a:cubicBezTo>
                      <a:pt x="14287119" y="2536444"/>
                      <a:pt x="14082649" y="2740914"/>
                      <a:pt x="13830300" y="2740914"/>
                    </a:cubicBezTo>
                    <a:lnTo>
                      <a:pt x="456819" y="2740914"/>
                    </a:lnTo>
                    <a:cubicBezTo>
                      <a:pt x="204470" y="2740914"/>
                      <a:pt x="0" y="2536444"/>
                      <a:pt x="0" y="2284095"/>
                    </a:cubicBezTo>
                    <a:close/>
                  </a:path>
                </a:pathLst>
              </a:custGeom>
              <a:solidFill>
                <a:srgbClr val="5E17EB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0"/>
                <a:ext cx="14287144" cy="27409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just">
                  <a:lnSpc>
                    <a:spcPts val="4560"/>
                  </a:lnSpc>
                </a:pPr>
                <a:r>
                  <a:rPr lang="en-US" sz="3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Инфраструктура проекта*</a:t>
                </a: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2862180"/>
              <a:ext cx="12839794" cy="2463270"/>
              <a:chOff x="0" y="0"/>
              <a:chExt cx="14287144" cy="2740939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4287119" cy="2740914"/>
              </a:xfrm>
              <a:custGeom>
                <a:avLst/>
                <a:gdLst/>
                <a:ahLst/>
                <a:cxnLst/>
                <a:rect r="r" b="b" t="t" l="l"/>
                <a:pathLst>
                  <a:path h="2740914" w="14287119">
                    <a:moveTo>
                      <a:pt x="0" y="456819"/>
                    </a:moveTo>
                    <a:cubicBezTo>
                      <a:pt x="0" y="204470"/>
                      <a:pt x="204470" y="0"/>
                      <a:pt x="456819" y="0"/>
                    </a:cubicBezTo>
                    <a:lnTo>
                      <a:pt x="13830300" y="0"/>
                    </a:lnTo>
                    <a:cubicBezTo>
                      <a:pt x="14082649" y="0"/>
                      <a:pt x="14287119" y="204470"/>
                      <a:pt x="14287119" y="456819"/>
                    </a:cubicBezTo>
                    <a:lnTo>
                      <a:pt x="14287119" y="2284095"/>
                    </a:lnTo>
                    <a:cubicBezTo>
                      <a:pt x="14287119" y="2536444"/>
                      <a:pt x="14082649" y="2740914"/>
                      <a:pt x="13830300" y="2740914"/>
                    </a:cubicBezTo>
                    <a:lnTo>
                      <a:pt x="456819" y="2740914"/>
                    </a:lnTo>
                    <a:cubicBezTo>
                      <a:pt x="204470" y="2740914"/>
                      <a:pt x="0" y="2536444"/>
                      <a:pt x="0" y="2284095"/>
                    </a:cubicBezTo>
                    <a:close/>
                  </a:path>
                </a:pathLst>
              </a:custGeom>
              <a:solidFill>
                <a:srgbClr val="5E17EB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0"/>
                <a:ext cx="14287144" cy="27409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4560"/>
                  </a:lnSpc>
                </a:pPr>
                <a:r>
                  <a:rPr lang="en-US" sz="3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Маркетинг</a:t>
                </a: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22688" y="5719150"/>
              <a:ext cx="12839794" cy="2463272"/>
              <a:chOff x="0" y="0"/>
              <a:chExt cx="14287144" cy="2740942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4287119" cy="2740916"/>
              </a:xfrm>
              <a:custGeom>
                <a:avLst/>
                <a:gdLst/>
                <a:ahLst/>
                <a:cxnLst/>
                <a:rect r="r" b="b" t="t" l="l"/>
                <a:pathLst>
                  <a:path h="2740916" w="14287119">
                    <a:moveTo>
                      <a:pt x="0" y="456819"/>
                    </a:moveTo>
                    <a:cubicBezTo>
                      <a:pt x="0" y="204470"/>
                      <a:pt x="204470" y="0"/>
                      <a:pt x="456819" y="0"/>
                    </a:cubicBezTo>
                    <a:lnTo>
                      <a:pt x="13830300" y="0"/>
                    </a:lnTo>
                    <a:cubicBezTo>
                      <a:pt x="14082649" y="0"/>
                      <a:pt x="14287119" y="204470"/>
                      <a:pt x="14287119" y="456819"/>
                    </a:cubicBezTo>
                    <a:lnTo>
                      <a:pt x="14287119" y="2284097"/>
                    </a:lnTo>
                    <a:cubicBezTo>
                      <a:pt x="14287119" y="2536446"/>
                      <a:pt x="14082649" y="2740916"/>
                      <a:pt x="13830300" y="2740916"/>
                    </a:cubicBezTo>
                    <a:lnTo>
                      <a:pt x="456819" y="2740916"/>
                    </a:lnTo>
                    <a:cubicBezTo>
                      <a:pt x="204470" y="2740916"/>
                      <a:pt x="0" y="2536446"/>
                      <a:pt x="0" y="2284097"/>
                    </a:cubicBezTo>
                    <a:close/>
                  </a:path>
                </a:pathLst>
              </a:custGeom>
              <a:solidFill>
                <a:srgbClr val="5E17EB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0"/>
                <a:ext cx="14287144" cy="274094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4560"/>
                  </a:lnSpc>
                </a:pPr>
                <a:r>
                  <a:rPr lang="en-US" sz="3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Юридические услуги**</a:t>
                </a: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8663898"/>
              <a:ext cx="12839781" cy="2463268"/>
              <a:chOff x="0" y="0"/>
              <a:chExt cx="14287144" cy="2740939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4287119" cy="2740914"/>
              </a:xfrm>
              <a:custGeom>
                <a:avLst/>
                <a:gdLst/>
                <a:ahLst/>
                <a:cxnLst/>
                <a:rect r="r" b="b" t="t" l="l"/>
                <a:pathLst>
                  <a:path h="2740914" w="14287119">
                    <a:moveTo>
                      <a:pt x="0" y="456819"/>
                    </a:moveTo>
                    <a:cubicBezTo>
                      <a:pt x="0" y="204470"/>
                      <a:pt x="204470" y="0"/>
                      <a:pt x="456819" y="0"/>
                    </a:cubicBezTo>
                    <a:lnTo>
                      <a:pt x="13830300" y="0"/>
                    </a:lnTo>
                    <a:cubicBezTo>
                      <a:pt x="14082649" y="0"/>
                      <a:pt x="14287119" y="204470"/>
                      <a:pt x="14287119" y="456819"/>
                    </a:cubicBezTo>
                    <a:lnTo>
                      <a:pt x="14287119" y="2284095"/>
                    </a:lnTo>
                    <a:cubicBezTo>
                      <a:pt x="14287119" y="2536444"/>
                      <a:pt x="14082649" y="2740914"/>
                      <a:pt x="13830300" y="2740914"/>
                    </a:cubicBezTo>
                    <a:lnTo>
                      <a:pt x="456819" y="2740914"/>
                    </a:lnTo>
                    <a:cubicBezTo>
                      <a:pt x="204470" y="2740914"/>
                      <a:pt x="0" y="2536444"/>
                      <a:pt x="0" y="2284095"/>
                    </a:cubicBezTo>
                    <a:close/>
                  </a:path>
                </a:pathLst>
              </a:custGeom>
              <a:solidFill>
                <a:srgbClr val="5E17EB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0"/>
                <a:ext cx="14287144" cy="27409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4560"/>
                  </a:lnSpc>
                </a:pPr>
                <a:r>
                  <a:rPr lang="en-US" sz="3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Резерв</a:t>
                </a: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9122980" y="176943"/>
              <a:ext cx="3224523" cy="2037537"/>
              <a:chOff x="0" y="0"/>
              <a:chExt cx="3432290" cy="2168823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3432354" cy="2168937"/>
              </a:xfrm>
              <a:custGeom>
                <a:avLst/>
                <a:gdLst/>
                <a:ahLst/>
                <a:cxnLst/>
                <a:rect r="r" b="b" t="t" l="l"/>
                <a:pathLst>
                  <a:path h="2168937" w="3432354">
                    <a:moveTo>
                      <a:pt x="0" y="361535"/>
                    </a:moveTo>
                    <a:cubicBezTo>
                      <a:pt x="0" y="161901"/>
                      <a:pt x="128536" y="0"/>
                      <a:pt x="287029" y="0"/>
                    </a:cubicBezTo>
                    <a:lnTo>
                      <a:pt x="3145314" y="0"/>
                    </a:lnTo>
                    <a:cubicBezTo>
                      <a:pt x="3303807" y="0"/>
                      <a:pt x="3432354" y="161901"/>
                      <a:pt x="3432354" y="361535"/>
                    </a:cubicBezTo>
                    <a:lnTo>
                      <a:pt x="3432354" y="1807408"/>
                    </a:lnTo>
                    <a:cubicBezTo>
                      <a:pt x="3432354" y="2007042"/>
                      <a:pt x="3303807" y="2168937"/>
                      <a:pt x="3145314" y="2168937"/>
                    </a:cubicBezTo>
                    <a:lnTo>
                      <a:pt x="287029" y="2168937"/>
                    </a:lnTo>
                    <a:cubicBezTo>
                      <a:pt x="128536" y="2168809"/>
                      <a:pt x="0" y="2007042"/>
                      <a:pt x="0" y="1807408"/>
                    </a:cubicBezTo>
                    <a:close/>
                  </a:path>
                </a:pathLst>
              </a:custGeom>
              <a:solidFill>
                <a:srgbClr val="BEB787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76200"/>
                <a:ext cx="3432290" cy="22450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440"/>
                  </a:lnSpc>
                </a:pPr>
                <a:r>
                  <a:rPr lang="en-US" sz="370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33%</a:t>
                </a:r>
              </a:p>
              <a:p>
                <a:pPr algn="ctr">
                  <a:lnSpc>
                    <a:spcPts val="4440"/>
                  </a:lnSpc>
                </a:pPr>
                <a:r>
                  <a:rPr lang="en-US" sz="370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280 000 </a:t>
                </a:r>
                <a:r>
                  <a:rPr lang="en-US" sz="3700">
                    <a:solidFill>
                      <a:srgbClr val="EEECE1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₽</a:t>
                </a: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9122980" y="5972256"/>
              <a:ext cx="3224523" cy="1957060"/>
              <a:chOff x="0" y="0"/>
              <a:chExt cx="3573431" cy="2168823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3573494" cy="2168937"/>
              </a:xfrm>
              <a:custGeom>
                <a:avLst/>
                <a:gdLst/>
                <a:ahLst/>
                <a:cxnLst/>
                <a:rect r="r" b="b" t="t" l="l"/>
                <a:pathLst>
                  <a:path h="2168937" w="3573494">
                    <a:moveTo>
                      <a:pt x="0" y="361535"/>
                    </a:moveTo>
                    <a:cubicBezTo>
                      <a:pt x="0" y="161901"/>
                      <a:pt x="133822" y="0"/>
                      <a:pt x="298832" y="0"/>
                    </a:cubicBezTo>
                    <a:lnTo>
                      <a:pt x="3274654" y="0"/>
                    </a:lnTo>
                    <a:cubicBezTo>
                      <a:pt x="3439664" y="0"/>
                      <a:pt x="3573494" y="161901"/>
                      <a:pt x="3573494" y="361535"/>
                    </a:cubicBezTo>
                    <a:lnTo>
                      <a:pt x="3573494" y="1807408"/>
                    </a:lnTo>
                    <a:cubicBezTo>
                      <a:pt x="3573494" y="2007042"/>
                      <a:pt x="3439664" y="2168937"/>
                      <a:pt x="3274654" y="2168937"/>
                    </a:cubicBezTo>
                    <a:lnTo>
                      <a:pt x="298832" y="2168937"/>
                    </a:lnTo>
                    <a:cubicBezTo>
                      <a:pt x="133822" y="2168809"/>
                      <a:pt x="0" y="2007042"/>
                      <a:pt x="0" y="1807408"/>
                    </a:cubicBezTo>
                    <a:close/>
                  </a:path>
                </a:pathLst>
              </a:custGeom>
              <a:solidFill>
                <a:srgbClr val="BEB787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76200"/>
                <a:ext cx="3573431" cy="22450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440"/>
                  </a:lnSpc>
                </a:pPr>
                <a:r>
                  <a:rPr lang="en-US" sz="370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14%</a:t>
                </a:r>
              </a:p>
              <a:p>
                <a:pPr algn="ctr">
                  <a:lnSpc>
                    <a:spcPts val="4440"/>
                  </a:lnSpc>
                </a:pPr>
                <a:r>
                  <a:rPr lang="en-US" sz="370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120 000 </a:t>
                </a:r>
                <a:r>
                  <a:rPr lang="en-US" sz="3700">
                    <a:solidFill>
                      <a:srgbClr val="EEECE1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₽</a:t>
                </a: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9122980" y="3113009"/>
              <a:ext cx="3224523" cy="1961611"/>
              <a:chOff x="0" y="0"/>
              <a:chExt cx="3565140" cy="2168823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3565203" cy="2168937"/>
              </a:xfrm>
              <a:custGeom>
                <a:avLst/>
                <a:gdLst/>
                <a:ahLst/>
                <a:cxnLst/>
                <a:rect r="r" b="b" t="t" l="l"/>
                <a:pathLst>
                  <a:path h="2168937" w="3565203">
                    <a:moveTo>
                      <a:pt x="0" y="361535"/>
                    </a:moveTo>
                    <a:cubicBezTo>
                      <a:pt x="0" y="161901"/>
                      <a:pt x="133511" y="0"/>
                      <a:pt x="298139" y="0"/>
                    </a:cubicBezTo>
                    <a:lnTo>
                      <a:pt x="3267056" y="0"/>
                    </a:lnTo>
                    <a:cubicBezTo>
                      <a:pt x="3431684" y="0"/>
                      <a:pt x="3565203" y="161901"/>
                      <a:pt x="3565203" y="361535"/>
                    </a:cubicBezTo>
                    <a:lnTo>
                      <a:pt x="3565203" y="1807408"/>
                    </a:lnTo>
                    <a:cubicBezTo>
                      <a:pt x="3565203" y="2007042"/>
                      <a:pt x="3431684" y="2168937"/>
                      <a:pt x="3267056" y="2168937"/>
                    </a:cubicBezTo>
                    <a:lnTo>
                      <a:pt x="298139" y="2168937"/>
                    </a:lnTo>
                    <a:cubicBezTo>
                      <a:pt x="133511" y="2168809"/>
                      <a:pt x="0" y="2007042"/>
                      <a:pt x="0" y="1807408"/>
                    </a:cubicBezTo>
                    <a:close/>
                  </a:path>
                </a:pathLst>
              </a:custGeom>
              <a:solidFill>
                <a:srgbClr val="BEB787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76200"/>
                <a:ext cx="3565140" cy="22450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440"/>
                  </a:lnSpc>
                </a:pPr>
                <a:r>
                  <a:rPr lang="en-US" sz="370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41%</a:t>
                </a:r>
              </a:p>
              <a:p>
                <a:pPr algn="ctr">
                  <a:lnSpc>
                    <a:spcPts val="4440"/>
                  </a:lnSpc>
                </a:pPr>
                <a:r>
                  <a:rPr lang="en-US" sz="370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350 000 </a:t>
                </a:r>
                <a:r>
                  <a:rPr lang="en-US" sz="3700">
                    <a:solidFill>
                      <a:srgbClr val="EEECE1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₽</a:t>
                </a: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9122980" y="8919915"/>
              <a:ext cx="3224523" cy="1951235"/>
              <a:chOff x="0" y="0"/>
              <a:chExt cx="3584098" cy="2168823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3584161" cy="2168937"/>
              </a:xfrm>
              <a:custGeom>
                <a:avLst/>
                <a:gdLst/>
                <a:ahLst/>
                <a:cxnLst/>
                <a:rect r="r" b="b" t="t" l="l"/>
                <a:pathLst>
                  <a:path h="2168937" w="3584161">
                    <a:moveTo>
                      <a:pt x="0" y="361535"/>
                    </a:moveTo>
                    <a:cubicBezTo>
                      <a:pt x="0" y="161901"/>
                      <a:pt x="134221" y="0"/>
                      <a:pt x="299724" y="0"/>
                    </a:cubicBezTo>
                    <a:lnTo>
                      <a:pt x="3284430" y="0"/>
                    </a:lnTo>
                    <a:cubicBezTo>
                      <a:pt x="3449932" y="0"/>
                      <a:pt x="3584161" y="161901"/>
                      <a:pt x="3584161" y="361535"/>
                    </a:cubicBezTo>
                    <a:lnTo>
                      <a:pt x="3584161" y="1807408"/>
                    </a:lnTo>
                    <a:cubicBezTo>
                      <a:pt x="3584161" y="2007042"/>
                      <a:pt x="3449932" y="2168937"/>
                      <a:pt x="3284430" y="2168937"/>
                    </a:cubicBezTo>
                    <a:lnTo>
                      <a:pt x="299724" y="2168937"/>
                    </a:lnTo>
                    <a:cubicBezTo>
                      <a:pt x="134221" y="2168809"/>
                      <a:pt x="0" y="2007042"/>
                      <a:pt x="0" y="1807408"/>
                    </a:cubicBezTo>
                    <a:close/>
                  </a:path>
                </a:pathLst>
              </a:custGeom>
              <a:solidFill>
                <a:srgbClr val="BEB787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76200"/>
                <a:ext cx="3584098" cy="22450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440"/>
                  </a:lnSpc>
                </a:pPr>
                <a:r>
                  <a:rPr lang="en-US" sz="370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12%</a:t>
                </a:r>
              </a:p>
              <a:p>
                <a:pPr algn="ctr">
                  <a:lnSpc>
                    <a:spcPts val="4440"/>
                  </a:lnSpc>
                </a:pPr>
                <a:r>
                  <a:rPr lang="en-US" sz="370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100 000 </a:t>
                </a:r>
                <a:r>
                  <a:rPr lang="en-US" sz="3700">
                    <a:solidFill>
                      <a:srgbClr val="EEECE1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₽</a:t>
                </a: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DAHIJ2mv0O0</dc:identifier>
  <dcterms:modified xsi:type="dcterms:W3CDTF">2011-08-01T06:04:30Z</dcterms:modified>
  <cp:revision>1</cp:revision>
  <dc:title>навырост</dc:title>
</cp:coreProperties>
</file>