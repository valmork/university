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70" r:id="rId10"/>
    <p:sldId id="267" r:id="rId11"/>
    <p:sldId id="268" r:id="rId12"/>
    <p:sldId id="269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54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1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57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061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315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385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1425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5749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951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557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954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07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282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48746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830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305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4696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6855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6416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91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37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978081"/>
            <a:ext cx="5924006" cy="169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4000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Техническое задание </a:t>
            </a:r>
          </a:p>
          <a:p>
            <a:pPr marL="0" indent="0" algn="l">
              <a:buNone/>
            </a:pPr>
            <a:r>
              <a:rPr lang="ru-RU" sz="4000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на разработку</a:t>
            </a:r>
          </a:p>
          <a:p>
            <a:pPr marL="0" indent="0" algn="l">
              <a:buNone/>
            </a:pPr>
            <a:r>
              <a:rPr lang="ru-RU" sz="4000" dirty="0">
                <a:solidFill>
                  <a:schemeClr val="accent2"/>
                </a:solidFill>
                <a:latin typeface="+mj-lt"/>
                <a:ea typeface="Calibri" pitchFamily="34" charset="-122"/>
                <a:cs typeface="Calibri" pitchFamily="34" charset="-120"/>
              </a:rPr>
              <a:t>мобильного приложения</a:t>
            </a:r>
            <a:endParaRPr lang="ru-RU" sz="4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724912"/>
            <a:ext cx="5029200" cy="0"/>
          </a:xfrm>
          <a:prstGeom prst="line">
            <a:avLst/>
          </a:prstGeom>
          <a:noFill/>
          <a:ln w="889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22514" y="28346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ООО «Семейные цифровые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19.201-78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№ НВ-01/2026 от 15.04.2026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назначение системы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сведения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04322"/>
            <a:ext cx="4160520" cy="406908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74320" y="704322"/>
            <a:ext cx="4160520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74320" y="70432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3409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Альтернативная модель родительского контроля без запретов</a:t>
            </a:r>
            <a:endParaRPr lang="en-US" sz="12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Ребёнок зарабатывает игровую валюту (ИВ) через выполнение задач</a:t>
            </a:r>
            <a:endParaRPr lang="en-US" sz="12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ИВ используется для доступа к цифровым ресурсам или конвертируется в реальные поощрения</a:t>
            </a:r>
            <a:endParaRPr lang="en-US" sz="1250" dirty="0"/>
          </a:p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Целевая аудитория: родители 25+ с </a:t>
            </a:r>
            <a:r>
              <a:rPr lang="ru-RU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детьми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5–1</a:t>
            </a:r>
            <a:r>
              <a:rPr lang="ru-RU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лет, семьи со средним и выше доходом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704322"/>
            <a:ext cx="4160520" cy="406908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709160" y="704322"/>
            <a:ext cx="4160520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09160" y="70432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создания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13409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Формирование финансовой грамотности через игровую модель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Снижение конфликтов родителей и детей из-за гаджетов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Мотивационная система обучения через геймификацию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Контроль экранного времени без прямых запретов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Масштабируемость до 100 000 активных семей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SaaS-монетизация и B2B-направление (школы, банки, EdTech)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88680" y="477340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возможности системы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14800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Внутрисистемные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274320" y="1115568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11480" y="11155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в систему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472184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274320" y="1472184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11480" y="14721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семейного профиля и ролей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11480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настройка заданий (родитель)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85416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274320" y="2185416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11480" y="2185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выполнение заданий (ребёнок)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542032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274320" y="2542032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11480" y="25420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фотоотчёта о выполнении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898648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274320" y="2898648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11480" y="2898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выполнения родителем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55264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274320" y="3255264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11480" y="32552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Трата ИВ в магазине наград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611880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11480" y="3611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Конвертация ИВ в реальные поощрения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968496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274320" y="3968496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411480" y="3968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статистики и аналитики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325112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274320" y="4325112"/>
            <a:ext cx="54864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411480" y="4325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магазином (родитель)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1115568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4754880" y="1115568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4892040" y="11155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и списание игровой валюты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1472184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Shape 43"/>
          <p:cNvSpPr/>
          <p:nvPr/>
        </p:nvSpPr>
        <p:spPr>
          <a:xfrm>
            <a:off x="4754880" y="1472184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4892040" y="14721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лимитов экранного времени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1828800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6"/>
          <p:cNvSpPr/>
          <p:nvPr/>
        </p:nvSpPr>
        <p:spPr>
          <a:xfrm>
            <a:off x="4754880" y="1828800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4892040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списание ИВ при использовании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2185416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4754880" y="2185416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4892040" y="2185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сгорания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баланса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2542032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Shape 52"/>
          <p:cNvSpPr/>
          <p:nvPr/>
        </p:nvSpPr>
        <p:spPr>
          <a:xfrm>
            <a:off x="4754880" y="2542032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4892040" y="25420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кредита экранного времени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2898648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Shape 55"/>
          <p:cNvSpPr/>
          <p:nvPr/>
        </p:nvSpPr>
        <p:spPr>
          <a:xfrm>
            <a:off x="4754880" y="2898648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4892040" y="2898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семейным бюджетом ИВ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54880" y="3255264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Shape 58"/>
          <p:cNvSpPr/>
          <p:nvPr/>
        </p:nvSpPr>
        <p:spPr>
          <a:xfrm>
            <a:off x="4754880" y="3255264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1" name="Text 59"/>
          <p:cNvSpPr/>
          <p:nvPr/>
        </p:nvSpPr>
        <p:spPr>
          <a:xfrm>
            <a:off x="4892040" y="32552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уведомлений пользователям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54880" y="3611880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3" name="Shape 61"/>
          <p:cNvSpPr/>
          <p:nvPr/>
        </p:nvSpPr>
        <p:spPr>
          <a:xfrm>
            <a:off x="4754880" y="3611880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62"/>
          <p:cNvSpPr/>
          <p:nvPr/>
        </p:nvSpPr>
        <p:spPr>
          <a:xfrm>
            <a:off x="4892040" y="3611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и визуализация данных активности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754880" y="3968496"/>
            <a:ext cx="4114800" cy="310896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Shape 64"/>
          <p:cNvSpPr/>
          <p:nvPr/>
        </p:nvSpPr>
        <p:spPr>
          <a:xfrm>
            <a:off x="4754880" y="3968496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7" name="Text 65"/>
          <p:cNvSpPr/>
          <p:nvPr/>
        </p:nvSpPr>
        <p:spPr>
          <a:xfrm>
            <a:off x="4892040" y="3968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OS API (iOS / Android)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754880" y="4325112"/>
            <a:ext cx="411480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9" name="Shape 67"/>
          <p:cNvSpPr/>
          <p:nvPr/>
        </p:nvSpPr>
        <p:spPr>
          <a:xfrm>
            <a:off x="4754880" y="4325112"/>
            <a:ext cx="54864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0" name="Text 68"/>
          <p:cNvSpPr/>
          <p:nvPr/>
        </p:nvSpPr>
        <p:spPr>
          <a:xfrm>
            <a:off x="4892040" y="4325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персональных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</a:t>
            </a:r>
            <a:r>
              <a:rPr lang="ru-RU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нных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Диаграмма вариантов использования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694944"/>
            <a:ext cx="8595360" cy="320040"/>
          </a:xfrm>
          <a:prstGeom prst="rect">
            <a:avLst/>
          </a:prstGeom>
          <a:solidFill>
            <a:srgbClr val="FFF8E1"/>
          </a:solidFill>
          <a:ln w="635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0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разрабатываемого продукта</a:t>
            </a:r>
            <a:r>
              <a:rPr lang="en-US" sz="10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два актора: Родитель и Ребёнок. Варианты использования разделены по ролям.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0607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10607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" y="479145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«НаВырост»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BE1597-0C5F-A467-B90B-248036F7F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" b="7468"/>
          <a:stretch/>
        </p:blipFill>
        <p:spPr bwMode="auto">
          <a:xfrm>
            <a:off x="1632699" y="1055640"/>
            <a:ext cx="5388587" cy="401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482170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19" y="706902"/>
            <a:ext cx="8686799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74320" y="706902"/>
            <a:ext cx="109728" cy="91440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74347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Клиентский уровень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03608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ребёнка (iOS/Android)   ·   Приложение родителя (iOS/Android)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85894"/>
            <a:ext cx="8686800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74320" y="1785894"/>
            <a:ext cx="109728" cy="914400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274319" y="2864886"/>
            <a:ext cx="8686793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74320" y="2864886"/>
            <a:ext cx="109728" cy="914400"/>
          </a:xfrm>
          <a:prstGeom prst="rect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57200" y="178589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Серверный уровень (Backend)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07850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r>
              <a:rPr lang="ru-RU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ru-RU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 err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</a:t>
            </a: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Управление ИВ   ·   Обработка задач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19" y="3943878"/>
            <a:ext cx="8686785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274320" y="3943878"/>
            <a:ext cx="109728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7200" y="286488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данных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157494"/>
            <a:ext cx="5924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(пользователи, задания, транзакции)   ·   Медиахранилище (фотоотчёты)   ·   Кэш (Redis)</a:t>
            </a:r>
            <a:endParaRPr lang="en-US" sz="105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EB21A017-2B12-3542-712C-E9D249012505}"/>
              </a:ext>
            </a:extLst>
          </p:cNvPr>
          <p:cNvSpPr/>
          <p:nvPr/>
        </p:nvSpPr>
        <p:spPr>
          <a:xfrm>
            <a:off x="457200" y="394387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Интеграционный уровень</a:t>
            </a:r>
            <a:endParaRPr lang="en-US" sz="12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62E7DC36-F1AC-E531-392A-A45E797363EC}"/>
              </a:ext>
            </a:extLst>
          </p:cNvPr>
          <p:cNvSpPr/>
          <p:nvPr/>
        </p:nvSpPr>
        <p:spPr>
          <a:xfrm>
            <a:off x="457200" y="423648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API (IOS)/Digital Wellbeing API (Android) · Push-</a:t>
            </a:r>
            <a:r>
              <a:rPr lang="ru-RU" sz="10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94279"/>
              </p:ext>
            </p:extLst>
          </p:nvPr>
        </p:nvGraphicFramePr>
        <p:xfrm>
          <a:off x="748157" y="676890"/>
          <a:ext cx="7647686" cy="4169664"/>
        </p:xfrm>
        <a:graphic>
          <a:graphicData uri="http://schemas.openxmlformats.org/drawingml/2006/table">
            <a:tbl>
              <a:tblPr/>
              <a:tblGrid>
                <a:gridCol w="194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 функций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Трудоёмкость (ч)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Исполнитель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пользователями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Кошелёк времени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Биржа задач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наград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Родительский контроль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OS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Экономические механизмы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Уведомления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 и отчётность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Учёт выплат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Безопасность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DevOps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Модули: функции и трудоёмкость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82819" y="47827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функционирования: работа с </a:t>
            </a: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задачами и ИВ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58200" y="474092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428750-B8CC-DE61-895A-3D70DBC98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97554"/>
            <a:ext cx="7623765" cy="441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разработки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389120" cy="96012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91440" cy="960120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MVP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0607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(14 нед.)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243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Кошелёк ИВ  ·  Биржа задач  ·  </a:t>
            </a:r>
            <a:r>
              <a:rPr lang="en-US" sz="950" dirty="0" err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Регистрация / роли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4389120" cy="96012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91440" cy="96012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11480" y="1883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ru-RU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1396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(8 нед.)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3225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ru-RU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 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SaaS-подписка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4389120" cy="96012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91440" cy="960120"/>
          </a:xfrm>
          <a:prstGeom prst="rect">
            <a:avLst/>
          </a:prstGeom>
          <a:solidFill>
            <a:srgbClr val="6A1A6A"/>
          </a:solidFill>
          <a:ln w="12700">
            <a:solidFill>
              <a:srgbClr val="6A1A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11480" y="2962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Геймификация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2186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I–II кв. 2027 (12 нед.)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401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 времени  ·  </a:t>
            </a:r>
            <a:r>
              <a:rPr lang="ru-RU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Инфляция (сгорание)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баланса  ·  Семейный бюджет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986784"/>
            <a:ext cx="4389120" cy="96012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91440" cy="960120"/>
          </a:xfrm>
          <a:prstGeom prst="rect">
            <a:avLst/>
          </a:prstGeom>
          <a:solidFill>
            <a:srgbClr val="8B3A00"/>
          </a:solidFill>
          <a:ln w="12700">
            <a:solidFill>
              <a:srgbClr val="8B3A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11480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Масштабирование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2976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 (18 нед.)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480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проверка заданий   </a:t>
            </a: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Аналитика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64008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Диаграмма Ганта (недели)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859536"/>
            <a:ext cx="0" cy="3931920"/>
          </a:xfrm>
          <a:prstGeom prst="line">
            <a:avLst/>
          </a:prstGeom>
          <a:noFill/>
          <a:ln w="5080">
            <a:solidFill>
              <a:srgbClr val="CADD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709160" y="7498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52160" y="859536"/>
            <a:ext cx="0" cy="3931920"/>
          </a:xfrm>
          <a:prstGeom prst="line">
            <a:avLst/>
          </a:prstGeom>
          <a:noFill/>
          <a:ln w="5080">
            <a:solidFill>
              <a:srgbClr val="CADD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714999" y="749808"/>
            <a:ext cx="3411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859536"/>
            <a:ext cx="0" cy="3931920"/>
          </a:xfrm>
          <a:prstGeom prst="line">
            <a:avLst/>
          </a:prstGeom>
          <a:noFill/>
          <a:ln w="5080">
            <a:solidFill>
              <a:srgbClr val="CADD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720839" y="749808"/>
            <a:ext cx="341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63840" y="859536"/>
            <a:ext cx="0" cy="3931920"/>
          </a:xfrm>
          <a:prstGeom prst="line">
            <a:avLst/>
          </a:prstGeom>
          <a:noFill/>
          <a:ln w="5080">
            <a:solidFill>
              <a:srgbClr val="CADD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7726679" y="731520"/>
            <a:ext cx="3411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869680" y="859536"/>
            <a:ext cx="0" cy="3931920"/>
          </a:xfrm>
          <a:prstGeom prst="line">
            <a:avLst/>
          </a:prstGeom>
          <a:noFill/>
          <a:ln w="5080">
            <a:solidFill>
              <a:srgbClr val="CADDE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8732520" y="786384"/>
            <a:ext cx="292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1005840"/>
            <a:ext cx="1083212" cy="457200"/>
          </a:xfrm>
          <a:prstGeom prst="rect">
            <a:avLst/>
          </a:prstGeom>
          <a:solidFill>
            <a:srgbClr val="0C7B8B">
              <a:alpha val="80000"/>
            </a:srgbClr>
          </a:solidFill>
          <a:ln w="635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892040" y="1005840"/>
            <a:ext cx="991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29532" y="2084832"/>
            <a:ext cx="618978" cy="457200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5975252" y="2084832"/>
            <a:ext cx="52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15–22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48511" y="3163824"/>
            <a:ext cx="928468" cy="457200"/>
          </a:xfrm>
          <a:prstGeom prst="rect">
            <a:avLst/>
          </a:prstGeom>
          <a:solidFill>
            <a:srgbClr val="6A1A6A">
              <a:alpha val="80000"/>
            </a:srgbClr>
          </a:solidFill>
          <a:ln w="6350">
            <a:solidFill>
              <a:srgbClr val="6A1A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6594231" y="3163824"/>
            <a:ext cx="83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23–34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76978" y="4242816"/>
            <a:ext cx="1392702" cy="457200"/>
          </a:xfrm>
          <a:prstGeom prst="rect">
            <a:avLst/>
          </a:prstGeom>
          <a:solidFill>
            <a:srgbClr val="8B3A00">
              <a:alpha val="90000"/>
            </a:srgbClr>
          </a:solidFill>
          <a:ln w="6350">
            <a:solidFill>
              <a:srgbClr val="8B3A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5" name="Text 43"/>
          <p:cNvSpPr/>
          <p:nvPr/>
        </p:nvSpPr>
        <p:spPr>
          <a:xfrm>
            <a:off x="7522698" y="4242816"/>
            <a:ext cx="13012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35–52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29532" y="859536"/>
            <a:ext cx="0" cy="3931920"/>
          </a:xfrm>
          <a:prstGeom prst="line">
            <a:avLst/>
          </a:prstGeom>
          <a:noFill/>
          <a:ln w="1905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5655212" y="46634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Интерфейс продукта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82951" y="478722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5383BCDC-4FE6-A82A-CEC6-937645E1212B}"/>
              </a:ext>
            </a:extLst>
          </p:cNvPr>
          <p:cNvSpPr/>
          <p:nvPr/>
        </p:nvSpPr>
        <p:spPr>
          <a:xfrm>
            <a:off x="0" y="868680"/>
            <a:ext cx="2375034" cy="3960000"/>
          </a:xfrm>
          <a:custGeom>
            <a:avLst/>
            <a:gdLst/>
            <a:ahLst/>
            <a:cxnLst/>
            <a:rect l="l" t="t" r="r" b="b"/>
            <a:pathLst>
              <a:path w="3499246" h="6064774">
                <a:moveTo>
                  <a:pt x="0" y="0"/>
                </a:moveTo>
                <a:lnTo>
                  <a:pt x="3499246" y="0"/>
                </a:lnTo>
                <a:lnTo>
                  <a:pt x="3499246" y="6064774"/>
                </a:lnTo>
                <a:lnTo>
                  <a:pt x="0" y="606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661" r="-103586" b="-106566"/>
            </a:stretch>
          </a:blipFill>
        </p:spPr>
        <p:txBody>
          <a:bodyPr/>
          <a:lstStyle/>
          <a:p>
            <a:endParaRPr lang="ru-RU" noProof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67AB594-C524-0341-B6D6-B445FD210D8A}"/>
              </a:ext>
            </a:extLst>
          </p:cNvPr>
          <p:cNvSpPr/>
          <p:nvPr/>
        </p:nvSpPr>
        <p:spPr>
          <a:xfrm>
            <a:off x="6465570" y="870829"/>
            <a:ext cx="2376000" cy="3960000"/>
          </a:xfrm>
          <a:custGeom>
            <a:avLst/>
            <a:gdLst/>
            <a:ahLst/>
            <a:cxnLst/>
            <a:rect l="l" t="t" r="r" b="b"/>
            <a:pathLst>
              <a:path w="3434159" h="6064774">
                <a:moveTo>
                  <a:pt x="0" y="0"/>
                </a:moveTo>
                <a:lnTo>
                  <a:pt x="3434158" y="0"/>
                </a:lnTo>
                <a:lnTo>
                  <a:pt x="3434158" y="6064774"/>
                </a:lnTo>
                <a:lnTo>
                  <a:pt x="0" y="606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687" t="-3410" r="-3868" b="-104903"/>
            </a:stretch>
          </a:blipFill>
        </p:spPr>
        <p:txBody>
          <a:bodyPr/>
          <a:lstStyle/>
          <a:p>
            <a:endParaRPr lang="ru-RU" noProof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1B28068-1A96-3F89-C158-B7DBB1C948BF}"/>
              </a:ext>
            </a:extLst>
          </p:cNvPr>
          <p:cNvSpPr/>
          <p:nvPr/>
        </p:nvSpPr>
        <p:spPr>
          <a:xfrm>
            <a:off x="2196000" y="868680"/>
            <a:ext cx="2376000" cy="3960000"/>
          </a:xfrm>
          <a:custGeom>
            <a:avLst/>
            <a:gdLst/>
            <a:ahLst/>
            <a:cxnLst/>
            <a:rect l="l" t="t" r="r" b="b"/>
            <a:pathLst>
              <a:path w="3543211" h="6064774">
                <a:moveTo>
                  <a:pt x="0" y="0"/>
                </a:moveTo>
                <a:lnTo>
                  <a:pt x="3543212" y="0"/>
                </a:lnTo>
                <a:lnTo>
                  <a:pt x="3543212" y="6064774"/>
                </a:lnTo>
                <a:lnTo>
                  <a:pt x="0" y="606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97" t="-106580" r="-96174"/>
            </a:stretch>
          </a:blipFill>
        </p:spPr>
        <p:txBody>
          <a:bodyPr/>
          <a:lstStyle/>
          <a:p>
            <a:endParaRPr lang="ru-RU" noProof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9159781-7DBB-E6EE-8773-DD3A624F7972}"/>
              </a:ext>
            </a:extLst>
          </p:cNvPr>
          <p:cNvSpPr/>
          <p:nvPr/>
        </p:nvSpPr>
        <p:spPr>
          <a:xfrm>
            <a:off x="4330785" y="868680"/>
            <a:ext cx="2376000" cy="3960000"/>
          </a:xfrm>
          <a:custGeom>
            <a:avLst/>
            <a:gdLst/>
            <a:ahLst/>
            <a:cxnLst/>
            <a:rect l="l" t="t" r="r" b="b"/>
            <a:pathLst>
              <a:path w="3557385" h="6064774">
                <a:moveTo>
                  <a:pt x="0" y="0"/>
                </a:moveTo>
                <a:lnTo>
                  <a:pt x="3557385" y="0"/>
                </a:lnTo>
                <a:lnTo>
                  <a:pt x="3557385" y="6064774"/>
                </a:lnTo>
                <a:lnTo>
                  <a:pt x="0" y="606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780" t="-106576"/>
            </a:stretch>
          </a:blipFill>
        </p:spPr>
        <p:txBody>
          <a:bodyPr/>
          <a:lstStyle/>
          <a:p>
            <a:r>
              <a:rPr lang="ru-RU" noProof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830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и условия разработки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479122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694944"/>
            <a:ext cx="2743200" cy="100584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56032" y="694944"/>
            <a:ext cx="2743200" cy="7315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4747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команды (920 ч x 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ru-RU" sz="17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135 360</a:t>
            </a:r>
            <a:r>
              <a:rPr lang="en-US" sz="17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182112" y="694944"/>
            <a:ext cx="2743200" cy="100584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182112" y="694944"/>
            <a:ext cx="2743200" cy="7315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27355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проектом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552 000 ₽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08192" y="694944"/>
            <a:ext cx="2743200" cy="100584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108192" y="694944"/>
            <a:ext cx="2743200" cy="73152"/>
          </a:xfrm>
          <a:prstGeom prst="rect">
            <a:avLst/>
          </a:prstGeom>
          <a:solidFill>
            <a:srgbClr val="5A3A00"/>
          </a:solidFill>
          <a:ln w="12700">
            <a:solidFill>
              <a:srgbClr val="5A3A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199632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продукта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</a:t>
            </a:r>
            <a:r>
              <a:rPr lang="en-US" sz="17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r>
              <a:rPr lang="en-US" sz="17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56032" y="1883664"/>
            <a:ext cx="2743200" cy="100584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256032" y="1883664"/>
            <a:ext cx="2743200" cy="73152"/>
          </a:xfrm>
          <a:prstGeom prst="rect">
            <a:avLst/>
          </a:prstGeom>
          <a:solidFill>
            <a:srgbClr val="6A1A6A"/>
          </a:solidFill>
          <a:ln w="12700">
            <a:solidFill>
              <a:srgbClr val="6A1A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47472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Программная документация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184 000 ₽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182112" y="1883664"/>
            <a:ext cx="2743200" cy="1005840"/>
          </a:xfrm>
          <a:prstGeom prst="rect">
            <a:avLst/>
          </a:prstGeom>
          <a:solidFill>
            <a:srgbClr val="EEF2FA"/>
          </a:solidFill>
          <a:ln w="508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182112" y="1883664"/>
            <a:ext cx="274320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273552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рисков (10%)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ru-RU" sz="17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52 250 </a:t>
            </a:r>
            <a:r>
              <a:rPr lang="en-US" sz="17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56032" y="2825496"/>
            <a:ext cx="8631936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57200" y="282549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28254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4 663 566</a:t>
            </a:r>
            <a:r>
              <a:rPr lang="en-US" sz="26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43600" y="282549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НДС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" y="3685032"/>
            <a:ext cx="8631936" cy="1097280"/>
          </a:xfrm>
          <a:prstGeom prst="rect">
            <a:avLst/>
          </a:prstGeom>
          <a:solidFill>
            <a:srgbClr val="FFF8E1"/>
          </a:solidFill>
          <a:ln w="635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11480" y="3712464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поэтапно: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аванс при подписании договора  ·  30% по завершению MVP (этап 01)  ·  30% по сдаче версии 1.0 (этап 02)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8729" y="478242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Часовая ставка: </a:t>
            </a:r>
            <a:r>
              <a:rPr lang="ru-RU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</a:t>
            </a: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₽/ч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и порядок приёмки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164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4114800" cy="31089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56032" y="749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Программная документация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114800" cy="347472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84048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задание (ГОСТ 19.201-78)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517904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56032" y="1517904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84048" y="1517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Архитектурное описание системы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1920240"/>
            <a:ext cx="4114800" cy="347472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256032" y="1920240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84048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пользователя (родитель + ребёнок)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322576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84048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API-документация (REST)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2724912"/>
            <a:ext cx="4114800" cy="347472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256032" y="2724912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84048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функционального тестирования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3127248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256032" y="3127248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384048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нагрузочного тестирования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529584"/>
            <a:ext cx="4114800" cy="347472"/>
          </a:xfrm>
          <a:prstGeom prst="rect">
            <a:avLst/>
          </a:prstGeom>
          <a:solidFill>
            <a:srgbClr val="EEF2FA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256032" y="3529584"/>
            <a:ext cx="54864" cy="34747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84048" y="3529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пользовательского тестирования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749808"/>
            <a:ext cx="4206240" cy="310896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4663440" y="7498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приёмки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1115568"/>
            <a:ext cx="4206240" cy="347472"/>
          </a:xfrm>
          <a:prstGeom prst="rect">
            <a:avLst/>
          </a:prstGeom>
          <a:solidFill>
            <a:srgbClr val="E8F5F8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663440" y="1115568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791456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все 10 функциональных модулей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1517904"/>
            <a:ext cx="4206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4663440" y="1517904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4791456" y="1517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Корректная работа цикла: задание → отчёт → ИВ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1920240"/>
            <a:ext cx="4206240" cy="347472"/>
          </a:xfrm>
          <a:prstGeom prst="rect">
            <a:avLst/>
          </a:prstGeom>
          <a:solidFill>
            <a:srgbClr val="E8F5F8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4663440" y="1920240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4791456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магазина и экономических механик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322576"/>
            <a:ext cx="4206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4663440" y="2322576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4791456" y="2322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критических ошибок по итогам тестирования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2724912"/>
            <a:ext cx="4206240" cy="347472"/>
          </a:xfrm>
          <a:prstGeom prst="rect">
            <a:avLst/>
          </a:prstGeom>
          <a:solidFill>
            <a:srgbClr val="E8F5F8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Shape 43"/>
          <p:cNvSpPr/>
          <p:nvPr/>
        </p:nvSpPr>
        <p:spPr>
          <a:xfrm>
            <a:off x="4663440" y="2724912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4791456" y="2724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Нагрузка: система выдерживает 1 000 одновременных пользователей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3127248"/>
            <a:ext cx="4206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6"/>
          <p:cNvSpPr/>
          <p:nvPr/>
        </p:nvSpPr>
        <p:spPr>
          <a:xfrm>
            <a:off x="4663440" y="3127248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4791456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API не превышает 500 мс при нормальной нагрузке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529584"/>
            <a:ext cx="4206240" cy="347472"/>
          </a:xfrm>
          <a:prstGeom prst="rect">
            <a:avLst/>
          </a:prstGeom>
          <a:solidFill>
            <a:srgbClr val="E8F5F8"/>
          </a:solidFill>
          <a:ln w="3810">
            <a:solidFill>
              <a:srgbClr val="CADD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4663440" y="3529584"/>
            <a:ext cx="54864" cy="347472"/>
          </a:xfrm>
          <a:prstGeom prst="rect">
            <a:avLst/>
          </a:prstGeom>
          <a:solidFill>
            <a:srgbClr val="0C7B8B"/>
          </a:solidFill>
          <a:ln w="12700">
            <a:solidFill>
              <a:srgbClr val="0C7B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4791456" y="3529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требованиям 152-ФЗ (защита персональных данных)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задание готово к согласованию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5486400" cy="0"/>
          </a:xfrm>
          <a:prstGeom prst="line">
            <a:avLst/>
          </a:prstGeom>
          <a:noFill/>
          <a:ln w="762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130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19.201-78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4612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2130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2130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Трудоёмкость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2606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MVP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(14 нед.)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606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4 663 566</a:t>
            </a:r>
            <a:r>
              <a:rPr lang="en-US" sz="18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83875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Заказчик: ООО «Семейные цифровые </a:t>
            </a:r>
            <a:r>
              <a:rPr lang="en-US" sz="950" i="1" dirty="0" err="1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158</TotalTime>
  <Words>763</Words>
  <Application>Microsoft Office PowerPoint</Application>
  <PresentationFormat>Экран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Контур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ТЗ — НаВырост</dc:title>
  <dc:subject>PptxGenJS Presentation</dc:subject>
  <dc:creator>PptxGenJS</dc:creator>
  <cp:lastModifiedBy>Мария Новикова</cp:lastModifiedBy>
  <cp:revision>14</cp:revision>
  <dcterms:created xsi:type="dcterms:W3CDTF">2026-05-12T21:34:54Z</dcterms:created>
  <dcterms:modified xsi:type="dcterms:W3CDTF">2026-05-13T11:20:19Z</dcterms:modified>
</cp:coreProperties>
</file>