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697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68A6A-CFF7-2D2C-B65B-41D819706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32D178-B3D6-2240-EE5C-FA887456B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2B182-B7BC-95B8-1C01-0D4FBF200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2A2A6-7AE2-7FC0-0AF9-DDF3E246D8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07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514350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-548640" y="3383280"/>
            <a:ext cx="2377440" cy="2377440"/>
          </a:xfrm>
          <a:prstGeom prst="ellipse">
            <a:avLst/>
          </a:prstGeom>
          <a:solidFill>
            <a:srgbClr val="2E8FD4">
              <a:alpha val="32000"/>
            </a:srgbClr>
          </a:solidFill>
          <a:ln w="12700">
            <a:solidFill>
              <a:srgbClr val="2E8FD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737360" y="-457200"/>
            <a:ext cx="1920240" cy="1920240"/>
          </a:xfrm>
          <a:prstGeom prst="ellipse">
            <a:avLst/>
          </a:prstGeom>
          <a:solidFill>
            <a:srgbClr val="5BAEDE">
              <a:alpha val="35000"/>
            </a:srgbClr>
          </a:solidFill>
          <a:ln w="12700">
            <a:solidFill>
              <a:srgbClr val="5BAEDE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1051560" y="548640"/>
            <a:ext cx="1280160" cy="12801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051560" y="59436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НаВырост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" y="25420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проблемы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детей и родителей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8229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себестоимости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ценообразования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0" y="2148840"/>
            <a:ext cx="1005840" cy="45720"/>
          </a:xfrm>
          <a:prstGeom prst="rect">
            <a:avLst/>
          </a:prstGeom>
          <a:solidFill>
            <a:srgbClr val="2E8FD4"/>
          </a:solidFill>
          <a:ln w="12700">
            <a:solidFill>
              <a:srgbClr val="2E8F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657600" y="2286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Лабораторная работа №3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95479" y="3165889"/>
            <a:ext cx="1664208" cy="82296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095479" y="3193321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1 734 150 ₽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41199" y="3650521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(без НДС)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568931" y="3138457"/>
            <a:ext cx="1664208" cy="82296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6568931" y="3165889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₽/мес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14651" y="3623089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Premium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смета затрат на разработку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Исходная база для всех 6 методов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402336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754880" cy="402336"/>
          </a:xfrm>
          <a:prstGeom prst="rect">
            <a:avLst/>
          </a:prstGeom>
          <a:solidFill>
            <a:srgbClr val="1A6BB5"/>
          </a:solidFill>
          <a:ln w="12700">
            <a:solidFill>
              <a:srgbClr val="5BAE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+ страховые взносы 30%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52360" y="10241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1 149 200 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496507" cy="402336"/>
          </a:xfrm>
          <a:prstGeom prst="rect">
            <a:avLst/>
          </a:prstGeom>
          <a:solidFill>
            <a:srgbClr val="5BAEDE">
              <a:alpha val="50000"/>
            </a:srgbClr>
          </a:solidFill>
          <a:ln w="12700">
            <a:solidFill>
              <a:srgbClr val="5BAE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502920" y="15179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Накладные расходы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15179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120 000 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75104"/>
            <a:ext cx="8412480" cy="402336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365760" y="1975104"/>
            <a:ext cx="213498" cy="402336"/>
          </a:xfrm>
          <a:prstGeom prst="rect">
            <a:avLst/>
          </a:prstGeom>
          <a:solidFill>
            <a:srgbClr val="5BAEDE">
              <a:alpha val="50000"/>
            </a:srgbClr>
          </a:solidFill>
          <a:ln w="12700">
            <a:solidFill>
              <a:srgbClr val="5BAE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02920" y="20116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 лицензии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52360" y="20116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51 600 ₽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65760" y="2468880"/>
            <a:ext cx="359967" cy="402336"/>
          </a:xfrm>
          <a:prstGeom prst="rect">
            <a:avLst/>
          </a:prstGeom>
          <a:solidFill>
            <a:srgbClr val="5BAEDE">
              <a:alpha val="50000"/>
            </a:srgbClr>
          </a:solidFill>
          <a:ln w="12700">
            <a:solidFill>
              <a:srgbClr val="5BAE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02920" y="25054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 инфраструктура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25054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87 000 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62656"/>
            <a:ext cx="8412480" cy="402336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20"/>
          <p:cNvSpPr/>
          <p:nvPr/>
        </p:nvSpPr>
        <p:spPr>
          <a:xfrm>
            <a:off x="365760" y="2962656"/>
            <a:ext cx="137160" cy="402336"/>
          </a:xfrm>
          <a:prstGeom prst="rect">
            <a:avLst/>
          </a:prstGeom>
          <a:solidFill>
            <a:srgbClr val="5BAEDE">
              <a:alpha val="50000"/>
            </a:srgbClr>
          </a:solidFill>
          <a:ln w="12700">
            <a:solidFill>
              <a:srgbClr val="5BAE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02920" y="299923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Сторонние API и интеграции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52360" y="29992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32 000 ₽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456432"/>
            <a:ext cx="8412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365760" y="3456432"/>
            <a:ext cx="289629" cy="402336"/>
          </a:xfrm>
          <a:prstGeom prst="rect">
            <a:avLst/>
          </a:prstGeom>
          <a:solidFill>
            <a:srgbClr val="5BAEDE">
              <a:alpha val="50000"/>
            </a:srgbClr>
          </a:solidFill>
          <a:ln w="12700">
            <a:solidFill>
              <a:srgbClr val="5BAE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02920" y="349300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 и тестирование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34930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₽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950208"/>
            <a:ext cx="8412480" cy="402336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275975" cy="402336"/>
          </a:xfrm>
          <a:prstGeom prst="rect">
            <a:avLst/>
          </a:prstGeom>
          <a:solidFill>
            <a:srgbClr val="5BAEDE">
              <a:alpha val="50000"/>
            </a:srgbClr>
          </a:solidFill>
          <a:ln w="12700">
            <a:solidFill>
              <a:srgbClr val="5BAED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02920" y="39867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 прямые расходы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52360" y="39867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66 700 ₽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453128"/>
            <a:ext cx="8412480" cy="329184"/>
          </a:xfrm>
          <a:prstGeom prst="rect">
            <a:avLst/>
          </a:prstGeom>
          <a:solidFill>
            <a:srgbClr val="EEF7FF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02920" y="44714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прямые затраты:</a:t>
            </a: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1 576 500 ₽  </a:t>
            </a: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Резерв 10%:</a:t>
            </a:r>
            <a:r>
              <a:rPr lang="en-US" sz="11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157 650 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2920" y="4837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СЕБЕСТОИМОСТЬ: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1 734 150 ₽ (без НДС)</a:t>
            </a:r>
            <a:r>
              <a:rPr lang="en-US" sz="1100" dirty="0">
                <a:solidFill>
                  <a:srgbClr val="5BA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2 080 980 ₽ (с НДС)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1 — PERT-оценка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Вероятностная оценка: три сценария · оптимист / вероятный / пессимист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S_PERT  =  (O + 4M + P) / 6      |      σ = (P − O) / 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274320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Статья затрат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0" y="1444752"/>
            <a:ext cx="118872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154680" y="14630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Оптимист (O)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1444752"/>
            <a:ext cx="13258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343400" y="146304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Вероятный (M)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1444752"/>
            <a:ext cx="118872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669280" y="14630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Пессимист (P)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12280" y="1444752"/>
            <a:ext cx="118872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858000" y="14630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1755648"/>
            <a:ext cx="274320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11480" y="179222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с отчислениями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1755648"/>
            <a:ext cx="118872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154680" y="179222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985 000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755648"/>
            <a:ext cx="132588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343400" y="179222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1 150 000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1755648"/>
            <a:ext cx="118872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669280" y="179222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1 420 000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1755648"/>
            <a:ext cx="1188720" cy="320040"/>
          </a:xfrm>
          <a:prstGeom prst="rect">
            <a:avLst/>
          </a:prstGeom>
          <a:solidFill>
            <a:srgbClr val="DCF0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858000" y="179222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1 167 500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210312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11480" y="213969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Накладные расходы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08960" y="2103120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3154680" y="213969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2103120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4343400" y="2139696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120 000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23560" y="2103120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669280" y="213969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150 000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12280" y="2103120"/>
            <a:ext cx="1188720" cy="320040"/>
          </a:xfrm>
          <a:prstGeom prst="rect">
            <a:avLst/>
          </a:prstGeom>
          <a:solidFill>
            <a:srgbClr val="DCF0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6858000" y="213969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120 000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2450592"/>
            <a:ext cx="274320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411480" y="248716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+ API + Инфра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08960" y="2450592"/>
            <a:ext cx="118872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3154680" y="2487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125 000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0" y="2450592"/>
            <a:ext cx="132588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4343400" y="248716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171 000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2450592"/>
            <a:ext cx="118872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669280" y="2487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240 000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12280" y="2450592"/>
            <a:ext cx="1188720" cy="320040"/>
          </a:xfrm>
          <a:prstGeom prst="rect">
            <a:avLst/>
          </a:prstGeom>
          <a:solidFill>
            <a:srgbClr val="DCF0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6858000" y="248716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174 833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2798064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411480" y="283464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08960" y="2798064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3154680" y="28346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297680" y="2798064"/>
            <a:ext cx="1325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4343400" y="2834640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23560" y="2798064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5669280" y="28346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12280" y="2798064"/>
            <a:ext cx="1188720" cy="320040"/>
          </a:xfrm>
          <a:prstGeom prst="rect">
            <a:avLst/>
          </a:prstGeom>
          <a:solidFill>
            <a:srgbClr val="DCF0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6858000" y="283464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71 667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65760" y="3145536"/>
            <a:ext cx="274320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411480" y="31821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 расходы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108960" y="3145536"/>
            <a:ext cx="118872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 58"/>
          <p:cNvSpPr/>
          <p:nvPr/>
        </p:nvSpPr>
        <p:spPr>
          <a:xfrm>
            <a:off x="3154680" y="31821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50 000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297680" y="3145536"/>
            <a:ext cx="132588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4343400" y="318211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67 000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623560" y="3145536"/>
            <a:ext cx="1188720" cy="320040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4" name="Text 62"/>
          <p:cNvSpPr/>
          <p:nvPr/>
        </p:nvSpPr>
        <p:spPr>
          <a:xfrm>
            <a:off x="5669280" y="31821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12280" y="3145536"/>
            <a:ext cx="1188720" cy="320040"/>
          </a:xfrm>
          <a:prstGeom prst="rect">
            <a:avLst/>
          </a:prstGeom>
          <a:solidFill>
            <a:srgbClr val="DCF0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6" name="Text 64"/>
          <p:cNvSpPr/>
          <p:nvPr/>
        </p:nvSpPr>
        <p:spPr>
          <a:xfrm>
            <a:off x="6858000" y="318211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68 000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65760" y="4206240"/>
            <a:ext cx="2743200" cy="7772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411480" y="427939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1 762 200 ₽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411480" y="4709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S_PERT итого без НДС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46120" y="4206240"/>
            <a:ext cx="2743200" cy="7772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1" name="Text 69"/>
          <p:cNvSpPr/>
          <p:nvPr/>
        </p:nvSpPr>
        <p:spPr>
          <a:xfrm>
            <a:off x="3291840" y="427939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2 114 640 ₽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3291840" y="4709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НДС 20%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26480" y="4206240"/>
            <a:ext cx="2651760" cy="7772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4" name="Text 72"/>
          <p:cNvSpPr/>
          <p:nvPr/>
        </p:nvSpPr>
        <p:spPr>
          <a:xfrm>
            <a:off x="6172200" y="427939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74 861 ₽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6172200" y="47091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Стандартное отклонение σ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2 — Функциональные точки (FPA)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объёму </a:t>
            </a:r>
            <a:r>
              <a:rPr lang="en-US" sz="1100" i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функционала</a:t>
            </a: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10 модулей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= AFP × Цена_1FP      AFP = UFP × VAF      (VAF = 1,15)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1609344" cy="594360"/>
          </a:xfrm>
          <a:prstGeom prst="rect">
            <a:avLst/>
          </a:prstGeom>
          <a:solidFill>
            <a:srgbClr val="BDD7EE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(ввод)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34×3=102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48256" y="1444752"/>
            <a:ext cx="1609344" cy="59436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2093976" y="146304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 (вывод)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93976" y="17007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26×4=104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30752" y="1444752"/>
            <a:ext cx="1609344" cy="594360"/>
          </a:xfrm>
          <a:prstGeom prst="rect">
            <a:avLst/>
          </a:prstGeom>
          <a:solidFill>
            <a:srgbClr val="BDD7EE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776472" y="146304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(запрос)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76472" y="17007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20×3=60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13248" y="1444752"/>
            <a:ext cx="1609344" cy="59436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5458968" y="146304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ILF (внутр.)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58968" y="17007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9×7=63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095744" y="1444752"/>
            <a:ext cx="1609344" cy="594360"/>
          </a:xfrm>
          <a:prstGeom prst="rect">
            <a:avLst/>
          </a:prstGeom>
          <a:solidFill>
            <a:srgbClr val="BDD7EE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7141464" y="146304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EIF (внешн.)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41464" y="1700784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3×5=15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2121408"/>
            <a:ext cx="8412480" cy="256032"/>
          </a:xfrm>
          <a:prstGeom prst="rect">
            <a:avLst/>
          </a:prstGeom>
          <a:solidFill>
            <a:srgbClr val="2E8FD4"/>
          </a:solidFill>
          <a:ln w="12700">
            <a:solidFill>
              <a:srgbClr val="2E8F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57200" y="21396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UFP = 344  →  AFP (×VAF 1,15) = 396 FP  →  × 4 000 ₽/FP = 1 584 000 ₽  +  резерв 10% (158 400 ₽)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487168"/>
            <a:ext cx="8412480" cy="283464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02920" y="2523744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UFP нескорректированные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25237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 FP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2798064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2920" y="2834640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VAF (коэффициент сложности)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0" y="283464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108960"/>
            <a:ext cx="8412480" cy="283464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02920" y="3145536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AFP скорректированные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0" y="31455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396 FP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419856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02920" y="3456432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1 FP (рынок РФ)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58000" y="34564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4 000 ₽/FP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730752"/>
            <a:ext cx="8412480" cy="283464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502920" y="376732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стоимость разработки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0" y="37673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1 584 000 ₽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041648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502920" y="4078224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рисков 10%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58000" y="40782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158 400 ₽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4114800" cy="64008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411480" y="4462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1 742 400 ₽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11480" y="47548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по FPA без НДС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663440" y="4389120"/>
            <a:ext cx="4114800" cy="64008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4709160" y="4462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2 090 880 ₽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709160" y="47548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НДС 20%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3 — Полных издержек (Full Cost Pricing)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+ целевая прибыль  ·  норма рентабельности 20%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= Себестоимость + (Себестоимость × Норма рентабельности)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8412480" cy="438912"/>
          </a:xfrm>
          <a:prstGeom prst="rect">
            <a:avLst/>
          </a:prstGeom>
          <a:solidFill>
            <a:srgbClr val="5BAEDE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93776" y="1472184"/>
            <a:ext cx="487923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себестоимость (S)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44998" y="1472184"/>
            <a:ext cx="32808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1 734 150 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43000" y="1975104"/>
            <a:ext cx="6858000" cy="438912"/>
          </a:xfrm>
          <a:prstGeom prst="rect">
            <a:avLst/>
          </a:prstGeom>
          <a:solidFill>
            <a:srgbClr val="2E8FD4"/>
          </a:solidFill>
          <a:ln w="12700">
            <a:solidFill>
              <a:srgbClr val="2E8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271016" y="20208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Прибыль (20% от 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0640" y="2020824"/>
            <a:ext cx="26746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346 830 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5303520" cy="438912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2048256" y="2569464"/>
            <a:ext cx="30760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Цена без НДС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96282" y="2569464"/>
            <a:ext cx="206837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2 080 980 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51760" y="3072384"/>
            <a:ext cx="3840480" cy="438912"/>
          </a:xfrm>
          <a:prstGeom prst="rect">
            <a:avLst/>
          </a:prstGeom>
          <a:solidFill>
            <a:srgbClr val="0D5EA0"/>
          </a:solidFill>
          <a:ln w="12700">
            <a:solidFill>
              <a:srgbClr val="0D5EA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2779776" y="3118104"/>
            <a:ext cx="22274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НДС 20% (416 196 ₽)  →  ИТОГОВАЯ ЦЕНА С НДС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79238" y="3118104"/>
            <a:ext cx="149778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2 497 176 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2011680" cy="7772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65760" y="3712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42885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Рент. продаж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14600" y="3694176"/>
            <a:ext cx="2011680" cy="7772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2514600" y="3712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3931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60320" y="42885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Рент. затрат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3694176"/>
            <a:ext cx="2011680" cy="7772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663440" y="3712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3931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09160" y="42885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12280" y="3694176"/>
            <a:ext cx="2011680" cy="7772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6812280" y="3712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PBP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12280" y="39319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мес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58000" y="428853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4562856"/>
            <a:ext cx="8412480" cy="256032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02920" y="45811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 20% — ориентир для IT-стартапов РФ на начальном этапе (ФРИИ 2024: EdTech рентабельность 15–30%)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4 — Рентабельность инвестиций (ROI)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</a:t>
            </a:r>
            <a:r>
              <a:rPr lang="en-US" sz="1100" i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ена</a:t>
            </a: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подписки из желаемой доходности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= (Инвестиции × ROI_цел + Операционные затраты) / N пользователей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160520" cy="2926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  (N = 3 000)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73936"/>
            <a:ext cx="4160520" cy="33832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 (S)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108960" y="181051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1 734 150 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39696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57200" y="217627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ROI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217627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4160520" cy="33832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57200" y="254203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Требуемая прибыль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08960" y="254203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693 660 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57200" y="290779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Операционные затраты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08960" y="290779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480 000 ₽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4160520" cy="338328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57200" y="327355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без НДС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08960" y="327355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391 ₽/год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4160520" cy="338328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457200" y="363931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с НДС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108960" y="363931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 ₽/год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1444752"/>
            <a:ext cx="4160520" cy="2926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754880" y="14630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3  (N = 15 000)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773936"/>
            <a:ext cx="4160520" cy="33832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754880" y="181051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 (S)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181051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1 734 150 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139696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4754880" y="217627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ROI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06640" y="217627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2505456"/>
            <a:ext cx="4160520" cy="33832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754880" y="254203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Требуемая прибыль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06640" y="254203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1 387 320 ₽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2871216"/>
            <a:ext cx="4160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4754880" y="290779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Операционные затраты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06640" y="290779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720 000 ₽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236976"/>
            <a:ext cx="4160520" cy="338328"/>
          </a:xfrm>
          <a:prstGeom prst="rect">
            <a:avLst/>
          </a:prstGeom>
          <a:solidFill>
            <a:srgbClr val="DCF0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4754880" y="327355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без НДС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406640" y="327355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 ₽/год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3602736"/>
            <a:ext cx="4160520" cy="338328"/>
          </a:xfrm>
          <a:prstGeom prst="rect">
            <a:avLst/>
          </a:prstGeom>
          <a:solidFill>
            <a:srgbClr val="DCF0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4754880" y="3639312"/>
            <a:ext cx="2606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с НДС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06640" y="363931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 ₽/год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553712"/>
            <a:ext cx="8412480" cy="41148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502920" y="4572000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SaaS-эффект масштаба: при росте с 3 000 до 15 000 пользователей цена подписки снижается в 2,7 раза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5 — Предельных (маржинальных) издержек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= затраты на добавление одного нового пользователя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= ΔTC / ΔQ      Цена = MC + FC/N + Надбавка на прибыль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 MC на 1 пользователя в год: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1609344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Облако/трафик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48256" y="1700784"/>
            <a:ext cx="1609344" cy="5486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2048256" y="17190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93976" y="20116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30752" y="1700784"/>
            <a:ext cx="1609344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3730752" y="17190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₽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76472" y="20116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фото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13248" y="1700784"/>
            <a:ext cx="1609344" cy="548640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413248" y="17190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₽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58968" y="20116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SMS-верифик.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95744" y="1700784"/>
            <a:ext cx="1609344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5BA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7095744" y="171907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₽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41464" y="201168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340864"/>
            <a:ext cx="8412480" cy="274320"/>
          </a:xfrm>
          <a:prstGeom prst="rect">
            <a:avLst/>
          </a:prstGeom>
          <a:solidFill>
            <a:srgbClr val="2E8FD4"/>
          </a:solidFill>
          <a:ln w="12700">
            <a:solidFill>
              <a:srgbClr val="2E8F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02920" y="23591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итого = 31 ₽/год  —  практически нулевые предельные издержки (цифровой продукт масштабируется почти бесплатно)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8412480" cy="29260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502920" y="277977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(предельные издержки)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23760" y="2779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₽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02920" y="309981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на польз. при N = 3 000  (FC/N)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223760" y="3099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+ 167 ₽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383280"/>
            <a:ext cx="8412480" cy="29260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02920" y="341985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безубыточности  (MC + FC/N)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3760" y="34198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198 ₽/год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703320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502920" y="373989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Надбавка на прибыль 20%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223760" y="37398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+ 40 ₽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023360"/>
            <a:ext cx="8412480" cy="29260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502920" y="405993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подписки без НДС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23760" y="4059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₽/год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343400"/>
            <a:ext cx="8412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502920" y="437997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НДС 20%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223760" y="43799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+ 48 ₽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1A6BB5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502920" y="470001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подписки с НДС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223760" y="47000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₽/год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6 — Прямых затрат (Direct Costing)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Разделение на переменные (VC) и постоянные (FC) затраты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solidFill>
            <a:srgbClr val="DCF0FB"/>
          </a:solidFill>
          <a:ln w="12700">
            <a:solidFill>
              <a:srgbClr val="5BAED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57200" y="9784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≥ VC_ед + (FC + Прибыль) / N      |      CM = Выручка − VC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444752"/>
            <a:ext cx="4096512" cy="274320"/>
          </a:xfrm>
          <a:prstGeom prst="rect">
            <a:avLst/>
          </a:prstGeom>
          <a:solidFill>
            <a:srgbClr val="2E8FD4"/>
          </a:solidFill>
          <a:ln w="12700">
            <a:solidFill>
              <a:srgbClr val="2E8F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438912" y="14630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(VC) — зависят от объёма разработки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755648"/>
            <a:ext cx="4096512" cy="301752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38912" y="17922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 разработчиков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99232" y="1792224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1 149 200 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084832"/>
            <a:ext cx="409651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438912" y="2121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и лицензии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99232" y="21214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51 600 ₽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414016"/>
            <a:ext cx="4096512" cy="301752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38912" y="2450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Сторонние API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99232" y="245059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32 000 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743200"/>
            <a:ext cx="4096512" cy="301752"/>
          </a:xfrm>
          <a:prstGeom prst="rect">
            <a:avLst/>
          </a:prstGeom>
          <a:solidFill>
            <a:srgbClr val="2E8FD4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438912" y="27797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VC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99232" y="277977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1 232 800 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0016" y="1444752"/>
            <a:ext cx="4096512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791456" y="146304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ПОСТОЯННЫЕ (FC) — фиксированы для проекта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0016" y="1755648"/>
            <a:ext cx="4096512" cy="301752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791456" y="17922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Накладные расходы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51776" y="1792224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120 000 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0016" y="2084832"/>
            <a:ext cx="409651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791456" y="21214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51776" y="2121408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87 000 ₽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0016" y="2414016"/>
            <a:ext cx="4096512" cy="301752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791456" y="24505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51776" y="245059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₽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0016" y="2743200"/>
            <a:ext cx="409651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4791456" y="277977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 + резерв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51776" y="2779776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224 350 ₽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0016" y="3072384"/>
            <a:ext cx="4096512" cy="301752"/>
          </a:xfrm>
          <a:prstGeom prst="rect">
            <a:avLst/>
          </a:prstGeom>
          <a:solidFill>
            <a:srgbClr val="1A6BB5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791456" y="3108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FC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51776" y="310896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501 350 ₽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" y="3986784"/>
            <a:ext cx="8449056" cy="20116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475488" y="40050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на 1 польз. (VC×30% / 3 000)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40050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₽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" y="4215384"/>
            <a:ext cx="844905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475488" y="42336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на 1 польз. (FC / 3 000)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126480" y="4233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 ₽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7472" y="4443984"/>
            <a:ext cx="8449056" cy="201168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475488" y="44622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 = VC_ед + FC/N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126480" y="44622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₽/год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7472" y="4672584"/>
            <a:ext cx="844905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475488" y="46908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Прибыль 10%/N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26480" y="46908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+ 58 ₽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7472" y="4901184"/>
            <a:ext cx="8449056" cy="201168"/>
          </a:xfrm>
          <a:prstGeom prst="rect">
            <a:avLst/>
          </a:prstGeom>
          <a:solidFill>
            <a:srgbClr val="1A6BB5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1" name="Text 49"/>
          <p:cNvSpPr/>
          <p:nvPr/>
        </p:nvSpPr>
        <p:spPr>
          <a:xfrm>
            <a:off x="475488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без НДС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26480" y="49194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 ₽/год  (+НДС → 418 ₽/год)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47472" y="5138928"/>
            <a:ext cx="8449056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таблица результатов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347472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402336" y="100584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№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" y="987552"/>
            <a:ext cx="256032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749808" y="10058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73552" y="987552"/>
            <a:ext cx="20116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310128" y="100584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(без НДС)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85232" y="987552"/>
            <a:ext cx="178308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321808" y="100584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НДС 20%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68312" y="987552"/>
            <a:ext cx="1618488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7104888" y="1005840"/>
            <a:ext cx="154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298448"/>
            <a:ext cx="347472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02336" y="132588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1298448"/>
            <a:ext cx="2560320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749808" y="1325880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PERT-оценка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73552" y="1298448"/>
            <a:ext cx="2011680" cy="301752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310128" y="132588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1 762 200 ₽ (S)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85232" y="1298448"/>
            <a:ext cx="1783080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321808" y="1325880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2 114 640 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68312" y="1298448"/>
            <a:ext cx="1618488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7104888" y="1325880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Вероятностная оценка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627632"/>
            <a:ext cx="3474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402336" y="1655064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" y="1627632"/>
            <a:ext cx="25603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749808" y="1655064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FPA (функц. точки)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73552" y="1627632"/>
            <a:ext cx="2011680" cy="301752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3310128" y="1655064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1 742 400 ₽ (S)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85232" y="1627632"/>
            <a:ext cx="1783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5321808" y="1655064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2 090 880 ₽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68312" y="1627632"/>
            <a:ext cx="1618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7104888" y="1655064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объёму функционала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1956816"/>
            <a:ext cx="347472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02336" y="1984248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3232" y="1956816"/>
            <a:ext cx="2560320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/>
          <p:nvPr/>
        </p:nvSpPr>
        <p:spPr>
          <a:xfrm>
            <a:off x="749808" y="1984248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Полных издержек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73552" y="1956816"/>
            <a:ext cx="2011680" cy="301752"/>
          </a:xfrm>
          <a:prstGeom prst="rect">
            <a:avLst/>
          </a:prstGeom>
          <a:solidFill>
            <a:srgbClr val="EAF4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3310128" y="1984248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2 080 980 ₽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85232" y="1956816"/>
            <a:ext cx="1783080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Text 40"/>
          <p:cNvSpPr/>
          <p:nvPr/>
        </p:nvSpPr>
        <p:spPr>
          <a:xfrm>
            <a:off x="5321808" y="1984248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2 497 176 ₽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68312" y="1956816"/>
            <a:ext cx="1618488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42"/>
          <p:cNvSpPr/>
          <p:nvPr/>
        </p:nvSpPr>
        <p:spPr>
          <a:xfrm>
            <a:off x="7104888" y="1984248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+ прибыль 20%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2286000"/>
            <a:ext cx="3474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6" name="Text 44"/>
          <p:cNvSpPr/>
          <p:nvPr/>
        </p:nvSpPr>
        <p:spPr>
          <a:xfrm>
            <a:off x="402336" y="2313432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13232" y="2286000"/>
            <a:ext cx="25603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8" name="Text 46"/>
          <p:cNvSpPr/>
          <p:nvPr/>
        </p:nvSpPr>
        <p:spPr>
          <a:xfrm>
            <a:off x="749808" y="2313432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(40%, N=3000)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73552" y="2286000"/>
            <a:ext cx="2011680" cy="301752"/>
          </a:xfrm>
          <a:prstGeom prst="rect">
            <a:avLst/>
          </a:prstGeom>
          <a:solidFill>
            <a:srgbClr val="E8F7E0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3310128" y="2313432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391 ₽/год/польз.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285232" y="2286000"/>
            <a:ext cx="1783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2" name="Text 50"/>
          <p:cNvSpPr/>
          <p:nvPr/>
        </p:nvSpPr>
        <p:spPr>
          <a:xfrm>
            <a:off x="5321808" y="2313432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 ₽/год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68312" y="2286000"/>
            <a:ext cx="1618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7104888" y="2313432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год 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2615184"/>
            <a:ext cx="347472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6" name="Text 54"/>
          <p:cNvSpPr/>
          <p:nvPr/>
        </p:nvSpPr>
        <p:spPr>
          <a:xfrm>
            <a:off x="402336" y="2642616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13232" y="2615184"/>
            <a:ext cx="2560320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8" name="Text 56"/>
          <p:cNvSpPr/>
          <p:nvPr/>
        </p:nvSpPr>
        <p:spPr>
          <a:xfrm>
            <a:off x="749808" y="2642616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Предельных издержек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273552" y="2615184"/>
            <a:ext cx="2011680" cy="301752"/>
          </a:xfrm>
          <a:prstGeom prst="rect">
            <a:avLst/>
          </a:prstGeom>
          <a:solidFill>
            <a:srgbClr val="E8F7E0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 58"/>
          <p:cNvSpPr/>
          <p:nvPr/>
        </p:nvSpPr>
        <p:spPr>
          <a:xfrm>
            <a:off x="3310128" y="2642616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 ₽/год/польз.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285232" y="2615184"/>
            <a:ext cx="1783080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2" name="Text 60"/>
          <p:cNvSpPr/>
          <p:nvPr/>
        </p:nvSpPr>
        <p:spPr>
          <a:xfrm>
            <a:off x="5321808" y="2642616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₽/год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068312" y="2615184"/>
            <a:ext cx="1618488" cy="301752"/>
          </a:xfrm>
          <a:prstGeom prst="rect">
            <a:avLst/>
          </a:prstGeom>
          <a:solidFill>
            <a:srgbClr val="F7FB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4" name="Text 62"/>
          <p:cNvSpPr/>
          <p:nvPr/>
        </p:nvSpPr>
        <p:spPr>
          <a:xfrm>
            <a:off x="7104888" y="2642616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Нижняя граница BEP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2944368"/>
            <a:ext cx="34747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6" name="Text 64"/>
          <p:cNvSpPr/>
          <p:nvPr/>
        </p:nvSpPr>
        <p:spPr>
          <a:xfrm>
            <a:off x="402336" y="2971800"/>
            <a:ext cx="274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13232" y="2944368"/>
            <a:ext cx="25603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8" name="Text 66"/>
          <p:cNvSpPr/>
          <p:nvPr/>
        </p:nvSpPr>
        <p:spPr>
          <a:xfrm>
            <a:off x="749808" y="2971800"/>
            <a:ext cx="2487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Прямых затрат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73552" y="2944368"/>
            <a:ext cx="2011680" cy="301752"/>
          </a:xfrm>
          <a:prstGeom prst="rect">
            <a:avLst/>
          </a:prstGeom>
          <a:solidFill>
            <a:srgbClr val="E8F7E0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0" name="Text 68"/>
          <p:cNvSpPr/>
          <p:nvPr/>
        </p:nvSpPr>
        <p:spPr>
          <a:xfrm>
            <a:off x="3310128" y="2971800"/>
            <a:ext cx="1938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A6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 ₽/год/польз.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285232" y="2944368"/>
            <a:ext cx="1783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2" name="Text 70"/>
          <p:cNvSpPr/>
          <p:nvPr/>
        </p:nvSpPr>
        <p:spPr>
          <a:xfrm>
            <a:off x="5321808" y="2971800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418 ₽/год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068312" y="2944368"/>
            <a:ext cx="161848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4" name="Text 72"/>
          <p:cNvSpPr/>
          <p:nvPr/>
        </p:nvSpPr>
        <p:spPr>
          <a:xfrm>
            <a:off x="7104888" y="2971800"/>
            <a:ext cx="1545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 + прибыль 10%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36301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6" name="Shape 74"/>
          <p:cNvSpPr/>
          <p:nvPr/>
        </p:nvSpPr>
        <p:spPr>
          <a:xfrm>
            <a:off x="365760" y="3630168"/>
            <a:ext cx="2743200" cy="274320"/>
          </a:xfrm>
          <a:prstGeom prst="rect">
            <a:avLst/>
          </a:prstGeom>
          <a:solidFill>
            <a:srgbClr val="2E8FD4"/>
          </a:solidFill>
          <a:ln w="12700">
            <a:solidFill>
              <a:srgbClr val="2E8F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7" name="Text 75"/>
          <p:cNvSpPr/>
          <p:nvPr/>
        </p:nvSpPr>
        <p:spPr>
          <a:xfrm>
            <a:off x="457200" y="3648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1–3: разброс ~350 тыс. ₽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7200" y="3941064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 и FPA оценивают объём работ. Метод полных издержек прибавляет плановую прибыль (20%) поверх себестоимости — отсюда более высокая итоговая цена.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200400" y="36301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0" name="Shape 78"/>
          <p:cNvSpPr/>
          <p:nvPr/>
        </p:nvSpPr>
        <p:spPr>
          <a:xfrm>
            <a:off x="3200400" y="3630168"/>
            <a:ext cx="2743200" cy="274320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1" name="Text 79"/>
          <p:cNvSpPr/>
          <p:nvPr/>
        </p:nvSpPr>
        <p:spPr>
          <a:xfrm>
            <a:off x="3291840" y="3648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4–6: разброс 105–286 ₽/год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291840" y="3941064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разные логики: ROI — от нужной доходности инвестора, MC — от стоимости +1 пользователя, Direct Costing — от точки безубыточности.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035040" y="36301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DD7EE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4" name="Shape 82"/>
          <p:cNvSpPr/>
          <p:nvPr/>
        </p:nvSpPr>
        <p:spPr>
          <a:xfrm>
            <a:off x="6035040" y="3630168"/>
            <a:ext cx="27432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5" name="Text 83"/>
          <p:cNvSpPr/>
          <p:nvPr/>
        </p:nvSpPr>
        <p:spPr>
          <a:xfrm>
            <a:off x="6126480" y="3648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методы не противоречат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6126480" y="3941064"/>
            <a:ext cx="25603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метод отвечает на свой вопрос. Рекомендуемая цена 299 ₽/мес попадает в диапазон всех трёх «пользовательских» методов и ниже конкурентов.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07968-A37E-A94F-9A27-E1DEB4AD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3">
            <a:extLst>
              <a:ext uri="{FF2B5EF4-FFF2-40B4-BE49-F238E27FC236}">
                <a16:creationId xmlns:a16="http://schemas.microsoft.com/office/drawing/2014/main" id="{A627C8C1-07D1-1B94-7139-913ECE4E7A2A}"/>
              </a:ext>
            </a:extLst>
          </p:cNvPr>
          <p:cNvSpPr/>
          <p:nvPr/>
        </p:nvSpPr>
        <p:spPr>
          <a:xfrm>
            <a:off x="658485" y="1379859"/>
            <a:ext cx="7796198" cy="25239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2E8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40BC34B-1268-E974-7B24-9BC66A1AA9A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6BB5"/>
          </a:solidFill>
          <a:ln w="12700">
            <a:solidFill>
              <a:srgbClr val="1A6B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8B633D-9930-6054-F67D-7C024E885884}"/>
              </a:ext>
            </a:extLst>
          </p:cNvPr>
          <p:cNvSpPr/>
          <p:nvPr/>
        </p:nvSpPr>
        <p:spPr>
          <a:xfrm>
            <a:off x="411480" y="64008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7" name="Text 1">
            <a:extLst>
              <a:ext uri="{FF2B5EF4-FFF2-40B4-BE49-F238E27FC236}">
                <a16:creationId xmlns:a16="http://schemas.microsoft.com/office/drawing/2014/main" id="{89CF8F3A-34D4-EE1B-ECE7-DF78252D8571}"/>
              </a:ext>
            </a:extLst>
          </p:cNvPr>
          <p:cNvSpPr/>
          <p:nvPr/>
        </p:nvSpPr>
        <p:spPr>
          <a:xfrm>
            <a:off x="411480" y="402336"/>
            <a:ext cx="3450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рекомендации</a:t>
            </a:r>
            <a:endParaRPr lang="en-US" sz="2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519D4A16-320C-5AE5-0FA9-A19A600C4E6F}"/>
              </a:ext>
            </a:extLst>
          </p:cNvPr>
          <p:cNvSpPr/>
          <p:nvPr/>
        </p:nvSpPr>
        <p:spPr>
          <a:xfrm>
            <a:off x="411480" y="859536"/>
            <a:ext cx="3654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A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НаВырост · расчёт себестоимости и </a:t>
            </a:r>
            <a:r>
              <a:rPr lang="en-US" sz="1100" i="1" dirty="0" err="1">
                <a:solidFill>
                  <a:srgbClr val="5BA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ценообразования</a:t>
            </a:r>
            <a:endParaRPr lang="en-US" sz="1100" dirty="0"/>
          </a:p>
        </p:txBody>
      </p:sp>
      <p:sp>
        <p:nvSpPr>
          <p:cNvPr id="89" name="Shape 3">
            <a:extLst>
              <a:ext uri="{FF2B5EF4-FFF2-40B4-BE49-F238E27FC236}">
                <a16:creationId xmlns:a16="http://schemas.microsoft.com/office/drawing/2014/main" id="{95B557A5-A795-96C6-5209-C1C12F7BA661}"/>
              </a:ext>
            </a:extLst>
          </p:cNvPr>
          <p:cNvSpPr/>
          <p:nvPr/>
        </p:nvSpPr>
        <p:spPr>
          <a:xfrm>
            <a:off x="1293876" y="2038227"/>
            <a:ext cx="2057400" cy="960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2E8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0" name="Text 4">
            <a:extLst>
              <a:ext uri="{FF2B5EF4-FFF2-40B4-BE49-F238E27FC236}">
                <a16:creationId xmlns:a16="http://schemas.microsoft.com/office/drawing/2014/main" id="{8131D584-BB06-5BE7-7098-850162E63F5F}"/>
              </a:ext>
            </a:extLst>
          </p:cNvPr>
          <p:cNvSpPr/>
          <p:nvPr/>
        </p:nvSpPr>
        <p:spPr>
          <a:xfrm>
            <a:off x="1348740" y="2056515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1 734 150 ₽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1" name="Text 5">
            <a:extLst>
              <a:ext uri="{FF2B5EF4-FFF2-40B4-BE49-F238E27FC236}">
                <a16:creationId xmlns:a16="http://schemas.microsoft.com/office/drawing/2014/main" id="{343953C9-203A-7857-D90F-1656111539B0}"/>
              </a:ext>
            </a:extLst>
          </p:cNvPr>
          <p:cNvSpPr/>
          <p:nvPr/>
        </p:nvSpPr>
        <p:spPr>
          <a:xfrm>
            <a:off x="1348740" y="2623443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(без НДС)</a:t>
            </a:r>
            <a:endParaRPr lang="en-US" sz="900" dirty="0"/>
          </a:p>
        </p:txBody>
      </p:sp>
      <p:sp>
        <p:nvSpPr>
          <p:cNvPr id="92" name="Shape 6">
            <a:extLst>
              <a:ext uri="{FF2B5EF4-FFF2-40B4-BE49-F238E27FC236}">
                <a16:creationId xmlns:a16="http://schemas.microsoft.com/office/drawing/2014/main" id="{37A224FE-4C98-58EF-CA59-0899618D40A3}"/>
              </a:ext>
            </a:extLst>
          </p:cNvPr>
          <p:cNvSpPr/>
          <p:nvPr/>
        </p:nvSpPr>
        <p:spPr>
          <a:xfrm>
            <a:off x="3470148" y="2038227"/>
            <a:ext cx="2057400" cy="960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2E8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3" name="Text 7">
            <a:extLst>
              <a:ext uri="{FF2B5EF4-FFF2-40B4-BE49-F238E27FC236}">
                <a16:creationId xmlns:a16="http://schemas.microsoft.com/office/drawing/2014/main" id="{9D972AE6-F8DF-5E04-43E3-9F12C37A40F5}"/>
              </a:ext>
            </a:extLst>
          </p:cNvPr>
          <p:cNvSpPr/>
          <p:nvPr/>
        </p:nvSpPr>
        <p:spPr>
          <a:xfrm>
            <a:off x="3525012" y="2056515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A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2 080 980 ₽</a:t>
            </a:r>
            <a:endParaRPr lang="en-US" sz="1800" dirty="0"/>
          </a:p>
        </p:txBody>
      </p:sp>
      <p:sp>
        <p:nvSpPr>
          <p:cNvPr id="94" name="Text 8">
            <a:extLst>
              <a:ext uri="{FF2B5EF4-FFF2-40B4-BE49-F238E27FC236}">
                <a16:creationId xmlns:a16="http://schemas.microsoft.com/office/drawing/2014/main" id="{D1BF9A7C-E081-325F-D04D-75CD23F29949}"/>
              </a:ext>
            </a:extLst>
          </p:cNvPr>
          <p:cNvSpPr/>
          <p:nvPr/>
        </p:nvSpPr>
        <p:spPr>
          <a:xfrm>
            <a:off x="3525012" y="2623443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НДС 20%</a:t>
            </a:r>
            <a:endParaRPr lang="en-US" sz="900" dirty="0"/>
          </a:p>
        </p:txBody>
      </p:sp>
      <p:sp>
        <p:nvSpPr>
          <p:cNvPr id="95" name="Shape 9">
            <a:extLst>
              <a:ext uri="{FF2B5EF4-FFF2-40B4-BE49-F238E27FC236}">
                <a16:creationId xmlns:a16="http://schemas.microsoft.com/office/drawing/2014/main" id="{D4B7CF69-8D80-B710-EA88-71238CF01141}"/>
              </a:ext>
            </a:extLst>
          </p:cNvPr>
          <p:cNvSpPr/>
          <p:nvPr/>
        </p:nvSpPr>
        <p:spPr>
          <a:xfrm>
            <a:off x="5646420" y="2038227"/>
            <a:ext cx="2057400" cy="9601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2E8FD4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6" name="Text 10">
            <a:extLst>
              <a:ext uri="{FF2B5EF4-FFF2-40B4-BE49-F238E27FC236}">
                <a16:creationId xmlns:a16="http://schemas.microsoft.com/office/drawing/2014/main" id="{2C8E6B28-79C8-54D8-64A3-6CBFA0D581E6}"/>
              </a:ext>
            </a:extLst>
          </p:cNvPr>
          <p:cNvSpPr/>
          <p:nvPr/>
        </p:nvSpPr>
        <p:spPr>
          <a:xfrm>
            <a:off x="5701284" y="2056515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DD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₽/мес</a:t>
            </a:r>
            <a:endParaRPr lang="en-US" sz="1800" dirty="0"/>
          </a:p>
        </p:txBody>
      </p:sp>
      <p:sp>
        <p:nvSpPr>
          <p:cNvPr id="97" name="Text 11">
            <a:extLst>
              <a:ext uri="{FF2B5EF4-FFF2-40B4-BE49-F238E27FC236}">
                <a16:creationId xmlns:a16="http://schemas.microsoft.com/office/drawing/2014/main" id="{CB7AC1BF-D3D8-DD1B-F3CC-8FD90E5D36E9}"/>
              </a:ext>
            </a:extLst>
          </p:cNvPr>
          <p:cNvSpPr/>
          <p:nvPr/>
        </p:nvSpPr>
        <p:spPr>
          <a:xfrm>
            <a:off x="5701284" y="2623443"/>
            <a:ext cx="19476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B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Premium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34493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1247</Words>
  <Application>Microsoft Macintosh PowerPoint</Application>
  <PresentationFormat>Экран (16:9)</PresentationFormat>
  <Paragraphs>275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НаВырост — Расчёт себестоимости</dc:title>
  <dc:subject>PptxGenJS Presentation</dc:subject>
  <dc:creator>PptxGenJS</dc:creator>
  <cp:lastModifiedBy>e314</cp:lastModifiedBy>
  <cp:revision>3</cp:revision>
  <dcterms:created xsi:type="dcterms:W3CDTF">2026-05-27T06:39:48Z</dcterms:created>
  <dcterms:modified xsi:type="dcterms:W3CDTF">2026-05-27T10:02:41Z</dcterms:modified>
</cp:coreProperties>
</file>