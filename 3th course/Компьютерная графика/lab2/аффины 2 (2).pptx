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9"/>
  </p:notesMasterIdLst>
  <p:sldIdLst>
    <p:sldId id="256" r:id="rId3"/>
    <p:sldId id="257" r:id="rId4"/>
    <p:sldId id="258" r:id="rId5"/>
    <p:sldId id="28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4" r:id="rId17"/>
    <p:sldId id="270" r:id="rId18"/>
    <p:sldId id="271" r:id="rId19"/>
    <p:sldId id="285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8" autoAdjust="0"/>
    <p:restoredTop sz="87757" autoAdjust="0"/>
  </p:normalViewPr>
  <p:slideViewPr>
    <p:cSldViewPr>
      <p:cViewPr>
        <p:scale>
          <a:sx n="400" d="100"/>
          <a:sy n="400" d="100"/>
        </p:scale>
        <p:origin x="2634" y="74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481E2B-F7EA-4A9D-B677-4BBA5BBA2336}" type="datetimeFigureOut">
              <a:rPr lang="ru-RU" smtClean="0"/>
              <a:t>10.02.2026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9E5CF8-D640-47E6-8918-54E7B2D531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477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Преобразование плоскости называется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аффинным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если оно взаимно однозначно и образом любой прямой является прямая. Преобразование называется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взаимно однозначным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если оно разные точки переводит в разные, и в каждую точку переходит какая-то точка.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E5CF8-D640-47E6-8918-54E7B2D5317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05987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Однородные координаты неоднородного координатного вектора [х у] представляют собой тройку [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x′ y′ 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где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 = х′/h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 = y′/h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некоторое вещественное число. Заметим, что случай </a:t>
            </a:r>
            <a:r>
              <a:rPr lang="ru-RU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 = 0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является особым. 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E5CF8-D640-47E6-8918-54E7B2D5317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097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9E5CF8-D640-47E6-8918-54E7B2D5317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20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>
              <a:spcBef>
                <a:spcPts val="799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669E7B-32F9-4E6E-BF53-0EA95D3ED5BA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428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65A537-5458-48DB-B37E-92C01C4572C2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81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69573B-0CFE-408F-B8B7-892E0F9AC3DE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55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D49DE-61F5-4E50-9367-A2426D6625F4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383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D453B4-39A5-4E0F-979B-8E1CAC86CC54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7334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0D38FF-5C1F-420C-907C-4C333EE24C1C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476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CE25D3-5658-4A19-9463-5B0F68ADBAFD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030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9656EE-B65B-4A7E-B72B-E8C795E6C9FD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652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00C189-67B5-4F3E-9488-76C212AD9E37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3587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D3EFB7-9FE9-43B3-BB6D-D76787A164A5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6278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76D175-E39B-4231-AF63-FA93C3355FA2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582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>
              <a:solidFill>
                <a:srgbClr val="000000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10D3F77-CDE6-4A97-BBB6-DB5B37C6A393}" type="slidenum">
              <a:rPr lang="ru-RU" altLang="ru-RU">
                <a:solidFill>
                  <a:srgbClr val="000000"/>
                </a:solidFill>
              </a:rPr>
              <a:pPr/>
              <a:t>‹#›</a:t>
            </a:fld>
            <a:endParaRPr lang="ru-RU" alt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00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tile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marL="342720" indent="-34272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2680" lvl="1" indent="-28548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/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38D957C-3A53-4CC2-81DF-88B50E835389}" type="slidenum">
              <a:rPr lang="ru-RU" sz="14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140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altLang="ru-RU" smtClean="0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altLang="ru-RU" smtClean="0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363E1AA-C1FD-4FDA-8456-67ED71C85E7D}" type="slidenum">
              <a:rPr lang="ru-RU" altLang="ru-RU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ru-RU" altLang="ru-RU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13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1301760" y="260280"/>
            <a:ext cx="7772400" cy="503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Line 2"/>
          <p:cNvSpPr/>
          <p:nvPr/>
        </p:nvSpPr>
        <p:spPr>
          <a:xfrm flipV="1">
            <a:off x="6062760" y="1928880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Line 3"/>
          <p:cNvSpPr/>
          <p:nvPr/>
        </p:nvSpPr>
        <p:spPr>
          <a:xfrm>
            <a:off x="6062760" y="3944880"/>
            <a:ext cx="23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CustomShape 4"/>
          <p:cNvSpPr/>
          <p:nvPr/>
        </p:nvSpPr>
        <p:spPr>
          <a:xfrm>
            <a:off x="8344080" y="39736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45" name="CustomShape 5"/>
          <p:cNvSpPr/>
          <p:nvPr/>
        </p:nvSpPr>
        <p:spPr>
          <a:xfrm>
            <a:off x="5683320" y="18050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46" name="Line 6"/>
          <p:cNvSpPr/>
          <p:nvPr/>
        </p:nvSpPr>
        <p:spPr>
          <a:xfrm>
            <a:off x="7215120" y="2649600"/>
            <a:ext cx="0" cy="12952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Line 7"/>
          <p:cNvSpPr/>
          <p:nvPr/>
        </p:nvSpPr>
        <p:spPr>
          <a:xfrm flipH="1">
            <a:off x="6062400" y="2649600"/>
            <a:ext cx="115236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CustomShape 8"/>
          <p:cNvSpPr/>
          <p:nvPr/>
        </p:nvSpPr>
        <p:spPr>
          <a:xfrm>
            <a:off x="7142040" y="2577960"/>
            <a:ext cx="144720" cy="14472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CustomShape 9"/>
          <p:cNvSpPr/>
          <p:nvPr/>
        </p:nvSpPr>
        <p:spPr>
          <a:xfrm>
            <a:off x="5783040" y="2443320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y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CustomShape 10"/>
          <p:cNvSpPr/>
          <p:nvPr/>
        </p:nvSpPr>
        <p:spPr>
          <a:xfrm>
            <a:off x="7072200" y="3913200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CustomShape 11"/>
          <p:cNvSpPr/>
          <p:nvPr/>
        </p:nvSpPr>
        <p:spPr>
          <a:xfrm>
            <a:off x="5776920" y="387360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2" name="CustomShape 12"/>
          <p:cNvSpPr/>
          <p:nvPr/>
        </p:nvSpPr>
        <p:spPr>
          <a:xfrm>
            <a:off x="7288200" y="236052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53" name="CustomShape 13"/>
          <p:cNvSpPr/>
          <p:nvPr/>
        </p:nvSpPr>
        <p:spPr>
          <a:xfrm>
            <a:off x="1027080" y="1663560"/>
            <a:ext cx="4179960" cy="2288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точка определяется координатным вектором: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вектор-столбец: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    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              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           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y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вектор строка: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      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[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 y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]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4" name="Group 14"/>
          <p:cNvGrpSpPr/>
          <p:nvPr/>
        </p:nvGrpSpPr>
        <p:grpSpPr>
          <a:xfrm>
            <a:off x="3393000" y="2562120"/>
            <a:ext cx="95040" cy="558720"/>
            <a:chOff x="3393000" y="2562120"/>
            <a:chExt cx="95040" cy="558720"/>
          </a:xfrm>
        </p:grpSpPr>
        <p:sp>
          <p:nvSpPr>
            <p:cNvPr id="55" name="Line 15"/>
            <p:cNvSpPr/>
            <p:nvPr/>
          </p:nvSpPr>
          <p:spPr>
            <a:xfrm>
              <a:off x="3487680" y="2562120"/>
              <a:ext cx="0" cy="55872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6" name="Line 16"/>
            <p:cNvSpPr/>
            <p:nvPr/>
          </p:nvSpPr>
          <p:spPr>
            <a:xfrm flipH="1">
              <a:off x="3393000" y="2562120"/>
              <a:ext cx="94680" cy="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57" name="Line 17"/>
            <p:cNvSpPr/>
            <p:nvPr/>
          </p:nvSpPr>
          <p:spPr>
            <a:xfrm>
              <a:off x="3393360" y="3120840"/>
              <a:ext cx="94680" cy="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58" name="Group 18"/>
          <p:cNvGrpSpPr/>
          <p:nvPr/>
        </p:nvGrpSpPr>
        <p:grpSpPr>
          <a:xfrm>
            <a:off x="3174840" y="2562120"/>
            <a:ext cx="96480" cy="558720"/>
            <a:chOff x="3174840" y="2562120"/>
            <a:chExt cx="96480" cy="558720"/>
          </a:xfrm>
        </p:grpSpPr>
        <p:sp>
          <p:nvSpPr>
            <p:cNvPr id="59" name="Line 19"/>
            <p:cNvSpPr/>
            <p:nvPr/>
          </p:nvSpPr>
          <p:spPr>
            <a:xfrm>
              <a:off x="3174840" y="2562120"/>
              <a:ext cx="0" cy="55872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0" name="Line 20"/>
            <p:cNvSpPr/>
            <p:nvPr/>
          </p:nvSpPr>
          <p:spPr>
            <a:xfrm>
              <a:off x="3174840" y="2562120"/>
              <a:ext cx="96480" cy="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1" name="Line 21"/>
            <p:cNvSpPr/>
            <p:nvPr/>
          </p:nvSpPr>
          <p:spPr>
            <a:xfrm flipH="1">
              <a:off x="3174840" y="3120840"/>
              <a:ext cx="96480" cy="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2" name="CustomShape 22"/>
          <p:cNvSpPr/>
          <p:nvPr/>
        </p:nvSpPr>
        <p:spPr>
          <a:xfrm>
            <a:off x="1017720" y="4280040"/>
            <a:ext cx="311760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Матрица общего преобразования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: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CustomShape 23"/>
          <p:cNvSpPr/>
          <p:nvPr/>
        </p:nvSpPr>
        <p:spPr>
          <a:xfrm>
            <a:off x="2400480" y="5156280"/>
            <a:ext cx="6347984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P’ = PM = [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 y ]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=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[ 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a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x+c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 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b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x+d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 ] = [ x’ y’ ]</a:t>
            </a:r>
          </a:p>
        </p:txBody>
      </p:sp>
      <p:grpSp>
        <p:nvGrpSpPr>
          <p:cNvPr id="64" name="Group 24"/>
          <p:cNvGrpSpPr/>
          <p:nvPr/>
        </p:nvGrpSpPr>
        <p:grpSpPr>
          <a:xfrm>
            <a:off x="4267080" y="5038560"/>
            <a:ext cx="584280" cy="642600"/>
            <a:chOff x="4267080" y="5038560"/>
            <a:chExt cx="584280" cy="642600"/>
          </a:xfrm>
        </p:grpSpPr>
        <p:sp>
          <p:nvSpPr>
            <p:cNvPr id="65" name="CustomShape 25"/>
            <p:cNvSpPr/>
            <p:nvPr/>
          </p:nvSpPr>
          <p:spPr>
            <a:xfrm>
              <a:off x="4267080" y="5038560"/>
              <a:ext cx="5842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a  b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c  d</a:t>
              </a:r>
            </a:p>
          </p:txBody>
        </p:sp>
        <p:grpSp>
          <p:nvGrpSpPr>
            <p:cNvPr id="66" name="Group 26"/>
            <p:cNvGrpSpPr/>
            <p:nvPr/>
          </p:nvGrpSpPr>
          <p:grpSpPr>
            <a:xfrm>
              <a:off x="4738680" y="5101920"/>
              <a:ext cx="69840" cy="558360"/>
              <a:chOff x="4738680" y="5101920"/>
              <a:chExt cx="69840" cy="558360"/>
            </a:xfrm>
          </p:grpSpPr>
          <p:sp>
            <p:nvSpPr>
              <p:cNvPr id="67" name="Line 27"/>
              <p:cNvSpPr/>
              <p:nvPr/>
            </p:nvSpPr>
            <p:spPr>
              <a:xfrm>
                <a:off x="4808520" y="510192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8" name="Line 28"/>
              <p:cNvSpPr/>
              <p:nvPr/>
            </p:nvSpPr>
            <p:spPr>
              <a:xfrm flipH="1">
                <a:off x="4738680" y="510192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69" name="Line 29"/>
              <p:cNvSpPr/>
              <p:nvPr/>
            </p:nvSpPr>
            <p:spPr>
              <a:xfrm>
                <a:off x="4738680" y="566028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70" name="Group 30"/>
            <p:cNvGrpSpPr/>
            <p:nvPr/>
          </p:nvGrpSpPr>
          <p:grpSpPr>
            <a:xfrm>
              <a:off x="4292640" y="5101920"/>
              <a:ext cx="71280" cy="558360"/>
              <a:chOff x="4292640" y="5101920"/>
              <a:chExt cx="71280" cy="558360"/>
            </a:xfrm>
          </p:grpSpPr>
          <p:sp>
            <p:nvSpPr>
              <p:cNvPr id="71" name="Line 31"/>
              <p:cNvSpPr/>
              <p:nvPr/>
            </p:nvSpPr>
            <p:spPr>
              <a:xfrm>
                <a:off x="4292640" y="510192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2" name="Line 32"/>
              <p:cNvSpPr/>
              <p:nvPr/>
            </p:nvSpPr>
            <p:spPr>
              <a:xfrm>
                <a:off x="4292640" y="510192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3" name="Line 33"/>
              <p:cNvSpPr/>
              <p:nvPr/>
            </p:nvSpPr>
            <p:spPr>
              <a:xfrm flipH="1">
                <a:off x="4292640" y="566028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grpSp>
        <p:nvGrpSpPr>
          <p:cNvPr id="74" name="Group 34"/>
          <p:cNvGrpSpPr/>
          <p:nvPr/>
        </p:nvGrpSpPr>
        <p:grpSpPr>
          <a:xfrm>
            <a:off x="3098880" y="4238640"/>
            <a:ext cx="584280" cy="642600"/>
            <a:chOff x="3098880" y="4238640"/>
            <a:chExt cx="584280" cy="642600"/>
          </a:xfrm>
        </p:grpSpPr>
        <p:sp>
          <p:nvSpPr>
            <p:cNvPr id="75" name="CustomShape 35"/>
            <p:cNvSpPr/>
            <p:nvPr/>
          </p:nvSpPr>
          <p:spPr>
            <a:xfrm>
              <a:off x="3098880" y="4238640"/>
              <a:ext cx="5842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a  b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c  d</a:t>
              </a:r>
            </a:p>
          </p:txBody>
        </p:sp>
        <p:grpSp>
          <p:nvGrpSpPr>
            <p:cNvPr id="76" name="Group 36"/>
            <p:cNvGrpSpPr/>
            <p:nvPr/>
          </p:nvGrpSpPr>
          <p:grpSpPr>
            <a:xfrm>
              <a:off x="3570480" y="4302000"/>
              <a:ext cx="69840" cy="558360"/>
              <a:chOff x="3570480" y="4302000"/>
              <a:chExt cx="69840" cy="558360"/>
            </a:xfrm>
          </p:grpSpPr>
          <p:sp>
            <p:nvSpPr>
              <p:cNvPr id="77" name="Line 37"/>
              <p:cNvSpPr/>
              <p:nvPr/>
            </p:nvSpPr>
            <p:spPr>
              <a:xfrm>
                <a:off x="3640320" y="430200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8" name="Line 38"/>
              <p:cNvSpPr/>
              <p:nvPr/>
            </p:nvSpPr>
            <p:spPr>
              <a:xfrm flipH="1">
                <a:off x="3570480" y="430200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79" name="Line 39"/>
              <p:cNvSpPr/>
              <p:nvPr/>
            </p:nvSpPr>
            <p:spPr>
              <a:xfrm>
                <a:off x="3570480" y="486036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80" name="Group 40"/>
            <p:cNvGrpSpPr/>
            <p:nvPr/>
          </p:nvGrpSpPr>
          <p:grpSpPr>
            <a:xfrm>
              <a:off x="3124440" y="4302000"/>
              <a:ext cx="71280" cy="558360"/>
              <a:chOff x="3124440" y="4302000"/>
              <a:chExt cx="71280" cy="558360"/>
            </a:xfrm>
          </p:grpSpPr>
          <p:sp>
            <p:nvSpPr>
              <p:cNvPr id="81" name="Line 41"/>
              <p:cNvSpPr/>
              <p:nvPr/>
            </p:nvSpPr>
            <p:spPr>
              <a:xfrm>
                <a:off x="3124440" y="430200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2" name="Line 42"/>
              <p:cNvSpPr/>
              <p:nvPr/>
            </p:nvSpPr>
            <p:spPr>
              <a:xfrm>
                <a:off x="3124440" y="430200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83" name="Line 43"/>
              <p:cNvSpPr/>
              <p:nvPr/>
            </p:nvSpPr>
            <p:spPr>
              <a:xfrm flipH="1">
                <a:off x="3124440" y="486036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84" name="Line 44"/>
          <p:cNvSpPr/>
          <p:nvPr/>
        </p:nvSpPr>
        <p:spPr>
          <a:xfrm>
            <a:off x="939960" y="4178160"/>
            <a:ext cx="454644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" name="CustomShape 45"/>
          <p:cNvSpPr/>
          <p:nvPr/>
        </p:nvSpPr>
        <p:spPr>
          <a:xfrm>
            <a:off x="4229280" y="5880240"/>
            <a:ext cx="157464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x’ =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ax+cy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y’ = bx+dy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19000" y="-114480"/>
            <a:ext cx="8229600" cy="981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roup 2"/>
          <p:cNvGrpSpPr/>
          <p:nvPr/>
        </p:nvGrpSpPr>
        <p:grpSpPr>
          <a:xfrm>
            <a:off x="6464160" y="1773360"/>
            <a:ext cx="889200" cy="663120"/>
            <a:chOff x="6464160" y="1773360"/>
            <a:chExt cx="889200" cy="663120"/>
          </a:xfrm>
        </p:grpSpPr>
        <p:sp>
          <p:nvSpPr>
            <p:cNvPr id="88" name="CustomShape 3"/>
            <p:cNvSpPr/>
            <p:nvPr/>
          </p:nvSpPr>
          <p:spPr>
            <a:xfrm>
              <a:off x="6464160" y="1775160"/>
              <a:ext cx="8892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1   0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0   1</a:t>
              </a:r>
            </a:p>
          </p:txBody>
        </p:sp>
        <p:grpSp>
          <p:nvGrpSpPr>
            <p:cNvPr id="89" name="Group 4"/>
            <p:cNvGrpSpPr/>
            <p:nvPr/>
          </p:nvGrpSpPr>
          <p:grpSpPr>
            <a:xfrm>
              <a:off x="7182360" y="1773360"/>
              <a:ext cx="105120" cy="663120"/>
              <a:chOff x="7182360" y="1773360"/>
              <a:chExt cx="105120" cy="663120"/>
            </a:xfrm>
          </p:grpSpPr>
          <p:sp>
            <p:nvSpPr>
              <p:cNvPr id="90" name="Line 5"/>
              <p:cNvSpPr/>
              <p:nvPr/>
            </p:nvSpPr>
            <p:spPr>
              <a:xfrm>
                <a:off x="7287120" y="17733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1" name="Line 6"/>
              <p:cNvSpPr/>
              <p:nvPr/>
            </p:nvSpPr>
            <p:spPr>
              <a:xfrm flipH="1">
                <a:off x="7182360" y="1773360"/>
                <a:ext cx="104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2" name="Line 7"/>
              <p:cNvSpPr/>
              <p:nvPr/>
            </p:nvSpPr>
            <p:spPr>
              <a:xfrm>
                <a:off x="7182720" y="2436480"/>
                <a:ext cx="104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93" name="Group 8"/>
            <p:cNvGrpSpPr/>
            <p:nvPr/>
          </p:nvGrpSpPr>
          <p:grpSpPr>
            <a:xfrm>
              <a:off x="6501600" y="1773360"/>
              <a:ext cx="109440" cy="663120"/>
              <a:chOff x="6501600" y="1773360"/>
              <a:chExt cx="109440" cy="663120"/>
            </a:xfrm>
          </p:grpSpPr>
          <p:sp>
            <p:nvSpPr>
              <p:cNvPr id="94" name="Line 9"/>
              <p:cNvSpPr/>
              <p:nvPr/>
            </p:nvSpPr>
            <p:spPr>
              <a:xfrm>
                <a:off x="6501960" y="17733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5" name="Line 10"/>
              <p:cNvSpPr/>
              <p:nvPr/>
            </p:nvSpPr>
            <p:spPr>
              <a:xfrm>
                <a:off x="6501960" y="1773360"/>
                <a:ext cx="1090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96" name="Line 11"/>
              <p:cNvSpPr/>
              <p:nvPr/>
            </p:nvSpPr>
            <p:spPr>
              <a:xfrm flipH="1">
                <a:off x="6501600" y="2436480"/>
                <a:ext cx="1090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97" name="CustomShape 12"/>
          <p:cNvSpPr/>
          <p:nvPr/>
        </p:nvSpPr>
        <p:spPr>
          <a:xfrm>
            <a:off x="3851280" y="1065240"/>
            <a:ext cx="23684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Единичная матрица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CustomShape 13"/>
          <p:cNvSpPr/>
          <p:nvPr/>
        </p:nvSpPr>
        <p:spPr>
          <a:xfrm>
            <a:off x="2654280" y="4508640"/>
            <a:ext cx="21081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М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M</a:t>
            </a:r>
            <a:r>
              <a:rPr lang="en-US" sz="1800" b="1" strike="noStrike" spc="-1" baseline="30000">
                <a:solidFill>
                  <a:srgbClr val="000000"/>
                </a:solidFill>
                <a:latin typeface="Arial"/>
              </a:rPr>
              <a:t>-1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= P</a:t>
            </a:r>
          </a:p>
        </p:txBody>
      </p:sp>
      <p:sp>
        <p:nvSpPr>
          <p:cNvPr id="99" name="CustomShape 14"/>
          <p:cNvSpPr/>
          <p:nvPr/>
        </p:nvSpPr>
        <p:spPr>
          <a:xfrm>
            <a:off x="4206960" y="3249720"/>
            <a:ext cx="18097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Прямая задача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ustomShape 15"/>
          <p:cNvSpPr/>
          <p:nvPr/>
        </p:nvSpPr>
        <p:spPr>
          <a:xfrm>
            <a:off x="4206960" y="3960720"/>
            <a:ext cx="21146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Обратная задача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CustomShape 16"/>
          <p:cNvSpPr/>
          <p:nvPr/>
        </p:nvSpPr>
        <p:spPr>
          <a:xfrm>
            <a:off x="2666880" y="3251160"/>
            <a:ext cx="1320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PM = P’ </a:t>
            </a:r>
          </a:p>
        </p:txBody>
      </p:sp>
      <p:sp>
        <p:nvSpPr>
          <p:cNvPr id="102" name="CustomShape 17"/>
          <p:cNvSpPr/>
          <p:nvPr/>
        </p:nvSpPr>
        <p:spPr>
          <a:xfrm>
            <a:off x="2654280" y="3975120"/>
            <a:ext cx="21081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P’M</a:t>
            </a:r>
            <a:r>
              <a:rPr lang="en-US" sz="1800" b="1" strike="noStrike" spc="-1" baseline="30000">
                <a:solidFill>
                  <a:srgbClr val="000000"/>
                </a:solidFill>
                <a:latin typeface="Arial"/>
              </a:rPr>
              <a:t>-1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= P</a:t>
            </a:r>
          </a:p>
        </p:txBody>
      </p:sp>
      <p:sp>
        <p:nvSpPr>
          <p:cNvPr id="103" name="CustomShape 18"/>
          <p:cNvSpPr/>
          <p:nvPr/>
        </p:nvSpPr>
        <p:spPr>
          <a:xfrm>
            <a:off x="4206960" y="4532400"/>
            <a:ext cx="3409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Поглощение преобразования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CustomShape 19"/>
          <p:cNvSpPr/>
          <p:nvPr/>
        </p:nvSpPr>
        <p:spPr>
          <a:xfrm>
            <a:off x="2220840" y="1752480"/>
            <a:ext cx="1131840" cy="94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с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 b = 0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a = d =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1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</a:t>
            </a:r>
          </a:p>
        </p:txBody>
      </p:sp>
      <p:sp>
        <p:nvSpPr>
          <p:cNvPr id="105" name="CustomShape 20"/>
          <p:cNvSpPr/>
          <p:nvPr/>
        </p:nvSpPr>
        <p:spPr>
          <a:xfrm>
            <a:off x="3897360" y="1727280"/>
            <a:ext cx="2046240" cy="673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x’ = 1x+0y = x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y‘ = 0x+1y =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y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819000" y="-114480"/>
            <a:ext cx="8229600" cy="9813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spcBef>
                <a:spcPts val="624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Масштабирование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Line 2"/>
          <p:cNvSpPr/>
          <p:nvPr/>
        </p:nvSpPr>
        <p:spPr>
          <a:xfrm flipV="1">
            <a:off x="5948280" y="1149268"/>
            <a:ext cx="0" cy="1787760"/>
          </a:xfrm>
          <a:prstGeom prst="line">
            <a:avLst/>
          </a:prstGeom>
          <a:ln w="9360">
            <a:solidFill>
              <a:srgbClr val="000000"/>
            </a:solidFill>
            <a:miter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8" name="Line 3"/>
          <p:cNvSpPr/>
          <p:nvPr/>
        </p:nvSpPr>
        <p:spPr>
          <a:xfrm>
            <a:off x="5948280" y="2937028"/>
            <a:ext cx="23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stealth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9" name="CustomShape 4"/>
          <p:cNvSpPr/>
          <p:nvPr/>
        </p:nvSpPr>
        <p:spPr>
          <a:xfrm>
            <a:off x="8204400" y="2889148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110" name="CustomShape 5"/>
          <p:cNvSpPr/>
          <p:nvPr/>
        </p:nvSpPr>
        <p:spPr>
          <a:xfrm>
            <a:off x="5467680" y="1076548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111" name="Line 6"/>
          <p:cNvSpPr/>
          <p:nvPr/>
        </p:nvSpPr>
        <p:spPr>
          <a:xfrm>
            <a:off x="7101000" y="1641388"/>
            <a:ext cx="0" cy="12956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2" name="Line 7"/>
          <p:cNvSpPr/>
          <p:nvPr/>
        </p:nvSpPr>
        <p:spPr>
          <a:xfrm flipH="1">
            <a:off x="5948280" y="1641388"/>
            <a:ext cx="115272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3" name="CustomShape 8"/>
          <p:cNvSpPr/>
          <p:nvPr/>
        </p:nvSpPr>
        <p:spPr>
          <a:xfrm>
            <a:off x="7027920" y="1570108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4" name="CustomShape 9"/>
          <p:cNvSpPr/>
          <p:nvPr/>
        </p:nvSpPr>
        <p:spPr>
          <a:xfrm>
            <a:off x="5668560" y="1460668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y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CustomShape 10"/>
          <p:cNvSpPr/>
          <p:nvPr/>
        </p:nvSpPr>
        <p:spPr>
          <a:xfrm>
            <a:off x="6970320" y="2917948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CustomShape 11"/>
          <p:cNvSpPr/>
          <p:nvPr/>
        </p:nvSpPr>
        <p:spPr>
          <a:xfrm>
            <a:off x="5662440" y="2865388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117" name="CustomShape 12"/>
          <p:cNvSpPr/>
          <p:nvPr/>
        </p:nvSpPr>
        <p:spPr>
          <a:xfrm>
            <a:off x="7173720" y="1352668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118" name="CustomShape 13"/>
          <p:cNvSpPr/>
          <p:nvPr/>
        </p:nvSpPr>
        <p:spPr>
          <a:xfrm>
            <a:off x="2704320" y="1830748"/>
            <a:ext cx="1563480" cy="91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x’ = a * x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y’ = d * y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                </a:t>
            </a:r>
          </a:p>
        </p:txBody>
      </p:sp>
      <p:grpSp>
        <p:nvGrpSpPr>
          <p:cNvPr id="119" name="Group 14"/>
          <p:cNvGrpSpPr/>
          <p:nvPr/>
        </p:nvGrpSpPr>
        <p:grpSpPr>
          <a:xfrm>
            <a:off x="6471976" y="5474102"/>
            <a:ext cx="965160" cy="663120"/>
            <a:chOff x="2857680" y="5087880"/>
            <a:chExt cx="965160" cy="663120"/>
          </a:xfrm>
        </p:grpSpPr>
        <p:sp>
          <p:nvSpPr>
            <p:cNvPr id="120" name="CustomShape 15"/>
            <p:cNvSpPr/>
            <p:nvPr/>
          </p:nvSpPr>
          <p:spPr>
            <a:xfrm>
              <a:off x="2857680" y="5089680"/>
              <a:ext cx="9651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Sx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Sy</a:t>
              </a:r>
            </a:p>
          </p:txBody>
        </p:sp>
        <p:grpSp>
          <p:nvGrpSpPr>
            <p:cNvPr id="121" name="Group 16"/>
            <p:cNvGrpSpPr/>
            <p:nvPr/>
          </p:nvGrpSpPr>
          <p:grpSpPr>
            <a:xfrm>
              <a:off x="3637080" y="5087880"/>
              <a:ext cx="113760" cy="663120"/>
              <a:chOff x="3637080" y="5087880"/>
              <a:chExt cx="113760" cy="663120"/>
            </a:xfrm>
          </p:grpSpPr>
          <p:sp>
            <p:nvSpPr>
              <p:cNvPr id="122" name="Line 17"/>
              <p:cNvSpPr/>
              <p:nvPr/>
            </p:nvSpPr>
            <p:spPr>
              <a:xfrm>
                <a:off x="3750840" y="508788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3" name="Line 18"/>
              <p:cNvSpPr/>
              <p:nvPr/>
            </p:nvSpPr>
            <p:spPr>
              <a:xfrm flipH="1">
                <a:off x="3637080" y="508788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4" name="Line 19"/>
              <p:cNvSpPr/>
              <p:nvPr/>
            </p:nvSpPr>
            <p:spPr>
              <a:xfrm>
                <a:off x="3637080" y="575100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125" name="Group 20"/>
            <p:cNvGrpSpPr/>
            <p:nvPr/>
          </p:nvGrpSpPr>
          <p:grpSpPr>
            <a:xfrm>
              <a:off x="2898720" y="5087880"/>
              <a:ext cx="118800" cy="663120"/>
              <a:chOff x="2898720" y="5087880"/>
              <a:chExt cx="118800" cy="663120"/>
            </a:xfrm>
          </p:grpSpPr>
          <p:sp>
            <p:nvSpPr>
              <p:cNvPr id="126" name="Line 21"/>
              <p:cNvSpPr/>
              <p:nvPr/>
            </p:nvSpPr>
            <p:spPr>
              <a:xfrm>
                <a:off x="2898720" y="508788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7" name="Line 22"/>
              <p:cNvSpPr/>
              <p:nvPr/>
            </p:nvSpPr>
            <p:spPr>
              <a:xfrm>
                <a:off x="2898720" y="508788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28" name="Line 23"/>
              <p:cNvSpPr/>
              <p:nvPr/>
            </p:nvSpPr>
            <p:spPr>
              <a:xfrm flipH="1">
                <a:off x="2898720" y="575100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129" name="CustomShape 24"/>
          <p:cNvSpPr/>
          <p:nvPr/>
        </p:nvSpPr>
        <p:spPr>
          <a:xfrm>
            <a:off x="1331640" y="3791740"/>
            <a:ext cx="74167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 = PS = [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 y ]   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[ (a*x+0*y) (0*x+d*y) ] = [ x’ y’ ]</a:t>
            </a:r>
          </a:p>
        </p:txBody>
      </p:sp>
      <p:grpSp>
        <p:nvGrpSpPr>
          <p:cNvPr id="130" name="Group 25"/>
          <p:cNvGrpSpPr/>
          <p:nvPr/>
        </p:nvGrpSpPr>
        <p:grpSpPr>
          <a:xfrm>
            <a:off x="3109680" y="3647020"/>
            <a:ext cx="965160" cy="663120"/>
            <a:chOff x="3225960" y="2027160"/>
            <a:chExt cx="965160" cy="663120"/>
          </a:xfrm>
        </p:grpSpPr>
        <p:sp>
          <p:nvSpPr>
            <p:cNvPr id="131" name="CustomShape 26"/>
            <p:cNvSpPr/>
            <p:nvPr/>
          </p:nvSpPr>
          <p:spPr>
            <a:xfrm>
              <a:off x="3225960" y="2028960"/>
              <a:ext cx="9651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a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d</a:t>
              </a:r>
            </a:p>
          </p:txBody>
        </p:sp>
        <p:grpSp>
          <p:nvGrpSpPr>
            <p:cNvPr id="132" name="Group 27"/>
            <p:cNvGrpSpPr/>
            <p:nvPr/>
          </p:nvGrpSpPr>
          <p:grpSpPr>
            <a:xfrm>
              <a:off x="4005360" y="2027160"/>
              <a:ext cx="113760" cy="663120"/>
              <a:chOff x="4005360" y="2027160"/>
              <a:chExt cx="113760" cy="663120"/>
            </a:xfrm>
          </p:grpSpPr>
          <p:sp>
            <p:nvSpPr>
              <p:cNvPr id="133" name="Line 28"/>
              <p:cNvSpPr/>
              <p:nvPr/>
            </p:nvSpPr>
            <p:spPr>
              <a:xfrm>
                <a:off x="4119120" y="20271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34" name="Line 29"/>
              <p:cNvSpPr/>
              <p:nvPr/>
            </p:nvSpPr>
            <p:spPr>
              <a:xfrm flipH="1">
                <a:off x="4005360" y="202716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35" name="Line 30"/>
              <p:cNvSpPr/>
              <p:nvPr/>
            </p:nvSpPr>
            <p:spPr>
              <a:xfrm>
                <a:off x="4005360" y="269028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136" name="Group 31"/>
            <p:cNvGrpSpPr/>
            <p:nvPr/>
          </p:nvGrpSpPr>
          <p:grpSpPr>
            <a:xfrm>
              <a:off x="3267000" y="2027160"/>
              <a:ext cx="118800" cy="663120"/>
              <a:chOff x="3267000" y="2027160"/>
              <a:chExt cx="118800" cy="663120"/>
            </a:xfrm>
          </p:grpSpPr>
          <p:sp>
            <p:nvSpPr>
              <p:cNvPr id="137" name="Line 32"/>
              <p:cNvSpPr/>
              <p:nvPr/>
            </p:nvSpPr>
            <p:spPr>
              <a:xfrm>
                <a:off x="3267000" y="20271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38" name="Line 33"/>
              <p:cNvSpPr/>
              <p:nvPr/>
            </p:nvSpPr>
            <p:spPr>
              <a:xfrm>
                <a:off x="3267000" y="202716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139" name="Line 34"/>
              <p:cNvSpPr/>
              <p:nvPr/>
            </p:nvSpPr>
            <p:spPr>
              <a:xfrm flipH="1">
                <a:off x="3267000" y="269028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140" name="Line 35"/>
          <p:cNvSpPr/>
          <p:nvPr/>
        </p:nvSpPr>
        <p:spPr>
          <a:xfrm>
            <a:off x="6593040" y="2530588"/>
            <a:ext cx="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1" name="Line 36"/>
          <p:cNvSpPr/>
          <p:nvPr/>
        </p:nvSpPr>
        <p:spPr>
          <a:xfrm flipH="1">
            <a:off x="5947920" y="2530588"/>
            <a:ext cx="64476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2" name="CustomShape 37"/>
          <p:cNvSpPr/>
          <p:nvPr/>
        </p:nvSpPr>
        <p:spPr>
          <a:xfrm>
            <a:off x="6519960" y="2458948"/>
            <a:ext cx="144360" cy="14472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3" name="CustomShape 38"/>
          <p:cNvSpPr/>
          <p:nvPr/>
        </p:nvSpPr>
        <p:spPr>
          <a:xfrm>
            <a:off x="5656320" y="2324308"/>
            <a:ext cx="33948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y</a:t>
            </a:r>
            <a:r>
              <a:rPr lang="en-US" sz="1600" b="1" strike="noStrike" spc="-1">
                <a:solidFill>
                  <a:srgbClr val="000000"/>
                </a:solidFill>
                <a:latin typeface="Arial"/>
              </a:rPr>
              <a:t>’</a:t>
            </a:r>
          </a:p>
        </p:txBody>
      </p:sp>
      <p:sp>
        <p:nvSpPr>
          <p:cNvPr id="144" name="CustomShape 39"/>
          <p:cNvSpPr/>
          <p:nvPr/>
        </p:nvSpPr>
        <p:spPr>
          <a:xfrm>
            <a:off x="6462000" y="2917948"/>
            <a:ext cx="3333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r>
              <a:rPr lang="en-US" sz="1400" b="1" strike="noStrike" spc="-1">
                <a:solidFill>
                  <a:srgbClr val="000000"/>
                </a:solidFill>
                <a:latin typeface="Arial"/>
              </a:rPr>
              <a:t>’</a:t>
            </a:r>
          </a:p>
        </p:txBody>
      </p:sp>
      <p:sp>
        <p:nvSpPr>
          <p:cNvPr id="145" name="CustomShape 40"/>
          <p:cNvSpPr/>
          <p:nvPr/>
        </p:nvSpPr>
        <p:spPr>
          <a:xfrm>
            <a:off x="6665400" y="2241508"/>
            <a:ext cx="384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</a:t>
            </a:r>
          </a:p>
        </p:txBody>
      </p:sp>
      <p:sp>
        <p:nvSpPr>
          <p:cNvPr id="146" name="CustomShape 41"/>
          <p:cNvSpPr/>
          <p:nvPr/>
        </p:nvSpPr>
        <p:spPr>
          <a:xfrm>
            <a:off x="1564441" y="5656192"/>
            <a:ext cx="3282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 dirty="0">
                <a:solidFill>
                  <a:srgbClr val="333399"/>
                </a:solidFill>
                <a:latin typeface="Arial"/>
              </a:rPr>
              <a:t>Матрица масштабирования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CustomShape 42"/>
          <p:cNvSpPr/>
          <p:nvPr/>
        </p:nvSpPr>
        <p:spPr>
          <a:xfrm>
            <a:off x="5821816" y="5655182"/>
            <a:ext cx="5313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S =</a:t>
            </a:r>
          </a:p>
        </p:txBody>
      </p:sp>
      <p:sp>
        <p:nvSpPr>
          <p:cNvPr id="148" name="CustomShape 43"/>
          <p:cNvSpPr/>
          <p:nvPr/>
        </p:nvSpPr>
        <p:spPr>
          <a:xfrm>
            <a:off x="1205396" y="4437112"/>
            <a:ext cx="3367080" cy="673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с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= b = 0    a  </a:t>
            </a:r>
            <a:r>
              <a:rPr lang="en-US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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0  d </a:t>
            </a:r>
            <a:r>
              <a:rPr lang="en-US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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0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>
            <a:spLocks noChangeShapeType="1"/>
          </p:cNvSpPr>
          <p:nvPr/>
        </p:nvSpPr>
        <p:spPr bwMode="auto">
          <a:xfrm>
            <a:off x="5715000" y="32131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sp>
        <p:nvSpPr>
          <p:cNvPr id="7171" name="Line 3"/>
          <p:cNvSpPr>
            <a:spLocks noChangeShapeType="1"/>
          </p:cNvSpPr>
          <p:nvPr/>
        </p:nvSpPr>
        <p:spPr bwMode="auto">
          <a:xfrm flipV="1">
            <a:off x="6172200" y="1079500"/>
            <a:ext cx="0" cy="2565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7162800" y="1308100"/>
            <a:ext cx="990600" cy="914400"/>
            <a:chOff x="3312" y="1008"/>
            <a:chExt cx="624" cy="576"/>
          </a:xfrm>
        </p:grpSpPr>
        <p:sp>
          <p:nvSpPr>
            <p:cNvPr id="7173" name="Rectangle 5"/>
            <p:cNvSpPr>
              <a:spLocks noChangeArrowheads="1"/>
            </p:cNvSpPr>
            <p:nvPr/>
          </p:nvSpPr>
          <p:spPr bwMode="auto">
            <a:xfrm>
              <a:off x="3312" y="1200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  <p:sp>
          <p:nvSpPr>
            <p:cNvPr id="7174" name="AutoShape 6"/>
            <p:cNvSpPr>
              <a:spLocks noChangeArrowheads="1"/>
            </p:cNvSpPr>
            <p:nvPr/>
          </p:nvSpPr>
          <p:spPr bwMode="auto">
            <a:xfrm>
              <a:off x="3312" y="1008"/>
              <a:ext cx="624" cy="19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7175" name="Group 7"/>
          <p:cNvGrpSpPr>
            <a:grpSpLocks/>
          </p:cNvGrpSpPr>
          <p:nvPr/>
        </p:nvGrpSpPr>
        <p:grpSpPr bwMode="auto">
          <a:xfrm>
            <a:off x="6629400" y="2222500"/>
            <a:ext cx="533400" cy="457200"/>
            <a:chOff x="3312" y="1008"/>
            <a:chExt cx="624" cy="576"/>
          </a:xfrm>
        </p:grpSpPr>
        <p:sp>
          <p:nvSpPr>
            <p:cNvPr id="7176" name="Rectangle 8"/>
            <p:cNvSpPr>
              <a:spLocks noChangeArrowheads="1"/>
            </p:cNvSpPr>
            <p:nvPr/>
          </p:nvSpPr>
          <p:spPr bwMode="auto">
            <a:xfrm>
              <a:off x="3312" y="1200"/>
              <a:ext cx="624" cy="384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  <p:sp>
          <p:nvSpPr>
            <p:cNvPr id="7177" name="AutoShape 9"/>
            <p:cNvSpPr>
              <a:spLocks noChangeArrowheads="1"/>
            </p:cNvSpPr>
            <p:nvPr/>
          </p:nvSpPr>
          <p:spPr bwMode="auto">
            <a:xfrm>
              <a:off x="3312" y="1008"/>
              <a:ext cx="624" cy="192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7178" name="Text Box 10"/>
          <p:cNvSpPr txBox="1">
            <a:spLocks noChangeArrowheads="1"/>
          </p:cNvSpPr>
          <p:nvPr/>
        </p:nvSpPr>
        <p:spPr bwMode="auto">
          <a:xfrm>
            <a:off x="1633538" y="1611313"/>
            <a:ext cx="112712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200" b="1" smtClean="0">
                <a:solidFill>
                  <a:srgbClr val="000000"/>
                </a:solidFill>
                <a:latin typeface="Times New Roman" pitchFamily="18" charset="0"/>
              </a:rPr>
              <a:t>Sx = 0.5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200" b="1" smtClean="0">
                <a:solidFill>
                  <a:srgbClr val="000000"/>
                </a:solidFill>
                <a:latin typeface="Times New Roman" pitchFamily="18" charset="0"/>
              </a:rPr>
              <a:t>Sy = 0.5</a:t>
            </a:r>
            <a:endParaRPr lang="ru-RU" altLang="ru-RU" sz="2200" b="1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188" name="Rectangle 20"/>
          <p:cNvSpPr>
            <a:spLocks noChangeArrowheads="1"/>
          </p:cNvSpPr>
          <p:nvPr/>
        </p:nvSpPr>
        <p:spPr bwMode="auto">
          <a:xfrm>
            <a:off x="914400" y="-19050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000" b="1" smtClean="0">
                <a:solidFill>
                  <a:srgbClr val="000000"/>
                </a:solidFill>
              </a:rPr>
              <a:t>Двумерные геометрические (аффинные) преобразования</a:t>
            </a:r>
            <a:r>
              <a:rPr lang="en-US" altLang="ru-RU" sz="2000" b="1" smtClean="0">
                <a:solidFill>
                  <a:srgbClr val="000000"/>
                </a:solidFill>
              </a:rPr>
              <a:t/>
            </a:r>
            <a:br>
              <a:rPr lang="en-US" altLang="ru-RU" sz="2000" b="1" smtClean="0">
                <a:solidFill>
                  <a:srgbClr val="000000"/>
                </a:solidFill>
              </a:rPr>
            </a:br>
            <a:r>
              <a:rPr lang="ru-RU" altLang="ru-RU" sz="2000" b="1" smtClean="0">
                <a:solidFill>
                  <a:srgbClr val="CC3300"/>
                </a:solidFill>
              </a:rPr>
              <a:t>Масштабирование</a:t>
            </a:r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8405813" y="33131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X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5745163" y="11445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Y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sp>
        <p:nvSpPr>
          <p:cNvPr id="7191" name="Text Box 23"/>
          <p:cNvSpPr txBox="1">
            <a:spLocks noChangeArrowheads="1"/>
          </p:cNvSpPr>
          <p:nvPr/>
        </p:nvSpPr>
        <p:spPr bwMode="auto">
          <a:xfrm>
            <a:off x="5838825" y="32131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O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grpSp>
        <p:nvGrpSpPr>
          <p:cNvPr id="7192" name="Group 24"/>
          <p:cNvGrpSpPr>
            <a:grpSpLocks/>
          </p:cNvGrpSpPr>
          <p:nvPr/>
        </p:nvGrpSpPr>
        <p:grpSpPr bwMode="auto">
          <a:xfrm>
            <a:off x="4038600" y="1671638"/>
            <a:ext cx="1320800" cy="703262"/>
            <a:chOff x="2384" y="3205"/>
            <a:chExt cx="608" cy="418"/>
          </a:xfrm>
        </p:grpSpPr>
        <p:sp>
          <p:nvSpPr>
            <p:cNvPr id="7193" name="Rectangle 25"/>
            <p:cNvSpPr>
              <a:spLocks noChangeArrowheads="1"/>
            </p:cNvSpPr>
            <p:nvPr/>
          </p:nvSpPr>
          <p:spPr bwMode="auto">
            <a:xfrm>
              <a:off x="2384" y="3206"/>
              <a:ext cx="60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155000"/>
                </a:spcBef>
                <a:spcAft>
                  <a:spcPct val="0"/>
                </a:spcAft>
              </a:pPr>
              <a:r>
                <a:rPr lang="en-US" altLang="ru-RU" sz="2000" b="1" smtClean="0">
                  <a:solidFill>
                    <a:srgbClr val="000000"/>
                  </a:solidFill>
                </a:rPr>
                <a:t>  0.5   0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ru-RU" sz="2000" b="1" smtClean="0">
                  <a:solidFill>
                    <a:srgbClr val="000000"/>
                  </a:solidFill>
                </a:rPr>
                <a:t>   0   0.5</a:t>
              </a:r>
              <a:endParaRPr lang="ru-RU" altLang="ru-RU" sz="2000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7194" name="Group 26"/>
            <p:cNvGrpSpPr>
              <a:grpSpLocks/>
            </p:cNvGrpSpPr>
            <p:nvPr/>
          </p:nvGrpSpPr>
          <p:grpSpPr bwMode="auto">
            <a:xfrm flipH="1">
              <a:off x="2875" y="3205"/>
              <a:ext cx="72" cy="418"/>
              <a:chOff x="476" y="2840"/>
              <a:chExt cx="45" cy="318"/>
            </a:xfrm>
          </p:grpSpPr>
          <p:sp>
            <p:nvSpPr>
              <p:cNvPr id="7195" name="Line 27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0" cy="3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Line 28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197" name="Line 29"/>
              <p:cNvSpPr>
                <a:spLocks noChangeShapeType="1"/>
              </p:cNvSpPr>
              <p:nvPr/>
            </p:nvSpPr>
            <p:spPr bwMode="auto">
              <a:xfrm flipH="1" flipV="1">
                <a:off x="476" y="3158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Group 30"/>
            <p:cNvGrpSpPr>
              <a:grpSpLocks/>
            </p:cNvGrpSpPr>
            <p:nvPr/>
          </p:nvGrpSpPr>
          <p:grpSpPr bwMode="auto">
            <a:xfrm>
              <a:off x="2410" y="3205"/>
              <a:ext cx="75" cy="418"/>
              <a:chOff x="476" y="2840"/>
              <a:chExt cx="45" cy="318"/>
            </a:xfrm>
          </p:grpSpPr>
          <p:sp>
            <p:nvSpPr>
              <p:cNvPr id="7199" name="Line 31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0" cy="3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00" name="Line 32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01" name="Line 33"/>
              <p:cNvSpPr>
                <a:spLocks noChangeShapeType="1"/>
              </p:cNvSpPr>
              <p:nvPr/>
            </p:nvSpPr>
            <p:spPr bwMode="auto">
              <a:xfrm flipH="1" flipV="1">
                <a:off x="476" y="3158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7202" name="Text Box 34"/>
          <p:cNvSpPr txBox="1">
            <a:spLocks noChangeArrowheads="1"/>
          </p:cNvSpPr>
          <p:nvPr/>
        </p:nvSpPr>
        <p:spPr bwMode="auto">
          <a:xfrm>
            <a:off x="3387725" y="1827213"/>
            <a:ext cx="571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000" b="1" smtClean="0">
                <a:solidFill>
                  <a:srgbClr val="000000"/>
                </a:solidFill>
              </a:rPr>
              <a:t>S =</a:t>
            </a:r>
            <a:endParaRPr lang="ru-RU" altLang="ru-RU" sz="2000" b="1" smtClean="0">
              <a:solidFill>
                <a:srgbClr val="000000"/>
              </a:solidFill>
            </a:endParaRPr>
          </a:p>
        </p:txBody>
      </p:sp>
      <p:sp>
        <p:nvSpPr>
          <p:cNvPr id="7203" name="Line 35"/>
          <p:cNvSpPr>
            <a:spLocks noChangeShapeType="1"/>
          </p:cNvSpPr>
          <p:nvPr/>
        </p:nvSpPr>
        <p:spPr bwMode="auto">
          <a:xfrm>
            <a:off x="5715000" y="6197600"/>
            <a:ext cx="2641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sp>
        <p:nvSpPr>
          <p:cNvPr id="7204" name="Line 36"/>
          <p:cNvSpPr>
            <a:spLocks noChangeShapeType="1"/>
          </p:cNvSpPr>
          <p:nvPr/>
        </p:nvSpPr>
        <p:spPr bwMode="auto">
          <a:xfrm flipV="1">
            <a:off x="6172200" y="4165600"/>
            <a:ext cx="0" cy="2362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grpSp>
        <p:nvGrpSpPr>
          <p:cNvPr id="7205" name="Group 37"/>
          <p:cNvGrpSpPr>
            <a:grpSpLocks/>
          </p:cNvGrpSpPr>
          <p:nvPr/>
        </p:nvGrpSpPr>
        <p:grpSpPr bwMode="auto">
          <a:xfrm>
            <a:off x="7162800" y="4292600"/>
            <a:ext cx="990600" cy="914400"/>
            <a:chOff x="3312" y="1008"/>
            <a:chExt cx="624" cy="576"/>
          </a:xfrm>
        </p:grpSpPr>
        <p:sp>
          <p:nvSpPr>
            <p:cNvPr id="7206" name="Rectangle 38"/>
            <p:cNvSpPr>
              <a:spLocks noChangeArrowheads="1"/>
            </p:cNvSpPr>
            <p:nvPr/>
          </p:nvSpPr>
          <p:spPr bwMode="auto">
            <a:xfrm>
              <a:off x="3312" y="1200"/>
              <a:ext cx="624" cy="384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  <p:sp>
          <p:nvSpPr>
            <p:cNvPr id="7207" name="AutoShape 39"/>
            <p:cNvSpPr>
              <a:spLocks noChangeArrowheads="1"/>
            </p:cNvSpPr>
            <p:nvPr/>
          </p:nvSpPr>
          <p:spPr bwMode="auto">
            <a:xfrm>
              <a:off x="3312" y="1008"/>
              <a:ext cx="624" cy="192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7208" name="Group 40"/>
          <p:cNvGrpSpPr>
            <a:grpSpLocks/>
          </p:cNvGrpSpPr>
          <p:nvPr/>
        </p:nvGrpSpPr>
        <p:grpSpPr bwMode="auto">
          <a:xfrm>
            <a:off x="6629400" y="5207000"/>
            <a:ext cx="533400" cy="457200"/>
            <a:chOff x="3312" y="1008"/>
            <a:chExt cx="624" cy="576"/>
          </a:xfrm>
        </p:grpSpPr>
        <p:sp>
          <p:nvSpPr>
            <p:cNvPr id="7209" name="Rectangle 41"/>
            <p:cNvSpPr>
              <a:spLocks noChangeArrowheads="1"/>
            </p:cNvSpPr>
            <p:nvPr/>
          </p:nvSpPr>
          <p:spPr bwMode="auto">
            <a:xfrm>
              <a:off x="3312" y="1200"/>
              <a:ext cx="624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  <p:sp>
          <p:nvSpPr>
            <p:cNvPr id="7210" name="AutoShape 42"/>
            <p:cNvSpPr>
              <a:spLocks noChangeArrowheads="1"/>
            </p:cNvSpPr>
            <p:nvPr/>
          </p:nvSpPr>
          <p:spPr bwMode="auto">
            <a:xfrm>
              <a:off x="3312" y="1008"/>
              <a:ext cx="624" cy="19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ru-RU" b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7211" name="Text Box 43"/>
          <p:cNvSpPr txBox="1">
            <a:spLocks noChangeArrowheads="1"/>
          </p:cNvSpPr>
          <p:nvPr/>
        </p:nvSpPr>
        <p:spPr bwMode="auto">
          <a:xfrm>
            <a:off x="1633538" y="4595813"/>
            <a:ext cx="9175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200" b="1" smtClean="0">
                <a:solidFill>
                  <a:srgbClr val="000000"/>
                </a:solidFill>
                <a:latin typeface="Times New Roman" pitchFamily="18" charset="0"/>
              </a:rPr>
              <a:t>Sx = 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200" b="1" smtClean="0">
                <a:solidFill>
                  <a:srgbClr val="000000"/>
                </a:solidFill>
                <a:latin typeface="Times New Roman" pitchFamily="18" charset="0"/>
              </a:rPr>
              <a:t>Sy = 2</a:t>
            </a:r>
            <a:endParaRPr lang="ru-RU" altLang="ru-RU" sz="2200" b="1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7212" name="Text Box 44"/>
          <p:cNvSpPr txBox="1">
            <a:spLocks noChangeArrowheads="1"/>
          </p:cNvSpPr>
          <p:nvPr/>
        </p:nvSpPr>
        <p:spPr bwMode="auto">
          <a:xfrm>
            <a:off x="8405813" y="62976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X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sp>
        <p:nvSpPr>
          <p:cNvPr id="7213" name="Text Box 45"/>
          <p:cNvSpPr txBox="1">
            <a:spLocks noChangeArrowheads="1"/>
          </p:cNvSpPr>
          <p:nvPr/>
        </p:nvSpPr>
        <p:spPr bwMode="auto">
          <a:xfrm>
            <a:off x="5745163" y="41290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Y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sp>
        <p:nvSpPr>
          <p:cNvPr id="7214" name="Text Box 46"/>
          <p:cNvSpPr txBox="1">
            <a:spLocks noChangeArrowheads="1"/>
          </p:cNvSpPr>
          <p:nvPr/>
        </p:nvSpPr>
        <p:spPr bwMode="auto">
          <a:xfrm>
            <a:off x="5838825" y="61976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b="1" smtClean="0">
                <a:solidFill>
                  <a:srgbClr val="000000"/>
                </a:solidFill>
              </a:rPr>
              <a:t>O</a:t>
            </a:r>
            <a:endParaRPr lang="ru-RU" altLang="ru-RU" b="1" smtClean="0">
              <a:solidFill>
                <a:srgbClr val="000000"/>
              </a:solidFill>
            </a:endParaRPr>
          </a:p>
        </p:txBody>
      </p:sp>
      <p:grpSp>
        <p:nvGrpSpPr>
          <p:cNvPr id="7215" name="Group 47"/>
          <p:cNvGrpSpPr>
            <a:grpSpLocks/>
          </p:cNvGrpSpPr>
          <p:nvPr/>
        </p:nvGrpSpPr>
        <p:grpSpPr bwMode="auto">
          <a:xfrm>
            <a:off x="4038600" y="4656138"/>
            <a:ext cx="1092200" cy="703262"/>
            <a:chOff x="2384" y="3205"/>
            <a:chExt cx="608" cy="418"/>
          </a:xfrm>
        </p:grpSpPr>
        <p:sp>
          <p:nvSpPr>
            <p:cNvPr id="7216" name="Rectangle 48"/>
            <p:cNvSpPr>
              <a:spLocks noChangeArrowheads="1"/>
            </p:cNvSpPr>
            <p:nvPr/>
          </p:nvSpPr>
          <p:spPr bwMode="auto">
            <a:xfrm>
              <a:off x="2384" y="3206"/>
              <a:ext cx="608" cy="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fontAlgn="base">
                <a:spcBef>
                  <a:spcPct val="155000"/>
                </a:spcBef>
                <a:spcAft>
                  <a:spcPct val="0"/>
                </a:spcAft>
              </a:pPr>
              <a:r>
                <a:rPr lang="en-US" altLang="ru-RU" sz="2000" b="1" smtClean="0">
                  <a:solidFill>
                    <a:srgbClr val="000000"/>
                  </a:solidFill>
                </a:rPr>
                <a:t>   2   0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ru-RU" sz="2000" b="1" smtClean="0">
                  <a:solidFill>
                    <a:srgbClr val="000000"/>
                  </a:solidFill>
                </a:rPr>
                <a:t>   0   2</a:t>
              </a:r>
              <a:endParaRPr lang="ru-RU" altLang="ru-RU" sz="2000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7217" name="Group 49"/>
            <p:cNvGrpSpPr>
              <a:grpSpLocks/>
            </p:cNvGrpSpPr>
            <p:nvPr/>
          </p:nvGrpSpPr>
          <p:grpSpPr bwMode="auto">
            <a:xfrm flipH="1">
              <a:off x="2875" y="3205"/>
              <a:ext cx="72" cy="418"/>
              <a:chOff x="476" y="2840"/>
              <a:chExt cx="45" cy="318"/>
            </a:xfrm>
          </p:grpSpPr>
          <p:sp>
            <p:nvSpPr>
              <p:cNvPr id="7218" name="Line 50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0" cy="3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19" name="Line 51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20" name="Line 52"/>
              <p:cNvSpPr>
                <a:spLocks noChangeShapeType="1"/>
              </p:cNvSpPr>
              <p:nvPr/>
            </p:nvSpPr>
            <p:spPr bwMode="auto">
              <a:xfrm flipH="1" flipV="1">
                <a:off x="476" y="3158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21" name="Group 53"/>
            <p:cNvGrpSpPr>
              <a:grpSpLocks/>
            </p:cNvGrpSpPr>
            <p:nvPr/>
          </p:nvGrpSpPr>
          <p:grpSpPr bwMode="auto">
            <a:xfrm>
              <a:off x="2410" y="3205"/>
              <a:ext cx="75" cy="418"/>
              <a:chOff x="476" y="2840"/>
              <a:chExt cx="45" cy="318"/>
            </a:xfrm>
          </p:grpSpPr>
          <p:sp>
            <p:nvSpPr>
              <p:cNvPr id="7222" name="Line 54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0" cy="31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23" name="Line 55"/>
              <p:cNvSpPr>
                <a:spLocks noChangeShapeType="1"/>
              </p:cNvSpPr>
              <p:nvPr/>
            </p:nvSpPr>
            <p:spPr bwMode="auto">
              <a:xfrm>
                <a:off x="476" y="2840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7224" name="Line 56"/>
              <p:cNvSpPr>
                <a:spLocks noChangeShapeType="1"/>
              </p:cNvSpPr>
              <p:nvPr/>
            </p:nvSpPr>
            <p:spPr bwMode="auto">
              <a:xfrm flipH="1" flipV="1">
                <a:off x="476" y="3158"/>
                <a:ext cx="4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ru-RU" b="1" smtClean="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7225" name="Text Box 57"/>
          <p:cNvSpPr txBox="1">
            <a:spLocks noChangeArrowheads="1"/>
          </p:cNvSpPr>
          <p:nvPr/>
        </p:nvSpPr>
        <p:spPr bwMode="auto">
          <a:xfrm>
            <a:off x="3387725" y="4811713"/>
            <a:ext cx="571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ru-RU" sz="2000" b="1" smtClean="0">
                <a:solidFill>
                  <a:srgbClr val="000000"/>
                </a:solidFill>
              </a:rPr>
              <a:t>S =</a:t>
            </a:r>
            <a:endParaRPr lang="ru-RU" altLang="ru-RU" sz="2000" b="1" smtClean="0">
              <a:solidFill>
                <a:srgbClr val="000000"/>
              </a:solidFill>
            </a:endParaRPr>
          </a:p>
        </p:txBody>
      </p:sp>
      <p:sp>
        <p:nvSpPr>
          <p:cNvPr id="7229" name="Arc 61"/>
          <p:cNvSpPr>
            <a:spLocks/>
          </p:cNvSpPr>
          <p:nvPr/>
        </p:nvSpPr>
        <p:spPr bwMode="auto">
          <a:xfrm rot="10950396" flipH="1">
            <a:off x="7226300" y="1673225"/>
            <a:ext cx="519113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5240"/>
              <a:gd name="T1" fmla="*/ 0 h 21600"/>
              <a:gd name="T2" fmla="*/ 15240 w 15240"/>
              <a:gd name="T3" fmla="*/ 6293 h 21600"/>
              <a:gd name="T4" fmla="*/ 0 w 1524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240" h="21600" fill="none" extrusionOk="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</a:path>
              <a:path w="15240" h="21600" stroke="0" extrusionOk="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sp>
        <p:nvSpPr>
          <p:cNvPr id="7230" name="Arc 62"/>
          <p:cNvSpPr>
            <a:spLocks/>
          </p:cNvSpPr>
          <p:nvPr/>
        </p:nvSpPr>
        <p:spPr bwMode="auto">
          <a:xfrm rot="10950396" flipH="1">
            <a:off x="7277100" y="4773613"/>
            <a:ext cx="560388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6458"/>
              <a:gd name="T1" fmla="*/ 0 h 21600"/>
              <a:gd name="T2" fmla="*/ 16458 w 16458"/>
              <a:gd name="T3" fmla="*/ 7611 h 21600"/>
              <a:gd name="T4" fmla="*/ 0 w 1645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458" h="21600" fill="none" extrusionOk="0">
                <a:moveTo>
                  <a:pt x="-1" y="0"/>
                </a:moveTo>
                <a:cubicBezTo>
                  <a:pt x="6336" y="0"/>
                  <a:pt x="12354" y="2782"/>
                  <a:pt x="16458" y="7610"/>
                </a:cubicBezTo>
              </a:path>
              <a:path w="16458" h="21600" stroke="0" extrusionOk="0">
                <a:moveTo>
                  <a:pt x="-1" y="0"/>
                </a:moveTo>
                <a:cubicBezTo>
                  <a:pt x="6336" y="0"/>
                  <a:pt x="12354" y="2782"/>
                  <a:pt x="16458" y="761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b="1" smtClean="0">
              <a:solidFill>
                <a:srgbClr val="000000"/>
              </a:solidFill>
            </a:endParaRPr>
          </a:p>
        </p:txBody>
      </p:sp>
      <p:sp>
        <p:nvSpPr>
          <p:cNvPr id="7231" name="Text Box 63"/>
          <p:cNvSpPr txBox="1">
            <a:spLocks noChangeArrowheads="1"/>
          </p:cNvSpPr>
          <p:nvPr/>
        </p:nvSpPr>
        <p:spPr bwMode="auto">
          <a:xfrm>
            <a:off x="1165225" y="3643313"/>
            <a:ext cx="6900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smtClean="0">
                <a:solidFill>
                  <a:srgbClr val="000000"/>
                </a:solidFill>
              </a:rPr>
              <a:t>Рисунок 2.1.  Масштабирование с коэффициентами меньше единицы</a:t>
            </a:r>
          </a:p>
        </p:txBody>
      </p:sp>
      <p:sp>
        <p:nvSpPr>
          <p:cNvPr id="7232" name="Text Box 64"/>
          <p:cNvSpPr txBox="1">
            <a:spLocks noChangeArrowheads="1"/>
          </p:cNvSpPr>
          <p:nvPr/>
        </p:nvSpPr>
        <p:spPr bwMode="auto">
          <a:xfrm>
            <a:off x="1038225" y="6553200"/>
            <a:ext cx="69008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smtClean="0">
                <a:solidFill>
                  <a:srgbClr val="000000"/>
                </a:solidFill>
              </a:rPr>
              <a:t>Рисунок 2.2.  Масштабирование с коэффициентами больше единицы</a:t>
            </a:r>
          </a:p>
        </p:txBody>
      </p:sp>
    </p:spTree>
    <p:extLst>
      <p:ext uri="{BB962C8B-B14F-4D97-AF65-F5344CB8AC3E}">
        <p14:creationId xmlns:p14="http://schemas.microsoft.com/office/powerpoint/2010/main" val="140770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Line 1"/>
          <p:cNvSpPr/>
          <p:nvPr/>
        </p:nvSpPr>
        <p:spPr>
          <a:xfrm>
            <a:off x="5715000" y="3174840"/>
            <a:ext cx="289548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9" name="Line 2"/>
          <p:cNvSpPr/>
          <p:nvPr/>
        </p:nvSpPr>
        <p:spPr>
          <a:xfrm flipV="1">
            <a:off x="6095880" y="1143000"/>
            <a:ext cx="0" cy="246384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00" name="Group 3"/>
          <p:cNvGrpSpPr/>
          <p:nvPr/>
        </p:nvGrpSpPr>
        <p:grpSpPr>
          <a:xfrm>
            <a:off x="7086600" y="1270080"/>
            <a:ext cx="990720" cy="914400"/>
            <a:chOff x="7086600" y="1270080"/>
            <a:chExt cx="990720" cy="914400"/>
          </a:xfrm>
        </p:grpSpPr>
        <p:sp>
          <p:nvSpPr>
            <p:cNvPr id="201" name="CustomShape 4"/>
            <p:cNvSpPr/>
            <p:nvPr/>
          </p:nvSpPr>
          <p:spPr>
            <a:xfrm>
              <a:off x="7086600" y="1575000"/>
              <a:ext cx="990720" cy="60948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2" name="CustomShape 5"/>
            <p:cNvSpPr/>
            <p:nvPr/>
          </p:nvSpPr>
          <p:spPr>
            <a:xfrm>
              <a:off x="7086600" y="1270080"/>
              <a:ext cx="990720" cy="304920"/>
            </a:xfrm>
            <a:custGeom>
              <a:avLst/>
              <a:gdLst/>
              <a:ahLst/>
              <a:cxnLst/>
              <a:rect l="0" t="0" r="r" b="b"/>
              <a:pathLst>
                <a:path w="2754" h="849">
                  <a:moveTo>
                    <a:pt x="1376" y="0"/>
                  </a:moveTo>
                  <a:lnTo>
                    <a:pt x="2753" y="848"/>
                  </a:lnTo>
                  <a:lnTo>
                    <a:pt x="0" y="848"/>
                  </a:lnTo>
                  <a:lnTo>
                    <a:pt x="1376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03" name="Group 6"/>
          <p:cNvGrpSpPr/>
          <p:nvPr/>
        </p:nvGrpSpPr>
        <p:grpSpPr>
          <a:xfrm>
            <a:off x="6553080" y="2184480"/>
            <a:ext cx="304920" cy="456840"/>
            <a:chOff x="6553080" y="2184480"/>
            <a:chExt cx="304920" cy="456840"/>
          </a:xfrm>
        </p:grpSpPr>
        <p:sp>
          <p:nvSpPr>
            <p:cNvPr id="204" name="CustomShape 7"/>
            <p:cNvSpPr/>
            <p:nvPr/>
          </p:nvSpPr>
          <p:spPr>
            <a:xfrm>
              <a:off x="6553080" y="2336760"/>
              <a:ext cx="304920" cy="3045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05" name="CustomShape 8"/>
            <p:cNvSpPr/>
            <p:nvPr/>
          </p:nvSpPr>
          <p:spPr>
            <a:xfrm>
              <a:off x="6553080" y="2184480"/>
              <a:ext cx="304920" cy="152280"/>
            </a:xfrm>
            <a:custGeom>
              <a:avLst/>
              <a:gdLst/>
              <a:ahLst/>
              <a:cxnLst/>
              <a:rect l="0" t="0" r="r" b="b"/>
              <a:pathLst>
                <a:path w="849" h="425">
                  <a:moveTo>
                    <a:pt x="424" y="0"/>
                  </a:moveTo>
                  <a:lnTo>
                    <a:pt x="848" y="424"/>
                  </a:lnTo>
                  <a:lnTo>
                    <a:pt x="0" y="424"/>
                  </a:lnTo>
                  <a:lnTo>
                    <a:pt x="424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06" name="CustomShape 9"/>
          <p:cNvSpPr/>
          <p:nvPr/>
        </p:nvSpPr>
        <p:spPr>
          <a:xfrm>
            <a:off x="1024200" y="1839960"/>
            <a:ext cx="1265760" cy="764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Sx = 0.25</a:t>
            </a:r>
            <a:endParaRPr lang="en-US" sz="22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Sy = 0.5</a:t>
            </a:r>
            <a:endParaRPr lang="en-US" sz="22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CustomShape 10"/>
          <p:cNvSpPr/>
          <p:nvPr/>
        </p:nvSpPr>
        <p:spPr>
          <a:xfrm>
            <a:off x="2403360" y="1603440"/>
            <a:ext cx="147348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                   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CustomShape 11"/>
          <p:cNvSpPr/>
          <p:nvPr/>
        </p:nvSpPr>
        <p:spPr>
          <a:xfrm>
            <a:off x="2403360" y="2833560"/>
            <a:ext cx="147348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CustomShape 12"/>
          <p:cNvSpPr/>
          <p:nvPr/>
        </p:nvSpPr>
        <p:spPr>
          <a:xfrm>
            <a:off x="914400" y="-2095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Масштабирование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CustomShape 13"/>
          <p:cNvSpPr/>
          <p:nvPr/>
        </p:nvSpPr>
        <p:spPr>
          <a:xfrm>
            <a:off x="8331480" y="327492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11" name="CustomShape 14"/>
          <p:cNvSpPr/>
          <p:nvPr/>
        </p:nvSpPr>
        <p:spPr>
          <a:xfrm>
            <a:off x="5670720" y="11066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212" name="CustomShape 15"/>
          <p:cNvSpPr/>
          <p:nvPr/>
        </p:nvSpPr>
        <p:spPr>
          <a:xfrm>
            <a:off x="5763960" y="317484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grpSp>
        <p:nvGrpSpPr>
          <p:cNvPr id="213" name="Group 16"/>
          <p:cNvGrpSpPr/>
          <p:nvPr/>
        </p:nvGrpSpPr>
        <p:grpSpPr>
          <a:xfrm>
            <a:off x="3327480" y="1849320"/>
            <a:ext cx="1320480" cy="705600"/>
            <a:chOff x="3327480" y="1849320"/>
            <a:chExt cx="1320480" cy="705600"/>
          </a:xfrm>
        </p:grpSpPr>
        <p:sp>
          <p:nvSpPr>
            <p:cNvPr id="214" name="CustomShape 17"/>
            <p:cNvSpPr/>
            <p:nvPr/>
          </p:nvSpPr>
          <p:spPr>
            <a:xfrm>
              <a:off x="3327480" y="1851120"/>
              <a:ext cx="132048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0.25   0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0     0.5</a:t>
              </a:r>
            </a:p>
          </p:txBody>
        </p:sp>
        <p:grpSp>
          <p:nvGrpSpPr>
            <p:cNvPr id="215" name="Group 18"/>
            <p:cNvGrpSpPr/>
            <p:nvPr/>
          </p:nvGrpSpPr>
          <p:grpSpPr>
            <a:xfrm>
              <a:off x="4394160" y="1849320"/>
              <a:ext cx="155520" cy="702720"/>
              <a:chOff x="4394160" y="1849320"/>
              <a:chExt cx="155520" cy="702720"/>
            </a:xfrm>
          </p:grpSpPr>
          <p:sp>
            <p:nvSpPr>
              <p:cNvPr id="216" name="Line 19"/>
              <p:cNvSpPr/>
              <p:nvPr/>
            </p:nvSpPr>
            <p:spPr>
              <a:xfrm>
                <a:off x="4549320" y="184932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17" name="Line 20"/>
              <p:cNvSpPr/>
              <p:nvPr/>
            </p:nvSpPr>
            <p:spPr>
              <a:xfrm flipH="1">
                <a:off x="4394160" y="1849320"/>
                <a:ext cx="155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18" name="Line 21"/>
              <p:cNvSpPr/>
              <p:nvPr/>
            </p:nvSpPr>
            <p:spPr>
              <a:xfrm>
                <a:off x="4394520" y="2552040"/>
                <a:ext cx="155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19" name="Group 22"/>
            <p:cNvGrpSpPr/>
            <p:nvPr/>
          </p:nvGrpSpPr>
          <p:grpSpPr>
            <a:xfrm>
              <a:off x="3383280" y="1849320"/>
              <a:ext cx="162000" cy="702720"/>
              <a:chOff x="3383280" y="1849320"/>
              <a:chExt cx="162000" cy="702720"/>
            </a:xfrm>
          </p:grpSpPr>
          <p:sp>
            <p:nvSpPr>
              <p:cNvPr id="220" name="Line 23"/>
              <p:cNvSpPr/>
              <p:nvPr/>
            </p:nvSpPr>
            <p:spPr>
              <a:xfrm>
                <a:off x="3383280" y="184932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1" name="Line 24"/>
              <p:cNvSpPr/>
              <p:nvPr/>
            </p:nvSpPr>
            <p:spPr>
              <a:xfrm>
                <a:off x="3383280" y="1849320"/>
                <a:ext cx="1620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2" name="Line 25"/>
              <p:cNvSpPr/>
              <p:nvPr/>
            </p:nvSpPr>
            <p:spPr>
              <a:xfrm flipH="1">
                <a:off x="3383280" y="2552040"/>
                <a:ext cx="1620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223" name="CustomShape 26"/>
          <p:cNvSpPr/>
          <p:nvPr/>
        </p:nvSpPr>
        <p:spPr>
          <a:xfrm>
            <a:off x="2677320" y="2004840"/>
            <a:ext cx="56952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S =</a:t>
            </a:r>
          </a:p>
        </p:txBody>
      </p:sp>
      <p:grpSp>
        <p:nvGrpSpPr>
          <p:cNvPr id="225" name="Group 28"/>
          <p:cNvGrpSpPr/>
          <p:nvPr/>
        </p:nvGrpSpPr>
        <p:grpSpPr>
          <a:xfrm>
            <a:off x="4470480" y="5659560"/>
            <a:ext cx="1422000" cy="687960"/>
            <a:chOff x="4470480" y="5659560"/>
            <a:chExt cx="1422000" cy="687960"/>
          </a:xfrm>
        </p:grpSpPr>
        <p:sp>
          <p:nvSpPr>
            <p:cNvPr id="226" name="CustomShape 29"/>
            <p:cNvSpPr/>
            <p:nvPr/>
          </p:nvSpPr>
          <p:spPr>
            <a:xfrm>
              <a:off x="4470480" y="5661360"/>
              <a:ext cx="142200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1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/Sx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   1/Sy</a:t>
              </a:r>
            </a:p>
          </p:txBody>
        </p:sp>
        <p:grpSp>
          <p:nvGrpSpPr>
            <p:cNvPr id="227" name="Group 30"/>
            <p:cNvGrpSpPr/>
            <p:nvPr/>
          </p:nvGrpSpPr>
          <p:grpSpPr>
            <a:xfrm>
              <a:off x="5619240" y="5659560"/>
              <a:ext cx="167760" cy="687960"/>
              <a:chOff x="5619240" y="5659560"/>
              <a:chExt cx="167760" cy="687960"/>
            </a:xfrm>
          </p:grpSpPr>
          <p:sp>
            <p:nvSpPr>
              <p:cNvPr id="228" name="Line 31"/>
              <p:cNvSpPr/>
              <p:nvPr/>
            </p:nvSpPr>
            <p:spPr>
              <a:xfrm>
                <a:off x="5786640" y="5659560"/>
                <a:ext cx="0" cy="6879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9" name="Line 32"/>
              <p:cNvSpPr/>
              <p:nvPr/>
            </p:nvSpPr>
            <p:spPr>
              <a:xfrm flipH="1">
                <a:off x="5619240" y="5659560"/>
                <a:ext cx="1674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0" name="Line 33"/>
              <p:cNvSpPr/>
              <p:nvPr/>
            </p:nvSpPr>
            <p:spPr>
              <a:xfrm>
                <a:off x="5619600" y="6347520"/>
                <a:ext cx="1674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31" name="Group 34"/>
            <p:cNvGrpSpPr/>
            <p:nvPr/>
          </p:nvGrpSpPr>
          <p:grpSpPr>
            <a:xfrm>
              <a:off x="4530240" y="5659560"/>
              <a:ext cx="174960" cy="687960"/>
              <a:chOff x="4530240" y="5659560"/>
              <a:chExt cx="174960" cy="687960"/>
            </a:xfrm>
          </p:grpSpPr>
          <p:sp>
            <p:nvSpPr>
              <p:cNvPr id="232" name="Line 35"/>
              <p:cNvSpPr/>
              <p:nvPr/>
            </p:nvSpPr>
            <p:spPr>
              <a:xfrm>
                <a:off x="4530600" y="5659560"/>
                <a:ext cx="0" cy="6879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3" name="Line 36"/>
              <p:cNvSpPr/>
              <p:nvPr/>
            </p:nvSpPr>
            <p:spPr>
              <a:xfrm>
                <a:off x="4530600" y="5659560"/>
                <a:ext cx="1746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4" name="Line 37"/>
              <p:cNvSpPr/>
              <p:nvPr/>
            </p:nvSpPr>
            <p:spPr>
              <a:xfrm flipH="1">
                <a:off x="4530240" y="6347520"/>
                <a:ext cx="1746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235" name="CustomShape 38"/>
          <p:cNvSpPr/>
          <p:nvPr/>
        </p:nvSpPr>
        <p:spPr>
          <a:xfrm>
            <a:off x="1219320" y="4203720"/>
            <a:ext cx="6426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 = PS = [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0 0 ]   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[ (a*0+0*0) (0*0+d*0) ] = [ 0 0 ]</a:t>
            </a:r>
          </a:p>
        </p:txBody>
      </p:sp>
      <p:grpSp>
        <p:nvGrpSpPr>
          <p:cNvPr id="236" name="Group 39"/>
          <p:cNvGrpSpPr/>
          <p:nvPr/>
        </p:nvGrpSpPr>
        <p:grpSpPr>
          <a:xfrm>
            <a:off x="3009960" y="4059360"/>
            <a:ext cx="965160" cy="663120"/>
            <a:chOff x="3009960" y="4059360"/>
            <a:chExt cx="965160" cy="663120"/>
          </a:xfrm>
        </p:grpSpPr>
        <p:sp>
          <p:nvSpPr>
            <p:cNvPr id="237" name="CustomShape 40"/>
            <p:cNvSpPr/>
            <p:nvPr/>
          </p:nvSpPr>
          <p:spPr>
            <a:xfrm>
              <a:off x="3009960" y="4061160"/>
              <a:ext cx="9651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a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d</a:t>
              </a:r>
            </a:p>
          </p:txBody>
        </p:sp>
        <p:grpSp>
          <p:nvGrpSpPr>
            <p:cNvPr id="238" name="Group 41"/>
            <p:cNvGrpSpPr/>
            <p:nvPr/>
          </p:nvGrpSpPr>
          <p:grpSpPr>
            <a:xfrm>
              <a:off x="3789360" y="4059360"/>
              <a:ext cx="113760" cy="663120"/>
              <a:chOff x="3789360" y="4059360"/>
              <a:chExt cx="113760" cy="663120"/>
            </a:xfrm>
          </p:grpSpPr>
          <p:sp>
            <p:nvSpPr>
              <p:cNvPr id="239" name="Line 42"/>
              <p:cNvSpPr/>
              <p:nvPr/>
            </p:nvSpPr>
            <p:spPr>
              <a:xfrm>
                <a:off x="3903120" y="40593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0" name="Line 43"/>
              <p:cNvSpPr/>
              <p:nvPr/>
            </p:nvSpPr>
            <p:spPr>
              <a:xfrm flipH="1">
                <a:off x="3789360" y="405936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1" name="Line 44"/>
              <p:cNvSpPr/>
              <p:nvPr/>
            </p:nvSpPr>
            <p:spPr>
              <a:xfrm>
                <a:off x="3789360" y="472248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42" name="Group 45"/>
            <p:cNvGrpSpPr/>
            <p:nvPr/>
          </p:nvGrpSpPr>
          <p:grpSpPr>
            <a:xfrm>
              <a:off x="3051000" y="4059360"/>
              <a:ext cx="118800" cy="663120"/>
              <a:chOff x="3051000" y="4059360"/>
              <a:chExt cx="118800" cy="663120"/>
            </a:xfrm>
          </p:grpSpPr>
          <p:sp>
            <p:nvSpPr>
              <p:cNvPr id="243" name="Line 46"/>
              <p:cNvSpPr/>
              <p:nvPr/>
            </p:nvSpPr>
            <p:spPr>
              <a:xfrm>
                <a:off x="3051000" y="405936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4" name="Line 47"/>
              <p:cNvSpPr/>
              <p:nvPr/>
            </p:nvSpPr>
            <p:spPr>
              <a:xfrm>
                <a:off x="3051000" y="405936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5" name="Line 48"/>
              <p:cNvSpPr/>
              <p:nvPr/>
            </p:nvSpPr>
            <p:spPr>
              <a:xfrm flipH="1">
                <a:off x="3051000" y="472248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246" name="CustomShape 49"/>
          <p:cNvSpPr/>
          <p:nvPr/>
        </p:nvSpPr>
        <p:spPr>
          <a:xfrm>
            <a:off x="1120680" y="3440160"/>
            <a:ext cx="39942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Инвариантность начала координат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CustomShape 50"/>
          <p:cNvSpPr/>
          <p:nvPr/>
        </p:nvSpPr>
        <p:spPr>
          <a:xfrm>
            <a:off x="3829320" y="5840280"/>
            <a:ext cx="6483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S</a:t>
            </a:r>
            <a:r>
              <a:rPr lang="ru-RU" sz="1800" b="1" strike="noStrike" spc="-1" baseline="30000">
                <a:solidFill>
                  <a:srgbClr val="000000"/>
                </a:solidFill>
                <a:latin typeface="Arial"/>
              </a:rPr>
              <a:t>-1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</a:t>
            </a:r>
          </a:p>
        </p:txBody>
      </p:sp>
      <p:sp>
        <p:nvSpPr>
          <p:cNvPr id="248" name="CustomShape 51"/>
          <p:cNvSpPr/>
          <p:nvPr/>
        </p:nvSpPr>
        <p:spPr>
          <a:xfrm>
            <a:off x="3051000" y="5014800"/>
            <a:ext cx="4857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Обратная матрица масштабирования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Arc 35"/>
          <p:cNvSpPr>
            <a:spLocks/>
          </p:cNvSpPr>
          <p:nvPr/>
        </p:nvSpPr>
        <p:spPr bwMode="auto">
          <a:xfrm rot="10950396" flipH="1">
            <a:off x="6972300" y="1673225"/>
            <a:ext cx="519113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5240"/>
              <a:gd name="T1" fmla="*/ 0 h 21600"/>
              <a:gd name="T2" fmla="*/ 15240 w 15240"/>
              <a:gd name="T3" fmla="*/ 6293 h 21600"/>
              <a:gd name="T4" fmla="*/ 0 w 1524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5240" h="21600" fill="none" extrusionOk="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</a:path>
              <a:path w="15240" h="21600" stroke="0" extrusionOk="0">
                <a:moveTo>
                  <a:pt x="-1" y="0"/>
                </a:moveTo>
                <a:cubicBezTo>
                  <a:pt x="5712" y="0"/>
                  <a:pt x="11191" y="2262"/>
                  <a:pt x="15239" y="6293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Line 1"/>
          <p:cNvSpPr/>
          <p:nvPr/>
        </p:nvSpPr>
        <p:spPr>
          <a:xfrm>
            <a:off x="4859280" y="4216320"/>
            <a:ext cx="335268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Line 2"/>
          <p:cNvSpPr/>
          <p:nvPr/>
        </p:nvSpPr>
        <p:spPr>
          <a:xfrm flipV="1">
            <a:off x="6027840" y="2082960"/>
            <a:ext cx="0" cy="274320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51" name="Group 3"/>
          <p:cNvGrpSpPr/>
          <p:nvPr/>
        </p:nvGrpSpPr>
        <p:grpSpPr>
          <a:xfrm>
            <a:off x="7018200" y="2311560"/>
            <a:ext cx="990720" cy="914400"/>
            <a:chOff x="7018200" y="2311560"/>
            <a:chExt cx="990720" cy="914400"/>
          </a:xfrm>
        </p:grpSpPr>
        <p:sp>
          <p:nvSpPr>
            <p:cNvPr id="252" name="CustomShape 4"/>
            <p:cNvSpPr/>
            <p:nvPr/>
          </p:nvSpPr>
          <p:spPr>
            <a:xfrm>
              <a:off x="7018200" y="2616480"/>
              <a:ext cx="990720" cy="60948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3" name="CustomShape 5"/>
            <p:cNvSpPr/>
            <p:nvPr/>
          </p:nvSpPr>
          <p:spPr>
            <a:xfrm>
              <a:off x="7018200" y="2311560"/>
              <a:ext cx="990720" cy="304920"/>
            </a:xfrm>
            <a:custGeom>
              <a:avLst/>
              <a:gdLst/>
              <a:ahLst/>
              <a:cxnLst/>
              <a:rect l="0" t="0" r="r" b="b"/>
              <a:pathLst>
                <a:path w="2754" h="849">
                  <a:moveTo>
                    <a:pt x="1376" y="0"/>
                  </a:moveTo>
                  <a:lnTo>
                    <a:pt x="2753" y="848"/>
                  </a:lnTo>
                  <a:lnTo>
                    <a:pt x="0" y="848"/>
                  </a:lnTo>
                  <a:lnTo>
                    <a:pt x="1376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54" name="Group 6"/>
          <p:cNvGrpSpPr/>
          <p:nvPr/>
        </p:nvGrpSpPr>
        <p:grpSpPr>
          <a:xfrm>
            <a:off x="5037120" y="3225960"/>
            <a:ext cx="533520" cy="456840"/>
            <a:chOff x="5037120" y="3225960"/>
            <a:chExt cx="533520" cy="456840"/>
          </a:xfrm>
        </p:grpSpPr>
        <p:sp>
          <p:nvSpPr>
            <p:cNvPr id="255" name="CustomShape 7"/>
            <p:cNvSpPr/>
            <p:nvPr/>
          </p:nvSpPr>
          <p:spPr>
            <a:xfrm>
              <a:off x="5037120" y="3378240"/>
              <a:ext cx="533520" cy="30456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56" name="CustomShape 8"/>
            <p:cNvSpPr/>
            <p:nvPr/>
          </p:nvSpPr>
          <p:spPr>
            <a:xfrm>
              <a:off x="5037120" y="3225960"/>
              <a:ext cx="533520" cy="152280"/>
            </a:xfrm>
            <a:custGeom>
              <a:avLst/>
              <a:gdLst/>
              <a:ahLst/>
              <a:cxnLst/>
              <a:rect l="0" t="0" r="r" b="b"/>
              <a:pathLst>
                <a:path w="1484" h="425">
                  <a:moveTo>
                    <a:pt x="741" y="0"/>
                  </a:moveTo>
                  <a:lnTo>
                    <a:pt x="1483" y="424"/>
                  </a:lnTo>
                  <a:lnTo>
                    <a:pt x="0" y="424"/>
                  </a:lnTo>
                  <a:lnTo>
                    <a:pt x="74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57" name="CustomShape 9"/>
          <p:cNvSpPr/>
          <p:nvPr/>
        </p:nvSpPr>
        <p:spPr>
          <a:xfrm>
            <a:off x="2573280" y="2259000"/>
            <a:ext cx="1281240" cy="764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Sx = </a:t>
            </a: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- </a:t>
            </a: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0.5</a:t>
            </a:r>
            <a:endParaRPr lang="en-US" sz="22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200" b="1" strike="noStrike" spc="-1">
                <a:solidFill>
                  <a:srgbClr val="000000"/>
                </a:solidFill>
                <a:latin typeface="Times New Roman"/>
              </a:rPr>
              <a:t>Sy = 0.5</a:t>
            </a:r>
            <a:endParaRPr lang="en-US" sz="22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10"/>
          <p:cNvSpPr/>
          <p:nvPr/>
        </p:nvSpPr>
        <p:spPr>
          <a:xfrm>
            <a:off x="914400" y="-19044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Масштабирование и отображение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CustomShape 11"/>
          <p:cNvSpPr/>
          <p:nvPr/>
        </p:nvSpPr>
        <p:spPr>
          <a:xfrm>
            <a:off x="7958160" y="42908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60" name="CustomShape 12"/>
          <p:cNvSpPr/>
          <p:nvPr/>
        </p:nvSpPr>
        <p:spPr>
          <a:xfrm>
            <a:off x="5602320" y="214776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261" name="CustomShape 13"/>
          <p:cNvSpPr/>
          <p:nvPr/>
        </p:nvSpPr>
        <p:spPr>
          <a:xfrm>
            <a:off x="5695920" y="421632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grpSp>
        <p:nvGrpSpPr>
          <p:cNvPr id="262" name="Group 14"/>
          <p:cNvGrpSpPr/>
          <p:nvPr/>
        </p:nvGrpSpPr>
        <p:grpSpPr>
          <a:xfrm>
            <a:off x="2679840" y="4275000"/>
            <a:ext cx="1320480" cy="705600"/>
            <a:chOff x="2679840" y="4275000"/>
            <a:chExt cx="1320480" cy="705600"/>
          </a:xfrm>
        </p:grpSpPr>
        <p:sp>
          <p:nvSpPr>
            <p:cNvPr id="263" name="CustomShape 15"/>
            <p:cNvSpPr/>
            <p:nvPr/>
          </p:nvSpPr>
          <p:spPr>
            <a:xfrm>
              <a:off x="2679840" y="4276800"/>
              <a:ext cx="132048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-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0.5   0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0   0.5</a:t>
              </a:r>
            </a:p>
          </p:txBody>
        </p:sp>
        <p:grpSp>
          <p:nvGrpSpPr>
            <p:cNvPr id="264" name="Group 16"/>
            <p:cNvGrpSpPr/>
            <p:nvPr/>
          </p:nvGrpSpPr>
          <p:grpSpPr>
            <a:xfrm>
              <a:off x="3746520" y="4275000"/>
              <a:ext cx="155520" cy="702720"/>
              <a:chOff x="3746520" y="4275000"/>
              <a:chExt cx="155520" cy="702720"/>
            </a:xfrm>
          </p:grpSpPr>
          <p:sp>
            <p:nvSpPr>
              <p:cNvPr id="265" name="Line 17"/>
              <p:cNvSpPr/>
              <p:nvPr/>
            </p:nvSpPr>
            <p:spPr>
              <a:xfrm>
                <a:off x="3901680" y="427500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6" name="Line 18"/>
              <p:cNvSpPr/>
              <p:nvPr/>
            </p:nvSpPr>
            <p:spPr>
              <a:xfrm flipH="1">
                <a:off x="3746520" y="4275000"/>
                <a:ext cx="155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7" name="Line 19"/>
              <p:cNvSpPr/>
              <p:nvPr/>
            </p:nvSpPr>
            <p:spPr>
              <a:xfrm>
                <a:off x="3746880" y="4977720"/>
                <a:ext cx="155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68" name="Group 20"/>
            <p:cNvGrpSpPr/>
            <p:nvPr/>
          </p:nvGrpSpPr>
          <p:grpSpPr>
            <a:xfrm>
              <a:off x="2735640" y="4275000"/>
              <a:ext cx="162000" cy="702720"/>
              <a:chOff x="2735640" y="4275000"/>
              <a:chExt cx="162000" cy="702720"/>
            </a:xfrm>
          </p:grpSpPr>
          <p:sp>
            <p:nvSpPr>
              <p:cNvPr id="269" name="Line 21"/>
              <p:cNvSpPr/>
              <p:nvPr/>
            </p:nvSpPr>
            <p:spPr>
              <a:xfrm>
                <a:off x="2735640" y="427500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0" name="Line 22"/>
              <p:cNvSpPr/>
              <p:nvPr/>
            </p:nvSpPr>
            <p:spPr>
              <a:xfrm>
                <a:off x="2735640" y="4275000"/>
                <a:ext cx="1620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71" name="Line 23"/>
              <p:cNvSpPr/>
              <p:nvPr/>
            </p:nvSpPr>
            <p:spPr>
              <a:xfrm flipH="1">
                <a:off x="2735640" y="4977720"/>
                <a:ext cx="1620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272" name="CustomShape 24"/>
          <p:cNvSpPr/>
          <p:nvPr/>
        </p:nvSpPr>
        <p:spPr>
          <a:xfrm>
            <a:off x="2029680" y="4443480"/>
            <a:ext cx="56952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S =</a:t>
            </a:r>
          </a:p>
        </p:txBody>
      </p:sp>
      <p:sp>
        <p:nvSpPr>
          <p:cNvPr id="26" name="Arc 1071"/>
          <p:cNvSpPr>
            <a:spLocks/>
          </p:cNvSpPr>
          <p:nvPr/>
        </p:nvSpPr>
        <p:spPr bwMode="auto">
          <a:xfrm rot="10950396" flipH="1">
            <a:off x="5734083" y="3110866"/>
            <a:ext cx="1509712" cy="6873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9441"/>
              <a:gd name="T1" fmla="*/ 0 h 21600"/>
              <a:gd name="T2" fmla="*/ 19441 w 19441"/>
              <a:gd name="T3" fmla="*/ 12186 h 21600"/>
              <a:gd name="T4" fmla="*/ 0 w 1944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41" h="21600" fill="none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w="19441" h="21600" stroke="0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CustomShape 1"/>
          <p:cNvSpPr/>
          <p:nvPr/>
        </p:nvSpPr>
        <p:spPr>
          <a:xfrm>
            <a:off x="914400" y="-2095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Отображение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Line 2"/>
          <p:cNvSpPr/>
          <p:nvPr/>
        </p:nvSpPr>
        <p:spPr>
          <a:xfrm>
            <a:off x="4863960" y="2597040"/>
            <a:ext cx="265932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6" name="Line 3"/>
          <p:cNvSpPr/>
          <p:nvPr/>
        </p:nvSpPr>
        <p:spPr>
          <a:xfrm flipV="1">
            <a:off x="6100920" y="1244520"/>
            <a:ext cx="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77" name="Group 4"/>
          <p:cNvGrpSpPr/>
          <p:nvPr/>
        </p:nvGrpSpPr>
        <p:grpSpPr>
          <a:xfrm>
            <a:off x="6661080" y="1603440"/>
            <a:ext cx="560520" cy="476280"/>
            <a:chOff x="6661080" y="1603440"/>
            <a:chExt cx="560520" cy="476280"/>
          </a:xfrm>
        </p:grpSpPr>
        <p:sp>
          <p:nvSpPr>
            <p:cNvPr id="278" name="CustomShape 5"/>
            <p:cNvSpPr/>
            <p:nvPr/>
          </p:nvSpPr>
          <p:spPr>
            <a:xfrm>
              <a:off x="6661080" y="1762200"/>
              <a:ext cx="560520" cy="3175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79" name="CustomShape 6"/>
            <p:cNvSpPr/>
            <p:nvPr/>
          </p:nvSpPr>
          <p:spPr>
            <a:xfrm>
              <a:off x="6661080" y="1603440"/>
              <a:ext cx="560520" cy="158760"/>
            </a:xfrm>
            <a:custGeom>
              <a:avLst/>
              <a:gdLst/>
              <a:ahLst/>
              <a:cxnLst/>
              <a:rect l="0" t="0" r="r" b="b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80" name="Group 7"/>
          <p:cNvGrpSpPr/>
          <p:nvPr/>
        </p:nvGrpSpPr>
        <p:grpSpPr>
          <a:xfrm>
            <a:off x="4978440" y="1603440"/>
            <a:ext cx="561960" cy="476280"/>
            <a:chOff x="4978440" y="1603440"/>
            <a:chExt cx="561960" cy="476280"/>
          </a:xfrm>
        </p:grpSpPr>
        <p:sp>
          <p:nvSpPr>
            <p:cNvPr id="281" name="CustomShape 8"/>
            <p:cNvSpPr/>
            <p:nvPr/>
          </p:nvSpPr>
          <p:spPr>
            <a:xfrm>
              <a:off x="4978440" y="1762200"/>
              <a:ext cx="561960" cy="31752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282" name="CustomShape 9"/>
            <p:cNvSpPr/>
            <p:nvPr/>
          </p:nvSpPr>
          <p:spPr>
            <a:xfrm>
              <a:off x="4978440" y="1603440"/>
              <a:ext cx="561960" cy="158760"/>
            </a:xfrm>
            <a:custGeom>
              <a:avLst/>
              <a:gdLst/>
              <a:ahLst/>
              <a:cxnLst/>
              <a:rect l="0" t="0" r="r" b="b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283" name="CustomShape 10"/>
          <p:cNvSpPr/>
          <p:nvPr/>
        </p:nvSpPr>
        <p:spPr>
          <a:xfrm>
            <a:off x="7366320" y="26510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284" name="CustomShape 11"/>
          <p:cNvSpPr/>
          <p:nvPr/>
        </p:nvSpPr>
        <p:spPr>
          <a:xfrm>
            <a:off x="5658120" y="108432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285" name="CustomShape 12"/>
          <p:cNvSpPr/>
          <p:nvPr/>
        </p:nvSpPr>
        <p:spPr>
          <a:xfrm>
            <a:off x="5760720" y="267480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grpSp>
        <p:nvGrpSpPr>
          <p:cNvPr id="286" name="Group 13"/>
          <p:cNvGrpSpPr/>
          <p:nvPr/>
        </p:nvGrpSpPr>
        <p:grpSpPr>
          <a:xfrm>
            <a:off x="2527200" y="1938240"/>
            <a:ext cx="1168200" cy="705600"/>
            <a:chOff x="2527200" y="1938240"/>
            <a:chExt cx="1168200" cy="705600"/>
          </a:xfrm>
        </p:grpSpPr>
        <p:sp>
          <p:nvSpPr>
            <p:cNvPr id="287" name="CustomShape 14"/>
            <p:cNvSpPr/>
            <p:nvPr/>
          </p:nvSpPr>
          <p:spPr>
            <a:xfrm>
              <a:off x="2527200" y="1940040"/>
              <a:ext cx="116820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-1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 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1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88" name="Group 15"/>
            <p:cNvGrpSpPr/>
            <p:nvPr/>
          </p:nvGrpSpPr>
          <p:grpSpPr>
            <a:xfrm>
              <a:off x="3470760" y="1938240"/>
              <a:ext cx="137520" cy="702720"/>
              <a:chOff x="3470760" y="1938240"/>
              <a:chExt cx="137520" cy="702720"/>
            </a:xfrm>
          </p:grpSpPr>
          <p:sp>
            <p:nvSpPr>
              <p:cNvPr id="289" name="Line 16"/>
              <p:cNvSpPr/>
              <p:nvPr/>
            </p:nvSpPr>
            <p:spPr>
              <a:xfrm>
                <a:off x="3608280" y="193824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0" name="Line 17"/>
              <p:cNvSpPr/>
              <p:nvPr/>
            </p:nvSpPr>
            <p:spPr>
              <a:xfrm flipH="1">
                <a:off x="3470760" y="193824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1" name="Line 18"/>
              <p:cNvSpPr/>
              <p:nvPr/>
            </p:nvSpPr>
            <p:spPr>
              <a:xfrm>
                <a:off x="3470760" y="264096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92" name="Group 19"/>
            <p:cNvGrpSpPr/>
            <p:nvPr/>
          </p:nvGrpSpPr>
          <p:grpSpPr>
            <a:xfrm>
              <a:off x="2576880" y="1938240"/>
              <a:ext cx="143280" cy="702720"/>
              <a:chOff x="2576880" y="1938240"/>
              <a:chExt cx="143280" cy="702720"/>
            </a:xfrm>
          </p:grpSpPr>
          <p:sp>
            <p:nvSpPr>
              <p:cNvPr id="293" name="Line 20"/>
              <p:cNvSpPr/>
              <p:nvPr/>
            </p:nvSpPr>
            <p:spPr>
              <a:xfrm>
                <a:off x="2576880" y="193824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4" name="Line 21"/>
              <p:cNvSpPr/>
              <p:nvPr/>
            </p:nvSpPr>
            <p:spPr>
              <a:xfrm>
                <a:off x="2576880" y="193824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5" name="Line 22"/>
              <p:cNvSpPr/>
              <p:nvPr/>
            </p:nvSpPr>
            <p:spPr>
              <a:xfrm flipH="1">
                <a:off x="2576880" y="264096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296" name="CustomShape 23"/>
          <p:cNvSpPr/>
          <p:nvPr/>
        </p:nvSpPr>
        <p:spPr>
          <a:xfrm>
            <a:off x="1953000" y="2093760"/>
            <a:ext cx="6120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M =</a:t>
            </a:r>
          </a:p>
        </p:txBody>
      </p:sp>
      <p:sp>
        <p:nvSpPr>
          <p:cNvPr id="297" name="Line 24"/>
          <p:cNvSpPr/>
          <p:nvPr/>
        </p:nvSpPr>
        <p:spPr>
          <a:xfrm>
            <a:off x="4863960" y="5581800"/>
            <a:ext cx="265932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8" name="Line 25"/>
          <p:cNvSpPr/>
          <p:nvPr/>
        </p:nvSpPr>
        <p:spPr>
          <a:xfrm flipV="1">
            <a:off x="6100920" y="4229280"/>
            <a:ext cx="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299" name="Group 26"/>
          <p:cNvGrpSpPr/>
          <p:nvPr/>
        </p:nvGrpSpPr>
        <p:grpSpPr>
          <a:xfrm>
            <a:off x="6661080" y="4587840"/>
            <a:ext cx="560520" cy="476280"/>
            <a:chOff x="6661080" y="4587840"/>
            <a:chExt cx="560520" cy="476280"/>
          </a:xfrm>
        </p:grpSpPr>
        <p:sp>
          <p:nvSpPr>
            <p:cNvPr id="300" name="CustomShape 27"/>
            <p:cNvSpPr/>
            <p:nvPr/>
          </p:nvSpPr>
          <p:spPr>
            <a:xfrm>
              <a:off x="6661080" y="4746600"/>
              <a:ext cx="560520" cy="3175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1" name="CustomShape 28"/>
            <p:cNvSpPr/>
            <p:nvPr/>
          </p:nvSpPr>
          <p:spPr>
            <a:xfrm>
              <a:off x="6661080" y="4587840"/>
              <a:ext cx="560520" cy="158760"/>
            </a:xfrm>
            <a:custGeom>
              <a:avLst/>
              <a:gdLst/>
              <a:ahLst/>
              <a:cxnLst/>
              <a:rect l="0" t="0" r="r" b="b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02" name="Group 29"/>
          <p:cNvGrpSpPr/>
          <p:nvPr/>
        </p:nvGrpSpPr>
        <p:grpSpPr>
          <a:xfrm>
            <a:off x="6667200" y="6035400"/>
            <a:ext cx="561960" cy="476280"/>
            <a:chOff x="6667200" y="6035400"/>
            <a:chExt cx="561960" cy="476280"/>
          </a:xfrm>
        </p:grpSpPr>
        <p:sp>
          <p:nvSpPr>
            <p:cNvPr id="303" name="CustomShape 30"/>
            <p:cNvSpPr/>
            <p:nvPr/>
          </p:nvSpPr>
          <p:spPr>
            <a:xfrm rot="10800000">
              <a:off x="6667200" y="6035400"/>
              <a:ext cx="561960" cy="31752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04" name="CustomShape 31"/>
            <p:cNvSpPr/>
            <p:nvPr/>
          </p:nvSpPr>
          <p:spPr>
            <a:xfrm rot="10800000">
              <a:off x="6667200" y="6352920"/>
              <a:ext cx="561960" cy="158760"/>
            </a:xfrm>
            <a:custGeom>
              <a:avLst/>
              <a:gdLst/>
              <a:ahLst/>
              <a:cxnLst/>
              <a:rect l="0" t="0" r="r" b="b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05" name="CustomShape 32"/>
          <p:cNvSpPr/>
          <p:nvPr/>
        </p:nvSpPr>
        <p:spPr>
          <a:xfrm>
            <a:off x="7366320" y="563580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06" name="CustomShape 33"/>
          <p:cNvSpPr/>
          <p:nvPr/>
        </p:nvSpPr>
        <p:spPr>
          <a:xfrm>
            <a:off x="5760720" y="56595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grpSp>
        <p:nvGrpSpPr>
          <p:cNvPr id="307" name="Group 34"/>
          <p:cNvGrpSpPr/>
          <p:nvPr/>
        </p:nvGrpSpPr>
        <p:grpSpPr>
          <a:xfrm>
            <a:off x="2502000" y="4923000"/>
            <a:ext cx="1167840" cy="705600"/>
            <a:chOff x="2502000" y="4923000"/>
            <a:chExt cx="1167840" cy="705600"/>
          </a:xfrm>
        </p:grpSpPr>
        <p:sp>
          <p:nvSpPr>
            <p:cNvPr id="308" name="CustomShape 35"/>
            <p:cNvSpPr/>
            <p:nvPr/>
          </p:nvSpPr>
          <p:spPr>
            <a:xfrm>
              <a:off x="2502000" y="4924800"/>
              <a:ext cx="116784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 1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-1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09" name="Group 36"/>
            <p:cNvGrpSpPr/>
            <p:nvPr/>
          </p:nvGrpSpPr>
          <p:grpSpPr>
            <a:xfrm>
              <a:off x="3445200" y="4923000"/>
              <a:ext cx="137520" cy="702360"/>
              <a:chOff x="3445200" y="4923000"/>
              <a:chExt cx="137520" cy="702360"/>
            </a:xfrm>
          </p:grpSpPr>
          <p:sp>
            <p:nvSpPr>
              <p:cNvPr id="310" name="Line 37"/>
              <p:cNvSpPr/>
              <p:nvPr/>
            </p:nvSpPr>
            <p:spPr>
              <a:xfrm>
                <a:off x="3582720" y="4923000"/>
                <a:ext cx="0" cy="702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1" name="Line 38"/>
              <p:cNvSpPr/>
              <p:nvPr/>
            </p:nvSpPr>
            <p:spPr>
              <a:xfrm flipH="1">
                <a:off x="3445200" y="492300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2" name="Line 39"/>
              <p:cNvSpPr/>
              <p:nvPr/>
            </p:nvSpPr>
            <p:spPr>
              <a:xfrm>
                <a:off x="3445200" y="562536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13" name="Group 40"/>
            <p:cNvGrpSpPr/>
            <p:nvPr/>
          </p:nvGrpSpPr>
          <p:grpSpPr>
            <a:xfrm>
              <a:off x="2551320" y="4923000"/>
              <a:ext cx="143280" cy="702360"/>
              <a:chOff x="2551320" y="4923000"/>
              <a:chExt cx="143280" cy="702360"/>
            </a:xfrm>
          </p:grpSpPr>
          <p:sp>
            <p:nvSpPr>
              <p:cNvPr id="314" name="Line 41"/>
              <p:cNvSpPr/>
              <p:nvPr/>
            </p:nvSpPr>
            <p:spPr>
              <a:xfrm>
                <a:off x="2551320" y="4923000"/>
                <a:ext cx="0" cy="702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5" name="Line 42"/>
              <p:cNvSpPr/>
              <p:nvPr/>
            </p:nvSpPr>
            <p:spPr>
              <a:xfrm>
                <a:off x="2551320" y="492300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6" name="Line 43"/>
              <p:cNvSpPr/>
              <p:nvPr/>
            </p:nvSpPr>
            <p:spPr>
              <a:xfrm flipH="1">
                <a:off x="2551320" y="562536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317" name="CustomShape 44"/>
          <p:cNvSpPr/>
          <p:nvPr/>
        </p:nvSpPr>
        <p:spPr>
          <a:xfrm>
            <a:off x="1914840" y="5078520"/>
            <a:ext cx="6120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M =</a:t>
            </a:r>
          </a:p>
        </p:txBody>
      </p:sp>
      <p:sp>
        <p:nvSpPr>
          <p:cNvPr id="318" name="CustomShape 45"/>
          <p:cNvSpPr/>
          <p:nvPr/>
        </p:nvSpPr>
        <p:spPr>
          <a:xfrm>
            <a:off x="5658120" y="418320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21" name="CustomShape 48"/>
          <p:cNvSpPr/>
          <p:nvPr/>
        </p:nvSpPr>
        <p:spPr>
          <a:xfrm>
            <a:off x="2154240" y="998640"/>
            <a:ext cx="178092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a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=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d</a:t>
            </a: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I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 1 </a:t>
            </a:r>
          </a:p>
        </p:txBody>
      </p:sp>
      <p:sp>
        <p:nvSpPr>
          <p:cNvPr id="48" name="Arc 1071"/>
          <p:cNvSpPr>
            <a:spLocks/>
          </p:cNvSpPr>
          <p:nvPr/>
        </p:nvSpPr>
        <p:spPr bwMode="auto">
          <a:xfrm rot="12610297" flipH="1">
            <a:off x="5838021" y="1415595"/>
            <a:ext cx="696670" cy="6873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9441"/>
              <a:gd name="T1" fmla="*/ 0 h 21600"/>
              <a:gd name="T2" fmla="*/ 19441 w 19441"/>
              <a:gd name="T3" fmla="*/ 12186 h 21600"/>
              <a:gd name="T4" fmla="*/ 0 w 1944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41" h="21600" fill="none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w="19441" h="21600" stroke="0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49" name="Arc 1071"/>
          <p:cNvSpPr>
            <a:spLocks/>
          </p:cNvSpPr>
          <p:nvPr/>
        </p:nvSpPr>
        <p:spPr bwMode="auto">
          <a:xfrm rot="6971727" flipH="1">
            <a:off x="6458553" y="5145419"/>
            <a:ext cx="579432" cy="68738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19441"/>
              <a:gd name="T1" fmla="*/ 0 h 21600"/>
              <a:gd name="T2" fmla="*/ 19441 w 19441"/>
              <a:gd name="T3" fmla="*/ 12186 h 21600"/>
              <a:gd name="T4" fmla="*/ 0 w 1944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441" h="21600" fill="none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</a:path>
              <a:path w="19441" h="21600" stroke="0" extrusionOk="0">
                <a:moveTo>
                  <a:pt x="-1" y="0"/>
                </a:moveTo>
                <a:cubicBezTo>
                  <a:pt x="8280" y="0"/>
                  <a:pt x="15831" y="4733"/>
                  <a:pt x="19440" y="12186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stealth" w="lg" len="lg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CustomShape 1"/>
          <p:cNvSpPr/>
          <p:nvPr/>
        </p:nvSpPr>
        <p:spPr>
          <a:xfrm>
            <a:off x="914400" y="-2095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Отображение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Line 2"/>
          <p:cNvSpPr/>
          <p:nvPr/>
        </p:nvSpPr>
        <p:spPr>
          <a:xfrm>
            <a:off x="1219320" y="5518080"/>
            <a:ext cx="265896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4" name="Line 3"/>
          <p:cNvSpPr/>
          <p:nvPr/>
        </p:nvSpPr>
        <p:spPr>
          <a:xfrm flipV="1">
            <a:off x="2455920" y="4165560"/>
            <a:ext cx="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25" name="Group 4"/>
          <p:cNvGrpSpPr/>
          <p:nvPr/>
        </p:nvGrpSpPr>
        <p:grpSpPr>
          <a:xfrm>
            <a:off x="3333600" y="4549680"/>
            <a:ext cx="560520" cy="476280"/>
            <a:chOff x="3333600" y="4549680"/>
            <a:chExt cx="560520" cy="476280"/>
          </a:xfrm>
        </p:grpSpPr>
        <p:sp>
          <p:nvSpPr>
            <p:cNvPr id="326" name="CustomShape 5"/>
            <p:cNvSpPr/>
            <p:nvPr/>
          </p:nvSpPr>
          <p:spPr>
            <a:xfrm>
              <a:off x="3333600" y="4708440"/>
              <a:ext cx="560520" cy="3175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27" name="CustomShape 6"/>
            <p:cNvSpPr/>
            <p:nvPr/>
          </p:nvSpPr>
          <p:spPr>
            <a:xfrm>
              <a:off x="3333600" y="4549680"/>
              <a:ext cx="560520" cy="158760"/>
            </a:xfrm>
            <a:custGeom>
              <a:avLst/>
              <a:gdLst/>
              <a:ahLst/>
              <a:cxnLst/>
              <a:rect l="0" t="0" r="r" b="b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28" name="Group 7"/>
          <p:cNvGrpSpPr/>
          <p:nvPr/>
        </p:nvGrpSpPr>
        <p:grpSpPr>
          <a:xfrm>
            <a:off x="2862000" y="3998880"/>
            <a:ext cx="476280" cy="561960"/>
            <a:chOff x="2862000" y="3998880"/>
            <a:chExt cx="476280" cy="561960"/>
          </a:xfrm>
        </p:grpSpPr>
        <p:sp>
          <p:nvSpPr>
            <p:cNvPr id="329" name="CustomShape 8"/>
            <p:cNvSpPr/>
            <p:nvPr/>
          </p:nvSpPr>
          <p:spPr>
            <a:xfrm rot="5400000">
              <a:off x="2739600" y="4120920"/>
              <a:ext cx="561960" cy="31752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30" name="CustomShape 9"/>
            <p:cNvSpPr/>
            <p:nvPr/>
          </p:nvSpPr>
          <p:spPr>
            <a:xfrm rot="5400000">
              <a:off x="2977920" y="4200480"/>
              <a:ext cx="561960" cy="158760"/>
            </a:xfrm>
            <a:custGeom>
              <a:avLst/>
              <a:gdLst/>
              <a:ahLst/>
              <a:cxnLst/>
              <a:rect l="0" t="0" r="r" b="b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31" name="CustomShape 10"/>
          <p:cNvSpPr/>
          <p:nvPr/>
        </p:nvSpPr>
        <p:spPr>
          <a:xfrm>
            <a:off x="3556080" y="56102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32" name="CustomShape 11"/>
          <p:cNvSpPr/>
          <p:nvPr/>
        </p:nvSpPr>
        <p:spPr>
          <a:xfrm>
            <a:off x="2013120" y="400536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33" name="CustomShape 12"/>
          <p:cNvSpPr/>
          <p:nvPr/>
        </p:nvSpPr>
        <p:spPr>
          <a:xfrm>
            <a:off x="2116080" y="559584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grpSp>
        <p:nvGrpSpPr>
          <p:cNvPr id="334" name="Group 13"/>
          <p:cNvGrpSpPr/>
          <p:nvPr/>
        </p:nvGrpSpPr>
        <p:grpSpPr>
          <a:xfrm>
            <a:off x="3848040" y="3030480"/>
            <a:ext cx="1168200" cy="705600"/>
            <a:chOff x="3848040" y="3030480"/>
            <a:chExt cx="1168200" cy="705600"/>
          </a:xfrm>
        </p:grpSpPr>
        <p:sp>
          <p:nvSpPr>
            <p:cNvPr id="335" name="CustomShape 14"/>
            <p:cNvSpPr/>
            <p:nvPr/>
          </p:nvSpPr>
          <p:spPr>
            <a:xfrm>
              <a:off x="3848040" y="3032280"/>
              <a:ext cx="116820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0   1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1 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336" name="Group 15"/>
            <p:cNvGrpSpPr/>
            <p:nvPr/>
          </p:nvGrpSpPr>
          <p:grpSpPr>
            <a:xfrm>
              <a:off x="4791600" y="3030480"/>
              <a:ext cx="137520" cy="702720"/>
              <a:chOff x="4791600" y="3030480"/>
              <a:chExt cx="137520" cy="702720"/>
            </a:xfrm>
          </p:grpSpPr>
          <p:sp>
            <p:nvSpPr>
              <p:cNvPr id="337" name="Line 16"/>
              <p:cNvSpPr/>
              <p:nvPr/>
            </p:nvSpPr>
            <p:spPr>
              <a:xfrm>
                <a:off x="4929120" y="303048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8" name="Line 17"/>
              <p:cNvSpPr/>
              <p:nvPr/>
            </p:nvSpPr>
            <p:spPr>
              <a:xfrm flipH="1">
                <a:off x="4791600" y="303048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9" name="Line 18"/>
              <p:cNvSpPr/>
              <p:nvPr/>
            </p:nvSpPr>
            <p:spPr>
              <a:xfrm>
                <a:off x="4791600" y="373320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40" name="Group 19"/>
            <p:cNvGrpSpPr/>
            <p:nvPr/>
          </p:nvGrpSpPr>
          <p:grpSpPr>
            <a:xfrm>
              <a:off x="3897720" y="3030480"/>
              <a:ext cx="143280" cy="702720"/>
              <a:chOff x="3897720" y="3030480"/>
              <a:chExt cx="143280" cy="702720"/>
            </a:xfrm>
          </p:grpSpPr>
          <p:sp>
            <p:nvSpPr>
              <p:cNvPr id="341" name="Line 20"/>
              <p:cNvSpPr/>
              <p:nvPr/>
            </p:nvSpPr>
            <p:spPr>
              <a:xfrm>
                <a:off x="3897720" y="303048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2" name="Line 21"/>
              <p:cNvSpPr/>
              <p:nvPr/>
            </p:nvSpPr>
            <p:spPr>
              <a:xfrm>
                <a:off x="3897720" y="303048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3" name="Line 22"/>
              <p:cNvSpPr/>
              <p:nvPr/>
            </p:nvSpPr>
            <p:spPr>
              <a:xfrm flipH="1">
                <a:off x="3897720" y="373320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344" name="CustomShape 23"/>
          <p:cNvSpPr/>
          <p:nvPr/>
        </p:nvSpPr>
        <p:spPr>
          <a:xfrm>
            <a:off x="3273840" y="3186000"/>
            <a:ext cx="6120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M =</a:t>
            </a:r>
          </a:p>
        </p:txBody>
      </p:sp>
      <p:grpSp>
        <p:nvGrpSpPr>
          <p:cNvPr id="345" name="Group 24"/>
          <p:cNvGrpSpPr/>
          <p:nvPr/>
        </p:nvGrpSpPr>
        <p:grpSpPr>
          <a:xfrm>
            <a:off x="7750080" y="3081240"/>
            <a:ext cx="1168200" cy="705600"/>
            <a:chOff x="7750080" y="3081240"/>
            <a:chExt cx="1168200" cy="705600"/>
          </a:xfrm>
        </p:grpSpPr>
        <p:sp>
          <p:nvSpPr>
            <p:cNvPr id="346" name="CustomShape 25"/>
            <p:cNvSpPr/>
            <p:nvPr/>
          </p:nvSpPr>
          <p:spPr>
            <a:xfrm>
              <a:off x="7750080" y="3083040"/>
              <a:ext cx="116820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387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ru-RU" sz="20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0  -1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-1   0</a:t>
              </a:r>
            </a:p>
          </p:txBody>
        </p:sp>
        <p:grpSp>
          <p:nvGrpSpPr>
            <p:cNvPr id="347" name="Group 26"/>
            <p:cNvGrpSpPr/>
            <p:nvPr/>
          </p:nvGrpSpPr>
          <p:grpSpPr>
            <a:xfrm>
              <a:off x="8693640" y="3081240"/>
              <a:ext cx="137520" cy="702720"/>
              <a:chOff x="8693640" y="3081240"/>
              <a:chExt cx="137520" cy="702720"/>
            </a:xfrm>
          </p:grpSpPr>
          <p:sp>
            <p:nvSpPr>
              <p:cNvPr id="348" name="Line 27"/>
              <p:cNvSpPr/>
              <p:nvPr/>
            </p:nvSpPr>
            <p:spPr>
              <a:xfrm>
                <a:off x="8831160" y="308124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9" name="Line 28"/>
              <p:cNvSpPr/>
              <p:nvPr/>
            </p:nvSpPr>
            <p:spPr>
              <a:xfrm flipH="1">
                <a:off x="8693640" y="308124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0" name="Line 29"/>
              <p:cNvSpPr/>
              <p:nvPr/>
            </p:nvSpPr>
            <p:spPr>
              <a:xfrm>
                <a:off x="8693640" y="3783960"/>
                <a:ext cx="13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51" name="Group 30"/>
            <p:cNvGrpSpPr/>
            <p:nvPr/>
          </p:nvGrpSpPr>
          <p:grpSpPr>
            <a:xfrm>
              <a:off x="7799760" y="3081240"/>
              <a:ext cx="143280" cy="702720"/>
              <a:chOff x="7799760" y="3081240"/>
              <a:chExt cx="143280" cy="702720"/>
            </a:xfrm>
          </p:grpSpPr>
          <p:sp>
            <p:nvSpPr>
              <p:cNvPr id="352" name="Line 31"/>
              <p:cNvSpPr/>
              <p:nvPr/>
            </p:nvSpPr>
            <p:spPr>
              <a:xfrm>
                <a:off x="7799760" y="3081240"/>
                <a:ext cx="0" cy="7027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3" name="Line 32"/>
              <p:cNvSpPr/>
              <p:nvPr/>
            </p:nvSpPr>
            <p:spPr>
              <a:xfrm>
                <a:off x="7799760" y="308124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4" name="Line 33"/>
              <p:cNvSpPr/>
              <p:nvPr/>
            </p:nvSpPr>
            <p:spPr>
              <a:xfrm flipH="1">
                <a:off x="7799760" y="3783960"/>
                <a:ext cx="143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355" name="CustomShape 34"/>
          <p:cNvSpPr/>
          <p:nvPr/>
        </p:nvSpPr>
        <p:spPr>
          <a:xfrm>
            <a:off x="7175880" y="3236760"/>
            <a:ext cx="6120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M =</a:t>
            </a:r>
          </a:p>
        </p:txBody>
      </p:sp>
      <p:sp>
        <p:nvSpPr>
          <p:cNvPr id="356" name="CustomShape 35"/>
          <p:cNvSpPr/>
          <p:nvPr/>
        </p:nvSpPr>
        <p:spPr>
          <a:xfrm>
            <a:off x="1333440" y="1816200"/>
            <a:ext cx="74167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 = PM = [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 y ]   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=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[ (0*x+1*y) (1*x+0*y) ] = [ x’ y’ ]</a:t>
            </a:r>
          </a:p>
        </p:txBody>
      </p:sp>
      <p:grpSp>
        <p:nvGrpSpPr>
          <p:cNvPr id="357" name="Group 36"/>
          <p:cNvGrpSpPr/>
          <p:nvPr/>
        </p:nvGrpSpPr>
        <p:grpSpPr>
          <a:xfrm>
            <a:off x="3111480" y="1671480"/>
            <a:ext cx="965160" cy="663120"/>
            <a:chOff x="3111480" y="1671480"/>
            <a:chExt cx="965160" cy="663120"/>
          </a:xfrm>
        </p:grpSpPr>
        <p:sp>
          <p:nvSpPr>
            <p:cNvPr id="358" name="CustomShape 37"/>
            <p:cNvSpPr/>
            <p:nvPr/>
          </p:nvSpPr>
          <p:spPr>
            <a:xfrm>
              <a:off x="3111480" y="1673280"/>
              <a:ext cx="96516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0  1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1  0</a:t>
              </a:r>
            </a:p>
          </p:txBody>
        </p:sp>
        <p:grpSp>
          <p:nvGrpSpPr>
            <p:cNvPr id="359" name="Group 38"/>
            <p:cNvGrpSpPr/>
            <p:nvPr/>
          </p:nvGrpSpPr>
          <p:grpSpPr>
            <a:xfrm>
              <a:off x="3890880" y="1671480"/>
              <a:ext cx="113760" cy="663120"/>
              <a:chOff x="3890880" y="1671480"/>
              <a:chExt cx="113760" cy="663120"/>
            </a:xfrm>
          </p:grpSpPr>
          <p:sp>
            <p:nvSpPr>
              <p:cNvPr id="360" name="Line 39"/>
              <p:cNvSpPr/>
              <p:nvPr/>
            </p:nvSpPr>
            <p:spPr>
              <a:xfrm>
                <a:off x="4004640" y="167148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1" name="Line 40"/>
              <p:cNvSpPr/>
              <p:nvPr/>
            </p:nvSpPr>
            <p:spPr>
              <a:xfrm flipH="1">
                <a:off x="3890880" y="167148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2" name="Line 41"/>
              <p:cNvSpPr/>
              <p:nvPr/>
            </p:nvSpPr>
            <p:spPr>
              <a:xfrm>
                <a:off x="3890880" y="2334600"/>
                <a:ext cx="1137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63" name="Group 42"/>
            <p:cNvGrpSpPr/>
            <p:nvPr/>
          </p:nvGrpSpPr>
          <p:grpSpPr>
            <a:xfrm>
              <a:off x="3152520" y="1671480"/>
              <a:ext cx="118800" cy="663120"/>
              <a:chOff x="3152520" y="1671480"/>
              <a:chExt cx="118800" cy="663120"/>
            </a:xfrm>
          </p:grpSpPr>
          <p:sp>
            <p:nvSpPr>
              <p:cNvPr id="364" name="Line 43"/>
              <p:cNvSpPr/>
              <p:nvPr/>
            </p:nvSpPr>
            <p:spPr>
              <a:xfrm>
                <a:off x="3152520" y="1671480"/>
                <a:ext cx="0" cy="66312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5" name="Line 44"/>
              <p:cNvSpPr/>
              <p:nvPr/>
            </p:nvSpPr>
            <p:spPr>
              <a:xfrm>
                <a:off x="3152520" y="167148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6" name="Line 45"/>
              <p:cNvSpPr/>
              <p:nvPr/>
            </p:nvSpPr>
            <p:spPr>
              <a:xfrm flipH="1">
                <a:off x="3152520" y="2334600"/>
                <a:ext cx="118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367" name="CustomShape 46"/>
          <p:cNvSpPr/>
          <p:nvPr/>
        </p:nvSpPr>
        <p:spPr>
          <a:xfrm>
            <a:off x="1217520" y="1054080"/>
            <a:ext cx="3367080" cy="673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I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с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I = I b I = 1       a = d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=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0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              </a:t>
            </a:r>
          </a:p>
        </p:txBody>
      </p:sp>
      <p:sp>
        <p:nvSpPr>
          <p:cNvPr id="368" name="CustomShape 47"/>
          <p:cNvSpPr/>
          <p:nvPr/>
        </p:nvSpPr>
        <p:spPr>
          <a:xfrm>
            <a:off x="1217520" y="2552760"/>
            <a:ext cx="3367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x’ = y       y’ = x</a:t>
            </a:r>
          </a:p>
        </p:txBody>
      </p:sp>
      <p:sp>
        <p:nvSpPr>
          <p:cNvPr id="369" name="Line 48"/>
          <p:cNvSpPr/>
          <p:nvPr/>
        </p:nvSpPr>
        <p:spPr>
          <a:xfrm flipH="1">
            <a:off x="1802880" y="4305240"/>
            <a:ext cx="1752840" cy="19303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0" name="Line 49"/>
          <p:cNvSpPr/>
          <p:nvPr/>
        </p:nvSpPr>
        <p:spPr>
          <a:xfrm>
            <a:off x="5956200" y="5505480"/>
            <a:ext cx="265932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1" name="Line 50"/>
          <p:cNvSpPr/>
          <p:nvPr/>
        </p:nvSpPr>
        <p:spPr>
          <a:xfrm flipV="1">
            <a:off x="7192800" y="4152960"/>
            <a:ext cx="0" cy="23875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72" name="Group 51"/>
          <p:cNvGrpSpPr/>
          <p:nvPr/>
        </p:nvGrpSpPr>
        <p:grpSpPr>
          <a:xfrm>
            <a:off x="7385040" y="4600440"/>
            <a:ext cx="560520" cy="476280"/>
            <a:chOff x="7385040" y="4600440"/>
            <a:chExt cx="560520" cy="476280"/>
          </a:xfrm>
        </p:grpSpPr>
        <p:sp>
          <p:nvSpPr>
            <p:cNvPr id="373" name="CustomShape 52"/>
            <p:cNvSpPr/>
            <p:nvPr/>
          </p:nvSpPr>
          <p:spPr>
            <a:xfrm>
              <a:off x="7385040" y="4759200"/>
              <a:ext cx="560520" cy="317520"/>
            </a:xfrm>
            <a:prstGeom prst="rect">
              <a:avLst/>
            </a:pr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4" name="CustomShape 53"/>
            <p:cNvSpPr/>
            <p:nvPr/>
          </p:nvSpPr>
          <p:spPr>
            <a:xfrm>
              <a:off x="7385040" y="4600440"/>
              <a:ext cx="560520" cy="158760"/>
            </a:xfrm>
            <a:custGeom>
              <a:avLst/>
              <a:gdLst/>
              <a:ahLst/>
              <a:cxnLst/>
              <a:rect l="0" t="0" r="r" b="b"/>
              <a:pathLst>
                <a:path w="1559" h="443">
                  <a:moveTo>
                    <a:pt x="779" y="0"/>
                  </a:moveTo>
                  <a:lnTo>
                    <a:pt x="1558" y="442"/>
                  </a:lnTo>
                  <a:lnTo>
                    <a:pt x="0" y="442"/>
                  </a:lnTo>
                  <a:lnTo>
                    <a:pt x="779" y="0"/>
                  </a:lnTo>
                </a:path>
              </a:pathLst>
            </a:custGeom>
            <a:solidFill>
              <a:srgbClr val="BBE0E3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375" name="Group 54"/>
          <p:cNvGrpSpPr/>
          <p:nvPr/>
        </p:nvGrpSpPr>
        <p:grpSpPr>
          <a:xfrm>
            <a:off x="6291360" y="5687640"/>
            <a:ext cx="476280" cy="561960"/>
            <a:chOff x="6291360" y="5687640"/>
            <a:chExt cx="476280" cy="561960"/>
          </a:xfrm>
        </p:grpSpPr>
        <p:sp>
          <p:nvSpPr>
            <p:cNvPr id="376" name="CustomShape 55"/>
            <p:cNvSpPr/>
            <p:nvPr/>
          </p:nvSpPr>
          <p:spPr>
            <a:xfrm rot="16200000">
              <a:off x="6327720" y="5809680"/>
              <a:ext cx="561960" cy="317520"/>
            </a:xfrm>
            <a:prstGeom prst="rect">
              <a:avLst/>
            </a:pr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377" name="CustomShape 56"/>
            <p:cNvSpPr/>
            <p:nvPr/>
          </p:nvSpPr>
          <p:spPr>
            <a:xfrm rot="16200000">
              <a:off x="6089760" y="5889240"/>
              <a:ext cx="561960" cy="158760"/>
            </a:xfrm>
            <a:custGeom>
              <a:avLst/>
              <a:gdLst/>
              <a:ahLst/>
              <a:cxnLst/>
              <a:rect l="0" t="0" r="r" b="b"/>
              <a:pathLst>
                <a:path w="1563" h="443">
                  <a:moveTo>
                    <a:pt x="781" y="0"/>
                  </a:moveTo>
                  <a:lnTo>
                    <a:pt x="1562" y="442"/>
                  </a:lnTo>
                  <a:lnTo>
                    <a:pt x="0" y="442"/>
                  </a:lnTo>
                  <a:lnTo>
                    <a:pt x="781" y="0"/>
                  </a:lnTo>
                </a:path>
              </a:pathLst>
            </a:custGeom>
            <a:solidFill>
              <a:srgbClr val="0080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378" name="CustomShape 57"/>
          <p:cNvSpPr/>
          <p:nvPr/>
        </p:nvSpPr>
        <p:spPr>
          <a:xfrm>
            <a:off x="8293320" y="55976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379" name="CustomShape 58"/>
          <p:cNvSpPr/>
          <p:nvPr/>
        </p:nvSpPr>
        <p:spPr>
          <a:xfrm>
            <a:off x="6864480" y="38908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380" name="CustomShape 59"/>
          <p:cNvSpPr/>
          <p:nvPr/>
        </p:nvSpPr>
        <p:spPr>
          <a:xfrm>
            <a:off x="6852960" y="558324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381" name="Line 60"/>
          <p:cNvSpPr/>
          <p:nvPr/>
        </p:nvSpPr>
        <p:spPr>
          <a:xfrm>
            <a:off x="6159600" y="4470480"/>
            <a:ext cx="1981080" cy="19810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4" name="CustomShape 63"/>
          <p:cNvSpPr/>
          <p:nvPr/>
        </p:nvSpPr>
        <p:spPr>
          <a:xfrm>
            <a:off x="1179360" y="6159600"/>
            <a:ext cx="903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 </a:t>
            </a:r>
            <a:r>
              <a:rPr lang="ru-RU" sz="1800" b="1" strike="noStrike" spc="-1">
                <a:solidFill>
                  <a:srgbClr val="333399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x = y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385" name="CustomShape 64"/>
          <p:cNvSpPr/>
          <p:nvPr/>
        </p:nvSpPr>
        <p:spPr>
          <a:xfrm>
            <a:off x="5472000" y="4788000"/>
            <a:ext cx="10051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 </a:t>
            </a:r>
            <a:r>
              <a:rPr lang="ru-RU" sz="1800" b="1" strike="noStrike" spc="-1">
                <a:solidFill>
                  <a:srgbClr val="333399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x = - y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64" name="Arc 1097"/>
          <p:cNvSpPr>
            <a:spLocks/>
          </p:cNvSpPr>
          <p:nvPr/>
        </p:nvSpPr>
        <p:spPr bwMode="auto">
          <a:xfrm rot="12014815">
            <a:off x="2898775" y="4240213"/>
            <a:ext cx="560388" cy="822325"/>
          </a:xfrm>
          <a:custGeom>
            <a:avLst/>
            <a:gdLst>
              <a:gd name="G0" fmla="+- 0 0 0"/>
              <a:gd name="G1" fmla="+- 21188 0 0"/>
              <a:gd name="G2" fmla="+- 21600 0 0"/>
              <a:gd name="T0" fmla="*/ 4200 w 16458"/>
              <a:gd name="T1" fmla="*/ 0 h 21188"/>
              <a:gd name="T2" fmla="*/ 16458 w 16458"/>
              <a:gd name="T3" fmla="*/ 7199 h 21188"/>
              <a:gd name="T4" fmla="*/ 0 w 16458"/>
              <a:gd name="T5" fmla="*/ 21188 h 211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458" h="21188" fill="none" extrusionOk="0">
                <a:moveTo>
                  <a:pt x="4199" y="0"/>
                </a:moveTo>
                <a:cubicBezTo>
                  <a:pt x="8981" y="948"/>
                  <a:pt x="13301" y="3485"/>
                  <a:pt x="16458" y="7198"/>
                </a:cubicBezTo>
              </a:path>
              <a:path w="16458" h="21188" stroke="0" extrusionOk="0">
                <a:moveTo>
                  <a:pt x="4199" y="0"/>
                </a:moveTo>
                <a:cubicBezTo>
                  <a:pt x="8981" y="948"/>
                  <a:pt x="13301" y="3485"/>
                  <a:pt x="16458" y="7198"/>
                </a:cubicBezTo>
                <a:lnTo>
                  <a:pt x="0" y="21188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65" name="Arc 1098"/>
          <p:cNvSpPr>
            <a:spLocks/>
          </p:cNvSpPr>
          <p:nvPr/>
        </p:nvSpPr>
        <p:spPr bwMode="auto">
          <a:xfrm rot="5920344">
            <a:off x="6815931" y="5188744"/>
            <a:ext cx="960438" cy="838200"/>
          </a:xfrm>
          <a:custGeom>
            <a:avLst/>
            <a:gdLst>
              <a:gd name="G0" fmla="+- 119 0 0"/>
              <a:gd name="G1" fmla="+- 21600 0 0"/>
              <a:gd name="G2" fmla="+- 21600 0 0"/>
              <a:gd name="T0" fmla="*/ 0 w 21467"/>
              <a:gd name="T1" fmla="*/ 0 h 21600"/>
              <a:gd name="T2" fmla="*/ 21467 w 21467"/>
              <a:gd name="T3" fmla="*/ 18308 h 21600"/>
              <a:gd name="T4" fmla="*/ 119 w 2146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467" h="21600" fill="none" extrusionOk="0">
                <a:moveTo>
                  <a:pt x="0" y="0"/>
                </a:moveTo>
                <a:cubicBezTo>
                  <a:pt x="39" y="0"/>
                  <a:pt x="79" y="-1"/>
                  <a:pt x="119" y="0"/>
                </a:cubicBezTo>
                <a:cubicBezTo>
                  <a:pt x="10777" y="0"/>
                  <a:pt x="19842" y="7774"/>
                  <a:pt x="21466" y="18308"/>
                </a:cubicBezTo>
              </a:path>
              <a:path w="21467" h="21600" stroke="0" extrusionOk="0">
                <a:moveTo>
                  <a:pt x="0" y="0"/>
                </a:moveTo>
                <a:cubicBezTo>
                  <a:pt x="39" y="0"/>
                  <a:pt x="79" y="-1"/>
                  <a:pt x="119" y="0"/>
                </a:cubicBezTo>
                <a:cubicBezTo>
                  <a:pt x="10777" y="0"/>
                  <a:pt x="19842" y="7774"/>
                  <a:pt x="21466" y="18308"/>
                </a:cubicBezTo>
                <a:lnTo>
                  <a:pt x="119" y="21600"/>
                </a:lnTo>
                <a:close/>
              </a:path>
            </a:pathLst>
          </a:custGeom>
          <a:noFill/>
          <a:ln w="28575">
            <a:solidFill>
              <a:srgbClr val="993300"/>
            </a:solidFill>
            <a:round/>
            <a:headEnd type="none" w="lg" len="lg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Shape 1"/>
          <p:cNvSpPr txBox="1"/>
          <p:nvPr/>
        </p:nvSpPr>
        <p:spPr>
          <a:xfrm>
            <a:off x="914400" y="-57600"/>
            <a:ext cx="8229600" cy="863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Поворот</a:t>
            </a: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CustomShape 18"/>
          <p:cNvSpPr/>
          <p:nvPr/>
        </p:nvSpPr>
        <p:spPr>
          <a:xfrm>
            <a:off x="824040" y="1346040"/>
            <a:ext cx="4586040" cy="36031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 = r * cos </a:t>
            </a:r>
            <a:r>
              <a:rPr lang="el-GR" sz="1800" b="1" strike="noStrike" spc="-1" dirty="0" smtClean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Symbol"/>
                <a:ea typeface="Symbol"/>
              </a:rPr>
              <a:t>			</a:t>
            </a:r>
            <a:r>
              <a:rPr lang="en-US" spc="-1" dirty="0">
                <a:solidFill>
                  <a:srgbClr val="000000"/>
                </a:solidFill>
              </a:rPr>
              <a:t>(1)</a:t>
            </a:r>
            <a:endParaRPr lang="en-US" b="1" spc="-1" dirty="0">
              <a:solidFill>
                <a:srgbClr val="000000"/>
              </a:solidFill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y = r * sin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			</a:t>
            </a:r>
            <a:endParaRPr lang="ru-RU" sz="1800" b="0" strike="noStrike" spc="-1" dirty="0" smtClean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x’ = r * cos (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+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)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		</a:t>
            </a:r>
            <a:r>
              <a:rPr lang="en-US" spc="-1" dirty="0" smtClean="0">
                <a:solidFill>
                  <a:srgbClr val="000000"/>
                </a:solidFill>
              </a:rPr>
              <a:t>(</a:t>
            </a:r>
            <a:r>
              <a:rPr lang="ru-RU" spc="-1" dirty="0" smtClean="0">
                <a:solidFill>
                  <a:srgbClr val="000000"/>
                </a:solidFill>
              </a:rPr>
              <a:t>2</a:t>
            </a:r>
            <a:r>
              <a:rPr lang="en-US" spc="-1" dirty="0" smtClean="0">
                <a:solidFill>
                  <a:srgbClr val="000000"/>
                </a:solidFill>
              </a:rPr>
              <a:t>)</a:t>
            </a:r>
            <a:endParaRPr lang="en-US" b="1" spc="-1" dirty="0">
              <a:solidFill>
                <a:srgbClr val="000000"/>
              </a:solidFill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y’ = r * sin (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+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x’ = r * cos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cos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-  r * sin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sin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y’ = r * cos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sin </a:t>
            </a:r>
            <a:r>
              <a:rPr lang="el-GR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+ r * sin </a:t>
            </a:r>
            <a:r>
              <a:rPr lang="el-GR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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cos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800" b="0" strike="noStrike" spc="-1" dirty="0" smtClean="0">
                <a:solidFill>
                  <a:srgbClr val="000000"/>
                </a:solidFill>
                <a:latin typeface="Arial"/>
              </a:rPr>
              <a:t>3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x’ = x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cos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-  y sin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y’ = x sin </a:t>
            </a:r>
            <a:r>
              <a:rPr lang="el-GR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+ y cos </a:t>
            </a:r>
            <a:r>
              <a:rPr lang="el-GR" sz="20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0" strike="noStrike" spc="-1" dirty="0">
                <a:solidFill>
                  <a:srgbClr val="000000"/>
                </a:solidFill>
                <a:latin typeface="Arial"/>
              </a:rPr>
              <a:t> 		      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</a:rPr>
              <a:t>(</a:t>
            </a:r>
            <a:r>
              <a:rPr lang="ru-RU" sz="1800" b="0" strike="noStrike" spc="-1" dirty="0" smtClean="0">
                <a:solidFill>
                  <a:srgbClr val="000000"/>
                </a:solidFill>
                <a:latin typeface="Arial"/>
              </a:rPr>
              <a:t>4</a:t>
            </a:r>
            <a:r>
              <a:rPr lang="en-US" sz="1800" b="0" strike="noStrike" spc="-1" dirty="0" smtClean="0">
                <a:solidFill>
                  <a:srgbClr val="000000"/>
                </a:solidFill>
                <a:latin typeface="Arial"/>
              </a:rPr>
              <a:t>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                </a:t>
            </a:r>
          </a:p>
        </p:txBody>
      </p:sp>
      <p:grpSp>
        <p:nvGrpSpPr>
          <p:cNvPr id="405" name="Group 20"/>
          <p:cNvGrpSpPr/>
          <p:nvPr/>
        </p:nvGrpSpPr>
        <p:grpSpPr>
          <a:xfrm>
            <a:off x="4902120" y="5405400"/>
            <a:ext cx="1980720" cy="734400"/>
            <a:chOff x="4902120" y="5405400"/>
            <a:chExt cx="1980720" cy="734400"/>
          </a:xfrm>
        </p:grpSpPr>
        <p:sp>
          <p:nvSpPr>
            <p:cNvPr id="406" name="CustomShape 21"/>
            <p:cNvSpPr/>
            <p:nvPr/>
          </p:nvSpPr>
          <p:spPr>
            <a:xfrm>
              <a:off x="4902120" y="5407200"/>
              <a:ext cx="198072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cos -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sin -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 </a:t>
              </a:r>
              <a:endParaRPr lang="en-US" sz="18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- sin -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cos -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07" name="Group 22"/>
            <p:cNvGrpSpPr/>
            <p:nvPr/>
          </p:nvGrpSpPr>
          <p:grpSpPr>
            <a:xfrm>
              <a:off x="6502680" y="5405400"/>
              <a:ext cx="233280" cy="734400"/>
              <a:chOff x="6502680" y="5405400"/>
              <a:chExt cx="233280" cy="734400"/>
            </a:xfrm>
          </p:grpSpPr>
          <p:sp>
            <p:nvSpPr>
              <p:cNvPr id="408" name="Line 23"/>
              <p:cNvSpPr/>
              <p:nvPr/>
            </p:nvSpPr>
            <p:spPr>
              <a:xfrm>
                <a:off x="6735600" y="5405400"/>
                <a:ext cx="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09" name="Line 24"/>
              <p:cNvSpPr/>
              <p:nvPr/>
            </p:nvSpPr>
            <p:spPr>
              <a:xfrm flipH="1">
                <a:off x="6502680" y="5405400"/>
                <a:ext cx="2329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10" name="Line 25"/>
              <p:cNvSpPr/>
              <p:nvPr/>
            </p:nvSpPr>
            <p:spPr>
              <a:xfrm>
                <a:off x="6503040" y="6139800"/>
                <a:ext cx="2329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11" name="Group 26"/>
            <p:cNvGrpSpPr/>
            <p:nvPr/>
          </p:nvGrpSpPr>
          <p:grpSpPr>
            <a:xfrm>
              <a:off x="4986000" y="5405400"/>
              <a:ext cx="243360" cy="734400"/>
              <a:chOff x="4986000" y="5405400"/>
              <a:chExt cx="243360" cy="734400"/>
            </a:xfrm>
          </p:grpSpPr>
          <p:sp>
            <p:nvSpPr>
              <p:cNvPr id="412" name="Line 27"/>
              <p:cNvSpPr/>
              <p:nvPr/>
            </p:nvSpPr>
            <p:spPr>
              <a:xfrm>
                <a:off x="4986000" y="5405400"/>
                <a:ext cx="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13" name="Line 28"/>
              <p:cNvSpPr/>
              <p:nvPr/>
            </p:nvSpPr>
            <p:spPr>
              <a:xfrm>
                <a:off x="4986000" y="5405400"/>
                <a:ext cx="2433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14" name="Line 29"/>
              <p:cNvSpPr/>
              <p:nvPr/>
            </p:nvSpPr>
            <p:spPr>
              <a:xfrm flipH="1">
                <a:off x="4986000" y="6139800"/>
                <a:ext cx="2433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15" name="CustomShape 30"/>
          <p:cNvSpPr/>
          <p:nvPr/>
        </p:nvSpPr>
        <p:spPr>
          <a:xfrm>
            <a:off x="1095480" y="4862520"/>
            <a:ext cx="2190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333399"/>
                </a:solidFill>
                <a:latin typeface="Arial"/>
              </a:rPr>
              <a:t>Матрица поворота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CustomShape 31"/>
          <p:cNvSpPr/>
          <p:nvPr/>
        </p:nvSpPr>
        <p:spPr>
          <a:xfrm>
            <a:off x="4312080" y="5637240"/>
            <a:ext cx="660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R</a:t>
            </a:r>
            <a:r>
              <a:rPr lang="en-US" sz="1800" b="1" strike="noStrike" spc="-1" baseline="30000" dirty="0">
                <a:solidFill>
                  <a:srgbClr val="000000"/>
                </a:solidFill>
                <a:latin typeface="Arial"/>
              </a:rPr>
              <a:t>-1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=</a:t>
            </a:r>
          </a:p>
        </p:txBody>
      </p:sp>
      <p:grpSp>
        <p:nvGrpSpPr>
          <p:cNvPr id="418" name="Group 33"/>
          <p:cNvGrpSpPr/>
          <p:nvPr/>
        </p:nvGrpSpPr>
        <p:grpSpPr>
          <a:xfrm>
            <a:off x="1536840" y="5430960"/>
            <a:ext cx="1853640" cy="734040"/>
            <a:chOff x="1536840" y="5430960"/>
            <a:chExt cx="1853640" cy="734040"/>
          </a:xfrm>
        </p:grpSpPr>
        <p:sp>
          <p:nvSpPr>
            <p:cNvPr id="419" name="CustomShape 34"/>
            <p:cNvSpPr/>
            <p:nvPr/>
          </p:nvSpPr>
          <p:spPr>
            <a:xfrm>
              <a:off x="1536840" y="5432760"/>
              <a:ext cx="185364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 </a:t>
              </a:r>
              <a:endParaRPr lang="en-US" sz="18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- 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20" name="Group 35"/>
            <p:cNvGrpSpPr/>
            <p:nvPr/>
          </p:nvGrpSpPr>
          <p:grpSpPr>
            <a:xfrm>
              <a:off x="3034800" y="5430960"/>
              <a:ext cx="218160" cy="734040"/>
              <a:chOff x="3034800" y="5430960"/>
              <a:chExt cx="218160" cy="734040"/>
            </a:xfrm>
          </p:grpSpPr>
          <p:sp>
            <p:nvSpPr>
              <p:cNvPr id="421" name="Line 36"/>
              <p:cNvSpPr/>
              <p:nvPr/>
            </p:nvSpPr>
            <p:spPr>
              <a:xfrm>
                <a:off x="3252600" y="5430960"/>
                <a:ext cx="0" cy="7340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22" name="Line 37"/>
              <p:cNvSpPr/>
              <p:nvPr/>
            </p:nvSpPr>
            <p:spPr>
              <a:xfrm flipH="1">
                <a:off x="3034800" y="5430960"/>
                <a:ext cx="217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23" name="Line 38"/>
              <p:cNvSpPr/>
              <p:nvPr/>
            </p:nvSpPr>
            <p:spPr>
              <a:xfrm>
                <a:off x="3035160" y="6165000"/>
                <a:ext cx="21780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24" name="Group 39"/>
            <p:cNvGrpSpPr/>
            <p:nvPr/>
          </p:nvGrpSpPr>
          <p:grpSpPr>
            <a:xfrm>
              <a:off x="1615320" y="5430960"/>
              <a:ext cx="227520" cy="734040"/>
              <a:chOff x="1615320" y="5430960"/>
              <a:chExt cx="227520" cy="734040"/>
            </a:xfrm>
          </p:grpSpPr>
          <p:sp>
            <p:nvSpPr>
              <p:cNvPr id="425" name="Line 40"/>
              <p:cNvSpPr/>
              <p:nvPr/>
            </p:nvSpPr>
            <p:spPr>
              <a:xfrm>
                <a:off x="1615320" y="5430960"/>
                <a:ext cx="0" cy="7340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26" name="Line 41"/>
              <p:cNvSpPr/>
              <p:nvPr/>
            </p:nvSpPr>
            <p:spPr>
              <a:xfrm>
                <a:off x="1615320" y="5430960"/>
                <a:ext cx="22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27" name="Line 42"/>
              <p:cNvSpPr/>
              <p:nvPr/>
            </p:nvSpPr>
            <p:spPr>
              <a:xfrm flipH="1">
                <a:off x="1615320" y="6165000"/>
                <a:ext cx="2275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28" name="CustomShape 43"/>
          <p:cNvSpPr/>
          <p:nvPr/>
        </p:nvSpPr>
        <p:spPr>
          <a:xfrm>
            <a:off x="950400" y="5586480"/>
            <a:ext cx="543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R =</a:t>
            </a:r>
          </a:p>
        </p:txBody>
      </p:sp>
      <p:grpSp>
        <p:nvGrpSpPr>
          <p:cNvPr id="429" name="Group 44"/>
          <p:cNvGrpSpPr/>
          <p:nvPr/>
        </p:nvGrpSpPr>
        <p:grpSpPr>
          <a:xfrm>
            <a:off x="7149960" y="5392800"/>
            <a:ext cx="1790640" cy="734400"/>
            <a:chOff x="7149960" y="5392800"/>
            <a:chExt cx="1790640" cy="734400"/>
          </a:xfrm>
        </p:grpSpPr>
        <p:sp>
          <p:nvSpPr>
            <p:cNvPr id="430" name="CustomShape 45"/>
            <p:cNvSpPr/>
            <p:nvPr/>
          </p:nvSpPr>
          <p:spPr>
            <a:xfrm>
              <a:off x="7149960" y="5394600"/>
              <a:ext cx="1790640" cy="703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-sin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 </a:t>
              </a:r>
              <a:endParaRPr lang="en-US" sz="18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431" name="Group 46"/>
            <p:cNvGrpSpPr/>
            <p:nvPr/>
          </p:nvGrpSpPr>
          <p:grpSpPr>
            <a:xfrm>
              <a:off x="8596440" y="5392800"/>
              <a:ext cx="210960" cy="734400"/>
              <a:chOff x="8596440" y="5392800"/>
              <a:chExt cx="210960" cy="734400"/>
            </a:xfrm>
          </p:grpSpPr>
          <p:sp>
            <p:nvSpPr>
              <p:cNvPr id="432" name="Line 47"/>
              <p:cNvSpPr/>
              <p:nvPr/>
            </p:nvSpPr>
            <p:spPr>
              <a:xfrm>
                <a:off x="8807400" y="5392800"/>
                <a:ext cx="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3" name="Line 48"/>
              <p:cNvSpPr/>
              <p:nvPr/>
            </p:nvSpPr>
            <p:spPr>
              <a:xfrm flipH="1">
                <a:off x="8596440" y="5392800"/>
                <a:ext cx="2109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4" name="Line 49"/>
              <p:cNvSpPr/>
              <p:nvPr/>
            </p:nvSpPr>
            <p:spPr>
              <a:xfrm>
                <a:off x="8596440" y="6127200"/>
                <a:ext cx="2109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35" name="Group 50"/>
            <p:cNvGrpSpPr/>
            <p:nvPr/>
          </p:nvGrpSpPr>
          <p:grpSpPr>
            <a:xfrm>
              <a:off x="7225560" y="5392800"/>
              <a:ext cx="220320" cy="734400"/>
              <a:chOff x="7225560" y="5392800"/>
              <a:chExt cx="220320" cy="734400"/>
            </a:xfrm>
          </p:grpSpPr>
          <p:sp>
            <p:nvSpPr>
              <p:cNvPr id="436" name="Line 51"/>
              <p:cNvSpPr/>
              <p:nvPr/>
            </p:nvSpPr>
            <p:spPr>
              <a:xfrm>
                <a:off x="7225920" y="5392800"/>
                <a:ext cx="0" cy="73440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7" name="Line 52"/>
              <p:cNvSpPr/>
              <p:nvPr/>
            </p:nvSpPr>
            <p:spPr>
              <a:xfrm>
                <a:off x="7225920" y="5392800"/>
                <a:ext cx="2199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8" name="Line 53"/>
              <p:cNvSpPr/>
              <p:nvPr/>
            </p:nvSpPr>
            <p:spPr>
              <a:xfrm flipH="1">
                <a:off x="7225560" y="6127200"/>
                <a:ext cx="2199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39" name="CustomShape 54"/>
          <p:cNvSpPr/>
          <p:nvPr/>
        </p:nvSpPr>
        <p:spPr>
          <a:xfrm>
            <a:off x="6817680" y="5586480"/>
            <a:ext cx="315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=</a:t>
            </a:r>
          </a:p>
        </p:txBody>
      </p:sp>
      <p:sp>
        <p:nvSpPr>
          <p:cNvPr id="57" name="Line 4"/>
          <p:cNvSpPr>
            <a:spLocks noChangeShapeType="1"/>
          </p:cNvSpPr>
          <p:nvPr/>
        </p:nvSpPr>
        <p:spPr bwMode="auto">
          <a:xfrm flipV="1">
            <a:off x="6253163" y="1928813"/>
            <a:ext cx="0" cy="2016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8" name="Line 5"/>
          <p:cNvSpPr>
            <a:spLocks noChangeShapeType="1"/>
          </p:cNvSpPr>
          <p:nvPr/>
        </p:nvSpPr>
        <p:spPr bwMode="auto">
          <a:xfrm>
            <a:off x="6253163" y="3944938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8482013" y="3948113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/>
              <a:t>X</a:t>
            </a:r>
            <a:endParaRPr lang="ru-RU" altLang="ru-RU"/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6354763" y="1703388"/>
            <a:ext cx="33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/>
              <a:t>Y</a:t>
            </a:r>
            <a:endParaRPr lang="ru-RU" altLang="ru-RU"/>
          </a:p>
        </p:txBody>
      </p:sp>
      <p:sp>
        <p:nvSpPr>
          <p:cNvPr id="61" name="Line 8"/>
          <p:cNvSpPr>
            <a:spLocks noChangeShapeType="1"/>
          </p:cNvSpPr>
          <p:nvPr/>
        </p:nvSpPr>
        <p:spPr bwMode="auto">
          <a:xfrm>
            <a:off x="7812088" y="3475038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2" name="Oval 10"/>
          <p:cNvSpPr>
            <a:spLocks noChangeArrowheads="1"/>
          </p:cNvSpPr>
          <p:nvPr/>
        </p:nvSpPr>
        <p:spPr bwMode="auto">
          <a:xfrm>
            <a:off x="7269163" y="2654300"/>
            <a:ext cx="144462" cy="144463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3" name="Text Box 13"/>
          <p:cNvSpPr txBox="1">
            <a:spLocks noChangeArrowheads="1"/>
          </p:cNvSpPr>
          <p:nvPr/>
        </p:nvSpPr>
        <p:spPr bwMode="auto">
          <a:xfrm>
            <a:off x="5965825" y="3873500"/>
            <a:ext cx="361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/>
              <a:t>O</a:t>
            </a:r>
            <a:endParaRPr lang="ru-RU" altLang="ru-RU"/>
          </a:p>
        </p:txBody>
      </p:sp>
      <p:sp>
        <p:nvSpPr>
          <p:cNvPr id="64" name="Text Box 14"/>
          <p:cNvSpPr txBox="1">
            <a:spLocks noChangeArrowheads="1"/>
          </p:cNvSpPr>
          <p:nvPr/>
        </p:nvSpPr>
        <p:spPr bwMode="auto">
          <a:xfrm>
            <a:off x="7934325" y="3255963"/>
            <a:ext cx="323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/>
              <a:t>p</a:t>
            </a:r>
            <a:endParaRPr lang="ru-RU" altLang="ru-RU"/>
          </a:p>
        </p:txBody>
      </p:sp>
      <p:sp>
        <p:nvSpPr>
          <p:cNvPr id="65" name="Line 15"/>
          <p:cNvSpPr>
            <a:spLocks noChangeShapeType="1"/>
          </p:cNvSpPr>
          <p:nvPr/>
        </p:nvSpPr>
        <p:spPr bwMode="auto">
          <a:xfrm flipH="1">
            <a:off x="7339013" y="2738438"/>
            <a:ext cx="0" cy="11938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6" name="Oval 17"/>
          <p:cNvSpPr>
            <a:spLocks noChangeArrowheads="1"/>
          </p:cNvSpPr>
          <p:nvPr/>
        </p:nvSpPr>
        <p:spPr bwMode="auto">
          <a:xfrm>
            <a:off x="7739063" y="3390900"/>
            <a:ext cx="144462" cy="144463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67" name="Text Box 20"/>
          <p:cNvSpPr txBox="1">
            <a:spLocks noChangeArrowheads="1"/>
          </p:cNvSpPr>
          <p:nvPr/>
        </p:nvSpPr>
        <p:spPr bwMode="auto">
          <a:xfrm>
            <a:off x="7292975" y="2297113"/>
            <a:ext cx="387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/>
              <a:t>p’</a:t>
            </a:r>
            <a:endParaRPr lang="ru-RU" altLang="ru-RU"/>
          </a:p>
        </p:txBody>
      </p:sp>
      <p:sp>
        <p:nvSpPr>
          <p:cNvPr id="68" name="Line 21"/>
          <p:cNvSpPr>
            <a:spLocks noChangeShapeType="1"/>
          </p:cNvSpPr>
          <p:nvPr/>
        </p:nvSpPr>
        <p:spPr bwMode="auto">
          <a:xfrm rot="870257" flipV="1">
            <a:off x="6337300" y="3289300"/>
            <a:ext cx="1397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69" name="Line 22"/>
          <p:cNvSpPr>
            <a:spLocks noChangeShapeType="1"/>
          </p:cNvSpPr>
          <p:nvPr/>
        </p:nvSpPr>
        <p:spPr bwMode="auto">
          <a:xfrm rot="20580771" flipV="1">
            <a:off x="6096000" y="2908300"/>
            <a:ext cx="1397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70" name="Arc 23"/>
          <p:cNvSpPr>
            <a:spLocks/>
          </p:cNvSpPr>
          <p:nvPr/>
        </p:nvSpPr>
        <p:spPr bwMode="auto">
          <a:xfrm>
            <a:off x="6791325" y="3357563"/>
            <a:ext cx="207963" cy="349250"/>
          </a:xfrm>
          <a:custGeom>
            <a:avLst/>
            <a:gdLst>
              <a:gd name="T0" fmla="*/ 0 w 21600"/>
              <a:gd name="T1" fmla="*/ 0 h 22009"/>
              <a:gd name="T2" fmla="*/ 19273886 w 21600"/>
              <a:gd name="T3" fmla="*/ 87944495 h 22009"/>
              <a:gd name="T4" fmla="*/ 0 w 21600"/>
              <a:gd name="T5" fmla="*/ 86310245 h 2200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22009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36"/>
                  <a:pt x="21598" y="21872"/>
                  <a:pt x="21596" y="22009"/>
                </a:cubicBezTo>
              </a:path>
              <a:path w="21600" h="22009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1736"/>
                  <a:pt x="21598" y="21872"/>
                  <a:pt x="21596" y="22009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1" name="Text Box 24"/>
          <p:cNvSpPr txBox="1">
            <a:spLocks noChangeArrowheads="1"/>
          </p:cNvSpPr>
          <p:nvPr/>
        </p:nvSpPr>
        <p:spPr bwMode="auto">
          <a:xfrm>
            <a:off x="6854825" y="3157538"/>
            <a:ext cx="3159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l-GR" altLang="ru-RU" sz="2000">
                <a:sym typeface="Symbol" pitchFamily="18" charset="2"/>
              </a:rPr>
              <a:t></a:t>
            </a:r>
            <a:endParaRPr lang="ru-RU" altLang="ru-RU"/>
          </a:p>
        </p:txBody>
      </p: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6981825" y="3636963"/>
            <a:ext cx="3095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l-GR" altLang="ru-RU">
                <a:sym typeface="Symbol" pitchFamily="18" charset="2"/>
              </a:rPr>
              <a:t></a:t>
            </a:r>
            <a:endParaRPr lang="ru-RU" altLang="ru-RU"/>
          </a:p>
        </p:txBody>
      </p:sp>
      <p:sp>
        <p:nvSpPr>
          <p:cNvPr id="73" name="Text Box 27"/>
          <p:cNvSpPr txBox="1">
            <a:spLocks noChangeArrowheads="1"/>
          </p:cNvSpPr>
          <p:nvPr/>
        </p:nvSpPr>
        <p:spPr bwMode="auto">
          <a:xfrm>
            <a:off x="6683375" y="2932113"/>
            <a:ext cx="26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ru-RU" b="0"/>
              <a:t>r</a:t>
            </a:r>
            <a:endParaRPr lang="ru-RU" altLang="ru-RU"/>
          </a:p>
        </p:txBody>
      </p:sp>
      <p:sp>
        <p:nvSpPr>
          <p:cNvPr id="74" name="Arc 40"/>
          <p:cNvSpPr>
            <a:spLocks/>
          </p:cNvSpPr>
          <p:nvPr/>
        </p:nvSpPr>
        <p:spPr bwMode="auto">
          <a:xfrm>
            <a:off x="6253163" y="3814763"/>
            <a:ext cx="533400" cy="423862"/>
          </a:xfrm>
          <a:custGeom>
            <a:avLst/>
            <a:gdLst>
              <a:gd name="T0" fmla="*/ 340260579 w 20460"/>
              <a:gd name="T1" fmla="*/ 0 h 9889"/>
              <a:gd name="T2" fmla="*/ 362533183 w 20460"/>
              <a:gd name="T3" fmla="*/ 233396831 h 9889"/>
              <a:gd name="T4" fmla="*/ 0 w 20460"/>
              <a:gd name="T5" fmla="*/ 778697330 h 988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460" h="9889" fill="none" extrusionOk="0">
                <a:moveTo>
                  <a:pt x="19203" y="-1"/>
                </a:moveTo>
                <a:cubicBezTo>
                  <a:pt x="19695" y="955"/>
                  <a:pt x="20115" y="1946"/>
                  <a:pt x="20459" y="2964"/>
                </a:cubicBezTo>
              </a:path>
              <a:path w="20460" h="9889" stroke="0" extrusionOk="0">
                <a:moveTo>
                  <a:pt x="19203" y="-1"/>
                </a:moveTo>
                <a:cubicBezTo>
                  <a:pt x="19695" y="955"/>
                  <a:pt x="20115" y="1946"/>
                  <a:pt x="20459" y="2964"/>
                </a:cubicBezTo>
                <a:lnTo>
                  <a:pt x="0" y="9889"/>
                </a:lnTo>
                <a:lnTo>
                  <a:pt x="19203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  <p:sp>
        <p:nvSpPr>
          <p:cNvPr id="75" name="Arc 63"/>
          <p:cNvSpPr>
            <a:spLocks/>
          </p:cNvSpPr>
          <p:nvPr/>
        </p:nvSpPr>
        <p:spPr bwMode="auto">
          <a:xfrm>
            <a:off x="6329363" y="3757613"/>
            <a:ext cx="533400" cy="481012"/>
          </a:xfrm>
          <a:custGeom>
            <a:avLst/>
            <a:gdLst>
              <a:gd name="T0" fmla="*/ 326988773 w 20460"/>
              <a:gd name="T1" fmla="*/ 0 h 11225"/>
              <a:gd name="T2" fmla="*/ 362533183 w 20460"/>
              <a:gd name="T3" fmla="*/ 338358625 h 11225"/>
              <a:gd name="T4" fmla="*/ 0 w 20460"/>
              <a:gd name="T5" fmla="*/ 883273144 h 1122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460" h="11225" fill="none" extrusionOk="0">
                <a:moveTo>
                  <a:pt x="18454" y="-1"/>
                </a:moveTo>
                <a:cubicBezTo>
                  <a:pt x="19278" y="1355"/>
                  <a:pt x="19951" y="2797"/>
                  <a:pt x="20459" y="4300"/>
                </a:cubicBezTo>
              </a:path>
              <a:path w="20460" h="11225" stroke="0" extrusionOk="0">
                <a:moveTo>
                  <a:pt x="18454" y="-1"/>
                </a:moveTo>
                <a:cubicBezTo>
                  <a:pt x="19278" y="1355"/>
                  <a:pt x="19951" y="2797"/>
                  <a:pt x="20459" y="4300"/>
                </a:cubicBezTo>
                <a:lnTo>
                  <a:pt x="0" y="11225"/>
                </a:lnTo>
                <a:lnTo>
                  <a:pt x="18454" y="-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1"/>
          <p:cNvSpPr txBox="1"/>
          <p:nvPr/>
        </p:nvSpPr>
        <p:spPr>
          <a:xfrm>
            <a:off x="914400" y="-200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Перенос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Line 2"/>
          <p:cNvSpPr/>
          <p:nvPr/>
        </p:nvSpPr>
        <p:spPr>
          <a:xfrm flipV="1">
            <a:off x="5757840" y="1463724"/>
            <a:ext cx="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3" name="Line 3"/>
          <p:cNvSpPr/>
          <p:nvPr/>
        </p:nvSpPr>
        <p:spPr>
          <a:xfrm>
            <a:off x="5757840" y="3480444"/>
            <a:ext cx="23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4" name="CustomShape 4"/>
          <p:cNvSpPr/>
          <p:nvPr/>
        </p:nvSpPr>
        <p:spPr>
          <a:xfrm>
            <a:off x="5423040" y="1248444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445" name="CustomShape 5"/>
          <p:cNvSpPr/>
          <p:nvPr/>
        </p:nvSpPr>
        <p:spPr>
          <a:xfrm>
            <a:off x="7944120" y="3473964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446" name="Line 6"/>
          <p:cNvSpPr/>
          <p:nvPr/>
        </p:nvSpPr>
        <p:spPr>
          <a:xfrm>
            <a:off x="6910560" y="2184804"/>
            <a:ext cx="0" cy="129564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Line 7"/>
          <p:cNvSpPr/>
          <p:nvPr/>
        </p:nvSpPr>
        <p:spPr>
          <a:xfrm flipH="1">
            <a:off x="5757840" y="2184804"/>
            <a:ext cx="115272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8"/>
          <p:cNvSpPr/>
          <p:nvPr/>
        </p:nvSpPr>
        <p:spPr>
          <a:xfrm>
            <a:off x="6837480" y="2113524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9"/>
          <p:cNvSpPr/>
          <p:nvPr/>
        </p:nvSpPr>
        <p:spPr>
          <a:xfrm>
            <a:off x="6900840" y="3451644"/>
            <a:ext cx="33948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r>
              <a:rPr lang="en-US" sz="1600" b="1" strike="noStrike" spc="-1">
                <a:solidFill>
                  <a:srgbClr val="000000"/>
                </a:solidFill>
                <a:latin typeface="Arial"/>
              </a:rPr>
              <a:t>’</a:t>
            </a:r>
          </a:p>
        </p:txBody>
      </p:sp>
      <p:sp>
        <p:nvSpPr>
          <p:cNvPr id="450" name="CustomShape 10"/>
          <p:cNvSpPr/>
          <p:nvPr/>
        </p:nvSpPr>
        <p:spPr>
          <a:xfrm>
            <a:off x="5472000" y="1848564"/>
            <a:ext cx="33948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y</a:t>
            </a:r>
            <a:r>
              <a:rPr lang="en-US" sz="1600" b="1" strike="noStrike" spc="-1">
                <a:solidFill>
                  <a:srgbClr val="000000"/>
                </a:solidFill>
                <a:latin typeface="Arial"/>
              </a:rPr>
              <a:t>’</a:t>
            </a:r>
          </a:p>
        </p:txBody>
      </p:sp>
      <p:sp>
        <p:nvSpPr>
          <p:cNvPr id="451" name="CustomShape 11"/>
          <p:cNvSpPr/>
          <p:nvPr/>
        </p:nvSpPr>
        <p:spPr>
          <a:xfrm>
            <a:off x="5472000" y="3408804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452" name="CustomShape 12"/>
          <p:cNvSpPr/>
          <p:nvPr/>
        </p:nvSpPr>
        <p:spPr>
          <a:xfrm>
            <a:off x="6982920" y="1896084"/>
            <a:ext cx="384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</a:t>
            </a:r>
          </a:p>
        </p:txBody>
      </p:sp>
      <p:sp>
        <p:nvSpPr>
          <p:cNvPr id="453" name="Line 13"/>
          <p:cNvSpPr/>
          <p:nvPr/>
        </p:nvSpPr>
        <p:spPr>
          <a:xfrm>
            <a:off x="6402240" y="3074004"/>
            <a:ext cx="0" cy="38088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4" name="Line 14"/>
          <p:cNvSpPr/>
          <p:nvPr/>
        </p:nvSpPr>
        <p:spPr>
          <a:xfrm flipH="1">
            <a:off x="5757840" y="3074004"/>
            <a:ext cx="644400" cy="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5" name="CustomShape 15"/>
          <p:cNvSpPr/>
          <p:nvPr/>
        </p:nvSpPr>
        <p:spPr>
          <a:xfrm>
            <a:off x="6329520" y="3002364"/>
            <a:ext cx="144360" cy="14472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6" name="CustomShape 16"/>
          <p:cNvSpPr/>
          <p:nvPr/>
        </p:nvSpPr>
        <p:spPr>
          <a:xfrm>
            <a:off x="6125760" y="3464604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CustomShape 17"/>
          <p:cNvSpPr/>
          <p:nvPr/>
        </p:nvSpPr>
        <p:spPr>
          <a:xfrm>
            <a:off x="5446440" y="2978604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y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CustomShape 18"/>
          <p:cNvSpPr/>
          <p:nvPr/>
        </p:nvSpPr>
        <p:spPr>
          <a:xfrm>
            <a:off x="6475320" y="2784924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459" name="Line 19"/>
          <p:cNvSpPr/>
          <p:nvPr/>
        </p:nvSpPr>
        <p:spPr>
          <a:xfrm flipV="1">
            <a:off x="6451560" y="2252844"/>
            <a:ext cx="432000" cy="76212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0" name="CustomShape 20"/>
          <p:cNvSpPr/>
          <p:nvPr/>
        </p:nvSpPr>
        <p:spPr>
          <a:xfrm>
            <a:off x="5613480" y="2202444"/>
            <a:ext cx="88920" cy="863640"/>
          </a:xfrm>
          <a:custGeom>
            <a:avLst/>
            <a:gdLst/>
            <a:ahLst/>
            <a:cxnLst/>
            <a:rect l="0" t="0" r="r" b="b"/>
            <a:pathLst>
              <a:path w="249" h="2401">
                <a:moveTo>
                  <a:pt x="248" y="0"/>
                </a:moveTo>
                <a:cubicBezTo>
                  <a:pt x="186" y="0"/>
                  <a:pt x="124" y="100"/>
                  <a:pt x="124" y="200"/>
                </a:cubicBezTo>
                <a:lnTo>
                  <a:pt x="124" y="1000"/>
                </a:lnTo>
                <a:cubicBezTo>
                  <a:pt x="124" y="1100"/>
                  <a:pt x="62" y="1200"/>
                  <a:pt x="0" y="1200"/>
                </a:cubicBezTo>
                <a:cubicBezTo>
                  <a:pt x="62" y="1200"/>
                  <a:pt x="124" y="1300"/>
                  <a:pt x="124" y="1400"/>
                </a:cubicBezTo>
                <a:lnTo>
                  <a:pt x="124" y="2200"/>
                </a:lnTo>
                <a:cubicBezTo>
                  <a:pt x="124" y="2300"/>
                  <a:pt x="186" y="2400"/>
                  <a:pt x="248" y="24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1" name="CustomShape 21"/>
          <p:cNvSpPr/>
          <p:nvPr/>
        </p:nvSpPr>
        <p:spPr>
          <a:xfrm>
            <a:off x="5192640" y="2465964"/>
            <a:ext cx="4399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</a:rPr>
              <a:t>Dy</a:t>
            </a:r>
          </a:p>
        </p:txBody>
      </p:sp>
      <p:sp>
        <p:nvSpPr>
          <p:cNvPr id="462" name="CustomShape 22"/>
          <p:cNvSpPr/>
          <p:nvPr/>
        </p:nvSpPr>
        <p:spPr>
          <a:xfrm rot="16200000">
            <a:off x="6616800" y="3345444"/>
            <a:ext cx="63360" cy="533520"/>
          </a:xfrm>
          <a:custGeom>
            <a:avLst/>
            <a:gdLst/>
            <a:ahLst/>
            <a:cxnLst/>
            <a:rect l="0" t="0" r="r" b="b"/>
            <a:pathLst>
              <a:path w="178" h="1484">
                <a:moveTo>
                  <a:pt x="177" y="0"/>
                </a:moveTo>
                <a:cubicBezTo>
                  <a:pt x="132" y="0"/>
                  <a:pt x="88" y="61"/>
                  <a:pt x="88" y="123"/>
                </a:cubicBezTo>
                <a:lnTo>
                  <a:pt x="88" y="617"/>
                </a:lnTo>
                <a:cubicBezTo>
                  <a:pt x="88" y="679"/>
                  <a:pt x="44" y="741"/>
                  <a:pt x="0" y="741"/>
                </a:cubicBezTo>
                <a:cubicBezTo>
                  <a:pt x="44" y="741"/>
                  <a:pt x="88" y="803"/>
                  <a:pt x="88" y="865"/>
                </a:cubicBezTo>
                <a:lnTo>
                  <a:pt x="88" y="1359"/>
                </a:lnTo>
                <a:cubicBezTo>
                  <a:pt x="88" y="1421"/>
                  <a:pt x="132" y="1483"/>
                  <a:pt x="177" y="1483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3" name="CustomShape 23"/>
          <p:cNvSpPr/>
          <p:nvPr/>
        </p:nvSpPr>
        <p:spPr>
          <a:xfrm>
            <a:off x="2068560" y="2260440"/>
            <a:ext cx="1690560" cy="978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x’ = x + Dx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 y’ = y + Dy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              </a:t>
            </a:r>
          </a:p>
        </p:txBody>
      </p:sp>
      <p:sp>
        <p:nvSpPr>
          <p:cNvPr id="464" name="CustomShape 24"/>
          <p:cNvSpPr/>
          <p:nvPr/>
        </p:nvSpPr>
        <p:spPr>
          <a:xfrm>
            <a:off x="2126694" y="4371480"/>
            <a:ext cx="165888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T = [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Dx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Dy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]</a:t>
            </a:r>
          </a:p>
        </p:txBody>
      </p:sp>
      <p:sp>
        <p:nvSpPr>
          <p:cNvPr id="465" name="CustomShape 25"/>
          <p:cNvSpPr/>
          <p:nvPr/>
        </p:nvSpPr>
        <p:spPr>
          <a:xfrm>
            <a:off x="2126694" y="4770360"/>
            <a:ext cx="1323720" cy="39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P’ = P + T</a:t>
            </a:r>
          </a:p>
        </p:txBody>
      </p:sp>
      <p:sp>
        <p:nvSpPr>
          <p:cNvPr id="466" name="CustomShape 26"/>
          <p:cNvSpPr/>
          <p:nvPr/>
        </p:nvSpPr>
        <p:spPr>
          <a:xfrm>
            <a:off x="6462720" y="3761244"/>
            <a:ext cx="4399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>
                <a:solidFill>
                  <a:srgbClr val="000000"/>
                </a:solidFill>
                <a:latin typeface="Arial"/>
              </a:rPr>
              <a:t>Dx</a:t>
            </a:r>
          </a:p>
        </p:txBody>
      </p:sp>
      <p:sp>
        <p:nvSpPr>
          <p:cNvPr id="29" name="CustomShape 23"/>
          <p:cNvSpPr/>
          <p:nvPr/>
        </p:nvSpPr>
        <p:spPr>
          <a:xfrm>
            <a:off x="1385228" y="5788022"/>
            <a:ext cx="6347984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P’ = PM = [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 y ]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=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[ 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a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x+c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 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b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x+d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*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y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 ] = [ x’ y’ ]</a:t>
            </a:r>
          </a:p>
        </p:txBody>
      </p:sp>
      <p:grpSp>
        <p:nvGrpSpPr>
          <p:cNvPr id="30" name="Group 24"/>
          <p:cNvGrpSpPr/>
          <p:nvPr/>
        </p:nvGrpSpPr>
        <p:grpSpPr>
          <a:xfrm>
            <a:off x="3251828" y="5670302"/>
            <a:ext cx="584280" cy="642600"/>
            <a:chOff x="4267080" y="5038560"/>
            <a:chExt cx="584280" cy="642600"/>
          </a:xfrm>
        </p:grpSpPr>
        <p:sp>
          <p:nvSpPr>
            <p:cNvPr id="31" name="CustomShape 25"/>
            <p:cNvSpPr/>
            <p:nvPr/>
          </p:nvSpPr>
          <p:spPr>
            <a:xfrm>
              <a:off x="4267080" y="5038560"/>
              <a:ext cx="584280" cy="64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a  b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c  d</a:t>
              </a:r>
            </a:p>
          </p:txBody>
        </p:sp>
        <p:grpSp>
          <p:nvGrpSpPr>
            <p:cNvPr id="32" name="Group 26"/>
            <p:cNvGrpSpPr/>
            <p:nvPr/>
          </p:nvGrpSpPr>
          <p:grpSpPr>
            <a:xfrm>
              <a:off x="4738680" y="5101920"/>
              <a:ext cx="69840" cy="558360"/>
              <a:chOff x="4738680" y="5101920"/>
              <a:chExt cx="69840" cy="558360"/>
            </a:xfrm>
          </p:grpSpPr>
          <p:sp>
            <p:nvSpPr>
              <p:cNvPr id="37" name="Line 27"/>
              <p:cNvSpPr/>
              <p:nvPr/>
            </p:nvSpPr>
            <p:spPr>
              <a:xfrm>
                <a:off x="4808520" y="510192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8" name="Line 28"/>
              <p:cNvSpPr/>
              <p:nvPr/>
            </p:nvSpPr>
            <p:spPr>
              <a:xfrm flipH="1">
                <a:off x="4738680" y="510192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9" name="Line 29"/>
              <p:cNvSpPr/>
              <p:nvPr/>
            </p:nvSpPr>
            <p:spPr>
              <a:xfrm>
                <a:off x="4738680" y="5660280"/>
                <a:ext cx="6984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3" name="Group 30"/>
            <p:cNvGrpSpPr/>
            <p:nvPr/>
          </p:nvGrpSpPr>
          <p:grpSpPr>
            <a:xfrm>
              <a:off x="4292640" y="5101920"/>
              <a:ext cx="71280" cy="558360"/>
              <a:chOff x="4292640" y="5101920"/>
              <a:chExt cx="71280" cy="558360"/>
            </a:xfrm>
          </p:grpSpPr>
          <p:sp>
            <p:nvSpPr>
              <p:cNvPr id="34" name="Line 31"/>
              <p:cNvSpPr/>
              <p:nvPr/>
            </p:nvSpPr>
            <p:spPr>
              <a:xfrm>
                <a:off x="4292640" y="5101920"/>
                <a:ext cx="0" cy="5583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5" name="Line 32"/>
              <p:cNvSpPr/>
              <p:nvPr/>
            </p:nvSpPr>
            <p:spPr>
              <a:xfrm>
                <a:off x="4292640" y="510192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6" name="Line 33"/>
              <p:cNvSpPr/>
              <p:nvPr/>
            </p:nvSpPr>
            <p:spPr>
              <a:xfrm flipH="1">
                <a:off x="4292640" y="5660280"/>
                <a:ext cx="71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TextShape 1"/>
          <p:cNvSpPr txBox="1"/>
          <p:nvPr/>
        </p:nvSpPr>
        <p:spPr>
          <a:xfrm>
            <a:off x="914400" y="-2289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Однородные координаты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CustomShape 2"/>
          <p:cNvSpPr/>
          <p:nvPr/>
        </p:nvSpPr>
        <p:spPr>
          <a:xfrm>
            <a:off x="1331640" y="1340768"/>
            <a:ext cx="3494160" cy="231050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pc="-1" dirty="0">
                <a:solidFill>
                  <a:srgbClr val="000000"/>
                </a:solidFill>
              </a:rPr>
              <a:t>P = [</a:t>
            </a:r>
            <a:r>
              <a:rPr lang="ru-RU" sz="1600" b="1" spc="-1" dirty="0">
                <a:solidFill>
                  <a:srgbClr val="000000"/>
                </a:solidFill>
              </a:rPr>
              <a:t> </a:t>
            </a:r>
            <a:r>
              <a:rPr lang="en-US" sz="1600" b="1" spc="-1" dirty="0">
                <a:solidFill>
                  <a:srgbClr val="000000"/>
                </a:solidFill>
              </a:rPr>
              <a:t>X  Y  W ]    W ≠0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</a:rPr>
              <a:t>P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</a:rPr>
              <a:t>= [</a:t>
            </a:r>
            <a:r>
              <a:rPr lang="ru-RU" sz="16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</a:rPr>
              <a:t>W*x  W*y  W ]    W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≠</a:t>
            </a: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  <a:ea typeface="Arial"/>
              </a:rPr>
              <a:t>0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</a:rPr>
              <a:t>x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</a:rPr>
              <a:t>= X / W   y = Y / W   </a:t>
            </a:r>
            <a:endParaRPr lang="en-US" sz="1600" b="1" strike="noStrike" spc="-1" dirty="0" smtClean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</a:rPr>
              <a:t>W </a:t>
            </a:r>
            <a:r>
              <a:rPr lang="en-US" sz="1600" b="1" strike="noStrike" spc="-1" dirty="0">
                <a:solidFill>
                  <a:srgbClr val="000000"/>
                </a:solidFill>
                <a:latin typeface="Arial"/>
              </a:rPr>
              <a:t>= 1     x = X /1   y = Y / </a:t>
            </a: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</a:rPr>
              <a:t>1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600" b="1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1" strike="noStrike" spc="-1" dirty="0" smtClean="0">
                <a:solidFill>
                  <a:srgbClr val="000000"/>
                </a:solidFill>
                <a:latin typeface="Arial"/>
              </a:rPr>
              <a:t> </a:t>
            </a:r>
            <a:endParaRPr lang="en-US" sz="1600" b="1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3739815"/>
            <a:ext cx="2903341" cy="257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292080" y="3734827"/>
            <a:ext cx="3513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860922" y="1484784"/>
            <a:ext cx="16634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 </a:t>
            </a:r>
            <a:r>
              <a:rPr lang="en-US" dirty="0"/>
              <a:t>= (</a:t>
            </a:r>
            <a:r>
              <a:rPr lang="en-US" dirty="0" smtClean="0"/>
              <a:t>2,3)</a:t>
            </a:r>
            <a:endParaRPr lang="en-US" dirty="0"/>
          </a:p>
          <a:p>
            <a:r>
              <a:rPr lang="en-US" dirty="0" smtClean="0"/>
              <a:t>P1 = (2,3,1)</a:t>
            </a:r>
          </a:p>
          <a:p>
            <a:r>
              <a:rPr lang="en-US" dirty="0" smtClean="0"/>
              <a:t>P2 = (4,6,2)</a:t>
            </a:r>
            <a:endParaRPr lang="en-US" dirty="0"/>
          </a:p>
          <a:p>
            <a:r>
              <a:rPr lang="en-US" dirty="0" smtClean="0"/>
              <a:t>P3 </a:t>
            </a:r>
            <a:r>
              <a:rPr lang="en-US" dirty="0"/>
              <a:t>= </a:t>
            </a:r>
            <a:r>
              <a:rPr lang="en-US" dirty="0" smtClean="0"/>
              <a:t>(8,12,4)</a:t>
            </a:r>
            <a:endParaRPr lang="en-US" dirty="0"/>
          </a:p>
          <a:p>
            <a:r>
              <a:rPr lang="en-US" dirty="0" smtClean="0"/>
              <a:t>       …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115616" y="4437112"/>
            <a:ext cx="345638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Однородные координаты</a:t>
            </a:r>
            <a:r>
              <a:rPr lang="ru-RU" sz="1400" dirty="0"/>
              <a:t> — концепция в компьютерной графике, которая позволяет представлять точки, векторы и преобразования в более удобной и обобщённой форме.</a:t>
            </a:r>
            <a:r>
              <a:rPr lang="ru-RU" dirty="0"/>
              <a:t> </a:t>
            </a: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1054080" y="1523880"/>
            <a:ext cx="7785000" cy="9169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P’ = PM = [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 y 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1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]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=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[ 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ax+dy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+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g*1) 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bx+ey+h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*1)(</a:t>
            </a:r>
            <a:r>
              <a:rPr lang="en-US" sz="1800" b="1" strike="noStrike" spc="-1" dirty="0" err="1">
                <a:solidFill>
                  <a:srgbClr val="000000"/>
                </a:solidFill>
                <a:latin typeface="Arial"/>
              </a:rPr>
              <a:t>cx+fy+i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*1 ]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0" name="Group 2"/>
          <p:cNvGrpSpPr/>
          <p:nvPr/>
        </p:nvGrpSpPr>
        <p:grpSpPr>
          <a:xfrm>
            <a:off x="3044880" y="1246320"/>
            <a:ext cx="1294920" cy="1045080"/>
            <a:chOff x="3044880" y="1246320"/>
            <a:chExt cx="1294920" cy="1045080"/>
          </a:xfrm>
        </p:grpSpPr>
        <p:sp>
          <p:nvSpPr>
            <p:cNvPr id="471" name="CustomShape 3"/>
            <p:cNvSpPr/>
            <p:nvPr/>
          </p:nvSpPr>
          <p:spPr>
            <a:xfrm>
              <a:off x="3044880" y="1248840"/>
              <a:ext cx="1294920" cy="91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a  b</a:t>
              </a: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c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d  e</a:t>
              </a: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f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  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g</a:t>
              </a: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h</a:t>
              </a:r>
              <a:r>
                <a:rPr lang="ru-RU" sz="18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i</a:t>
              </a:r>
            </a:p>
          </p:txBody>
        </p:sp>
        <p:grpSp>
          <p:nvGrpSpPr>
            <p:cNvPr id="472" name="Group 4"/>
            <p:cNvGrpSpPr/>
            <p:nvPr/>
          </p:nvGrpSpPr>
          <p:grpSpPr>
            <a:xfrm>
              <a:off x="4091040" y="1246320"/>
              <a:ext cx="152640" cy="1045080"/>
              <a:chOff x="4091040" y="1246320"/>
              <a:chExt cx="152640" cy="1045080"/>
            </a:xfrm>
          </p:grpSpPr>
          <p:sp>
            <p:nvSpPr>
              <p:cNvPr id="473" name="Line 5"/>
              <p:cNvSpPr/>
              <p:nvPr/>
            </p:nvSpPr>
            <p:spPr>
              <a:xfrm>
                <a:off x="4243320" y="1246320"/>
                <a:ext cx="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74" name="Line 6"/>
              <p:cNvSpPr/>
              <p:nvPr/>
            </p:nvSpPr>
            <p:spPr>
              <a:xfrm flipH="1">
                <a:off x="4091040" y="1246320"/>
                <a:ext cx="152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75" name="Line 7"/>
              <p:cNvSpPr/>
              <p:nvPr/>
            </p:nvSpPr>
            <p:spPr>
              <a:xfrm>
                <a:off x="4091400" y="2291400"/>
                <a:ext cx="152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76" name="Group 8"/>
            <p:cNvGrpSpPr/>
            <p:nvPr/>
          </p:nvGrpSpPr>
          <p:grpSpPr>
            <a:xfrm>
              <a:off x="3099600" y="1246320"/>
              <a:ext cx="159120" cy="1045080"/>
              <a:chOff x="3099600" y="1246320"/>
              <a:chExt cx="159120" cy="1045080"/>
            </a:xfrm>
          </p:grpSpPr>
          <p:sp>
            <p:nvSpPr>
              <p:cNvPr id="477" name="Line 9"/>
              <p:cNvSpPr/>
              <p:nvPr/>
            </p:nvSpPr>
            <p:spPr>
              <a:xfrm>
                <a:off x="3099600" y="1246320"/>
                <a:ext cx="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78" name="Line 10"/>
              <p:cNvSpPr/>
              <p:nvPr/>
            </p:nvSpPr>
            <p:spPr>
              <a:xfrm>
                <a:off x="3099600" y="1246320"/>
                <a:ext cx="1591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79" name="Line 11"/>
              <p:cNvSpPr/>
              <p:nvPr/>
            </p:nvSpPr>
            <p:spPr>
              <a:xfrm flipH="1">
                <a:off x="3099600" y="2291400"/>
                <a:ext cx="1591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80" name="CustomShape 12"/>
          <p:cNvSpPr/>
          <p:nvPr/>
        </p:nvSpPr>
        <p:spPr>
          <a:xfrm>
            <a:off x="1070382" y="2708920"/>
            <a:ext cx="8182137" cy="203350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P’ = PM = [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 y 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1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]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       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=</a:t>
            </a:r>
            <a:r>
              <a:rPr lang="ru-RU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[ (1x+0y</a:t>
            </a:r>
            <a:r>
              <a:rPr lang="ru-RU" sz="1800" b="1" strike="noStrike" spc="-1" dirty="0" smtClean="0">
                <a:solidFill>
                  <a:srgbClr val="000000"/>
                </a:solidFill>
                <a:latin typeface="Arial"/>
              </a:rPr>
              <a:t>+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dx*1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 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0x+1y+dy*1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)(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0x+0y+1*1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] 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= [(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x+dx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)(</a:t>
            </a:r>
            <a:r>
              <a:rPr lang="en-US" sz="1800" b="1" strike="noStrike" spc="-1" dirty="0" err="1" smtClean="0">
                <a:solidFill>
                  <a:srgbClr val="000000"/>
                </a:solidFill>
                <a:latin typeface="Arial"/>
              </a:rPr>
              <a:t>y+dy</a:t>
            </a: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) 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1] = [x’ y’]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1" name="Group 13"/>
          <p:cNvGrpSpPr/>
          <p:nvPr/>
        </p:nvGrpSpPr>
        <p:grpSpPr>
          <a:xfrm>
            <a:off x="3044880" y="2440800"/>
            <a:ext cx="1294920" cy="1045080"/>
            <a:chOff x="3044880" y="3570120"/>
            <a:chExt cx="1294920" cy="1045080"/>
          </a:xfrm>
        </p:grpSpPr>
        <p:sp>
          <p:nvSpPr>
            <p:cNvPr id="482" name="CustomShape 14"/>
            <p:cNvSpPr/>
            <p:nvPr/>
          </p:nvSpPr>
          <p:spPr>
            <a:xfrm>
              <a:off x="3044880" y="3572640"/>
              <a:ext cx="1294920" cy="9255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rial"/>
                </a:rPr>
                <a:t>   1 </a:t>
              </a:r>
              <a:r>
                <a:rPr lang="en-US" sz="1800" b="1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 dirty="0">
                  <a:solidFill>
                    <a:srgbClr val="000000"/>
                  </a:solidFill>
                  <a:latin typeface="Arial"/>
                </a:rPr>
                <a:t>0</a:t>
              </a:r>
              <a:r>
                <a:rPr lang="ru-RU" sz="1800" b="1" strike="noStrike" spc="-1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1800" b="1" strike="noStrike" spc="-1" dirty="0" smtClean="0">
                  <a:solidFill>
                    <a:srgbClr val="000000"/>
                  </a:solidFill>
                  <a:latin typeface="Arial"/>
                </a:rPr>
                <a:t>  0</a:t>
              </a:r>
              <a:endParaRPr lang="en-US" sz="1800" b="1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 dirty="0">
                  <a:solidFill>
                    <a:srgbClr val="000000"/>
                  </a:solidFill>
                  <a:latin typeface="Arial"/>
                </a:rPr>
                <a:t>   </a:t>
              </a:r>
              <a:r>
                <a:rPr lang="en-US" sz="1800" b="1" strike="noStrike" spc="-1" dirty="0" smtClean="0">
                  <a:solidFill>
                    <a:srgbClr val="000000"/>
                  </a:solidFill>
                  <a:latin typeface="Arial"/>
                </a:rPr>
                <a:t>0   </a:t>
              </a:r>
              <a:r>
                <a:rPr lang="en-US" sz="1800" b="1" strike="noStrike" spc="-1" dirty="0">
                  <a:solidFill>
                    <a:srgbClr val="000000"/>
                  </a:solidFill>
                  <a:latin typeface="Arial"/>
                </a:rPr>
                <a:t>1</a:t>
              </a:r>
              <a:r>
                <a:rPr lang="ru-RU" sz="18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 dirty="0" smtClean="0">
                  <a:solidFill>
                    <a:srgbClr val="000000"/>
                  </a:solidFill>
                  <a:latin typeface="Arial"/>
                </a:rPr>
                <a:t> 0</a:t>
              </a:r>
              <a:endParaRPr lang="en-US" sz="1800" b="1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ru-RU" sz="1800" b="1" strike="noStrike" spc="-1" dirty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1800" b="1" strike="noStrike" spc="-1" dirty="0" smtClean="0">
                  <a:solidFill>
                    <a:srgbClr val="000000"/>
                  </a:solidFill>
                  <a:latin typeface="Arial"/>
                </a:rPr>
                <a:t>dx</a:t>
              </a:r>
              <a:r>
                <a:rPr lang="ru-RU" sz="1800" b="1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 dirty="0" err="1" smtClean="0">
                  <a:solidFill>
                    <a:srgbClr val="000000"/>
                  </a:solidFill>
                  <a:latin typeface="Arial"/>
                </a:rPr>
                <a:t>dy</a:t>
              </a:r>
              <a:r>
                <a:rPr lang="ru-RU" sz="1800" b="1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1800" b="1" strike="noStrike" spc="-1" dirty="0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grpSp>
          <p:nvGrpSpPr>
            <p:cNvPr id="483" name="Group 15"/>
            <p:cNvGrpSpPr/>
            <p:nvPr/>
          </p:nvGrpSpPr>
          <p:grpSpPr>
            <a:xfrm>
              <a:off x="4091040" y="3570120"/>
              <a:ext cx="152640" cy="1045080"/>
              <a:chOff x="4091040" y="3570120"/>
              <a:chExt cx="152640" cy="1045080"/>
            </a:xfrm>
          </p:grpSpPr>
          <p:sp>
            <p:nvSpPr>
              <p:cNvPr id="484" name="Line 16"/>
              <p:cNvSpPr/>
              <p:nvPr/>
            </p:nvSpPr>
            <p:spPr>
              <a:xfrm>
                <a:off x="4243320" y="3570120"/>
                <a:ext cx="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5" name="Line 17"/>
              <p:cNvSpPr/>
              <p:nvPr/>
            </p:nvSpPr>
            <p:spPr>
              <a:xfrm flipH="1">
                <a:off x="4091040" y="3570120"/>
                <a:ext cx="152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6" name="Line 18"/>
              <p:cNvSpPr/>
              <p:nvPr/>
            </p:nvSpPr>
            <p:spPr>
              <a:xfrm>
                <a:off x="4091400" y="4615200"/>
                <a:ext cx="152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87" name="Group 19"/>
            <p:cNvGrpSpPr/>
            <p:nvPr/>
          </p:nvGrpSpPr>
          <p:grpSpPr>
            <a:xfrm>
              <a:off x="3099600" y="3570120"/>
              <a:ext cx="159120" cy="1045080"/>
              <a:chOff x="3099600" y="3570120"/>
              <a:chExt cx="159120" cy="1045080"/>
            </a:xfrm>
          </p:grpSpPr>
          <p:sp>
            <p:nvSpPr>
              <p:cNvPr id="488" name="Line 20"/>
              <p:cNvSpPr/>
              <p:nvPr/>
            </p:nvSpPr>
            <p:spPr>
              <a:xfrm>
                <a:off x="3099600" y="3570120"/>
                <a:ext cx="0" cy="104508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89" name="Line 21"/>
              <p:cNvSpPr/>
              <p:nvPr/>
            </p:nvSpPr>
            <p:spPr>
              <a:xfrm>
                <a:off x="3099600" y="3570120"/>
                <a:ext cx="1591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0" name="Line 22"/>
              <p:cNvSpPr/>
              <p:nvPr/>
            </p:nvSpPr>
            <p:spPr>
              <a:xfrm flipH="1">
                <a:off x="3099600" y="4615200"/>
                <a:ext cx="15912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91" name="CustomShape 23"/>
          <p:cNvSpPr/>
          <p:nvPr/>
        </p:nvSpPr>
        <p:spPr>
          <a:xfrm>
            <a:off x="5071835" y="3645024"/>
            <a:ext cx="1893960" cy="1008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0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x’ = x +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Dx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 y’ = y + </a:t>
            </a:r>
            <a:r>
              <a:rPr lang="en-US" sz="2000" b="1" strike="noStrike" spc="-1" dirty="0" err="1">
                <a:solidFill>
                  <a:srgbClr val="000000"/>
                </a:solidFill>
                <a:latin typeface="Arial"/>
              </a:rPr>
              <a:t>Dy</a:t>
            </a: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                 </a:t>
            </a:r>
          </a:p>
        </p:txBody>
      </p:sp>
      <p:grpSp>
        <p:nvGrpSpPr>
          <p:cNvPr id="25" name="Group 1"/>
          <p:cNvGrpSpPr/>
          <p:nvPr/>
        </p:nvGrpSpPr>
        <p:grpSpPr>
          <a:xfrm>
            <a:off x="1907704" y="5085184"/>
            <a:ext cx="1599840" cy="1037160"/>
            <a:chOff x="2871720" y="1760400"/>
            <a:chExt cx="1599840" cy="1037160"/>
          </a:xfrm>
        </p:grpSpPr>
        <p:sp>
          <p:nvSpPr>
            <p:cNvPr id="26" name="CustomShape 2"/>
            <p:cNvSpPr/>
            <p:nvPr/>
          </p:nvSpPr>
          <p:spPr>
            <a:xfrm>
              <a:off x="2871720" y="1762920"/>
              <a:ext cx="159984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1    0</a:t>
              </a: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</a:rPr>
                <a:t>  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0    1    0 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err="1">
                  <a:solidFill>
                    <a:srgbClr val="000000"/>
                  </a:solidFill>
                  <a:latin typeface="Arial"/>
                </a:rPr>
                <a:t>Dx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err="1">
                  <a:solidFill>
                    <a:srgbClr val="000000"/>
                  </a:solidFill>
                  <a:latin typeface="Arial"/>
                </a:rPr>
                <a:t>Dy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1</a:t>
              </a:r>
            </a:p>
          </p:txBody>
        </p:sp>
        <p:grpSp>
          <p:nvGrpSpPr>
            <p:cNvPr id="27" name="Group 3"/>
            <p:cNvGrpSpPr/>
            <p:nvPr/>
          </p:nvGrpSpPr>
          <p:grpSpPr>
            <a:xfrm>
              <a:off x="4163760" y="1760400"/>
              <a:ext cx="188640" cy="1037160"/>
              <a:chOff x="4163760" y="1760400"/>
              <a:chExt cx="188640" cy="1037160"/>
            </a:xfrm>
          </p:grpSpPr>
          <p:sp>
            <p:nvSpPr>
              <p:cNvPr id="32" name="Line 4"/>
              <p:cNvSpPr/>
              <p:nvPr/>
            </p:nvSpPr>
            <p:spPr>
              <a:xfrm>
                <a:off x="435204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3" name="Line 5"/>
              <p:cNvSpPr/>
              <p:nvPr/>
            </p:nvSpPr>
            <p:spPr>
              <a:xfrm flipH="1">
                <a:off x="4163760" y="176040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4" name="Line 6"/>
              <p:cNvSpPr/>
              <p:nvPr/>
            </p:nvSpPr>
            <p:spPr>
              <a:xfrm>
                <a:off x="4164120" y="279756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28" name="Group 7"/>
            <p:cNvGrpSpPr/>
            <p:nvPr/>
          </p:nvGrpSpPr>
          <p:grpSpPr>
            <a:xfrm>
              <a:off x="2939400" y="1760400"/>
              <a:ext cx="196560" cy="1037160"/>
              <a:chOff x="2939400" y="1760400"/>
              <a:chExt cx="196560" cy="1037160"/>
            </a:xfrm>
          </p:grpSpPr>
          <p:sp>
            <p:nvSpPr>
              <p:cNvPr id="29" name="Line 8"/>
              <p:cNvSpPr/>
              <p:nvPr/>
            </p:nvSpPr>
            <p:spPr>
              <a:xfrm>
                <a:off x="293940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0" name="Line 9"/>
              <p:cNvSpPr/>
              <p:nvPr/>
            </p:nvSpPr>
            <p:spPr>
              <a:xfrm>
                <a:off x="2939400" y="176040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1" name="Line 10"/>
              <p:cNvSpPr/>
              <p:nvPr/>
            </p:nvSpPr>
            <p:spPr>
              <a:xfrm flipH="1">
                <a:off x="2939400" y="279756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grpSp>
        <p:nvGrpSpPr>
          <p:cNvPr id="35" name="Group 1"/>
          <p:cNvGrpSpPr/>
          <p:nvPr/>
        </p:nvGrpSpPr>
        <p:grpSpPr>
          <a:xfrm>
            <a:off x="5575784" y="5026328"/>
            <a:ext cx="1599840" cy="1037160"/>
            <a:chOff x="2871720" y="1760400"/>
            <a:chExt cx="1599840" cy="1037160"/>
          </a:xfrm>
        </p:grpSpPr>
        <p:sp>
          <p:nvSpPr>
            <p:cNvPr id="36" name="CustomShape 2"/>
            <p:cNvSpPr/>
            <p:nvPr/>
          </p:nvSpPr>
          <p:spPr>
            <a:xfrm>
              <a:off x="2871720" y="1762920"/>
              <a:ext cx="159984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1 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 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0</a:t>
              </a: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</a:rPr>
                <a:t>   </a:t>
              </a:r>
              <a:r>
                <a:rPr lang="en-US" sz="2000" b="0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0</a:t>
              </a:r>
              <a:endParaRPr lang="en-US" sz="2000" b="1" strike="noStrike" spc="-1" dirty="0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0  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1 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 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0 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-</a:t>
              </a:r>
              <a:r>
                <a:rPr lang="en-US" sz="2000" b="1" strike="noStrike" spc="-1" dirty="0" err="1" smtClean="0">
                  <a:solidFill>
                    <a:srgbClr val="000000"/>
                  </a:solidFill>
                  <a:latin typeface="Arial"/>
                </a:rPr>
                <a:t>Dx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  -</a:t>
              </a:r>
              <a:r>
                <a:rPr lang="en-US" sz="2000" b="1" strike="noStrike" spc="-1" dirty="0" err="1" smtClean="0">
                  <a:solidFill>
                    <a:srgbClr val="000000"/>
                  </a:solidFill>
                  <a:latin typeface="Arial"/>
                </a:rPr>
                <a:t>Dy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1</a:t>
              </a:r>
            </a:p>
          </p:txBody>
        </p:sp>
        <p:grpSp>
          <p:nvGrpSpPr>
            <p:cNvPr id="37" name="Group 3"/>
            <p:cNvGrpSpPr/>
            <p:nvPr/>
          </p:nvGrpSpPr>
          <p:grpSpPr>
            <a:xfrm>
              <a:off x="4163760" y="1760400"/>
              <a:ext cx="188640" cy="1037160"/>
              <a:chOff x="4163760" y="1760400"/>
              <a:chExt cx="188640" cy="1037160"/>
            </a:xfrm>
          </p:grpSpPr>
          <p:sp>
            <p:nvSpPr>
              <p:cNvPr id="42" name="Line 4"/>
              <p:cNvSpPr/>
              <p:nvPr/>
            </p:nvSpPr>
            <p:spPr>
              <a:xfrm>
                <a:off x="435204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3" name="Line 5"/>
              <p:cNvSpPr/>
              <p:nvPr/>
            </p:nvSpPr>
            <p:spPr>
              <a:xfrm flipH="1">
                <a:off x="4163760" y="176040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4" name="Line 6"/>
              <p:cNvSpPr/>
              <p:nvPr/>
            </p:nvSpPr>
            <p:spPr>
              <a:xfrm>
                <a:off x="4164120" y="279756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38" name="Group 7"/>
            <p:cNvGrpSpPr/>
            <p:nvPr/>
          </p:nvGrpSpPr>
          <p:grpSpPr>
            <a:xfrm>
              <a:off x="2939400" y="1760400"/>
              <a:ext cx="196560" cy="1037160"/>
              <a:chOff x="2939400" y="1760400"/>
              <a:chExt cx="196560" cy="1037160"/>
            </a:xfrm>
          </p:grpSpPr>
          <p:sp>
            <p:nvSpPr>
              <p:cNvPr id="39" name="Line 8"/>
              <p:cNvSpPr/>
              <p:nvPr/>
            </p:nvSpPr>
            <p:spPr>
              <a:xfrm>
                <a:off x="293940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0" name="Line 9"/>
              <p:cNvSpPr/>
              <p:nvPr/>
            </p:nvSpPr>
            <p:spPr>
              <a:xfrm>
                <a:off x="2939400" y="176040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1" name="Line 10"/>
              <p:cNvSpPr/>
              <p:nvPr/>
            </p:nvSpPr>
            <p:spPr>
              <a:xfrm flipH="1">
                <a:off x="2939400" y="279756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45" name="CustomShape 11"/>
          <p:cNvSpPr/>
          <p:nvPr/>
        </p:nvSpPr>
        <p:spPr>
          <a:xfrm>
            <a:off x="1259632" y="5392624"/>
            <a:ext cx="55548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T =</a:t>
            </a:r>
          </a:p>
        </p:txBody>
      </p:sp>
      <p:sp>
        <p:nvSpPr>
          <p:cNvPr id="46" name="CustomShape 11"/>
          <p:cNvSpPr/>
          <p:nvPr/>
        </p:nvSpPr>
        <p:spPr>
          <a:xfrm>
            <a:off x="4668691" y="5343762"/>
            <a:ext cx="806288" cy="4022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T </a:t>
            </a:r>
            <a:r>
              <a:rPr lang="en-US" sz="2000" b="1" spc="-1" baseline="30000" dirty="0">
                <a:solidFill>
                  <a:srgbClr val="000000"/>
                </a:solidFill>
              </a:rPr>
              <a:t>-</a:t>
            </a:r>
            <a:r>
              <a:rPr lang="en-US" sz="2000" b="1" spc="-1" baseline="30000" dirty="0" smtClean="0">
                <a:solidFill>
                  <a:srgbClr val="000000"/>
                </a:solidFill>
              </a:rPr>
              <a:t>1  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Arial"/>
              </a:rPr>
              <a:t>=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roup 1"/>
          <p:cNvGrpSpPr/>
          <p:nvPr/>
        </p:nvGrpSpPr>
        <p:grpSpPr>
          <a:xfrm>
            <a:off x="2871720" y="1760400"/>
            <a:ext cx="1599840" cy="1037160"/>
            <a:chOff x="2871720" y="1760400"/>
            <a:chExt cx="1599840" cy="1037160"/>
          </a:xfrm>
        </p:grpSpPr>
        <p:sp>
          <p:nvSpPr>
            <p:cNvPr id="493" name="CustomShape 2"/>
            <p:cNvSpPr/>
            <p:nvPr/>
          </p:nvSpPr>
          <p:spPr>
            <a:xfrm>
              <a:off x="2871720" y="1762920"/>
              <a:ext cx="159984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625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1    0</a:t>
              </a:r>
              <a:r>
                <a:rPr lang="en-US" sz="2000" b="0" strike="noStrike" spc="-1" dirty="0">
                  <a:solidFill>
                    <a:srgbClr val="000000"/>
                  </a:solidFill>
                  <a:latin typeface="Arial"/>
                </a:rPr>
                <a:t>   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 0    1    0 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err="1">
                  <a:solidFill>
                    <a:srgbClr val="000000"/>
                  </a:solidFill>
                  <a:latin typeface="Arial"/>
                </a:rPr>
                <a:t>Dx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 dirty="0" err="1">
                  <a:solidFill>
                    <a:srgbClr val="000000"/>
                  </a:solidFill>
                  <a:latin typeface="Arial"/>
                </a:rPr>
                <a:t>Dy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Arial"/>
                </a:rPr>
                <a:t>  1</a:t>
              </a:r>
            </a:p>
          </p:txBody>
        </p:sp>
        <p:grpSp>
          <p:nvGrpSpPr>
            <p:cNvPr id="494" name="Group 3"/>
            <p:cNvGrpSpPr/>
            <p:nvPr/>
          </p:nvGrpSpPr>
          <p:grpSpPr>
            <a:xfrm>
              <a:off x="4163760" y="1760400"/>
              <a:ext cx="188640" cy="1037160"/>
              <a:chOff x="4163760" y="1760400"/>
              <a:chExt cx="188640" cy="1037160"/>
            </a:xfrm>
          </p:grpSpPr>
          <p:sp>
            <p:nvSpPr>
              <p:cNvPr id="495" name="Line 4"/>
              <p:cNvSpPr/>
              <p:nvPr/>
            </p:nvSpPr>
            <p:spPr>
              <a:xfrm>
                <a:off x="435204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6" name="Line 5"/>
              <p:cNvSpPr/>
              <p:nvPr/>
            </p:nvSpPr>
            <p:spPr>
              <a:xfrm flipH="1">
                <a:off x="4163760" y="176040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497" name="Line 6"/>
              <p:cNvSpPr/>
              <p:nvPr/>
            </p:nvSpPr>
            <p:spPr>
              <a:xfrm>
                <a:off x="4164120" y="2797560"/>
                <a:ext cx="188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498" name="Group 7"/>
            <p:cNvGrpSpPr/>
            <p:nvPr/>
          </p:nvGrpSpPr>
          <p:grpSpPr>
            <a:xfrm>
              <a:off x="2939400" y="1760400"/>
              <a:ext cx="196560" cy="1037160"/>
              <a:chOff x="2939400" y="1760400"/>
              <a:chExt cx="196560" cy="1037160"/>
            </a:xfrm>
          </p:grpSpPr>
          <p:sp>
            <p:nvSpPr>
              <p:cNvPr id="499" name="Line 8"/>
              <p:cNvSpPr/>
              <p:nvPr/>
            </p:nvSpPr>
            <p:spPr>
              <a:xfrm>
                <a:off x="2939400" y="1760400"/>
                <a:ext cx="0" cy="103716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0" name="Line 9"/>
              <p:cNvSpPr/>
              <p:nvPr/>
            </p:nvSpPr>
            <p:spPr>
              <a:xfrm>
                <a:off x="2939400" y="176040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1" name="Line 10"/>
              <p:cNvSpPr/>
              <p:nvPr/>
            </p:nvSpPr>
            <p:spPr>
              <a:xfrm flipH="1">
                <a:off x="2939400" y="2797560"/>
                <a:ext cx="1965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502" name="CustomShape 11"/>
          <p:cNvSpPr/>
          <p:nvPr/>
        </p:nvSpPr>
        <p:spPr>
          <a:xfrm>
            <a:off x="2272320" y="2055960"/>
            <a:ext cx="55548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Arial"/>
              </a:rPr>
              <a:t>T =</a:t>
            </a:r>
          </a:p>
        </p:txBody>
      </p:sp>
      <p:sp>
        <p:nvSpPr>
          <p:cNvPr id="503" name="TextShape 12"/>
          <p:cNvSpPr txBox="1"/>
          <p:nvPr/>
        </p:nvSpPr>
        <p:spPr>
          <a:xfrm>
            <a:off x="914400" y="202680"/>
            <a:ext cx="8229600" cy="739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4" name="Group 13"/>
          <p:cNvGrpSpPr/>
          <p:nvPr/>
        </p:nvGrpSpPr>
        <p:grpSpPr>
          <a:xfrm>
            <a:off x="2781360" y="3382920"/>
            <a:ext cx="2577240" cy="1137240"/>
            <a:chOff x="2781360" y="3382920"/>
            <a:chExt cx="2577240" cy="1137240"/>
          </a:xfrm>
        </p:grpSpPr>
        <p:sp>
          <p:nvSpPr>
            <p:cNvPr id="505" name="CustomShape 14"/>
            <p:cNvSpPr/>
            <p:nvPr/>
          </p:nvSpPr>
          <p:spPr>
            <a:xfrm>
              <a:off x="2781360" y="3385800"/>
              <a:ext cx="2577240" cy="100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0</a:t>
              </a:r>
              <a:r>
                <a:rPr lang="en-US" sz="1800" b="0" strike="noStrike" spc="-1">
                  <a:solidFill>
                    <a:srgbClr val="000000"/>
                  </a:solidFill>
                  <a:latin typeface="Arial"/>
                </a:rPr>
                <a:t> </a:t>
              </a:r>
              <a:endParaRPr lang="en-US" sz="18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- sin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cos </a:t>
              </a:r>
              <a:r>
                <a:rPr lang="el-GR" sz="20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Arial"/>
                </a:rPr>
                <a:t>     0       0       1</a:t>
              </a:r>
            </a:p>
          </p:txBody>
        </p:sp>
        <p:grpSp>
          <p:nvGrpSpPr>
            <p:cNvPr id="506" name="Group 15"/>
            <p:cNvGrpSpPr/>
            <p:nvPr/>
          </p:nvGrpSpPr>
          <p:grpSpPr>
            <a:xfrm>
              <a:off x="4569840" y="3382920"/>
              <a:ext cx="260640" cy="1137240"/>
              <a:chOff x="4569840" y="3382920"/>
              <a:chExt cx="260640" cy="1137240"/>
            </a:xfrm>
          </p:grpSpPr>
          <p:sp>
            <p:nvSpPr>
              <p:cNvPr id="507" name="Line 16"/>
              <p:cNvSpPr/>
              <p:nvPr/>
            </p:nvSpPr>
            <p:spPr>
              <a:xfrm>
                <a:off x="4830120" y="3382920"/>
                <a:ext cx="0" cy="11372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8" name="Line 17"/>
              <p:cNvSpPr/>
              <p:nvPr/>
            </p:nvSpPr>
            <p:spPr>
              <a:xfrm flipH="1">
                <a:off x="4569840" y="3382920"/>
                <a:ext cx="260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09" name="Line 18"/>
              <p:cNvSpPr/>
              <p:nvPr/>
            </p:nvSpPr>
            <p:spPr>
              <a:xfrm>
                <a:off x="4570200" y="4520160"/>
                <a:ext cx="2602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10" name="Group 19"/>
            <p:cNvGrpSpPr/>
            <p:nvPr/>
          </p:nvGrpSpPr>
          <p:grpSpPr>
            <a:xfrm>
              <a:off x="2875320" y="3382920"/>
              <a:ext cx="272160" cy="1137240"/>
              <a:chOff x="2875320" y="3382920"/>
              <a:chExt cx="272160" cy="1137240"/>
            </a:xfrm>
          </p:grpSpPr>
          <p:sp>
            <p:nvSpPr>
              <p:cNvPr id="511" name="Line 20"/>
              <p:cNvSpPr/>
              <p:nvPr/>
            </p:nvSpPr>
            <p:spPr>
              <a:xfrm>
                <a:off x="2875320" y="3382920"/>
                <a:ext cx="0" cy="11372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2" name="Line 21"/>
              <p:cNvSpPr/>
              <p:nvPr/>
            </p:nvSpPr>
            <p:spPr>
              <a:xfrm>
                <a:off x="2875320" y="3382920"/>
                <a:ext cx="272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3" name="Line 22"/>
              <p:cNvSpPr/>
              <p:nvPr/>
            </p:nvSpPr>
            <p:spPr>
              <a:xfrm flipH="1">
                <a:off x="2875320" y="4520160"/>
                <a:ext cx="27216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514" name="CustomShape 23"/>
          <p:cNvSpPr/>
          <p:nvPr/>
        </p:nvSpPr>
        <p:spPr>
          <a:xfrm>
            <a:off x="2283840" y="3670200"/>
            <a:ext cx="543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R =</a:t>
            </a:r>
          </a:p>
        </p:txBody>
      </p:sp>
      <p:grpSp>
        <p:nvGrpSpPr>
          <p:cNvPr id="515" name="Group 24"/>
          <p:cNvGrpSpPr/>
          <p:nvPr/>
        </p:nvGrpSpPr>
        <p:grpSpPr>
          <a:xfrm>
            <a:off x="2857680" y="5087880"/>
            <a:ext cx="1401120" cy="924840"/>
            <a:chOff x="2857680" y="5087880"/>
            <a:chExt cx="1401120" cy="924840"/>
          </a:xfrm>
        </p:grpSpPr>
        <p:sp>
          <p:nvSpPr>
            <p:cNvPr id="516" name="CustomShape 25"/>
            <p:cNvSpPr/>
            <p:nvPr/>
          </p:nvSpPr>
          <p:spPr>
            <a:xfrm>
              <a:off x="2857680" y="5090040"/>
              <a:ext cx="1401120" cy="916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2361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Sx   0 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Sy  0</a:t>
              </a:r>
            </a:p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0   0    1</a:t>
              </a:r>
            </a:p>
          </p:txBody>
        </p:sp>
        <p:grpSp>
          <p:nvGrpSpPr>
            <p:cNvPr id="517" name="Group 26"/>
            <p:cNvGrpSpPr/>
            <p:nvPr/>
          </p:nvGrpSpPr>
          <p:grpSpPr>
            <a:xfrm>
              <a:off x="3989880" y="5087880"/>
              <a:ext cx="164880" cy="924840"/>
              <a:chOff x="3989880" y="5087880"/>
              <a:chExt cx="164880" cy="924840"/>
            </a:xfrm>
          </p:grpSpPr>
          <p:sp>
            <p:nvSpPr>
              <p:cNvPr id="518" name="Line 27"/>
              <p:cNvSpPr/>
              <p:nvPr/>
            </p:nvSpPr>
            <p:spPr>
              <a:xfrm>
                <a:off x="4154760" y="5087880"/>
                <a:ext cx="0" cy="924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19" name="Line 28"/>
              <p:cNvSpPr/>
              <p:nvPr/>
            </p:nvSpPr>
            <p:spPr>
              <a:xfrm flipH="1">
                <a:off x="3989880" y="5087880"/>
                <a:ext cx="1648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0" name="Line 29"/>
              <p:cNvSpPr/>
              <p:nvPr/>
            </p:nvSpPr>
            <p:spPr>
              <a:xfrm>
                <a:off x="3989880" y="6012720"/>
                <a:ext cx="1648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521" name="Group 30"/>
            <p:cNvGrpSpPr/>
            <p:nvPr/>
          </p:nvGrpSpPr>
          <p:grpSpPr>
            <a:xfrm>
              <a:off x="2917080" y="5087880"/>
              <a:ext cx="172080" cy="924840"/>
              <a:chOff x="2917080" y="5087880"/>
              <a:chExt cx="172080" cy="924840"/>
            </a:xfrm>
          </p:grpSpPr>
          <p:sp>
            <p:nvSpPr>
              <p:cNvPr id="522" name="Line 31"/>
              <p:cNvSpPr/>
              <p:nvPr/>
            </p:nvSpPr>
            <p:spPr>
              <a:xfrm>
                <a:off x="2917080" y="5087880"/>
                <a:ext cx="0" cy="92484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3" name="Line 32"/>
              <p:cNvSpPr/>
              <p:nvPr/>
            </p:nvSpPr>
            <p:spPr>
              <a:xfrm>
                <a:off x="2917080" y="5087880"/>
                <a:ext cx="1720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524" name="Line 33"/>
              <p:cNvSpPr/>
              <p:nvPr/>
            </p:nvSpPr>
            <p:spPr>
              <a:xfrm flipH="1">
                <a:off x="2917080" y="6012720"/>
                <a:ext cx="172080" cy="0"/>
              </a:xfrm>
              <a:prstGeom prst="line">
                <a:avLst/>
              </a:prstGeom>
              <a:ln w="25560">
                <a:solidFill>
                  <a:srgbClr val="000000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</p:grpSp>
      <p:sp>
        <p:nvSpPr>
          <p:cNvPr id="525" name="CustomShape 34"/>
          <p:cNvSpPr/>
          <p:nvPr/>
        </p:nvSpPr>
        <p:spPr>
          <a:xfrm>
            <a:off x="2207520" y="5268960"/>
            <a:ext cx="5313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S =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Line 1"/>
          <p:cNvSpPr/>
          <p:nvPr/>
        </p:nvSpPr>
        <p:spPr>
          <a:xfrm>
            <a:off x="4813200" y="3022560"/>
            <a:ext cx="314964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Line 2"/>
          <p:cNvSpPr/>
          <p:nvPr/>
        </p:nvSpPr>
        <p:spPr>
          <a:xfrm flipV="1">
            <a:off x="5448240" y="1447560"/>
            <a:ext cx="0" cy="223524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8" name="CustomShape 3"/>
          <p:cNvSpPr/>
          <p:nvPr/>
        </p:nvSpPr>
        <p:spPr>
          <a:xfrm>
            <a:off x="1709640" y="1962000"/>
            <a:ext cx="2233440" cy="825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x’ = x + y*ctg </a:t>
            </a:r>
            <a:r>
              <a:rPr lang="ru-RU" sz="2400" b="1" strike="noStrike" spc="-1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y’ = y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CustomShape 4"/>
          <p:cNvSpPr/>
          <p:nvPr/>
        </p:nvSpPr>
        <p:spPr>
          <a:xfrm>
            <a:off x="1843200" y="3897360"/>
            <a:ext cx="1780920" cy="119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     0     0 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ctg </a:t>
            </a:r>
            <a:r>
              <a:rPr lang="ru-RU" sz="2400" b="1" strike="noStrike" spc="-1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1     0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0        0     1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CustomShape 5"/>
          <p:cNvSpPr/>
          <p:nvPr/>
        </p:nvSpPr>
        <p:spPr>
          <a:xfrm>
            <a:off x="1971720" y="3470400"/>
            <a:ext cx="152388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1" strike="noStrike" spc="-1">
                <a:solidFill>
                  <a:srgbClr val="000000"/>
                </a:solidFill>
                <a:latin typeface="Times New Roman"/>
              </a:rPr>
              <a:t>           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CustomShape 6"/>
          <p:cNvSpPr/>
          <p:nvPr/>
        </p:nvSpPr>
        <p:spPr>
          <a:xfrm>
            <a:off x="1971720" y="5099040"/>
            <a:ext cx="1498680" cy="8254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CustomShape 7"/>
          <p:cNvSpPr/>
          <p:nvPr/>
        </p:nvSpPr>
        <p:spPr>
          <a:xfrm>
            <a:off x="1068480" y="4300560"/>
            <a:ext cx="59976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S =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CustomShape 8"/>
          <p:cNvSpPr/>
          <p:nvPr/>
        </p:nvSpPr>
        <p:spPr>
          <a:xfrm>
            <a:off x="914400" y="-2095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Двумерные геометрические (аффинные)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Скос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CustomShape 9"/>
          <p:cNvSpPr/>
          <p:nvPr/>
        </p:nvSpPr>
        <p:spPr>
          <a:xfrm>
            <a:off x="7683840" y="31226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35" name="CustomShape 10"/>
          <p:cNvSpPr/>
          <p:nvPr/>
        </p:nvSpPr>
        <p:spPr>
          <a:xfrm>
            <a:off x="4946760" y="144936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536" name="CustomShape 11"/>
          <p:cNvSpPr/>
          <p:nvPr/>
        </p:nvSpPr>
        <p:spPr>
          <a:xfrm>
            <a:off x="5116320" y="30225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37" name="CustomShape 12"/>
          <p:cNvSpPr/>
          <p:nvPr/>
        </p:nvSpPr>
        <p:spPr>
          <a:xfrm>
            <a:off x="5956200" y="1854360"/>
            <a:ext cx="1320840" cy="1168200"/>
          </a:xfrm>
          <a:custGeom>
            <a:avLst/>
            <a:gdLst/>
            <a:ahLst/>
            <a:cxnLst/>
            <a:rect l="0" t="0" r="r" b="b"/>
            <a:pathLst>
              <a:path w="3670" h="3247">
                <a:moveTo>
                  <a:pt x="70" y="0"/>
                </a:moveTo>
                <a:lnTo>
                  <a:pt x="3669" y="0"/>
                </a:lnTo>
                <a:lnTo>
                  <a:pt x="3599" y="3246"/>
                </a:lnTo>
                <a:lnTo>
                  <a:pt x="0" y="3246"/>
                </a:lnTo>
                <a:lnTo>
                  <a:pt x="70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Line 13"/>
          <p:cNvSpPr/>
          <p:nvPr/>
        </p:nvSpPr>
        <p:spPr>
          <a:xfrm>
            <a:off x="4800600" y="5765760"/>
            <a:ext cx="314964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Line 14"/>
          <p:cNvSpPr/>
          <p:nvPr/>
        </p:nvSpPr>
        <p:spPr>
          <a:xfrm flipV="1">
            <a:off x="5435640" y="4190760"/>
            <a:ext cx="0" cy="223524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0" name="CustomShape 15"/>
          <p:cNvSpPr/>
          <p:nvPr/>
        </p:nvSpPr>
        <p:spPr>
          <a:xfrm>
            <a:off x="7670880" y="58658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41" name="CustomShape 16"/>
          <p:cNvSpPr/>
          <p:nvPr/>
        </p:nvSpPr>
        <p:spPr>
          <a:xfrm>
            <a:off x="4934160" y="419256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542" name="CustomShape 17"/>
          <p:cNvSpPr/>
          <p:nvPr/>
        </p:nvSpPr>
        <p:spPr>
          <a:xfrm>
            <a:off x="5103720" y="57657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43" name="CustomShape 18"/>
          <p:cNvSpPr/>
          <p:nvPr/>
        </p:nvSpPr>
        <p:spPr>
          <a:xfrm>
            <a:off x="5943600" y="4572000"/>
            <a:ext cx="1778040" cy="1193760"/>
          </a:xfrm>
          <a:custGeom>
            <a:avLst/>
            <a:gdLst/>
            <a:ahLst/>
            <a:cxnLst/>
            <a:rect l="0" t="0" r="r" b="b"/>
            <a:pathLst>
              <a:path w="4941" h="3318">
                <a:moveTo>
                  <a:pt x="1425" y="0"/>
                </a:moveTo>
                <a:lnTo>
                  <a:pt x="4940" y="0"/>
                </a:lnTo>
                <a:lnTo>
                  <a:pt x="3514" y="3317"/>
                </a:lnTo>
                <a:lnTo>
                  <a:pt x="0" y="3317"/>
                </a:lnTo>
                <a:lnTo>
                  <a:pt x="1425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Line 2"/>
          <p:cNvSpPr/>
          <p:nvPr/>
        </p:nvSpPr>
        <p:spPr>
          <a:xfrm flipV="1">
            <a:off x="4591587" y="3442424"/>
            <a:ext cx="71136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6" name="CustomShape 3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rPr dirty="0"/>
              <a:t/>
            </a:r>
            <a:br>
              <a:rPr dirty="0"/>
            </a:br>
            <a:r>
              <a:rPr lang="en-US" sz="2000" b="1" strike="noStrike" spc="-1" dirty="0">
                <a:solidFill>
                  <a:srgbClr val="CDA205"/>
                </a:solidFill>
                <a:latin typeface="Arial"/>
              </a:rPr>
              <a:t> </a:t>
            </a:r>
            <a:r>
              <a:rPr lang="ru-RU" sz="2000" b="1" strike="noStrike" spc="-1" dirty="0" smtClean="0">
                <a:solidFill>
                  <a:srgbClr val="CC3300"/>
                </a:solidFill>
                <a:latin typeface="Arial"/>
              </a:rPr>
              <a:t>Сложные аффинные преобразования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Arial"/>
              </a:rPr>
              <a:t>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Line 4"/>
          <p:cNvSpPr/>
          <p:nvPr/>
        </p:nvSpPr>
        <p:spPr>
          <a:xfrm flipV="1">
            <a:off x="3402507" y="2348384"/>
            <a:ext cx="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8" name="Line 5"/>
          <p:cNvSpPr/>
          <p:nvPr/>
        </p:nvSpPr>
        <p:spPr>
          <a:xfrm>
            <a:off x="3402507" y="4365104"/>
            <a:ext cx="22287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9" name="CustomShape 6"/>
          <p:cNvSpPr/>
          <p:nvPr/>
        </p:nvSpPr>
        <p:spPr>
          <a:xfrm>
            <a:off x="5302947" y="4368344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51" name="Line 8"/>
          <p:cNvSpPr/>
          <p:nvPr/>
        </p:nvSpPr>
        <p:spPr>
          <a:xfrm flipH="1" flipV="1">
            <a:off x="4189467" y="3323264"/>
            <a:ext cx="390600" cy="609480"/>
          </a:xfrm>
          <a:prstGeom prst="line">
            <a:avLst/>
          </a:prstGeom>
          <a:ln w="255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2" name="CustomShape 9"/>
          <p:cNvSpPr/>
          <p:nvPr/>
        </p:nvSpPr>
        <p:spPr>
          <a:xfrm>
            <a:off x="3116667" y="4293464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53" name="CustomShape 10"/>
          <p:cNvSpPr/>
          <p:nvPr/>
        </p:nvSpPr>
        <p:spPr>
          <a:xfrm>
            <a:off x="4679067" y="3796664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554" name="CustomShape 11"/>
          <p:cNvSpPr/>
          <p:nvPr/>
        </p:nvSpPr>
        <p:spPr>
          <a:xfrm>
            <a:off x="4545507" y="3899984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5" name="CustomShape 12"/>
          <p:cNvSpPr/>
          <p:nvPr/>
        </p:nvSpPr>
        <p:spPr>
          <a:xfrm>
            <a:off x="5351907" y="3288704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556" name="CustomShape 13"/>
          <p:cNvSpPr/>
          <p:nvPr/>
        </p:nvSpPr>
        <p:spPr>
          <a:xfrm>
            <a:off x="5244267" y="3404624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7" name="CustomShape 14"/>
          <p:cNvSpPr/>
          <p:nvPr/>
        </p:nvSpPr>
        <p:spPr>
          <a:xfrm>
            <a:off x="4126467" y="3264944"/>
            <a:ext cx="93600" cy="93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8" name="Line 15"/>
          <p:cNvSpPr/>
          <p:nvPr/>
        </p:nvSpPr>
        <p:spPr>
          <a:xfrm flipH="1" flipV="1">
            <a:off x="4629387" y="3633224"/>
            <a:ext cx="127080" cy="177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9" name="Line 16"/>
          <p:cNvSpPr/>
          <p:nvPr/>
        </p:nvSpPr>
        <p:spPr>
          <a:xfrm flipV="1">
            <a:off x="4477467" y="3645824"/>
            <a:ext cx="15228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3" name="CustomShape 80"/>
          <p:cNvSpPr/>
          <p:nvPr/>
        </p:nvSpPr>
        <p:spPr>
          <a:xfrm>
            <a:off x="3505827" y="2085224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6577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Line 1"/>
          <p:cNvSpPr/>
          <p:nvPr/>
        </p:nvSpPr>
        <p:spPr>
          <a:xfrm flipH="1" flipV="1">
            <a:off x="3801600" y="5646600"/>
            <a:ext cx="390600" cy="60984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6" name="CustomShape 3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rPr dirty="0"/>
              <a:t/>
            </a:r>
            <a:br>
              <a:rPr dirty="0"/>
            </a:br>
            <a:r>
              <a:rPr lang="en-US" sz="2000" b="1" strike="noStrike" spc="-1" dirty="0">
                <a:solidFill>
                  <a:srgbClr val="CDA205"/>
                </a:solidFill>
                <a:latin typeface="Arial"/>
              </a:rPr>
              <a:t> </a:t>
            </a:r>
            <a:r>
              <a:rPr lang="ru-RU" sz="2000" b="1" strike="noStrike" spc="-1" dirty="0" smtClean="0">
                <a:solidFill>
                  <a:srgbClr val="CC3300"/>
                </a:solidFill>
                <a:latin typeface="Arial"/>
              </a:rPr>
              <a:t>Сложные аффинные преобразования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Arial"/>
              </a:rPr>
              <a:t>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Line 17"/>
          <p:cNvSpPr/>
          <p:nvPr/>
        </p:nvSpPr>
        <p:spPr>
          <a:xfrm flipV="1">
            <a:off x="4788000" y="264132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Line 18"/>
          <p:cNvSpPr/>
          <p:nvPr/>
        </p:nvSpPr>
        <p:spPr>
          <a:xfrm flipV="1">
            <a:off x="3598920" y="1547280"/>
            <a:ext cx="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Line 19"/>
          <p:cNvSpPr/>
          <p:nvPr/>
        </p:nvSpPr>
        <p:spPr>
          <a:xfrm>
            <a:off x="3598920" y="3564000"/>
            <a:ext cx="23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20"/>
          <p:cNvSpPr/>
          <p:nvPr/>
        </p:nvSpPr>
        <p:spPr>
          <a:xfrm>
            <a:off x="5499360" y="35164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64" name="CustomShape 21"/>
          <p:cNvSpPr/>
          <p:nvPr/>
        </p:nvSpPr>
        <p:spPr>
          <a:xfrm>
            <a:off x="3664080" y="13352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565" name="CustomShape 22"/>
          <p:cNvSpPr/>
          <p:nvPr/>
        </p:nvSpPr>
        <p:spPr>
          <a:xfrm>
            <a:off x="3313080" y="34923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66" name="CustomShape 23"/>
          <p:cNvSpPr/>
          <p:nvPr/>
        </p:nvSpPr>
        <p:spPr>
          <a:xfrm>
            <a:off x="5433840" y="261468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567" name="CustomShape 24"/>
          <p:cNvSpPr/>
          <p:nvPr/>
        </p:nvSpPr>
        <p:spPr>
          <a:xfrm>
            <a:off x="4741920" y="309888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8" name="CustomShape 25"/>
          <p:cNvSpPr/>
          <p:nvPr/>
        </p:nvSpPr>
        <p:spPr>
          <a:xfrm>
            <a:off x="4836960" y="309708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569" name="CustomShape 26"/>
          <p:cNvSpPr/>
          <p:nvPr/>
        </p:nvSpPr>
        <p:spPr>
          <a:xfrm>
            <a:off x="5440320" y="260352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0" name="Line 27"/>
          <p:cNvSpPr/>
          <p:nvPr/>
        </p:nvSpPr>
        <p:spPr>
          <a:xfrm flipH="1">
            <a:off x="3619440" y="3149640"/>
            <a:ext cx="1168560" cy="3808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Line 28"/>
          <p:cNvSpPr/>
          <p:nvPr/>
        </p:nvSpPr>
        <p:spPr>
          <a:xfrm flipV="1">
            <a:off x="6392880" y="1560600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2" name="Line 29"/>
          <p:cNvSpPr/>
          <p:nvPr/>
        </p:nvSpPr>
        <p:spPr>
          <a:xfrm>
            <a:off x="6392880" y="3576600"/>
            <a:ext cx="23050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3" name="CustomShape 30"/>
          <p:cNvSpPr/>
          <p:nvPr/>
        </p:nvSpPr>
        <p:spPr>
          <a:xfrm>
            <a:off x="8649000" y="35290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74" name="CustomShape 31"/>
          <p:cNvSpPr/>
          <p:nvPr/>
        </p:nvSpPr>
        <p:spPr>
          <a:xfrm>
            <a:off x="6521760" y="136044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575" name="CustomShape 32"/>
          <p:cNvSpPr/>
          <p:nvPr/>
        </p:nvSpPr>
        <p:spPr>
          <a:xfrm>
            <a:off x="6107040" y="350532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76" name="CustomShape 33"/>
          <p:cNvSpPr/>
          <p:nvPr/>
        </p:nvSpPr>
        <p:spPr>
          <a:xfrm>
            <a:off x="7148520" y="285588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577" name="CustomShape 34"/>
          <p:cNvSpPr/>
          <p:nvPr/>
        </p:nvSpPr>
        <p:spPr>
          <a:xfrm>
            <a:off x="6576840" y="338940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578" name="Line 35"/>
          <p:cNvSpPr/>
          <p:nvPr/>
        </p:nvSpPr>
        <p:spPr>
          <a:xfrm flipV="1">
            <a:off x="6388200" y="306036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9" name="CustomShape 36"/>
          <p:cNvSpPr/>
          <p:nvPr/>
        </p:nvSpPr>
        <p:spPr>
          <a:xfrm>
            <a:off x="6342120" y="351792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0" name="CustomShape 37"/>
          <p:cNvSpPr/>
          <p:nvPr/>
        </p:nvSpPr>
        <p:spPr>
          <a:xfrm>
            <a:off x="7040520" y="302256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1" name="CustomShape 38"/>
          <p:cNvSpPr/>
          <p:nvPr/>
        </p:nvSpPr>
        <p:spPr>
          <a:xfrm>
            <a:off x="4049640" y="2871720"/>
            <a:ext cx="36648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Line 39"/>
          <p:cNvSpPr/>
          <p:nvPr/>
        </p:nvSpPr>
        <p:spPr>
          <a:xfrm flipV="1">
            <a:off x="1452600" y="4253040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3" name="Line 40"/>
          <p:cNvSpPr/>
          <p:nvPr/>
        </p:nvSpPr>
        <p:spPr>
          <a:xfrm>
            <a:off x="906480" y="6269040"/>
            <a:ext cx="18478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84" name="CustomShape 41"/>
          <p:cNvSpPr/>
          <p:nvPr/>
        </p:nvSpPr>
        <p:spPr>
          <a:xfrm>
            <a:off x="2337120" y="622152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85" name="CustomShape 42"/>
          <p:cNvSpPr/>
          <p:nvPr/>
        </p:nvSpPr>
        <p:spPr>
          <a:xfrm>
            <a:off x="1581480" y="40528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586" name="CustomShape 43"/>
          <p:cNvSpPr/>
          <p:nvPr/>
        </p:nvSpPr>
        <p:spPr>
          <a:xfrm>
            <a:off x="1166760" y="61977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587" name="CustomShape 44"/>
          <p:cNvSpPr/>
          <p:nvPr/>
        </p:nvSpPr>
        <p:spPr>
          <a:xfrm>
            <a:off x="2106720" y="577692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588" name="CustomShape 45"/>
          <p:cNvSpPr/>
          <p:nvPr/>
        </p:nvSpPr>
        <p:spPr>
          <a:xfrm>
            <a:off x="1509840" y="625968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589" name="Line 46"/>
          <p:cNvSpPr/>
          <p:nvPr/>
        </p:nvSpPr>
        <p:spPr>
          <a:xfrm flipV="1">
            <a:off x="1447920" y="5752800"/>
            <a:ext cx="711000" cy="50796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47"/>
          <p:cNvSpPr/>
          <p:nvPr/>
        </p:nvSpPr>
        <p:spPr>
          <a:xfrm>
            <a:off x="1401840" y="621036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48"/>
          <p:cNvSpPr/>
          <p:nvPr/>
        </p:nvSpPr>
        <p:spPr>
          <a:xfrm>
            <a:off x="2100240" y="571500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Line 49"/>
          <p:cNvSpPr/>
          <p:nvPr/>
        </p:nvSpPr>
        <p:spPr>
          <a:xfrm flipH="1" flipV="1">
            <a:off x="1058400" y="5633640"/>
            <a:ext cx="390600" cy="609480"/>
          </a:xfrm>
          <a:prstGeom prst="line">
            <a:avLst/>
          </a:prstGeom>
          <a:ln w="255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3" name="CustomShape 50"/>
          <p:cNvSpPr/>
          <p:nvPr/>
        </p:nvSpPr>
        <p:spPr>
          <a:xfrm>
            <a:off x="995400" y="5575320"/>
            <a:ext cx="93600" cy="93600"/>
          </a:xfrm>
          <a:prstGeom prst="ellipse">
            <a:avLst/>
          </a:prstGeom>
          <a:solidFill>
            <a:srgbClr val="FFFFFF"/>
          </a:solidFill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4" name="Line 51"/>
          <p:cNvSpPr/>
          <p:nvPr/>
        </p:nvSpPr>
        <p:spPr>
          <a:xfrm flipH="1" flipV="1">
            <a:off x="1498320" y="5943600"/>
            <a:ext cx="127080" cy="17784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5" name="Line 52"/>
          <p:cNvSpPr/>
          <p:nvPr/>
        </p:nvSpPr>
        <p:spPr>
          <a:xfrm flipV="1">
            <a:off x="1346040" y="5955840"/>
            <a:ext cx="152640" cy="1018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6" name="Line 53"/>
          <p:cNvSpPr/>
          <p:nvPr/>
        </p:nvSpPr>
        <p:spPr>
          <a:xfrm flipV="1">
            <a:off x="4195800" y="4265640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7" name="Line 54"/>
          <p:cNvSpPr/>
          <p:nvPr/>
        </p:nvSpPr>
        <p:spPr>
          <a:xfrm>
            <a:off x="3649680" y="6281640"/>
            <a:ext cx="184788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8" name="CustomShape 55"/>
          <p:cNvSpPr/>
          <p:nvPr/>
        </p:nvSpPr>
        <p:spPr>
          <a:xfrm>
            <a:off x="5131080" y="62596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599" name="CustomShape 56"/>
          <p:cNvSpPr/>
          <p:nvPr/>
        </p:nvSpPr>
        <p:spPr>
          <a:xfrm>
            <a:off x="4324680" y="40654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600" name="CustomShape 57"/>
          <p:cNvSpPr/>
          <p:nvPr/>
        </p:nvSpPr>
        <p:spPr>
          <a:xfrm>
            <a:off x="3909960" y="62103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01" name="CustomShape 58"/>
          <p:cNvSpPr/>
          <p:nvPr/>
        </p:nvSpPr>
        <p:spPr>
          <a:xfrm>
            <a:off x="3351240" y="558648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602" name="CustomShape 59"/>
          <p:cNvSpPr/>
          <p:nvPr/>
        </p:nvSpPr>
        <p:spPr>
          <a:xfrm>
            <a:off x="4201920" y="632304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603" name="CustomShape 60"/>
          <p:cNvSpPr/>
          <p:nvPr/>
        </p:nvSpPr>
        <p:spPr>
          <a:xfrm>
            <a:off x="4145040" y="622296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4" name="CustomShape 61"/>
          <p:cNvSpPr/>
          <p:nvPr/>
        </p:nvSpPr>
        <p:spPr>
          <a:xfrm>
            <a:off x="3738600" y="5587920"/>
            <a:ext cx="93600" cy="93600"/>
          </a:xfrm>
          <a:prstGeom prst="ellipse">
            <a:avLst/>
          </a:prstGeom>
          <a:solidFill>
            <a:srgbClr val="00FF00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5" name="CustomShape 62"/>
          <p:cNvSpPr/>
          <p:nvPr/>
        </p:nvSpPr>
        <p:spPr>
          <a:xfrm>
            <a:off x="1510200" y="5411880"/>
            <a:ext cx="40032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R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6" name="Line 63"/>
          <p:cNvSpPr/>
          <p:nvPr/>
        </p:nvSpPr>
        <p:spPr>
          <a:xfrm flipH="1">
            <a:off x="4228920" y="5854680"/>
            <a:ext cx="1168200" cy="38088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7" name="CustomShape 64"/>
          <p:cNvSpPr/>
          <p:nvPr/>
        </p:nvSpPr>
        <p:spPr>
          <a:xfrm>
            <a:off x="4569120" y="5475240"/>
            <a:ext cx="52488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T</a:t>
            </a:r>
            <a:r>
              <a:rPr lang="en-US" sz="2400" b="1" strike="noStrike" spc="-1" baseline="30000">
                <a:solidFill>
                  <a:srgbClr val="CC3300"/>
                </a:solidFill>
                <a:latin typeface="Arial"/>
              </a:rPr>
              <a:t>-1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8" name="Line 65"/>
          <p:cNvSpPr/>
          <p:nvPr/>
        </p:nvSpPr>
        <p:spPr>
          <a:xfrm flipV="1">
            <a:off x="6354720" y="4265640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9" name="Line 66"/>
          <p:cNvSpPr/>
          <p:nvPr/>
        </p:nvSpPr>
        <p:spPr>
          <a:xfrm>
            <a:off x="6354720" y="6281640"/>
            <a:ext cx="22287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0" name="CustomShape 67"/>
          <p:cNvSpPr/>
          <p:nvPr/>
        </p:nvSpPr>
        <p:spPr>
          <a:xfrm>
            <a:off x="8255160" y="62848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611" name="CustomShape 68"/>
          <p:cNvSpPr/>
          <p:nvPr/>
        </p:nvSpPr>
        <p:spPr>
          <a:xfrm>
            <a:off x="6432840" y="40654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612" name="Line 69"/>
          <p:cNvSpPr/>
          <p:nvPr/>
        </p:nvSpPr>
        <p:spPr>
          <a:xfrm flipH="1" flipV="1">
            <a:off x="7141680" y="5240160"/>
            <a:ext cx="390600" cy="609840"/>
          </a:xfrm>
          <a:prstGeom prst="line">
            <a:avLst/>
          </a:prstGeom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3" name="CustomShape 70"/>
          <p:cNvSpPr/>
          <p:nvPr/>
        </p:nvSpPr>
        <p:spPr>
          <a:xfrm>
            <a:off x="6068880" y="621036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14" name="CustomShape 71"/>
          <p:cNvSpPr/>
          <p:nvPr/>
        </p:nvSpPr>
        <p:spPr>
          <a:xfrm>
            <a:off x="7630920" y="571356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615" name="CustomShape 72"/>
          <p:cNvSpPr/>
          <p:nvPr/>
        </p:nvSpPr>
        <p:spPr>
          <a:xfrm>
            <a:off x="7497720" y="581652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6" name="CustomShape 73"/>
          <p:cNvSpPr/>
          <p:nvPr/>
        </p:nvSpPr>
        <p:spPr>
          <a:xfrm>
            <a:off x="7237440" y="4951440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sp>
        <p:nvSpPr>
          <p:cNvPr id="617" name="CustomShape 74"/>
          <p:cNvSpPr/>
          <p:nvPr/>
        </p:nvSpPr>
        <p:spPr>
          <a:xfrm>
            <a:off x="7078680" y="5181480"/>
            <a:ext cx="93600" cy="93960"/>
          </a:xfrm>
          <a:prstGeom prst="ellipse">
            <a:avLst/>
          </a:prstGeom>
          <a:solidFill>
            <a:srgbClr val="00FF00"/>
          </a:solidFill>
          <a:ln w="1260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8" name="CustomShape 75"/>
          <p:cNvSpPr/>
          <p:nvPr/>
        </p:nvSpPr>
        <p:spPr>
          <a:xfrm>
            <a:off x="4781520" y="1373040"/>
            <a:ext cx="386686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333399"/>
                </a:solidFill>
                <a:latin typeface="Arial"/>
              </a:rPr>
              <a:t>1)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CustomShape 76"/>
          <p:cNvSpPr/>
          <p:nvPr/>
        </p:nvSpPr>
        <p:spPr>
          <a:xfrm>
            <a:off x="7550280" y="1373040"/>
            <a:ext cx="386686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333399"/>
                </a:solidFill>
                <a:latin typeface="Arial"/>
              </a:rPr>
              <a:t>2)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CustomShape 77"/>
          <p:cNvSpPr/>
          <p:nvPr/>
        </p:nvSpPr>
        <p:spPr>
          <a:xfrm>
            <a:off x="2317680" y="4218120"/>
            <a:ext cx="386686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333399"/>
                </a:solidFill>
                <a:latin typeface="Arial"/>
              </a:rPr>
              <a:t>3)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CustomShape 78"/>
          <p:cNvSpPr/>
          <p:nvPr/>
        </p:nvSpPr>
        <p:spPr>
          <a:xfrm>
            <a:off x="4934160" y="4218120"/>
            <a:ext cx="386686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333399"/>
                </a:solidFill>
                <a:latin typeface="Arial"/>
              </a:rPr>
              <a:t>4)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CustomShape 2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rPr dirty="0"/>
              <a:t/>
            </a:r>
            <a:br>
              <a:rPr dirty="0"/>
            </a:br>
            <a:r>
              <a:rPr lang="en-US" sz="2000" b="1" strike="noStrike" spc="-1" dirty="0">
                <a:solidFill>
                  <a:srgbClr val="CDA205"/>
                </a:solidFill>
                <a:latin typeface="Arial"/>
              </a:rPr>
              <a:t> </a:t>
            </a:r>
            <a:r>
              <a:rPr lang="ru-RU" sz="2000" b="1" strike="noStrike" spc="-1" dirty="0" smtClean="0">
                <a:solidFill>
                  <a:srgbClr val="CC3300"/>
                </a:solidFill>
                <a:latin typeface="Arial"/>
              </a:rPr>
              <a:t>Композиция преобразований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CustomShape 3"/>
          <p:cNvSpPr/>
          <p:nvPr/>
        </p:nvSpPr>
        <p:spPr>
          <a:xfrm>
            <a:off x="3131840" y="1772816"/>
            <a:ext cx="3174840" cy="510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P’ = P*T*R*T</a:t>
            </a:r>
            <a:r>
              <a:rPr lang="en-US" sz="2400" b="1" strike="noStrike" spc="-1" baseline="30000">
                <a:solidFill>
                  <a:srgbClr val="000000"/>
                </a:solidFill>
                <a:latin typeface="Arial"/>
              </a:rPr>
              <a:t>-1 </a:t>
            </a: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= P*M</a:t>
            </a:r>
            <a:r>
              <a:rPr lang="en-US" sz="2400" b="1" strike="noStrike" spc="-1" baseline="-25000">
                <a:solidFill>
                  <a:srgbClr val="000000"/>
                </a:solidFill>
                <a:latin typeface="Arial"/>
              </a:rPr>
              <a:t>c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CustomShape 4"/>
          <p:cNvSpPr/>
          <p:nvPr/>
        </p:nvSpPr>
        <p:spPr>
          <a:xfrm>
            <a:off x="3293582" y="3573016"/>
            <a:ext cx="317484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Arial"/>
              </a:rPr>
              <a:t>P’’ = P*R*T*T</a:t>
            </a:r>
            <a:r>
              <a:rPr lang="en-US" sz="2400" b="1" strike="noStrike" spc="-1" baseline="30000">
                <a:solidFill>
                  <a:srgbClr val="000000"/>
                </a:solidFill>
                <a:latin typeface="Arial"/>
              </a:rPr>
              <a:t>-1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CustomShape 1"/>
          <p:cNvSpPr/>
          <p:nvPr/>
        </p:nvSpPr>
        <p:spPr>
          <a:xfrm flipV="1">
            <a:off x="2222089" y="4048819"/>
            <a:ext cx="1569960" cy="1371600"/>
          </a:xfrm>
          <a:custGeom>
            <a:avLst/>
            <a:gdLst/>
            <a:ahLst/>
            <a:cxnLst/>
            <a:rect l="l" t="t" r="r" b="b"/>
            <a:pathLst>
              <a:path w="25435" h="21600">
                <a:moveTo>
                  <a:pt x="25434" y="7967"/>
                </a:moveTo>
                <a:cubicBezTo>
                  <a:pt x="22168" y="16196"/>
                  <a:pt x="14210" y="21599"/>
                  <a:pt x="5357" y="21600"/>
                </a:cubicBezTo>
                <a:cubicBezTo>
                  <a:pt x="3550" y="21600"/>
                  <a:pt x="1750" y="21373"/>
                  <a:pt x="-1" y="20925"/>
                </a:cubicBezTo>
                <a:moveTo>
                  <a:pt x="25434" y="7967"/>
                </a:moveTo>
                <a:cubicBezTo>
                  <a:pt x="22168" y="16196"/>
                  <a:pt x="14210" y="21599"/>
                  <a:pt x="5357" y="21600"/>
                </a:cubicBezTo>
                <a:cubicBezTo>
                  <a:pt x="3550" y="21600"/>
                  <a:pt x="1750" y="21373"/>
                  <a:pt x="-1" y="20925"/>
                </a:cubicBezTo>
                <a:lnTo>
                  <a:pt x="5357" y="0"/>
                </a:lnTo>
                <a:lnTo>
                  <a:pt x="25434" y="7967"/>
                </a:lnTo>
                <a:close/>
              </a:path>
            </a:pathLst>
          </a:custGeom>
          <a:noFill/>
          <a:ln w="9360">
            <a:solidFill>
              <a:srgbClr val="000000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5" name="CustomShape 2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 dirty="0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rPr dirty="0"/>
              <a:t/>
            </a:r>
            <a:br>
              <a:rPr dirty="0"/>
            </a:br>
            <a:r>
              <a:rPr lang="en-US" sz="2000" b="1" strike="noStrike" spc="-1" dirty="0">
                <a:solidFill>
                  <a:srgbClr val="CDA205"/>
                </a:solidFill>
                <a:latin typeface="Arial"/>
              </a:rPr>
              <a:t> </a:t>
            </a:r>
            <a:r>
              <a:rPr lang="ru-RU" sz="2000" b="1" strike="noStrike" spc="-1" dirty="0" smtClean="0">
                <a:solidFill>
                  <a:srgbClr val="CC3300"/>
                </a:solidFill>
                <a:latin typeface="Arial"/>
              </a:rPr>
              <a:t>Композиция преобразований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Line 5"/>
          <p:cNvSpPr/>
          <p:nvPr/>
        </p:nvSpPr>
        <p:spPr>
          <a:xfrm flipV="1">
            <a:off x="2569855" y="3418099"/>
            <a:ext cx="0" cy="20160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9" name="Line 6"/>
          <p:cNvSpPr/>
          <p:nvPr/>
        </p:nvSpPr>
        <p:spPr>
          <a:xfrm>
            <a:off x="1193209" y="5427079"/>
            <a:ext cx="37274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30" name="CustomShape 7"/>
          <p:cNvSpPr/>
          <p:nvPr/>
        </p:nvSpPr>
        <p:spPr>
          <a:xfrm>
            <a:off x="4520689" y="5343019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631" name="CustomShape 8"/>
          <p:cNvSpPr/>
          <p:nvPr/>
        </p:nvSpPr>
        <p:spPr>
          <a:xfrm>
            <a:off x="3790609" y="3149179"/>
            <a:ext cx="3834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a)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CustomShape 9"/>
          <p:cNvSpPr/>
          <p:nvPr/>
        </p:nvSpPr>
        <p:spPr>
          <a:xfrm>
            <a:off x="2155749" y="5444398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33" name="CustomShape 10"/>
          <p:cNvSpPr/>
          <p:nvPr/>
        </p:nvSpPr>
        <p:spPr>
          <a:xfrm>
            <a:off x="3896809" y="4771339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</a:t>
            </a:r>
          </a:p>
        </p:txBody>
      </p:sp>
      <p:sp>
        <p:nvSpPr>
          <p:cNvPr id="634" name="CustomShape 11"/>
          <p:cNvSpPr/>
          <p:nvPr/>
        </p:nvSpPr>
        <p:spPr>
          <a:xfrm>
            <a:off x="4570009" y="4263379"/>
            <a:ext cx="4474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</a:t>
            </a:r>
          </a:p>
        </p:txBody>
      </p:sp>
      <p:grpSp>
        <p:nvGrpSpPr>
          <p:cNvPr id="635" name="Group 12"/>
          <p:cNvGrpSpPr/>
          <p:nvPr/>
        </p:nvGrpSpPr>
        <p:grpSpPr>
          <a:xfrm>
            <a:off x="3763609" y="4379299"/>
            <a:ext cx="792000" cy="588960"/>
            <a:chOff x="3586320" y="5041800"/>
            <a:chExt cx="792000" cy="588960"/>
          </a:xfrm>
        </p:grpSpPr>
        <p:sp>
          <p:nvSpPr>
            <p:cNvPr id="636" name="Line 13"/>
            <p:cNvSpPr/>
            <p:nvPr/>
          </p:nvSpPr>
          <p:spPr>
            <a:xfrm flipV="1">
              <a:off x="3632400" y="5079600"/>
              <a:ext cx="711000" cy="507960"/>
            </a:xfrm>
            <a:prstGeom prst="line">
              <a:avLst/>
            </a:prstGeom>
            <a:ln w="25560">
              <a:solidFill>
                <a:srgbClr val="000000"/>
              </a:solidFill>
              <a:prstDash val="dash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7" name="CustomShape 14"/>
            <p:cNvSpPr/>
            <p:nvPr/>
          </p:nvSpPr>
          <p:spPr>
            <a:xfrm>
              <a:off x="3586320" y="553716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38" name="CustomShape 15"/>
            <p:cNvSpPr/>
            <p:nvPr/>
          </p:nvSpPr>
          <p:spPr>
            <a:xfrm>
              <a:off x="4284720" y="504180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prstDash val="dash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39" name="CustomShape 16"/>
          <p:cNvSpPr/>
          <p:nvPr/>
        </p:nvSpPr>
        <p:spPr>
          <a:xfrm>
            <a:off x="2723929" y="3060259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grpSp>
        <p:nvGrpSpPr>
          <p:cNvPr id="640" name="Group 17"/>
          <p:cNvGrpSpPr/>
          <p:nvPr/>
        </p:nvGrpSpPr>
        <p:grpSpPr>
          <a:xfrm>
            <a:off x="1693249" y="3363379"/>
            <a:ext cx="588960" cy="792000"/>
            <a:chOff x="1515960" y="4025880"/>
            <a:chExt cx="588960" cy="792000"/>
          </a:xfrm>
        </p:grpSpPr>
        <p:sp>
          <p:nvSpPr>
            <p:cNvPr id="641" name="Line 18"/>
            <p:cNvSpPr/>
            <p:nvPr/>
          </p:nvSpPr>
          <p:spPr>
            <a:xfrm flipH="1" flipV="1">
              <a:off x="1553760" y="4060800"/>
              <a:ext cx="507960" cy="7110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2" name="CustomShape 19"/>
            <p:cNvSpPr/>
            <p:nvPr/>
          </p:nvSpPr>
          <p:spPr>
            <a:xfrm rot="16200000">
              <a:off x="2011320" y="472428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43" name="CustomShape 20"/>
            <p:cNvSpPr/>
            <p:nvPr/>
          </p:nvSpPr>
          <p:spPr>
            <a:xfrm rot="16200000">
              <a:off x="1515960" y="402588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44" name="CustomShape 21"/>
          <p:cNvSpPr/>
          <p:nvPr/>
        </p:nvSpPr>
        <p:spPr>
          <a:xfrm>
            <a:off x="1737169" y="4111099"/>
            <a:ext cx="575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p1’’</a:t>
            </a:r>
          </a:p>
        </p:txBody>
      </p:sp>
      <p:sp>
        <p:nvSpPr>
          <p:cNvPr id="645" name="CustomShape 22"/>
          <p:cNvSpPr/>
          <p:nvPr/>
        </p:nvSpPr>
        <p:spPr>
          <a:xfrm>
            <a:off x="1750129" y="3069619"/>
            <a:ext cx="575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p2’’</a:t>
            </a:r>
          </a:p>
        </p:txBody>
      </p:sp>
      <p:sp>
        <p:nvSpPr>
          <p:cNvPr id="646" name="Line 23"/>
          <p:cNvSpPr/>
          <p:nvPr/>
        </p:nvSpPr>
        <p:spPr>
          <a:xfrm flipV="1">
            <a:off x="7205238" y="3391169"/>
            <a:ext cx="0" cy="201636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Line 24"/>
          <p:cNvSpPr/>
          <p:nvPr/>
        </p:nvSpPr>
        <p:spPr>
          <a:xfrm>
            <a:off x="5706918" y="5407889"/>
            <a:ext cx="268596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8" name="CustomShape 25"/>
          <p:cNvSpPr/>
          <p:nvPr/>
        </p:nvSpPr>
        <p:spPr>
          <a:xfrm>
            <a:off x="7991118" y="5407889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649" name="CustomShape 26"/>
          <p:cNvSpPr/>
          <p:nvPr/>
        </p:nvSpPr>
        <p:spPr>
          <a:xfrm>
            <a:off x="8298918" y="3267689"/>
            <a:ext cx="397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b)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" name="CustomShape 27"/>
          <p:cNvSpPr/>
          <p:nvPr/>
        </p:nvSpPr>
        <p:spPr>
          <a:xfrm>
            <a:off x="6919398" y="5336249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51" name="CustomShape 28"/>
          <p:cNvSpPr/>
          <p:nvPr/>
        </p:nvSpPr>
        <p:spPr>
          <a:xfrm>
            <a:off x="7308558" y="3128009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grpSp>
        <p:nvGrpSpPr>
          <p:cNvPr id="652" name="Group 29"/>
          <p:cNvGrpSpPr/>
          <p:nvPr/>
        </p:nvGrpSpPr>
        <p:grpSpPr>
          <a:xfrm>
            <a:off x="6278238" y="3431489"/>
            <a:ext cx="588960" cy="792000"/>
            <a:chOff x="6110280" y="4000680"/>
            <a:chExt cx="588960" cy="792000"/>
          </a:xfrm>
        </p:grpSpPr>
        <p:sp>
          <p:nvSpPr>
            <p:cNvPr id="653" name="Line 30"/>
            <p:cNvSpPr/>
            <p:nvPr/>
          </p:nvSpPr>
          <p:spPr>
            <a:xfrm flipH="1" flipV="1">
              <a:off x="6148080" y="4035600"/>
              <a:ext cx="507960" cy="7110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4" name="CustomShape 31"/>
            <p:cNvSpPr/>
            <p:nvPr/>
          </p:nvSpPr>
          <p:spPr>
            <a:xfrm rot="16200000">
              <a:off x="6605640" y="469908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55" name="CustomShape 32"/>
            <p:cNvSpPr/>
            <p:nvPr/>
          </p:nvSpPr>
          <p:spPr>
            <a:xfrm rot="16200000">
              <a:off x="6110280" y="4000680"/>
              <a:ext cx="93600" cy="93600"/>
            </a:xfrm>
            <a:prstGeom prst="ellipse">
              <a:avLst/>
            </a:prstGeom>
            <a:solidFill>
              <a:srgbClr val="00FF00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656" name="CustomShape 33"/>
          <p:cNvSpPr/>
          <p:nvPr/>
        </p:nvSpPr>
        <p:spPr>
          <a:xfrm>
            <a:off x="6322158" y="4178849"/>
            <a:ext cx="575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p1’’</a:t>
            </a:r>
          </a:p>
        </p:txBody>
      </p:sp>
      <p:sp>
        <p:nvSpPr>
          <p:cNvPr id="657" name="CustomShape 34"/>
          <p:cNvSpPr/>
          <p:nvPr/>
        </p:nvSpPr>
        <p:spPr>
          <a:xfrm>
            <a:off x="6335118" y="3137729"/>
            <a:ext cx="575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p2’’</a:t>
            </a:r>
          </a:p>
        </p:txBody>
      </p:sp>
      <p:sp>
        <p:nvSpPr>
          <p:cNvPr id="658" name="CustomShape 35"/>
          <p:cNvSpPr/>
          <p:nvPr/>
        </p:nvSpPr>
        <p:spPr>
          <a:xfrm>
            <a:off x="4215438" y="1772816"/>
            <a:ext cx="154944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P’ 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  <a:ea typeface="Arial"/>
              </a:rPr>
              <a:t>≠ </a:t>
            </a:r>
            <a:r>
              <a:rPr lang="en-US" sz="2400" b="1" strike="noStrike" spc="-1" dirty="0">
                <a:solidFill>
                  <a:srgbClr val="000000"/>
                </a:solidFill>
                <a:latin typeface="Arial"/>
              </a:rPr>
              <a:t> P’’</a:t>
            </a:r>
          </a:p>
        </p:txBody>
      </p:sp>
      <p:sp>
        <p:nvSpPr>
          <p:cNvPr id="659" name="CustomShape 36"/>
          <p:cNvSpPr/>
          <p:nvPr/>
        </p:nvSpPr>
        <p:spPr>
          <a:xfrm>
            <a:off x="3135409" y="3530059"/>
            <a:ext cx="40032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R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0" name="CustomShape 37"/>
          <p:cNvSpPr/>
          <p:nvPr/>
        </p:nvSpPr>
        <p:spPr>
          <a:xfrm>
            <a:off x="6554358" y="4715609"/>
            <a:ext cx="36648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Line 38"/>
          <p:cNvSpPr/>
          <p:nvPr/>
        </p:nvSpPr>
        <p:spPr>
          <a:xfrm flipH="1" flipV="1">
            <a:off x="6835158" y="4168049"/>
            <a:ext cx="330120" cy="119376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62" name="CustomShape 39"/>
          <p:cNvSpPr/>
          <p:nvPr/>
        </p:nvSpPr>
        <p:spPr>
          <a:xfrm>
            <a:off x="7251678" y="4601129"/>
            <a:ext cx="52488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CC3300"/>
                </a:solidFill>
                <a:latin typeface="Arial"/>
              </a:rPr>
              <a:t>T</a:t>
            </a:r>
            <a:r>
              <a:rPr lang="en-US" sz="2400" b="1" strike="noStrike" spc="-1" baseline="30000">
                <a:solidFill>
                  <a:srgbClr val="CC3300"/>
                </a:solidFill>
                <a:latin typeface="Arial"/>
              </a:rPr>
              <a:t>-1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3" name="Line 40"/>
          <p:cNvSpPr/>
          <p:nvPr/>
        </p:nvSpPr>
        <p:spPr>
          <a:xfrm>
            <a:off x="6962598" y="4168049"/>
            <a:ext cx="330120" cy="1218960"/>
          </a:xfrm>
          <a:prstGeom prst="line">
            <a:avLst/>
          </a:prstGeom>
          <a:ln w="9360">
            <a:solidFill>
              <a:srgbClr val="000000"/>
            </a:solidFill>
            <a:miter/>
            <a:head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189937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Line 1"/>
          <p:cNvSpPr/>
          <p:nvPr/>
        </p:nvSpPr>
        <p:spPr>
          <a:xfrm flipH="1">
            <a:off x="2582640" y="2992320"/>
            <a:ext cx="1701720" cy="9050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0" name="CustomShape 2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t/>
            </a:r>
            <a:br/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Line 3"/>
          <p:cNvSpPr/>
          <p:nvPr/>
        </p:nvSpPr>
        <p:spPr>
          <a:xfrm flipV="1">
            <a:off x="4284720" y="1001520"/>
            <a:ext cx="0" cy="19904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2" name="Line 4"/>
          <p:cNvSpPr/>
          <p:nvPr/>
        </p:nvSpPr>
        <p:spPr>
          <a:xfrm>
            <a:off x="4284720" y="2992320"/>
            <a:ext cx="2305080" cy="5842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3" name="CustomShape 5"/>
          <p:cNvSpPr/>
          <p:nvPr/>
        </p:nvSpPr>
        <p:spPr>
          <a:xfrm>
            <a:off x="6515280" y="299556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674" name="CustomShape 6"/>
          <p:cNvSpPr/>
          <p:nvPr/>
        </p:nvSpPr>
        <p:spPr>
          <a:xfrm>
            <a:off x="4388040" y="103032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675" name="CustomShape 7"/>
          <p:cNvSpPr/>
          <p:nvPr/>
        </p:nvSpPr>
        <p:spPr>
          <a:xfrm>
            <a:off x="4227480" y="266688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76" name="CustomShape 8"/>
          <p:cNvSpPr/>
          <p:nvPr/>
        </p:nvSpPr>
        <p:spPr>
          <a:xfrm rot="16200000">
            <a:off x="3696480" y="1447200"/>
            <a:ext cx="2509920" cy="2133360"/>
          </a:xfrm>
          <a:custGeom>
            <a:avLst/>
            <a:gdLst/>
            <a:ahLst/>
            <a:cxnLst/>
            <a:rect l="0" t="0" r="r" b="b"/>
            <a:pathLst>
              <a:path w="6974" h="5928">
                <a:moveTo>
                  <a:pt x="1499" y="0"/>
                </a:moveTo>
                <a:lnTo>
                  <a:pt x="6973" y="0"/>
                </a:lnTo>
                <a:lnTo>
                  <a:pt x="5473" y="5927"/>
                </a:lnTo>
                <a:lnTo>
                  <a:pt x="0" y="5927"/>
                </a:lnTo>
                <a:lnTo>
                  <a:pt x="1499" y="0"/>
                </a:lnTo>
              </a:path>
            </a:pathLst>
          </a:custGeom>
          <a:solidFill>
            <a:srgbClr val="BBE0E3">
              <a:alpha val="67000"/>
            </a:srgbClr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7" name="CustomShape 9"/>
          <p:cNvSpPr/>
          <p:nvPr/>
        </p:nvSpPr>
        <p:spPr>
          <a:xfrm rot="16200000">
            <a:off x="2909160" y="2606040"/>
            <a:ext cx="3093840" cy="1574640"/>
          </a:xfrm>
          <a:custGeom>
            <a:avLst/>
            <a:gdLst/>
            <a:ahLst/>
            <a:cxnLst/>
            <a:rect l="0" t="0" r="r" b="b"/>
            <a:pathLst>
              <a:path w="8596" h="4376">
                <a:moveTo>
                  <a:pt x="3973" y="0"/>
                </a:moveTo>
                <a:lnTo>
                  <a:pt x="8595" y="0"/>
                </a:lnTo>
                <a:lnTo>
                  <a:pt x="4621" y="4375"/>
                </a:lnTo>
                <a:lnTo>
                  <a:pt x="0" y="4375"/>
                </a:lnTo>
                <a:lnTo>
                  <a:pt x="3973" y="0"/>
                </a:lnTo>
              </a:path>
            </a:pathLst>
          </a:custGeom>
          <a:solidFill>
            <a:srgbClr val="008000">
              <a:alpha val="48000"/>
            </a:srgbClr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8" name="CustomShape 10"/>
          <p:cNvSpPr/>
          <p:nvPr/>
        </p:nvSpPr>
        <p:spPr>
          <a:xfrm>
            <a:off x="5452920" y="2629080"/>
            <a:ext cx="14472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9" name="Line 11"/>
          <p:cNvSpPr/>
          <p:nvPr/>
        </p:nvSpPr>
        <p:spPr>
          <a:xfrm flipH="1">
            <a:off x="4437000" y="2712960"/>
            <a:ext cx="1067040" cy="5749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0" name="CustomShape 12"/>
          <p:cNvSpPr/>
          <p:nvPr/>
        </p:nvSpPr>
        <p:spPr>
          <a:xfrm>
            <a:off x="4373640" y="3213000"/>
            <a:ext cx="144360" cy="14472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1" name="CustomShape 13"/>
          <p:cNvSpPr/>
          <p:nvPr/>
        </p:nvSpPr>
        <p:spPr>
          <a:xfrm>
            <a:off x="2552400" y="3173400"/>
            <a:ext cx="397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W</a:t>
            </a:r>
          </a:p>
        </p:txBody>
      </p:sp>
      <p:sp>
        <p:nvSpPr>
          <p:cNvPr id="682" name="CustomShape 14"/>
          <p:cNvSpPr/>
          <p:nvPr/>
        </p:nvSpPr>
        <p:spPr>
          <a:xfrm>
            <a:off x="5637240" y="234144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683" name="CustomShape 15"/>
          <p:cNvSpPr/>
          <p:nvPr/>
        </p:nvSpPr>
        <p:spPr>
          <a:xfrm>
            <a:off x="6032520" y="3730680"/>
            <a:ext cx="60444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W=1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CustomShape 16"/>
          <p:cNvSpPr/>
          <p:nvPr/>
        </p:nvSpPr>
        <p:spPr>
          <a:xfrm>
            <a:off x="5397120" y="4773600"/>
            <a:ext cx="13816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W=kx+my+1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CustomShape 17"/>
          <p:cNvSpPr/>
          <p:nvPr/>
        </p:nvSpPr>
        <p:spPr>
          <a:xfrm>
            <a:off x="2105640" y="5789520"/>
            <a:ext cx="856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[x y 1]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CustomShape 18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7" name="Formula 19"/>
              <p:cNvSpPr txBox="1"/>
              <p:nvPr/>
            </p:nvSpPr>
            <p:spPr>
              <a:xfrm>
                <a:off x="2870280" y="5357880"/>
                <a:ext cx="1266840" cy="12492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𝑘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𝑚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  <p:sp>
        <p:nvSpPr>
          <p:cNvPr id="688" name="CustomShape 20"/>
          <p:cNvSpPr/>
          <p:nvPr/>
        </p:nvSpPr>
        <p:spPr>
          <a:xfrm>
            <a:off x="4008600" y="5802480"/>
            <a:ext cx="20476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= [ x  y  kx+my+1]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CustomShape 21"/>
          <p:cNvSpPr/>
          <p:nvPr/>
        </p:nvSpPr>
        <p:spPr>
          <a:xfrm>
            <a:off x="1026360" y="5789520"/>
            <a:ext cx="1243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[x’ y’ w’] =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CustomShape 22"/>
          <p:cNvSpPr/>
          <p:nvPr/>
        </p:nvSpPr>
        <p:spPr>
          <a:xfrm>
            <a:off x="4258800" y="3427560"/>
            <a:ext cx="384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Line 1"/>
          <p:cNvSpPr/>
          <p:nvPr/>
        </p:nvSpPr>
        <p:spPr>
          <a:xfrm>
            <a:off x="3611520" y="1316160"/>
            <a:ext cx="2692440" cy="30384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2" name="Line 2"/>
          <p:cNvSpPr/>
          <p:nvPr/>
        </p:nvSpPr>
        <p:spPr>
          <a:xfrm>
            <a:off x="3611520" y="1316160"/>
            <a:ext cx="0" cy="24796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3" name="CustomShape 3"/>
          <p:cNvSpPr/>
          <p:nvPr/>
        </p:nvSpPr>
        <p:spPr>
          <a:xfrm>
            <a:off x="914400" y="-22860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t/>
            </a:r>
            <a:br/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4" name="Line 4"/>
          <p:cNvSpPr/>
          <p:nvPr/>
        </p:nvSpPr>
        <p:spPr>
          <a:xfrm>
            <a:off x="3611520" y="1316160"/>
            <a:ext cx="25592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5" name="CustomShape 5"/>
          <p:cNvSpPr/>
          <p:nvPr/>
        </p:nvSpPr>
        <p:spPr>
          <a:xfrm>
            <a:off x="6045480" y="96372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696" name="CustomShape 6"/>
          <p:cNvSpPr/>
          <p:nvPr/>
        </p:nvSpPr>
        <p:spPr>
          <a:xfrm>
            <a:off x="3274920" y="1015920"/>
            <a:ext cx="35892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O</a:t>
            </a:r>
          </a:p>
        </p:txBody>
      </p:sp>
      <p:sp>
        <p:nvSpPr>
          <p:cNvPr id="697" name="CustomShape 7"/>
          <p:cNvSpPr/>
          <p:nvPr/>
        </p:nvSpPr>
        <p:spPr>
          <a:xfrm>
            <a:off x="5681520" y="205596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698" name="Line 8"/>
          <p:cNvSpPr/>
          <p:nvPr/>
        </p:nvSpPr>
        <p:spPr>
          <a:xfrm>
            <a:off x="5541840" y="1316160"/>
            <a:ext cx="0" cy="214920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99" name="CustomShape 9"/>
          <p:cNvSpPr/>
          <p:nvPr/>
        </p:nvSpPr>
        <p:spPr>
          <a:xfrm>
            <a:off x="2667240" y="1495440"/>
            <a:ext cx="60444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W=1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CustomShape 10"/>
          <p:cNvSpPr/>
          <p:nvPr/>
        </p:nvSpPr>
        <p:spPr>
          <a:xfrm>
            <a:off x="2006280" y="2690640"/>
            <a:ext cx="13816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W=kx+my+1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CustomShape 11"/>
          <p:cNvSpPr/>
          <p:nvPr/>
        </p:nvSpPr>
        <p:spPr>
          <a:xfrm>
            <a:off x="0" y="307188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2" name="Line 12"/>
          <p:cNvSpPr/>
          <p:nvPr/>
        </p:nvSpPr>
        <p:spPr>
          <a:xfrm>
            <a:off x="2717640" y="1994040"/>
            <a:ext cx="4216680" cy="0"/>
          </a:xfrm>
          <a:prstGeom prst="line">
            <a:avLst/>
          </a:prstGeom>
          <a:ln w="38160">
            <a:solidFill>
              <a:srgbClr val="0000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3" name="CustomShape 13"/>
          <p:cNvSpPr/>
          <p:nvPr/>
        </p:nvSpPr>
        <p:spPr>
          <a:xfrm>
            <a:off x="2997000" y="3656160"/>
            <a:ext cx="397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W</a:t>
            </a:r>
          </a:p>
        </p:txBody>
      </p:sp>
      <p:sp>
        <p:nvSpPr>
          <p:cNvPr id="704" name="Line 14"/>
          <p:cNvSpPr/>
          <p:nvPr/>
        </p:nvSpPr>
        <p:spPr>
          <a:xfrm>
            <a:off x="3009960" y="2463840"/>
            <a:ext cx="3530520" cy="1422360"/>
          </a:xfrm>
          <a:prstGeom prst="line">
            <a:avLst/>
          </a:prstGeom>
          <a:ln w="38160">
            <a:solidFill>
              <a:srgbClr val="008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5" name="CustomShape 15"/>
          <p:cNvSpPr/>
          <p:nvPr/>
        </p:nvSpPr>
        <p:spPr>
          <a:xfrm>
            <a:off x="5478480" y="1917720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6" name="CustomShape 16"/>
          <p:cNvSpPr/>
          <p:nvPr/>
        </p:nvSpPr>
        <p:spPr>
          <a:xfrm>
            <a:off x="5478480" y="3429000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7" name="CustomShape 17"/>
          <p:cNvSpPr/>
          <p:nvPr/>
        </p:nvSpPr>
        <p:spPr>
          <a:xfrm>
            <a:off x="4132440" y="1917720"/>
            <a:ext cx="144360" cy="1443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08" name="CustomShape 18"/>
          <p:cNvSpPr/>
          <p:nvPr/>
        </p:nvSpPr>
        <p:spPr>
          <a:xfrm>
            <a:off x="5681160" y="3198960"/>
            <a:ext cx="38484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</a:t>
            </a:r>
          </a:p>
        </p:txBody>
      </p:sp>
      <p:sp>
        <p:nvSpPr>
          <p:cNvPr id="709" name="CustomShape 19"/>
          <p:cNvSpPr/>
          <p:nvPr/>
        </p:nvSpPr>
        <p:spPr>
          <a:xfrm>
            <a:off x="3852360" y="2081160"/>
            <a:ext cx="4611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P’’</a:t>
            </a:r>
          </a:p>
        </p:txBody>
      </p:sp>
      <p:sp>
        <p:nvSpPr>
          <p:cNvPr id="710" name="Line 20"/>
          <p:cNvSpPr/>
          <p:nvPr/>
        </p:nvSpPr>
        <p:spPr>
          <a:xfrm>
            <a:off x="4195800" y="1341360"/>
            <a:ext cx="0" cy="600120"/>
          </a:xfrm>
          <a:prstGeom prst="line">
            <a:avLst/>
          </a:prstGeom>
          <a:ln w="9360">
            <a:solidFill>
              <a:srgbClr val="000000"/>
            </a:solidFill>
            <a:prstDash val="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1" name="CustomShape 21"/>
          <p:cNvSpPr/>
          <p:nvPr/>
        </p:nvSpPr>
        <p:spPr>
          <a:xfrm>
            <a:off x="-1346040" y="154764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12" name="CustomShape 22"/>
          <p:cNvSpPr/>
          <p:nvPr/>
        </p:nvSpPr>
        <p:spPr>
          <a:xfrm>
            <a:off x="5473440" y="1000080"/>
            <a:ext cx="28296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CustomShape 23"/>
          <p:cNvSpPr/>
          <p:nvPr/>
        </p:nvSpPr>
        <p:spPr>
          <a:xfrm>
            <a:off x="4011480" y="987480"/>
            <a:ext cx="37440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x’’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4" name="CustomShape 24"/>
          <p:cNvSpPr/>
          <p:nvPr/>
        </p:nvSpPr>
        <p:spPr>
          <a:xfrm>
            <a:off x="1932480" y="5495040"/>
            <a:ext cx="1362960" cy="36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 anchor="ctr">
            <a:spAutoFit/>
          </a:bodyPr>
          <a:lstStyle/>
          <a:p>
            <a:pPr algn="just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[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x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’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’ y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’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’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 1] </a:t>
            </a:r>
            <a:r>
              <a:rPr lang="en-US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  </a:t>
            </a:r>
            <a:r>
              <a:rPr lang="ru-RU" sz="18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=</a:t>
            </a:r>
            <a:r>
              <a:rPr lang="ru-RU" sz="1200" b="0" strike="noStrike" spc="-1">
                <a:solidFill>
                  <a:srgbClr val="000000"/>
                </a:solidFill>
                <a:latin typeface="Arial"/>
                <a:ea typeface="Times New Roman"/>
              </a:rPr>
              <a:t> </a:t>
            </a:r>
            <a:endParaRPr lang="en-US" sz="1200" b="1" strike="noStrike" spc="-1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5" name="Formula 25"/>
              <p:cNvSpPr txBox="1"/>
              <p:nvPr/>
            </p:nvSpPr>
            <p:spPr>
              <a:xfrm>
                <a:off x="3278160" y="5154480"/>
                <a:ext cx="3765600" cy="91764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lit/>
                                        <m:nor/>
                                      </m:rPr>
                                      <a:rPr/>
                                      <m:t>kx</m:t>
                                    </m:r>
                                    <m:r>
                                      <a:rPr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/>
                                      <m:t>my</m:t>
                                    </m:r>
                                    <m:r>
                                      <a:rPr>
                                        <a:latin typeface="Cambria Math"/>
                                      </a:rPr>
                                      <m:t>+1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>
                                        <a:latin typeface="Cambria Math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m:rPr>
                                        <m:lit/>
                                        <m:nor/>
                                      </m:rPr>
                                      <a:rPr/>
                                      <m:t>kx</m:t>
                                    </m:r>
                                    <m:r>
                                      <a:rPr>
                                        <a:latin typeface="Cambria Math"/>
                                      </a:rPr>
                                      <m:t>+</m:t>
                                    </m:r>
                                    <m:r>
                                      <m:rPr>
                                        <m:lit/>
                                        <m:nor/>
                                      </m:rPr>
                                      <a:rPr/>
                                      <m:t>my</m:t>
                                    </m:r>
                                    <m:r>
                                      <a:rPr>
                                        <a:latin typeface="Cambria Math"/>
                                      </a:rPr>
                                      <m:t>+1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 xmlns:p14="http://schemas.microsoft.com/office/powerpoint/2010/main" xmlns:p15="http://schemas.microsoft.com/office/powerpoint/2012/main"/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CustomShape 1"/>
          <p:cNvSpPr/>
          <p:nvPr/>
        </p:nvSpPr>
        <p:spPr>
          <a:xfrm>
            <a:off x="914400" y="-5724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Трехмерные геометрические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grpSp>
        <p:nvGrpSpPr>
          <p:cNvPr id="740" name="Group 2"/>
          <p:cNvGrpSpPr/>
          <p:nvPr/>
        </p:nvGrpSpPr>
        <p:grpSpPr>
          <a:xfrm>
            <a:off x="3251880" y="1971720"/>
            <a:ext cx="2904120" cy="1826640"/>
            <a:chOff x="3251880" y="1971720"/>
            <a:chExt cx="2904120" cy="1826640"/>
          </a:xfrm>
        </p:grpSpPr>
        <p:sp>
          <p:nvSpPr>
            <p:cNvPr id="741" name="CustomShape 3"/>
            <p:cNvSpPr/>
            <p:nvPr/>
          </p:nvSpPr>
          <p:spPr>
            <a:xfrm>
              <a:off x="3900960" y="2125440"/>
              <a:ext cx="2255040" cy="155700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strike="noStrike" spc="-1">
                  <a:solidFill>
                    <a:srgbClr val="000000"/>
                  </a:solidFill>
                  <a:latin typeface="Times New Roman"/>
                </a:rPr>
                <a:t>Sx     0      0     0 </a:t>
              </a:r>
              <a:endParaRPr lang="en-US" sz="24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strike="noStrike" spc="-1">
                  <a:solidFill>
                    <a:srgbClr val="000000"/>
                  </a:solidFill>
                  <a:latin typeface="Times New Roman"/>
                </a:rPr>
                <a:t> 0    Sy      0     0</a:t>
              </a:r>
              <a:endParaRPr lang="en-US" sz="24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strike="noStrike" spc="-1">
                  <a:solidFill>
                    <a:srgbClr val="000000"/>
                  </a:solidFill>
                  <a:latin typeface="Times New Roman"/>
                </a:rPr>
                <a:t> 0      0     Sz    0</a:t>
              </a:r>
              <a:endParaRPr lang="en-US" sz="24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strike="noStrike" spc="-1">
                  <a:solidFill>
                    <a:srgbClr val="000000"/>
                  </a:solidFill>
                  <a:latin typeface="Times New Roman"/>
                </a:rPr>
                <a:t> 0      0      0     1</a:t>
              </a:r>
              <a:endParaRPr lang="en-US" sz="24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2" name="CustomShape 4"/>
            <p:cNvSpPr/>
            <p:nvPr/>
          </p:nvSpPr>
          <p:spPr>
            <a:xfrm>
              <a:off x="4029120" y="1971720"/>
              <a:ext cx="200664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3" name="CustomShape 5"/>
            <p:cNvSpPr/>
            <p:nvPr/>
          </p:nvSpPr>
          <p:spPr>
            <a:xfrm>
              <a:off x="4041720" y="3582720"/>
              <a:ext cx="200664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4" name="CustomShape 6"/>
            <p:cNvSpPr/>
            <p:nvPr/>
          </p:nvSpPr>
          <p:spPr>
            <a:xfrm>
              <a:off x="3251880" y="2606400"/>
              <a:ext cx="599760" cy="45972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400" b="1" strike="noStrike" spc="-1">
                  <a:solidFill>
                    <a:srgbClr val="000000"/>
                  </a:solidFill>
                  <a:latin typeface="Times New Roman"/>
                </a:rPr>
                <a:t>S =</a:t>
              </a:r>
              <a:endParaRPr lang="en-US" sz="24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5" name="CustomShape 7"/>
          <p:cNvSpPr/>
          <p:nvPr/>
        </p:nvSpPr>
        <p:spPr>
          <a:xfrm>
            <a:off x="3645000" y="1562040"/>
            <a:ext cx="276840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Масштабирование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CustomShape 8"/>
          <p:cNvSpPr/>
          <p:nvPr/>
        </p:nvSpPr>
        <p:spPr>
          <a:xfrm>
            <a:off x="3887640" y="4551480"/>
            <a:ext cx="2286000" cy="1557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</a:t>
            </a: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  0     0     0 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0    </a:t>
            </a: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 1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  0     0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0     0    </a:t>
            </a:r>
            <a:r>
              <a:rPr lang="ru-RU" sz="2400" b="1" strike="noStrike" spc="-1">
                <a:solidFill>
                  <a:srgbClr val="000000"/>
                </a:solidFill>
                <a:latin typeface="Times New Roman"/>
              </a:rPr>
              <a:t> 1 </a:t>
            </a: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   0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 Dx  Dy  Dz    1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CustomShape 9"/>
          <p:cNvSpPr/>
          <p:nvPr/>
        </p:nvSpPr>
        <p:spPr>
          <a:xfrm>
            <a:off x="4040280" y="4397400"/>
            <a:ext cx="200664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8" name="CustomShape 10"/>
          <p:cNvSpPr/>
          <p:nvPr/>
        </p:nvSpPr>
        <p:spPr>
          <a:xfrm>
            <a:off x="4029120" y="6021360"/>
            <a:ext cx="200664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CustomShape 11"/>
          <p:cNvSpPr/>
          <p:nvPr/>
        </p:nvSpPr>
        <p:spPr>
          <a:xfrm>
            <a:off x="3214800" y="5032440"/>
            <a:ext cx="633240" cy="4597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1" strike="noStrike" spc="-1">
                <a:solidFill>
                  <a:srgbClr val="000000"/>
                </a:solidFill>
                <a:latin typeface="Times New Roman"/>
              </a:rPr>
              <a:t>T =</a:t>
            </a:r>
            <a:endParaRPr lang="en-US" sz="24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0" name="CustomShape 12"/>
          <p:cNvSpPr/>
          <p:nvPr/>
        </p:nvSpPr>
        <p:spPr>
          <a:xfrm>
            <a:off x="3606840" y="3987720"/>
            <a:ext cx="276840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Перенос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CustomShape 1"/>
          <p:cNvSpPr/>
          <p:nvPr/>
        </p:nvSpPr>
        <p:spPr>
          <a:xfrm>
            <a:off x="914400" y="-23508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Трехмерные геометрические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Отображение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752" name="CustomShape 2"/>
          <p:cNvSpPr/>
          <p:nvPr/>
        </p:nvSpPr>
        <p:spPr>
          <a:xfrm>
            <a:off x="1670760" y="2060640"/>
            <a:ext cx="1973160" cy="131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1      0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    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0     0  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0      1   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0    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0 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0      0    -1     0 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0      0     0     1 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3" name="CustomShape 3"/>
          <p:cNvSpPr/>
          <p:nvPr/>
        </p:nvSpPr>
        <p:spPr>
          <a:xfrm>
            <a:off x="1793880" y="1895400"/>
            <a:ext cx="172728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CustomShape 4"/>
          <p:cNvSpPr/>
          <p:nvPr/>
        </p:nvSpPr>
        <p:spPr>
          <a:xfrm>
            <a:off x="1806480" y="4255920"/>
            <a:ext cx="180360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CustomShape 5"/>
          <p:cNvSpPr/>
          <p:nvPr/>
        </p:nvSpPr>
        <p:spPr>
          <a:xfrm>
            <a:off x="838080" y="2541600"/>
            <a:ext cx="88632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Times New Roman"/>
              </a:rPr>
              <a:t>М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xy =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CustomShape 6"/>
          <p:cNvSpPr/>
          <p:nvPr/>
        </p:nvSpPr>
        <p:spPr>
          <a:xfrm>
            <a:off x="1654200" y="4613400"/>
            <a:ext cx="1959120" cy="13256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1      0     0     0   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0     -1     0     0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0      0     1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 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0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0      0     0     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Times New Roman"/>
              </a:rPr>
              <a:t>1 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CustomShape 7"/>
          <p:cNvSpPr/>
          <p:nvPr/>
        </p:nvSpPr>
        <p:spPr>
          <a:xfrm>
            <a:off x="1728720" y="4448160"/>
            <a:ext cx="178776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CustomShape 8"/>
          <p:cNvSpPr/>
          <p:nvPr/>
        </p:nvSpPr>
        <p:spPr>
          <a:xfrm>
            <a:off x="1817640" y="3290760"/>
            <a:ext cx="171144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9" name="CustomShape 9"/>
          <p:cNvSpPr/>
          <p:nvPr/>
        </p:nvSpPr>
        <p:spPr>
          <a:xfrm>
            <a:off x="851400" y="5094360"/>
            <a:ext cx="80712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Mxz=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0" name="CustomShape 10"/>
          <p:cNvSpPr/>
          <p:nvPr/>
        </p:nvSpPr>
        <p:spPr>
          <a:xfrm>
            <a:off x="5747400" y="4613400"/>
            <a:ext cx="1994400" cy="1313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-1      0      0</a:t>
            </a:r>
            <a:r>
              <a:rPr lang="en-US" sz="2000" b="0" strike="noStrike" spc="-1">
                <a:solidFill>
                  <a:srgbClr val="000000"/>
                </a:solidFill>
                <a:latin typeface="Times New Roman"/>
              </a:rPr>
              <a:t>     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 0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  1    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0     0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 0      0      1</a:t>
            </a: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     </a:t>
            </a: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0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   0      0      0     1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CustomShape 11"/>
          <p:cNvSpPr/>
          <p:nvPr/>
        </p:nvSpPr>
        <p:spPr>
          <a:xfrm>
            <a:off x="5896080" y="4511520"/>
            <a:ext cx="173988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2" name="CustomShape 12"/>
          <p:cNvSpPr/>
          <p:nvPr/>
        </p:nvSpPr>
        <p:spPr>
          <a:xfrm>
            <a:off x="5881140" y="5843520"/>
            <a:ext cx="172692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3" name="CustomShape 13"/>
          <p:cNvSpPr/>
          <p:nvPr/>
        </p:nvSpPr>
        <p:spPr>
          <a:xfrm>
            <a:off x="4889520" y="5094360"/>
            <a:ext cx="8712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Myz =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CustomShape 14"/>
          <p:cNvSpPr/>
          <p:nvPr/>
        </p:nvSpPr>
        <p:spPr>
          <a:xfrm>
            <a:off x="1744047" y="5878984"/>
            <a:ext cx="1787760" cy="34729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65" name="Group 15"/>
          <p:cNvGrpSpPr/>
          <p:nvPr/>
        </p:nvGrpSpPr>
        <p:grpSpPr>
          <a:xfrm>
            <a:off x="5626080" y="1460520"/>
            <a:ext cx="2222640" cy="2412720"/>
            <a:chOff x="5626080" y="1460520"/>
            <a:chExt cx="2222640" cy="2412720"/>
          </a:xfrm>
        </p:grpSpPr>
        <p:sp>
          <p:nvSpPr>
            <p:cNvPr id="766" name="CustomShape 16"/>
            <p:cNvSpPr/>
            <p:nvPr/>
          </p:nvSpPr>
          <p:spPr>
            <a:xfrm>
              <a:off x="6946920" y="2184120"/>
              <a:ext cx="546120" cy="545760"/>
            </a:xfrm>
            <a:prstGeom prst="cube">
              <a:avLst>
                <a:gd name="adj" fmla="val 25000"/>
              </a:avLst>
            </a:prstGeom>
            <a:solidFill>
              <a:srgbClr val="339966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7" name="Line 17"/>
            <p:cNvSpPr/>
            <p:nvPr/>
          </p:nvSpPr>
          <p:spPr>
            <a:xfrm flipH="1">
              <a:off x="5626080" y="2222280"/>
              <a:ext cx="1333440" cy="129492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68" name="CustomShape 18"/>
            <p:cNvSpPr/>
            <p:nvPr/>
          </p:nvSpPr>
          <p:spPr>
            <a:xfrm>
              <a:off x="7480080" y="3060360"/>
              <a:ext cx="368640" cy="368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X</a:t>
              </a:r>
            </a:p>
          </p:txBody>
        </p:sp>
        <p:sp>
          <p:nvSpPr>
            <p:cNvPr id="769" name="CustomShape 19"/>
            <p:cNvSpPr/>
            <p:nvPr/>
          </p:nvSpPr>
          <p:spPr>
            <a:xfrm>
              <a:off x="5676840" y="3504960"/>
              <a:ext cx="368280" cy="368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Z</a:t>
              </a:r>
            </a:p>
          </p:txBody>
        </p:sp>
        <p:sp>
          <p:nvSpPr>
            <p:cNvPr id="770" name="CustomShape 20"/>
            <p:cNvSpPr/>
            <p:nvPr/>
          </p:nvSpPr>
          <p:spPr>
            <a:xfrm>
              <a:off x="6159600" y="1688760"/>
              <a:ext cx="1562040" cy="1346040"/>
            </a:xfrm>
            <a:prstGeom prst="rect">
              <a:avLst/>
            </a:prstGeom>
            <a:solidFill>
              <a:srgbClr val="BBE0E3">
                <a:alpha val="50000"/>
              </a:srgbClr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1" name="CustomShape 21"/>
            <p:cNvSpPr/>
            <p:nvPr/>
          </p:nvSpPr>
          <p:spPr>
            <a:xfrm>
              <a:off x="6159600" y="1460520"/>
              <a:ext cx="368280" cy="3682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spcBef>
                  <a:spcPts val="1123"/>
                </a:spcBef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Y</a:t>
              </a:r>
            </a:p>
          </p:txBody>
        </p:sp>
        <p:sp>
          <p:nvSpPr>
            <p:cNvPr id="772" name="Line 22"/>
            <p:cNvSpPr/>
            <p:nvPr/>
          </p:nvSpPr>
          <p:spPr>
            <a:xfrm>
              <a:off x="6159600" y="1574640"/>
              <a:ext cx="0" cy="143460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head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3" name="Line 23"/>
            <p:cNvSpPr/>
            <p:nvPr/>
          </p:nvSpPr>
          <p:spPr>
            <a:xfrm>
              <a:off x="6134040" y="3022200"/>
              <a:ext cx="1701720" cy="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  <a:tailEnd type="triangle" w="med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74" name="CustomShape 24"/>
            <p:cNvSpPr/>
            <p:nvPr/>
          </p:nvSpPr>
          <p:spPr>
            <a:xfrm>
              <a:off x="6210360" y="2984400"/>
              <a:ext cx="546120" cy="545760"/>
            </a:xfrm>
            <a:prstGeom prst="cube">
              <a:avLst>
                <a:gd name="adj" fmla="val 25000"/>
              </a:avLst>
            </a:prstGeom>
            <a:solidFill>
              <a:srgbClr val="339966"/>
            </a:solidFill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CustomShape 1"/>
          <p:cNvSpPr/>
          <p:nvPr/>
        </p:nvSpPr>
        <p:spPr>
          <a:xfrm>
            <a:off x="914400" y="-5724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Трехмерные геометрические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776" name="CustomShape 2"/>
          <p:cNvSpPr/>
          <p:nvPr/>
        </p:nvSpPr>
        <p:spPr>
          <a:xfrm>
            <a:off x="3454560" y="1244520"/>
            <a:ext cx="2768400" cy="38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Поворот </a:t>
            </a: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R=R</a:t>
            </a:r>
            <a:r>
              <a:rPr lang="en-US" sz="2000" b="1" strike="noStrike" spc="-1" baseline="-25000">
                <a:solidFill>
                  <a:srgbClr val="CC3300"/>
                </a:solidFill>
                <a:latin typeface="Arial"/>
              </a:rPr>
              <a:t>x</a:t>
            </a: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R</a:t>
            </a:r>
            <a:r>
              <a:rPr lang="en-US" sz="2000" b="1" strike="noStrike" spc="-1" baseline="-25000">
                <a:solidFill>
                  <a:srgbClr val="CC3300"/>
                </a:solidFill>
                <a:latin typeface="Arial"/>
              </a:rPr>
              <a:t>y</a:t>
            </a: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R</a:t>
            </a:r>
            <a:r>
              <a:rPr lang="en-US" sz="2000" b="1" strike="noStrike" spc="-1" baseline="-25000">
                <a:solidFill>
                  <a:srgbClr val="CC3300"/>
                </a:solidFill>
                <a:latin typeface="Arial"/>
              </a:rPr>
              <a:t>z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7" name="Group 3"/>
          <p:cNvGrpSpPr/>
          <p:nvPr/>
        </p:nvGrpSpPr>
        <p:grpSpPr>
          <a:xfrm>
            <a:off x="3163320" y="1793880"/>
            <a:ext cx="3032640" cy="1547640"/>
            <a:chOff x="3163320" y="1793880"/>
            <a:chExt cx="3032640" cy="1547640"/>
          </a:xfrm>
        </p:grpSpPr>
        <p:sp>
          <p:nvSpPr>
            <p:cNvPr id="778" name="CustomShape 4"/>
            <p:cNvSpPr/>
            <p:nvPr/>
          </p:nvSpPr>
          <p:spPr>
            <a:xfrm>
              <a:off x="3827160" y="1893960"/>
              <a:ext cx="2368800" cy="1313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cos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 sin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2000" b="0" strike="noStrike" spc="-1">
                  <a:solidFill>
                    <a:srgbClr val="000000"/>
                  </a:solidFill>
                  <a:latin typeface="Times New Roman"/>
                </a:rPr>
                <a:t>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0    0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-sin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cos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0 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0 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 0         0        1    0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 0         0        0    1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79" name="CustomShape 5"/>
            <p:cNvSpPr/>
            <p:nvPr/>
          </p:nvSpPr>
          <p:spPr>
            <a:xfrm>
              <a:off x="3952800" y="1793880"/>
              <a:ext cx="198108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0" name="CustomShape 6"/>
            <p:cNvSpPr/>
            <p:nvPr/>
          </p:nvSpPr>
          <p:spPr>
            <a:xfrm>
              <a:off x="3952800" y="3125880"/>
              <a:ext cx="198108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1" name="CustomShape 7"/>
            <p:cNvSpPr/>
            <p:nvPr/>
          </p:nvSpPr>
          <p:spPr>
            <a:xfrm>
              <a:off x="3163320" y="2376360"/>
              <a:ext cx="686520" cy="398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Rz =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2" name="CustomShape 8"/>
          <p:cNvSpPr/>
          <p:nvPr/>
        </p:nvSpPr>
        <p:spPr>
          <a:xfrm>
            <a:off x="3800520" y="3483000"/>
            <a:ext cx="2289240" cy="13256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255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1       0        0        0   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0     cos </a:t>
            </a:r>
            <a:r>
              <a:rPr lang="ru-RU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 sin </a:t>
            </a:r>
            <a:r>
              <a:rPr lang="ru-RU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 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0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0    -sin </a:t>
            </a:r>
            <a:r>
              <a:rPr lang="ru-RU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 cos </a:t>
            </a:r>
            <a:r>
              <a:rPr lang="ru-RU" sz="1800" b="1" strike="noStrike" spc="-1" dirty="0">
                <a:solidFill>
                  <a:srgbClr val="000000"/>
                </a:solidFill>
                <a:latin typeface="Symbol"/>
                <a:ea typeface="Symbol"/>
              </a:rPr>
              <a:t></a:t>
            </a:r>
            <a:r>
              <a:rPr lang="en-US" sz="1800" b="1" strike="noStrike" spc="-1" dirty="0">
                <a:solidFill>
                  <a:srgbClr val="000000"/>
                </a:solidFill>
                <a:latin typeface="Arial"/>
              </a:rPr>
              <a:t>  </a:t>
            </a: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0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>
                <a:solidFill>
                  <a:srgbClr val="000000"/>
                </a:solidFill>
                <a:latin typeface="Times New Roman"/>
              </a:rPr>
              <a:t> 0       0        0        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Times New Roman"/>
              </a:rPr>
              <a:t>1  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3" name="CustomShape 9"/>
          <p:cNvSpPr/>
          <p:nvPr/>
        </p:nvSpPr>
        <p:spPr>
          <a:xfrm>
            <a:off x="3951360" y="3381480"/>
            <a:ext cx="201600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4" name="CustomShape 10"/>
          <p:cNvSpPr/>
          <p:nvPr/>
        </p:nvSpPr>
        <p:spPr>
          <a:xfrm>
            <a:off x="3951360" y="4713120"/>
            <a:ext cx="2016000" cy="215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800" b="0" strike="noStrike" spc="-1">
                <a:solidFill>
                  <a:srgbClr val="000000"/>
                </a:solidFill>
                <a:latin typeface="Times New Roman"/>
              </a:rPr>
              <a:t>                    </a:t>
            </a:r>
            <a:endParaRPr lang="en-US" sz="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5" name="CustomShape 11"/>
          <p:cNvSpPr/>
          <p:nvPr/>
        </p:nvSpPr>
        <p:spPr>
          <a:xfrm>
            <a:off x="3188160" y="3963960"/>
            <a:ext cx="70200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000000"/>
                </a:solidFill>
                <a:latin typeface="Times New Roman"/>
              </a:rPr>
              <a:t>Rx =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6" name="Group 12"/>
          <p:cNvGrpSpPr/>
          <p:nvPr/>
        </p:nvGrpSpPr>
        <p:grpSpPr>
          <a:xfrm>
            <a:off x="3162960" y="4994280"/>
            <a:ext cx="2885040" cy="1547640"/>
            <a:chOff x="3162960" y="4994280"/>
            <a:chExt cx="2885040" cy="1547640"/>
          </a:xfrm>
        </p:grpSpPr>
        <p:sp>
          <p:nvSpPr>
            <p:cNvPr id="787" name="CustomShape 13"/>
            <p:cNvSpPr/>
            <p:nvPr/>
          </p:nvSpPr>
          <p:spPr>
            <a:xfrm>
              <a:off x="3805200" y="5094360"/>
              <a:ext cx="2242800" cy="1313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255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cos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0  -sin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2000" b="0" strike="noStrike" spc="-1">
                  <a:solidFill>
                    <a:srgbClr val="000000"/>
                  </a:solidFill>
                  <a:latin typeface="Times New Roman"/>
                </a:rPr>
                <a:t>  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 0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    1   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0       0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sin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0   cos </a:t>
              </a:r>
              <a:r>
                <a:rPr lang="ru-RU" sz="1800" b="1" strike="noStrike" spc="-1">
                  <a:solidFill>
                    <a:srgbClr val="000000"/>
                  </a:solidFill>
                  <a:latin typeface="Symbol"/>
                  <a:ea typeface="Symbol"/>
                </a:rPr>
                <a:t></a:t>
              </a:r>
              <a:r>
                <a:rPr lang="en-US" sz="1800" b="1" strike="noStrike" spc="-1">
                  <a:solidFill>
                    <a:srgbClr val="000000"/>
                  </a:solidFill>
                  <a:latin typeface="Arial"/>
                </a:rPr>
                <a:t>    </a:t>
              </a: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0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    0       0      0       1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8" name="CustomShape 14"/>
            <p:cNvSpPr/>
            <p:nvPr/>
          </p:nvSpPr>
          <p:spPr>
            <a:xfrm>
              <a:off x="3952800" y="4994280"/>
              <a:ext cx="198108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89" name="CustomShape 15"/>
            <p:cNvSpPr/>
            <p:nvPr/>
          </p:nvSpPr>
          <p:spPr>
            <a:xfrm>
              <a:off x="3952800" y="6326280"/>
              <a:ext cx="1981080" cy="21564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 b="0" strike="noStrike" spc="-1">
                  <a:solidFill>
                    <a:srgbClr val="000000"/>
                  </a:solidFill>
                  <a:latin typeface="Times New Roman"/>
                </a:rPr>
                <a:t>                    </a:t>
              </a:r>
              <a:endParaRPr lang="en-US" sz="8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90" name="CustomShape 16"/>
            <p:cNvSpPr/>
            <p:nvPr/>
          </p:nvSpPr>
          <p:spPr>
            <a:xfrm>
              <a:off x="3162960" y="5576760"/>
              <a:ext cx="702000" cy="398880"/>
            </a:xfrm>
            <a:custGeom>
              <a:avLst/>
              <a:gdLst/>
              <a:ahLst/>
              <a:cxn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0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strike="noStrike" spc="-1">
                  <a:solidFill>
                    <a:srgbClr val="000000"/>
                  </a:solidFill>
                  <a:latin typeface="Times New Roman"/>
                </a:rPr>
                <a:t>Ry =</a:t>
              </a:r>
              <a:endParaRPr lang="en-US" sz="2000" b="1" strike="noStrike" spc="-1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CustomShape 1"/>
          <p:cNvSpPr/>
          <p:nvPr/>
        </p:nvSpPr>
        <p:spPr>
          <a:xfrm>
            <a:off x="914400" y="-5724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Трехмерные геометрические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Произвольный поворот</a:t>
            </a:r>
            <a:r>
              <a:rPr lang="en-US" sz="2000" b="1" strike="noStrike" spc="-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792" name="CustomShape 2"/>
          <p:cNvSpPr/>
          <p:nvPr/>
        </p:nvSpPr>
        <p:spPr>
          <a:xfrm>
            <a:off x="4419720" y="1787400"/>
            <a:ext cx="2049480" cy="2146320"/>
          </a:xfrm>
          <a:prstGeom prst="rect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3" name="Line 3"/>
          <p:cNvSpPr/>
          <p:nvPr/>
        </p:nvSpPr>
        <p:spPr>
          <a:xfrm flipV="1">
            <a:off x="4444920" y="2444760"/>
            <a:ext cx="941400" cy="1512720"/>
          </a:xfrm>
          <a:prstGeom prst="line">
            <a:avLst/>
          </a:prstGeom>
          <a:ln w="38160">
            <a:solidFill>
              <a:srgbClr val="80808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4" name="Line 4"/>
          <p:cNvSpPr/>
          <p:nvPr/>
        </p:nvSpPr>
        <p:spPr>
          <a:xfrm flipV="1">
            <a:off x="4432320" y="2418840"/>
            <a:ext cx="941400" cy="1513080"/>
          </a:xfrm>
          <a:prstGeom prst="line">
            <a:avLst/>
          </a:prstGeom>
          <a:ln w="38160">
            <a:solidFill>
              <a:srgbClr val="CC33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5" name="CustomShape 5"/>
          <p:cNvSpPr/>
          <p:nvPr/>
        </p:nvSpPr>
        <p:spPr>
          <a:xfrm>
            <a:off x="3248981" y="3957480"/>
            <a:ext cx="3222720" cy="1331640"/>
          </a:xfrm>
          <a:custGeom>
            <a:avLst/>
            <a:gdLst/>
            <a:ahLst/>
            <a:cxnLst/>
            <a:rect l="0" t="0" r="r" b="b"/>
            <a:pathLst>
              <a:path w="8954" h="3701">
                <a:moveTo>
                  <a:pt x="3267" y="0"/>
                </a:moveTo>
                <a:lnTo>
                  <a:pt x="8953" y="0"/>
                </a:lnTo>
                <a:lnTo>
                  <a:pt x="5685" y="3700"/>
                </a:lnTo>
                <a:lnTo>
                  <a:pt x="0" y="3700"/>
                </a:lnTo>
                <a:lnTo>
                  <a:pt x="3267" y="0"/>
                </a:lnTo>
              </a:path>
            </a:pathLst>
          </a:cu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6" name="Line 6"/>
          <p:cNvSpPr/>
          <p:nvPr/>
        </p:nvSpPr>
        <p:spPr>
          <a:xfrm>
            <a:off x="5361120" y="2433600"/>
            <a:ext cx="0" cy="19623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7" name="Line 7"/>
          <p:cNvSpPr/>
          <p:nvPr/>
        </p:nvSpPr>
        <p:spPr>
          <a:xfrm flipH="1">
            <a:off x="4006440" y="4395960"/>
            <a:ext cx="1314360" cy="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8" name="CustomShape 8"/>
          <p:cNvSpPr/>
          <p:nvPr/>
        </p:nvSpPr>
        <p:spPr>
          <a:xfrm rot="16200000">
            <a:off x="2081880" y="2941560"/>
            <a:ext cx="3514680" cy="1198800"/>
          </a:xfrm>
          <a:custGeom>
            <a:avLst/>
            <a:gdLst/>
            <a:ahLst/>
            <a:cxnLst/>
            <a:rect l="0" t="0" r="r" b="b"/>
            <a:pathLst>
              <a:path w="9765" h="3332">
                <a:moveTo>
                  <a:pt x="3774" y="3331"/>
                </a:moveTo>
                <a:lnTo>
                  <a:pt x="9764" y="3331"/>
                </a:lnTo>
                <a:lnTo>
                  <a:pt x="5989" y="0"/>
                </a:lnTo>
                <a:lnTo>
                  <a:pt x="0" y="0"/>
                </a:lnTo>
                <a:lnTo>
                  <a:pt x="3774" y="3331"/>
                </a:lnTo>
              </a:path>
            </a:pathLst>
          </a:custGeom>
          <a:solidFill>
            <a:srgbClr val="9CCEB3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9" name="Line 9"/>
          <p:cNvSpPr/>
          <p:nvPr/>
        </p:nvSpPr>
        <p:spPr>
          <a:xfrm flipH="1">
            <a:off x="4044960" y="2433600"/>
            <a:ext cx="1303200" cy="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0" name="Line 10"/>
          <p:cNvSpPr/>
          <p:nvPr/>
        </p:nvSpPr>
        <p:spPr>
          <a:xfrm flipV="1">
            <a:off x="4006800" y="2447640"/>
            <a:ext cx="0" cy="1933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1" name="Line 11"/>
          <p:cNvSpPr/>
          <p:nvPr/>
        </p:nvSpPr>
        <p:spPr>
          <a:xfrm>
            <a:off x="4444920" y="3960720"/>
            <a:ext cx="903240" cy="4208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2" name="Line 12"/>
          <p:cNvSpPr/>
          <p:nvPr/>
        </p:nvSpPr>
        <p:spPr>
          <a:xfrm flipH="1" flipV="1">
            <a:off x="3994200" y="2433240"/>
            <a:ext cx="450720" cy="151308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6" name="CustomShape 16"/>
          <p:cNvSpPr/>
          <p:nvPr/>
        </p:nvSpPr>
        <p:spPr>
          <a:xfrm>
            <a:off x="6508800" y="4003560"/>
            <a:ext cx="347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X</a:t>
            </a:r>
          </a:p>
        </p:txBody>
      </p:sp>
      <p:sp>
        <p:nvSpPr>
          <p:cNvPr id="807" name="CustomShape 17"/>
          <p:cNvSpPr/>
          <p:nvPr/>
        </p:nvSpPr>
        <p:spPr>
          <a:xfrm>
            <a:off x="2743200" y="5068800"/>
            <a:ext cx="347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Z</a:t>
            </a:r>
          </a:p>
        </p:txBody>
      </p:sp>
      <p:sp>
        <p:nvSpPr>
          <p:cNvPr id="808" name="CustomShape 18"/>
          <p:cNvSpPr/>
          <p:nvPr/>
        </p:nvSpPr>
        <p:spPr>
          <a:xfrm>
            <a:off x="3975120" y="3303720"/>
            <a:ext cx="3999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Symbol"/>
                <a:ea typeface="Symbol"/>
              </a:rPr>
              <a:t>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CustomShape 19"/>
          <p:cNvSpPr/>
          <p:nvPr/>
        </p:nvSpPr>
        <p:spPr>
          <a:xfrm>
            <a:off x="4500720" y="4037040"/>
            <a:ext cx="3873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1800" b="1" strike="noStrike" spc="-1">
                <a:solidFill>
                  <a:srgbClr val="000000"/>
                </a:solidFill>
                <a:latin typeface="Symbol"/>
                <a:ea typeface="Symbol"/>
              </a:rPr>
              <a:t>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CustomShape 20"/>
          <p:cNvSpPr/>
          <p:nvPr/>
        </p:nvSpPr>
        <p:spPr>
          <a:xfrm>
            <a:off x="5380200" y="2398680"/>
            <a:ext cx="3330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V</a:t>
            </a:r>
          </a:p>
        </p:txBody>
      </p:sp>
      <p:sp>
        <p:nvSpPr>
          <p:cNvPr id="811" name="Line 21"/>
          <p:cNvSpPr/>
          <p:nvPr/>
        </p:nvSpPr>
        <p:spPr>
          <a:xfrm flipH="1">
            <a:off x="2975040" y="3946680"/>
            <a:ext cx="1457280" cy="165420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2" name="Line 22"/>
          <p:cNvSpPr/>
          <p:nvPr/>
        </p:nvSpPr>
        <p:spPr>
          <a:xfrm>
            <a:off x="4444920" y="3946680"/>
            <a:ext cx="2514600" cy="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3" name="CustomShape 23"/>
          <p:cNvSpPr/>
          <p:nvPr/>
        </p:nvSpPr>
        <p:spPr>
          <a:xfrm>
            <a:off x="4084560" y="1311120"/>
            <a:ext cx="347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spcBef>
                <a:spcPts val="1123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Y</a:t>
            </a:r>
          </a:p>
        </p:txBody>
      </p:sp>
      <p:sp>
        <p:nvSpPr>
          <p:cNvPr id="814" name="Line 24"/>
          <p:cNvSpPr/>
          <p:nvPr/>
        </p:nvSpPr>
        <p:spPr>
          <a:xfrm flipV="1">
            <a:off x="4432320" y="1269720"/>
            <a:ext cx="0" cy="267660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5" name="Line 25"/>
          <p:cNvSpPr/>
          <p:nvPr/>
        </p:nvSpPr>
        <p:spPr>
          <a:xfrm flipH="1">
            <a:off x="5372280" y="1960560"/>
            <a:ext cx="398160" cy="466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6" name="Line 26"/>
          <p:cNvSpPr/>
          <p:nvPr/>
        </p:nvSpPr>
        <p:spPr>
          <a:xfrm flipH="1">
            <a:off x="4425480" y="1963800"/>
            <a:ext cx="1303560" cy="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7" name="Line 27"/>
          <p:cNvSpPr/>
          <p:nvPr/>
        </p:nvSpPr>
        <p:spPr>
          <a:xfrm flipH="1">
            <a:off x="4009680" y="1960560"/>
            <a:ext cx="398520" cy="46656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8" name="Line 28"/>
          <p:cNvSpPr/>
          <p:nvPr/>
        </p:nvSpPr>
        <p:spPr>
          <a:xfrm>
            <a:off x="5770440" y="1986120"/>
            <a:ext cx="0" cy="196200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19" name="Line 29"/>
          <p:cNvSpPr/>
          <p:nvPr/>
        </p:nvSpPr>
        <p:spPr>
          <a:xfrm flipH="1">
            <a:off x="5372280" y="3941640"/>
            <a:ext cx="398160" cy="466920"/>
          </a:xfrm>
          <a:prstGeom prst="line">
            <a:avLst/>
          </a:prstGeom>
          <a:ln w="9360">
            <a:solidFill>
              <a:srgbClr val="000000"/>
            </a:solidFill>
            <a:prstDash val="lgDash"/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0" name="CustomShape 30"/>
          <p:cNvSpPr/>
          <p:nvPr/>
        </p:nvSpPr>
        <p:spPr>
          <a:xfrm>
            <a:off x="3517433" y="4074377"/>
            <a:ext cx="4183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 dirty="0" err="1">
                <a:solidFill>
                  <a:srgbClr val="000000"/>
                </a:solidFill>
                <a:latin typeface="Arial"/>
              </a:rPr>
              <a:t>Vz</a:t>
            </a:r>
            <a:endParaRPr lang="en-US" sz="16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CustomShape 31"/>
          <p:cNvSpPr/>
          <p:nvPr/>
        </p:nvSpPr>
        <p:spPr>
          <a:xfrm>
            <a:off x="4865040" y="3641760"/>
            <a:ext cx="4183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Vx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CustomShape 32"/>
          <p:cNvSpPr/>
          <p:nvPr/>
        </p:nvSpPr>
        <p:spPr>
          <a:xfrm>
            <a:off x="4398480" y="2851200"/>
            <a:ext cx="418320" cy="337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600" b="0" strike="noStrike" spc="-1">
                <a:solidFill>
                  <a:srgbClr val="000000"/>
                </a:solidFill>
                <a:latin typeface="Arial"/>
              </a:rPr>
              <a:t>Vy</a:t>
            </a:r>
            <a:endParaRPr lang="en-US" sz="16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Дуга 1"/>
          <p:cNvSpPr/>
          <p:nvPr/>
        </p:nvSpPr>
        <p:spPr>
          <a:xfrm rot="5738485">
            <a:off x="4332384" y="3863663"/>
            <a:ext cx="216024" cy="314778"/>
          </a:xfrm>
          <a:prstGeom prst="arc">
            <a:avLst>
              <a:gd name="adj1" fmla="val 16200000"/>
              <a:gd name="adj2" fmla="val 349949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Дуга 2"/>
          <p:cNvSpPr/>
          <p:nvPr/>
        </p:nvSpPr>
        <p:spPr>
          <a:xfrm rot="13463925">
            <a:off x="4271042" y="3640250"/>
            <a:ext cx="432048" cy="501361"/>
          </a:xfrm>
          <a:prstGeom prst="arc">
            <a:avLst>
              <a:gd name="adj1" fmla="val 16200000"/>
              <a:gd name="adj2" fmla="val 847505"/>
            </a:avLst>
          </a:prstGeom>
          <a:ln w="19050" cmpd="dbl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CustomShape 1"/>
          <p:cNvSpPr/>
          <p:nvPr/>
        </p:nvSpPr>
        <p:spPr>
          <a:xfrm>
            <a:off x="914400" y="-20016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t/>
            </a:r>
            <a:br/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Коммутативность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24" name="Table 2"/>
          <p:cNvGraphicFramePr/>
          <p:nvPr/>
        </p:nvGraphicFramePr>
        <p:xfrm>
          <a:off x="1397160" y="1798560"/>
          <a:ext cx="6692760" cy="3739680"/>
        </p:xfrm>
        <a:graphic>
          <a:graphicData uri="http://schemas.openxmlformats.org/drawingml/2006/table">
            <a:tbl>
              <a:tblPr/>
              <a:tblGrid>
                <a:gridCol w="3441600"/>
                <a:gridCol w="3251160"/>
              </a:tblGrid>
              <a:tr h="536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M1</a:t>
                      </a:r>
                      <a:endParaRPr lang="en-US" sz="24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98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4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M2</a:t>
                      </a:r>
                      <a:endParaRPr lang="en-US" sz="24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1368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07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Перенос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Перенос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5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Масштабирование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Масштабирование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5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Поворот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 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(</a:t>
                      </a: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вокруг одной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Поворот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и той же оси)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576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765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Масштабирование 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(при </a:t>
                      </a:r>
                      <a:r>
                        <a:rPr lang="en-US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Sx=Sy=Sz</a:t>
                      </a: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)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13680">
                      <a:solidFill>
                        <a:srgbClr val="000000"/>
                      </a:solidFill>
                    </a:lnL>
                    <a:lnR w="576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ru-RU" sz="2000" b="0" strike="noStrike" spc="-1">
                          <a:solidFill>
                            <a:srgbClr val="000000"/>
                          </a:solidFill>
                          <a:latin typeface="Times New Roman"/>
                        </a:rPr>
                        <a:t>Поворот</a:t>
                      </a:r>
                      <a:endParaRPr lang="en-US" sz="2000" b="1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0000" marR="90000">
                    <a:lnL w="5760">
                      <a:solidFill>
                        <a:srgbClr val="000000"/>
                      </a:solidFill>
                    </a:lnL>
                    <a:lnR w="13680">
                      <a:solidFill>
                        <a:srgbClr val="000000"/>
                      </a:solidFill>
                    </a:lnR>
                    <a:lnT w="5760">
                      <a:solidFill>
                        <a:srgbClr val="000000"/>
                      </a:solidFill>
                    </a:lnT>
                    <a:lnB w="136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Line 1"/>
          <p:cNvSpPr/>
          <p:nvPr/>
        </p:nvSpPr>
        <p:spPr>
          <a:xfrm flipV="1">
            <a:off x="5918040" y="1333440"/>
            <a:ext cx="711360" cy="711360"/>
          </a:xfrm>
          <a:prstGeom prst="line">
            <a:avLst/>
          </a:prstGeom>
          <a:ln w="2232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6" name="Line 2"/>
          <p:cNvSpPr/>
          <p:nvPr/>
        </p:nvSpPr>
        <p:spPr>
          <a:xfrm flipV="1">
            <a:off x="1714680" y="1320480"/>
            <a:ext cx="711000" cy="711000"/>
          </a:xfrm>
          <a:prstGeom prst="line">
            <a:avLst/>
          </a:prstGeom>
          <a:ln w="2232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7" name="CustomShape 3"/>
          <p:cNvSpPr/>
          <p:nvPr/>
        </p:nvSpPr>
        <p:spPr>
          <a:xfrm>
            <a:off x="914400" y="-209520"/>
            <a:ext cx="8229600" cy="11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2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Геометрические преобразования</a:t>
            </a:r>
            <a:r>
              <a:t/>
            </a:r>
            <a:br/>
            <a:r>
              <a:rPr lang="ru-RU" sz="2000" b="1" strike="noStrike" spc="-1">
                <a:solidFill>
                  <a:srgbClr val="000000"/>
                </a:solidFill>
                <a:latin typeface="Arial"/>
              </a:rPr>
              <a:t>как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 изменения</a:t>
            </a: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 </a:t>
            </a:r>
            <a:r>
              <a:rPr lang="ru-RU" sz="2000" b="1" strike="noStrike" spc="-1">
                <a:solidFill>
                  <a:srgbClr val="CC3300"/>
                </a:solidFill>
                <a:latin typeface="Arial"/>
              </a:rPr>
              <a:t>координатных систем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CustomShape 4"/>
          <p:cNvSpPr/>
          <p:nvPr/>
        </p:nvSpPr>
        <p:spPr>
          <a:xfrm>
            <a:off x="915120" y="2805120"/>
            <a:ext cx="471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C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1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CustomShape 5"/>
          <p:cNvSpPr/>
          <p:nvPr/>
        </p:nvSpPr>
        <p:spPr>
          <a:xfrm>
            <a:off x="844920" y="3621240"/>
            <a:ext cx="3834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a)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Line 6"/>
          <p:cNvSpPr/>
          <p:nvPr/>
        </p:nvSpPr>
        <p:spPr>
          <a:xfrm flipV="1">
            <a:off x="1477800" y="938160"/>
            <a:ext cx="0" cy="22068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1" name="Line 7"/>
          <p:cNvSpPr/>
          <p:nvPr/>
        </p:nvSpPr>
        <p:spPr>
          <a:xfrm>
            <a:off x="1477800" y="3144960"/>
            <a:ext cx="19004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2" name="Line 8"/>
          <p:cNvSpPr/>
          <p:nvPr/>
        </p:nvSpPr>
        <p:spPr>
          <a:xfrm flipV="1">
            <a:off x="2197080" y="302904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3" name="Line 9"/>
          <p:cNvSpPr/>
          <p:nvPr/>
        </p:nvSpPr>
        <p:spPr>
          <a:xfrm flipV="1">
            <a:off x="2921040" y="302904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4" name="Line 10"/>
          <p:cNvSpPr/>
          <p:nvPr/>
        </p:nvSpPr>
        <p:spPr>
          <a:xfrm>
            <a:off x="1479600" y="170496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5" name="Line 11"/>
          <p:cNvSpPr/>
          <p:nvPr/>
        </p:nvSpPr>
        <p:spPr>
          <a:xfrm>
            <a:off x="1479600" y="241920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36" name="Group 12"/>
          <p:cNvGrpSpPr/>
          <p:nvPr/>
        </p:nvGrpSpPr>
        <p:grpSpPr>
          <a:xfrm>
            <a:off x="1841400" y="3029040"/>
            <a:ext cx="1438200" cy="101520"/>
            <a:chOff x="1841400" y="3029040"/>
            <a:chExt cx="1438200" cy="101520"/>
          </a:xfrm>
        </p:grpSpPr>
        <p:sp>
          <p:nvSpPr>
            <p:cNvPr id="837" name="Line 13"/>
            <p:cNvSpPr/>
            <p:nvPr/>
          </p:nvSpPr>
          <p:spPr>
            <a:xfrm flipV="1">
              <a:off x="1841400" y="302904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8" name="Line 14"/>
            <p:cNvSpPr/>
            <p:nvPr/>
          </p:nvSpPr>
          <p:spPr>
            <a:xfrm flipV="1">
              <a:off x="2565000" y="302904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39" name="Line 15"/>
            <p:cNvSpPr/>
            <p:nvPr/>
          </p:nvSpPr>
          <p:spPr>
            <a:xfrm flipV="1">
              <a:off x="3279600" y="302904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40" name="Group 16"/>
          <p:cNvGrpSpPr/>
          <p:nvPr/>
        </p:nvGrpSpPr>
        <p:grpSpPr>
          <a:xfrm>
            <a:off x="1481040" y="1357560"/>
            <a:ext cx="101520" cy="1438200"/>
            <a:chOff x="1481040" y="1357560"/>
            <a:chExt cx="101520" cy="1438200"/>
          </a:xfrm>
        </p:grpSpPr>
        <p:sp>
          <p:nvSpPr>
            <p:cNvPr id="841" name="Line 17"/>
            <p:cNvSpPr/>
            <p:nvPr/>
          </p:nvSpPr>
          <p:spPr>
            <a:xfrm flipH="1">
              <a:off x="1481040" y="27957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2" name="Line 18"/>
            <p:cNvSpPr/>
            <p:nvPr/>
          </p:nvSpPr>
          <p:spPr>
            <a:xfrm flipH="1">
              <a:off x="1481040" y="20721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3" name="Line 19"/>
            <p:cNvSpPr/>
            <p:nvPr/>
          </p:nvSpPr>
          <p:spPr>
            <a:xfrm flipH="1">
              <a:off x="1481040" y="13575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44" name="CustomShape 20"/>
          <p:cNvSpPr/>
          <p:nvPr/>
        </p:nvSpPr>
        <p:spPr>
          <a:xfrm rot="19049400">
            <a:off x="2147400" y="2028600"/>
            <a:ext cx="9396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45" name="CustomShape 21"/>
          <p:cNvSpPr/>
          <p:nvPr/>
        </p:nvSpPr>
        <p:spPr>
          <a:xfrm>
            <a:off x="2286000" y="2070000"/>
            <a:ext cx="854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 (2 3)</a:t>
            </a:r>
          </a:p>
        </p:txBody>
      </p:sp>
      <p:grpSp>
        <p:nvGrpSpPr>
          <p:cNvPr id="846" name="Group 22"/>
          <p:cNvGrpSpPr/>
          <p:nvPr/>
        </p:nvGrpSpPr>
        <p:grpSpPr>
          <a:xfrm>
            <a:off x="5657760" y="1136520"/>
            <a:ext cx="2165400" cy="2016000"/>
            <a:chOff x="5657760" y="1136520"/>
            <a:chExt cx="2165400" cy="2016000"/>
          </a:xfrm>
        </p:grpSpPr>
        <p:sp>
          <p:nvSpPr>
            <p:cNvPr id="847" name="Line 23"/>
            <p:cNvSpPr/>
            <p:nvPr/>
          </p:nvSpPr>
          <p:spPr>
            <a:xfrm flipV="1">
              <a:off x="5657760" y="1136520"/>
              <a:ext cx="0" cy="201600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48" name="Line 24"/>
            <p:cNvSpPr/>
            <p:nvPr/>
          </p:nvSpPr>
          <p:spPr>
            <a:xfrm>
              <a:off x="5657760" y="3152520"/>
              <a:ext cx="216540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49" name="Line 25"/>
          <p:cNvSpPr/>
          <p:nvPr/>
        </p:nvSpPr>
        <p:spPr>
          <a:xfrm flipV="1">
            <a:off x="6375240" y="303840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0" name="Line 26"/>
          <p:cNvSpPr/>
          <p:nvPr/>
        </p:nvSpPr>
        <p:spPr>
          <a:xfrm flipV="1">
            <a:off x="7086600" y="303840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1" name="Line 27"/>
          <p:cNvSpPr/>
          <p:nvPr/>
        </p:nvSpPr>
        <p:spPr>
          <a:xfrm flipV="1">
            <a:off x="6730920" y="303840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2" name="Line 28"/>
          <p:cNvSpPr/>
          <p:nvPr/>
        </p:nvSpPr>
        <p:spPr>
          <a:xfrm flipV="1">
            <a:off x="5981760" y="302580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53" name="Line 29"/>
          <p:cNvSpPr/>
          <p:nvPr/>
        </p:nvSpPr>
        <p:spPr>
          <a:xfrm flipV="1">
            <a:off x="7454880" y="303840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854" name="Group 30"/>
          <p:cNvGrpSpPr/>
          <p:nvPr/>
        </p:nvGrpSpPr>
        <p:grpSpPr>
          <a:xfrm>
            <a:off x="5661000" y="1708200"/>
            <a:ext cx="101520" cy="1447920"/>
            <a:chOff x="5661000" y="1708200"/>
            <a:chExt cx="101520" cy="1447920"/>
          </a:xfrm>
        </p:grpSpPr>
        <p:sp>
          <p:nvSpPr>
            <p:cNvPr id="855" name="Line 31"/>
            <p:cNvSpPr/>
            <p:nvPr/>
          </p:nvSpPr>
          <p:spPr>
            <a:xfrm flipH="1">
              <a:off x="5661000" y="278784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6" name="Line 32"/>
            <p:cNvSpPr/>
            <p:nvPr/>
          </p:nvSpPr>
          <p:spPr>
            <a:xfrm flipH="1">
              <a:off x="5661000" y="207648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7" name="Line 33"/>
            <p:cNvSpPr/>
            <p:nvPr/>
          </p:nvSpPr>
          <p:spPr>
            <a:xfrm flipH="1">
              <a:off x="5661000" y="24321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8" name="Line 34"/>
            <p:cNvSpPr/>
            <p:nvPr/>
          </p:nvSpPr>
          <p:spPr>
            <a:xfrm flipH="1">
              <a:off x="5661000" y="315612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9" name="Line 35"/>
            <p:cNvSpPr/>
            <p:nvPr/>
          </p:nvSpPr>
          <p:spPr>
            <a:xfrm flipH="1">
              <a:off x="5661000" y="170820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60" name="CustomShape 36"/>
          <p:cNvSpPr/>
          <p:nvPr/>
        </p:nvSpPr>
        <p:spPr>
          <a:xfrm>
            <a:off x="2463480" y="139716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CustomShape 37"/>
          <p:cNvSpPr/>
          <p:nvPr/>
        </p:nvSpPr>
        <p:spPr>
          <a:xfrm>
            <a:off x="1965600" y="3336840"/>
            <a:ext cx="1105920" cy="3988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>
                <a:solidFill>
                  <a:srgbClr val="CC3300"/>
                </a:solidFill>
                <a:latin typeface="Arial"/>
              </a:rPr>
              <a:t>p’ = p*T</a:t>
            </a:r>
            <a:endParaRPr lang="en-US" sz="20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2" name="CustomShape 38"/>
          <p:cNvSpPr/>
          <p:nvPr/>
        </p:nvSpPr>
        <p:spPr>
          <a:xfrm>
            <a:off x="5118840" y="2817720"/>
            <a:ext cx="471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C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1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3" name="CustomShape 39"/>
          <p:cNvSpPr/>
          <p:nvPr/>
        </p:nvSpPr>
        <p:spPr>
          <a:xfrm>
            <a:off x="4959360" y="3710160"/>
            <a:ext cx="3970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333399"/>
                </a:solidFill>
                <a:latin typeface="Arial"/>
              </a:rPr>
              <a:t>b)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4" name="CustomShape 40"/>
          <p:cNvSpPr/>
          <p:nvPr/>
        </p:nvSpPr>
        <p:spPr>
          <a:xfrm rot="19049400">
            <a:off x="6351120" y="202860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5" name="CustomShape 41"/>
          <p:cNvSpPr/>
          <p:nvPr/>
        </p:nvSpPr>
        <p:spPr>
          <a:xfrm>
            <a:off x="6489720" y="2006640"/>
            <a:ext cx="85428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 (2 3)</a:t>
            </a:r>
          </a:p>
        </p:txBody>
      </p:sp>
      <p:sp>
        <p:nvSpPr>
          <p:cNvPr id="866" name="CustomShape 42"/>
          <p:cNvSpPr/>
          <p:nvPr/>
        </p:nvSpPr>
        <p:spPr>
          <a:xfrm>
            <a:off x="6680160" y="138420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7" name="Line 43"/>
          <p:cNvSpPr/>
          <p:nvPr/>
        </p:nvSpPr>
        <p:spPr>
          <a:xfrm flipV="1">
            <a:off x="2171880" y="4483080"/>
            <a:ext cx="711000" cy="711360"/>
          </a:xfrm>
          <a:prstGeom prst="line">
            <a:avLst/>
          </a:prstGeom>
          <a:ln w="2232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68" name="CustomShape 44"/>
          <p:cNvSpPr/>
          <p:nvPr/>
        </p:nvSpPr>
        <p:spPr>
          <a:xfrm>
            <a:off x="889560" y="5891040"/>
            <a:ext cx="47160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C</a:t>
            </a:r>
            <a:r>
              <a:rPr lang="ru-RU" sz="1800" b="1" strike="noStrike" spc="-1">
                <a:solidFill>
                  <a:srgbClr val="000000"/>
                </a:solidFill>
                <a:latin typeface="Arial"/>
              </a:rPr>
              <a:t>1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" name="Line 45"/>
          <p:cNvSpPr/>
          <p:nvPr/>
        </p:nvSpPr>
        <p:spPr>
          <a:xfrm flipV="1">
            <a:off x="1477800" y="4036680"/>
            <a:ext cx="0" cy="220644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0" name="Line 46"/>
          <p:cNvSpPr/>
          <p:nvPr/>
        </p:nvSpPr>
        <p:spPr>
          <a:xfrm>
            <a:off x="1477800" y="6243480"/>
            <a:ext cx="190044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1" name="Line 47"/>
          <p:cNvSpPr/>
          <p:nvPr/>
        </p:nvSpPr>
        <p:spPr>
          <a:xfrm flipV="1">
            <a:off x="2197080" y="612792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2" name="Line 48"/>
          <p:cNvSpPr/>
          <p:nvPr/>
        </p:nvSpPr>
        <p:spPr>
          <a:xfrm flipV="1">
            <a:off x="2921040" y="612792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3" name="Line 49"/>
          <p:cNvSpPr/>
          <p:nvPr/>
        </p:nvSpPr>
        <p:spPr>
          <a:xfrm>
            <a:off x="1479600" y="480384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4" name="Line 50"/>
          <p:cNvSpPr/>
          <p:nvPr/>
        </p:nvSpPr>
        <p:spPr>
          <a:xfrm>
            <a:off x="1479600" y="551808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5" name="CustomShape 51"/>
          <p:cNvSpPr/>
          <p:nvPr/>
        </p:nvSpPr>
        <p:spPr>
          <a:xfrm rot="19049400">
            <a:off x="2871360" y="4416120"/>
            <a:ext cx="93600" cy="9360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6" name="CustomShape 52"/>
          <p:cNvSpPr/>
          <p:nvPr/>
        </p:nvSpPr>
        <p:spPr>
          <a:xfrm>
            <a:off x="3034800" y="4381560"/>
            <a:ext cx="918360" cy="642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p’ (4 5)</a:t>
            </a: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7" name="Group 53"/>
          <p:cNvGrpSpPr/>
          <p:nvPr/>
        </p:nvGrpSpPr>
        <p:grpSpPr>
          <a:xfrm>
            <a:off x="1841400" y="6127920"/>
            <a:ext cx="1438200" cy="101520"/>
            <a:chOff x="1841400" y="6127920"/>
            <a:chExt cx="1438200" cy="101520"/>
          </a:xfrm>
        </p:grpSpPr>
        <p:sp>
          <p:nvSpPr>
            <p:cNvPr id="878" name="Line 54"/>
            <p:cNvSpPr/>
            <p:nvPr/>
          </p:nvSpPr>
          <p:spPr>
            <a:xfrm flipV="1">
              <a:off x="1841400" y="612792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79" name="Line 55"/>
            <p:cNvSpPr/>
            <p:nvPr/>
          </p:nvSpPr>
          <p:spPr>
            <a:xfrm flipV="1">
              <a:off x="2565000" y="612792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0" name="Line 56"/>
            <p:cNvSpPr/>
            <p:nvPr/>
          </p:nvSpPr>
          <p:spPr>
            <a:xfrm flipV="1">
              <a:off x="3279600" y="612792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81" name="Group 57"/>
          <p:cNvGrpSpPr/>
          <p:nvPr/>
        </p:nvGrpSpPr>
        <p:grpSpPr>
          <a:xfrm>
            <a:off x="1481040" y="4455720"/>
            <a:ext cx="101520" cy="1438200"/>
            <a:chOff x="1481040" y="4455720"/>
            <a:chExt cx="101520" cy="1438200"/>
          </a:xfrm>
        </p:grpSpPr>
        <p:sp>
          <p:nvSpPr>
            <p:cNvPr id="882" name="Line 58"/>
            <p:cNvSpPr/>
            <p:nvPr/>
          </p:nvSpPr>
          <p:spPr>
            <a:xfrm flipH="1">
              <a:off x="1481040" y="589392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3" name="Line 59"/>
            <p:cNvSpPr/>
            <p:nvPr/>
          </p:nvSpPr>
          <p:spPr>
            <a:xfrm flipH="1">
              <a:off x="1481040" y="517032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84" name="Line 60"/>
            <p:cNvSpPr/>
            <p:nvPr/>
          </p:nvSpPr>
          <p:spPr>
            <a:xfrm flipH="1">
              <a:off x="1481040" y="445572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885" name="CustomShape 61"/>
          <p:cNvSpPr/>
          <p:nvPr/>
        </p:nvSpPr>
        <p:spPr>
          <a:xfrm rot="19049400">
            <a:off x="2147400" y="5127120"/>
            <a:ext cx="93960" cy="939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6" name="CustomShape 62"/>
          <p:cNvSpPr/>
          <p:nvPr/>
        </p:nvSpPr>
        <p:spPr>
          <a:xfrm>
            <a:off x="2158920" y="524520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  <p:sp>
        <p:nvSpPr>
          <p:cNvPr id="887" name="CustomShape 63"/>
          <p:cNvSpPr/>
          <p:nvPr/>
        </p:nvSpPr>
        <p:spPr>
          <a:xfrm>
            <a:off x="2286000" y="444492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8" name="Line 64"/>
          <p:cNvSpPr/>
          <p:nvPr/>
        </p:nvSpPr>
        <p:spPr>
          <a:xfrm flipV="1">
            <a:off x="6381720" y="3958920"/>
            <a:ext cx="3240" cy="157140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89" name="Line 65"/>
          <p:cNvSpPr/>
          <p:nvPr/>
        </p:nvSpPr>
        <p:spPr>
          <a:xfrm>
            <a:off x="6381720" y="5530680"/>
            <a:ext cx="21654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0" name="Line 66"/>
          <p:cNvSpPr/>
          <p:nvPr/>
        </p:nvSpPr>
        <p:spPr>
          <a:xfrm flipV="1">
            <a:off x="7099200" y="541656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1" name="Line 67"/>
          <p:cNvSpPr/>
          <p:nvPr/>
        </p:nvSpPr>
        <p:spPr>
          <a:xfrm flipV="1">
            <a:off x="7810560" y="541656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2" name="Line 68"/>
          <p:cNvSpPr/>
          <p:nvPr/>
        </p:nvSpPr>
        <p:spPr>
          <a:xfrm flipV="1">
            <a:off x="7454880" y="541656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3" name="Line 69"/>
          <p:cNvSpPr/>
          <p:nvPr/>
        </p:nvSpPr>
        <p:spPr>
          <a:xfrm flipV="1">
            <a:off x="6705720" y="541656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4" name="Line 70"/>
          <p:cNvSpPr/>
          <p:nvPr/>
        </p:nvSpPr>
        <p:spPr>
          <a:xfrm flipV="1">
            <a:off x="8178840" y="5416560"/>
            <a:ext cx="0" cy="1015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5" name="Line 71"/>
          <p:cNvSpPr/>
          <p:nvPr/>
        </p:nvSpPr>
        <p:spPr>
          <a:xfrm flipH="1">
            <a:off x="6382800" y="5164200"/>
            <a:ext cx="1018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6" name="Line 72"/>
          <p:cNvSpPr/>
          <p:nvPr/>
        </p:nvSpPr>
        <p:spPr>
          <a:xfrm flipH="1">
            <a:off x="6382800" y="4452840"/>
            <a:ext cx="1018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7" name="Line 73"/>
          <p:cNvSpPr/>
          <p:nvPr/>
        </p:nvSpPr>
        <p:spPr>
          <a:xfrm flipH="1">
            <a:off x="6384960" y="480996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8" name="Line 74"/>
          <p:cNvSpPr/>
          <p:nvPr/>
        </p:nvSpPr>
        <p:spPr>
          <a:xfrm flipH="1">
            <a:off x="6382800" y="5532480"/>
            <a:ext cx="10188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99" name="CustomShape 75"/>
          <p:cNvSpPr/>
          <p:nvPr/>
        </p:nvSpPr>
        <p:spPr>
          <a:xfrm>
            <a:off x="5105880" y="5897520"/>
            <a:ext cx="476454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C2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0" name="CustomShape 76"/>
          <p:cNvSpPr/>
          <p:nvPr/>
        </p:nvSpPr>
        <p:spPr>
          <a:xfrm>
            <a:off x="5944320" y="5195880"/>
            <a:ext cx="476454" cy="37151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 dirty="0" smtClean="0">
                <a:solidFill>
                  <a:srgbClr val="000000"/>
                </a:solidFill>
                <a:latin typeface="Arial"/>
              </a:rPr>
              <a:t>C1</a:t>
            </a:r>
            <a:endParaRPr lang="en-US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1" name="Line 77"/>
          <p:cNvSpPr/>
          <p:nvPr/>
        </p:nvSpPr>
        <p:spPr>
          <a:xfrm flipV="1">
            <a:off x="5656320" y="3951360"/>
            <a:ext cx="0" cy="230832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2" name="Line 78"/>
          <p:cNvSpPr/>
          <p:nvPr/>
        </p:nvSpPr>
        <p:spPr>
          <a:xfrm>
            <a:off x="5656320" y="6259680"/>
            <a:ext cx="2890800" cy="0"/>
          </a:xfrm>
          <a:prstGeom prst="line">
            <a:avLst/>
          </a:prstGeom>
          <a:ln w="93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903" name="Group 79"/>
          <p:cNvGrpSpPr/>
          <p:nvPr/>
        </p:nvGrpSpPr>
        <p:grpSpPr>
          <a:xfrm>
            <a:off x="6375240" y="6156360"/>
            <a:ext cx="1438200" cy="101520"/>
            <a:chOff x="6375240" y="6156360"/>
            <a:chExt cx="1438200" cy="101520"/>
          </a:xfrm>
        </p:grpSpPr>
        <p:sp>
          <p:nvSpPr>
            <p:cNvPr id="904" name="Line 80"/>
            <p:cNvSpPr/>
            <p:nvPr/>
          </p:nvSpPr>
          <p:spPr>
            <a:xfrm flipV="1">
              <a:off x="637524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5" name="Line 81"/>
            <p:cNvSpPr/>
            <p:nvPr/>
          </p:nvSpPr>
          <p:spPr>
            <a:xfrm flipV="1">
              <a:off x="709884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06" name="Line 82"/>
            <p:cNvSpPr/>
            <p:nvPr/>
          </p:nvSpPr>
          <p:spPr>
            <a:xfrm flipV="1">
              <a:off x="781344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07" name="Line 83"/>
          <p:cNvSpPr/>
          <p:nvPr/>
        </p:nvSpPr>
        <p:spPr>
          <a:xfrm>
            <a:off x="5657760" y="481968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8" name="Line 84"/>
          <p:cNvSpPr/>
          <p:nvPr/>
        </p:nvSpPr>
        <p:spPr>
          <a:xfrm>
            <a:off x="5657760" y="5533920"/>
            <a:ext cx="1015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09" name="CustomShape 85"/>
          <p:cNvSpPr/>
          <p:nvPr/>
        </p:nvSpPr>
        <p:spPr>
          <a:xfrm rot="19049400">
            <a:off x="7037280" y="4406400"/>
            <a:ext cx="93600" cy="93960"/>
          </a:xfrm>
          <a:prstGeom prst="ellipse">
            <a:avLst/>
          </a:prstGeom>
          <a:solidFill>
            <a:srgbClr val="00FF00"/>
          </a:solidFill>
          <a:ln w="936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910" name="Group 86"/>
          <p:cNvGrpSpPr/>
          <p:nvPr/>
        </p:nvGrpSpPr>
        <p:grpSpPr>
          <a:xfrm>
            <a:off x="6019920" y="6156360"/>
            <a:ext cx="1438200" cy="101520"/>
            <a:chOff x="6019920" y="6156360"/>
            <a:chExt cx="1438200" cy="101520"/>
          </a:xfrm>
        </p:grpSpPr>
        <p:sp>
          <p:nvSpPr>
            <p:cNvPr id="911" name="Line 87"/>
            <p:cNvSpPr/>
            <p:nvPr/>
          </p:nvSpPr>
          <p:spPr>
            <a:xfrm flipV="1">
              <a:off x="601992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2" name="Line 88"/>
            <p:cNvSpPr/>
            <p:nvPr/>
          </p:nvSpPr>
          <p:spPr>
            <a:xfrm flipV="1">
              <a:off x="674352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3" name="Line 89"/>
            <p:cNvSpPr/>
            <p:nvPr/>
          </p:nvSpPr>
          <p:spPr>
            <a:xfrm flipV="1">
              <a:off x="7458120" y="6156360"/>
              <a:ext cx="0" cy="101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914" name="Group 90"/>
          <p:cNvGrpSpPr/>
          <p:nvPr/>
        </p:nvGrpSpPr>
        <p:grpSpPr>
          <a:xfrm>
            <a:off x="5659560" y="4458960"/>
            <a:ext cx="101520" cy="1438200"/>
            <a:chOff x="5659560" y="4458960"/>
            <a:chExt cx="101520" cy="1438200"/>
          </a:xfrm>
        </p:grpSpPr>
        <p:sp>
          <p:nvSpPr>
            <p:cNvPr id="915" name="Line 91"/>
            <p:cNvSpPr/>
            <p:nvPr/>
          </p:nvSpPr>
          <p:spPr>
            <a:xfrm flipH="1">
              <a:off x="5659560" y="58971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6" name="Line 92"/>
            <p:cNvSpPr/>
            <p:nvPr/>
          </p:nvSpPr>
          <p:spPr>
            <a:xfrm flipH="1">
              <a:off x="5659560" y="51735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17" name="Line 93"/>
            <p:cNvSpPr/>
            <p:nvPr/>
          </p:nvSpPr>
          <p:spPr>
            <a:xfrm flipH="1">
              <a:off x="5659560" y="4458960"/>
              <a:ext cx="101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918" name="Line 94"/>
          <p:cNvSpPr/>
          <p:nvPr/>
        </p:nvSpPr>
        <p:spPr>
          <a:xfrm flipV="1">
            <a:off x="5664240" y="5540040"/>
            <a:ext cx="711000" cy="711000"/>
          </a:xfrm>
          <a:prstGeom prst="line">
            <a:avLst/>
          </a:prstGeom>
          <a:ln w="25560">
            <a:solidFill>
              <a:srgbClr val="000000"/>
            </a:solidFill>
            <a:miter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19" name="CustomShape 95"/>
          <p:cNvSpPr/>
          <p:nvPr/>
        </p:nvSpPr>
        <p:spPr>
          <a:xfrm>
            <a:off x="6172200" y="571824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CC3300"/>
                </a:solidFill>
                <a:latin typeface="Arial"/>
              </a:rPr>
              <a:t>T</a:t>
            </a:r>
            <a:endParaRPr lang="en-US" sz="1800" b="1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CustomShape 96"/>
          <p:cNvSpPr/>
          <p:nvPr/>
        </p:nvSpPr>
        <p:spPr>
          <a:xfrm>
            <a:off x="6117840" y="3375000"/>
            <a:ext cx="1297897" cy="4022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strike="noStrike" spc="-1" dirty="0" smtClean="0">
                <a:solidFill>
                  <a:srgbClr val="CC3300"/>
                </a:solidFill>
                <a:latin typeface="Arial"/>
              </a:rPr>
              <a:t>c1 </a:t>
            </a:r>
            <a:r>
              <a:rPr lang="en-US" sz="2000" b="1" strike="noStrike" spc="-1" dirty="0">
                <a:solidFill>
                  <a:srgbClr val="CC3300"/>
                </a:solidFill>
                <a:latin typeface="Arial"/>
              </a:rPr>
              <a:t>= </a:t>
            </a:r>
            <a:r>
              <a:rPr lang="en-US" sz="2000" b="1" strike="noStrike" spc="-1" dirty="0" smtClean="0">
                <a:solidFill>
                  <a:srgbClr val="CC3300"/>
                </a:solidFill>
                <a:latin typeface="Arial"/>
              </a:rPr>
              <a:t>c2*T</a:t>
            </a:r>
            <a:endParaRPr lang="en-US" sz="20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1" name="CustomShape 97"/>
          <p:cNvSpPr/>
          <p:nvPr/>
        </p:nvSpPr>
        <p:spPr>
          <a:xfrm>
            <a:off x="7213320" y="4191120"/>
            <a:ext cx="320760" cy="368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6800" rIns="90000" bIns="46800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strike="noStrike" spc="-1">
                <a:solidFill>
                  <a:srgbClr val="000000"/>
                </a:solidFill>
                <a:latin typeface="Arial"/>
              </a:rPr>
              <a:t>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7990</TotalTime>
  <Words>1457</Words>
  <Application>Microsoft Office PowerPoint</Application>
  <PresentationFormat>Экран (4:3)</PresentationFormat>
  <Paragraphs>458</Paragraphs>
  <Slides>26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26</vt:i4>
      </vt:variant>
    </vt:vector>
  </HeadingPairs>
  <TitlesOfParts>
    <vt:vector size="28" baseType="lpstr">
      <vt:lpstr>Office Theme</vt:lpstr>
      <vt:lpstr>Оформление по умолчанию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Двумерные геометрические (аффинные) преобразования Масшатабирование</dc:title>
  <dc:subject/>
  <dc:creator>alex</dc:creator>
  <dc:description/>
  <cp:lastModifiedBy>Александр</cp:lastModifiedBy>
  <cp:revision>106</cp:revision>
  <dcterms:created xsi:type="dcterms:W3CDTF">2004-01-16T11:23:26Z</dcterms:created>
  <dcterms:modified xsi:type="dcterms:W3CDTF">2026-02-13T06:59:08Z</dcterms:modified>
  <dc:language>en-US</dc:language>
</cp:coreProperties>
</file>