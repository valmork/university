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5.xml" ContentType="application/vnd.openxmlformats-officedocument.theme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theme/themeOverride7.xml" ContentType="application/vnd.openxmlformats-officedocument.themeOverride+xml"/>
  <Override PartName="/ppt/theme/themeOverride8.xml" ContentType="application/vnd.openxmlformats-officedocument.themeOverride+xml"/>
  <Override PartName="/ppt/theme/themeOverride9.xml" ContentType="application/vnd.openxmlformats-officedocument.themeOverride+xml"/>
  <Override PartName="/ppt/theme/themeOverride10.xml" ContentType="application/vnd.openxmlformats-officedocument.themeOverride+xml"/>
  <Override PartName="/ppt/theme/themeOverride11.xml" ContentType="application/vnd.openxmlformats-officedocument.themeOverride+xml"/>
  <Override PartName="/ppt/theme/themeOverride12.xml" ContentType="application/vnd.openxmlformats-officedocument.themeOverride+xml"/>
  <Override PartName="/ppt/theme/themeOverride13.xml" ContentType="application/vnd.openxmlformats-officedocument.themeOverride+xml"/>
  <Override PartName="/ppt/theme/themeOverride14.xml" ContentType="application/vnd.openxmlformats-officedocument.themeOverride+xml"/>
  <Override PartName="/ppt/theme/themeOverride15.xml" ContentType="application/vnd.openxmlformats-officedocument.themeOverride+xml"/>
  <Override PartName="/ppt/theme/themeOverride16.xml" ContentType="application/vnd.openxmlformats-officedocument.themeOverride+xml"/>
  <Override PartName="/ppt/theme/themeOverride17.xml" ContentType="application/vnd.openxmlformats-officedocument.themeOverride+xml"/>
  <Override PartName="/ppt/theme/themeOverride18.xml" ContentType="application/vnd.openxmlformats-officedocument.themeOverride+xml"/>
  <Override PartName="/ppt/theme/themeOverride19.xml" ContentType="application/vnd.openxmlformats-officedocument.themeOverride+xml"/>
  <Override PartName="/ppt/theme/themeOverride20.xml" ContentType="application/vnd.openxmlformats-officedocument.themeOverride+xml"/>
  <Override PartName="/ppt/theme/themeOverride21.xml" ContentType="application/vnd.openxmlformats-officedocument.themeOverride+xml"/>
  <Override PartName="/ppt/theme/themeOverride22.xml" ContentType="application/vnd.openxmlformats-officedocument.themeOverride+xml"/>
  <Override PartName="/ppt/theme/themeOverride23.xml" ContentType="application/vnd.openxmlformats-officedocument.themeOverride+xml"/>
  <Override PartName="/ppt/theme/themeOverride24.xml" ContentType="application/vnd.openxmlformats-officedocument.themeOverride+xml"/>
  <Override PartName="/ppt/theme/themeOverride25.xml" ContentType="application/vnd.openxmlformats-officedocument.themeOverride+xml"/>
  <Override PartName="/ppt/theme/themeOverride26.xml" ContentType="application/vnd.openxmlformats-officedocument.themeOverride+xml"/>
  <Override PartName="/ppt/theme/themeOverride27.xml" ContentType="application/vnd.openxmlformats-officedocument.themeOverride+xml"/>
  <Override PartName="/ppt/theme/themeOverride28.xml" ContentType="application/vnd.openxmlformats-officedocument.themeOverride+xml"/>
  <Override PartName="/ppt/theme/themeOverride29.xml" ContentType="application/vnd.openxmlformats-officedocument.themeOverride+xml"/>
  <Override PartName="/ppt/theme/themeOverride30.xml" ContentType="application/vnd.openxmlformats-officedocument.themeOverride+xml"/>
  <Override PartName="/ppt/theme/themeOverride31.xml" ContentType="application/vnd.openxmlformats-officedocument.themeOverride+xml"/>
  <Override PartName="/ppt/theme/themeOverride32.xml" ContentType="application/vnd.openxmlformats-officedocument.themeOverride+xml"/>
  <Override PartName="/ppt/theme/themeOverride33.xml" ContentType="application/vnd.openxmlformats-officedocument.themeOverride+xml"/>
  <Override PartName="/ppt/theme/themeOverride34.xml" ContentType="application/vnd.openxmlformats-officedocument.themeOverride+xml"/>
  <Override PartName="/ppt/theme/themeOverride35.xml" ContentType="application/vnd.openxmlformats-officedocument.themeOverride+xml"/>
  <Override PartName="/ppt/theme/themeOverride36.xml" ContentType="application/vnd.openxmlformats-officedocument.themeOverride+xml"/>
  <Override PartName="/ppt/theme/themeOverride37.xml" ContentType="application/vnd.openxmlformats-officedocument.themeOverride+xml"/>
  <Override PartName="/ppt/theme/themeOverride38.xml" ContentType="application/vnd.openxmlformats-officedocument.themeOverride+xml"/>
  <Override PartName="/ppt/theme/themeOverride39.xml" ContentType="application/vnd.openxmlformats-officedocument.themeOverride+xml"/>
  <Override PartName="/ppt/theme/themeOverride40.xml" ContentType="application/vnd.openxmlformats-officedocument.themeOverride+xml"/>
  <Override PartName="/ppt/theme/themeOverride41.xml" ContentType="application/vnd.openxmlformats-officedocument.themeOverride+xml"/>
  <Override PartName="/ppt/theme/themeOverride42.xml" ContentType="application/vnd.openxmlformats-officedocument.themeOverride+xml"/>
  <Override PartName="/ppt/theme/themeOverride43.xml" ContentType="application/vnd.openxmlformats-officedocument.themeOverride+xml"/>
  <Override PartName="/ppt/theme/themeOverride44.xml" ContentType="application/vnd.openxmlformats-officedocument.themeOverride+xml"/>
  <Override PartName="/ppt/theme/themeOverride45.xml" ContentType="application/vnd.openxmlformats-officedocument.themeOverride+xml"/>
  <Override PartName="/ppt/theme/themeOverride46.xml" ContentType="application/vnd.openxmlformats-officedocument.themeOverride+xml"/>
  <Override PartName="/ppt/theme/themeOverride47.xml" ContentType="application/vnd.openxmlformats-officedocument.themeOverride+xml"/>
  <Override PartName="/ppt/theme/themeOverride48.xml" ContentType="application/vnd.openxmlformats-officedocument.themeOverride+xml"/>
  <Override PartName="/ppt/theme/themeOverride49.xml" ContentType="application/vnd.openxmlformats-officedocument.themeOverride+xml"/>
  <Override PartName="/ppt/theme/themeOverride50.xml" ContentType="application/vnd.openxmlformats-officedocument.themeOverride+xml"/>
  <Override PartName="/ppt/theme/themeOverride51.xml" ContentType="application/vnd.openxmlformats-officedocument.themeOverride+xml"/>
  <Override PartName="/ppt/theme/themeOverride52.xml" ContentType="application/vnd.openxmlformats-officedocument.themeOverride+xml"/>
  <Override PartName="/ppt/theme/themeOverride53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799" r:id="rId2"/>
    <p:sldMasterId id="2147483811" r:id="rId3"/>
    <p:sldMasterId id="2147483847" r:id="rId4"/>
    <p:sldMasterId id="2147483859" r:id="rId5"/>
    <p:sldMasterId id="2147483871" r:id="rId6"/>
  </p:sldMasterIdLst>
  <p:notesMasterIdLst>
    <p:notesMasterId r:id="rId79"/>
  </p:notesMasterIdLst>
  <p:handoutMasterIdLst>
    <p:handoutMasterId r:id="rId80"/>
  </p:handoutMasterIdLst>
  <p:sldIdLst>
    <p:sldId id="614" r:id="rId7"/>
    <p:sldId id="405" r:id="rId8"/>
    <p:sldId id="680" r:id="rId9"/>
    <p:sldId id="591" r:id="rId10"/>
    <p:sldId id="592" r:id="rId11"/>
    <p:sldId id="465" r:id="rId12"/>
    <p:sldId id="500" r:id="rId13"/>
    <p:sldId id="501" r:id="rId14"/>
    <p:sldId id="502" r:id="rId15"/>
    <p:sldId id="503" r:id="rId16"/>
    <p:sldId id="504" r:id="rId17"/>
    <p:sldId id="559" r:id="rId18"/>
    <p:sldId id="615" r:id="rId19"/>
    <p:sldId id="616" r:id="rId20"/>
    <p:sldId id="617" r:id="rId21"/>
    <p:sldId id="618" r:id="rId22"/>
    <p:sldId id="619" r:id="rId23"/>
    <p:sldId id="620" r:id="rId24"/>
    <p:sldId id="622" r:id="rId25"/>
    <p:sldId id="623" r:id="rId26"/>
    <p:sldId id="625" r:id="rId27"/>
    <p:sldId id="626" r:id="rId28"/>
    <p:sldId id="627" r:id="rId29"/>
    <p:sldId id="628" r:id="rId30"/>
    <p:sldId id="643" r:id="rId31"/>
    <p:sldId id="644" r:id="rId32"/>
    <p:sldId id="679" r:id="rId33"/>
    <p:sldId id="631" r:id="rId34"/>
    <p:sldId id="633" r:id="rId35"/>
    <p:sldId id="632" r:id="rId36"/>
    <p:sldId id="637" r:id="rId37"/>
    <p:sldId id="645" r:id="rId38"/>
    <p:sldId id="646" r:id="rId39"/>
    <p:sldId id="634" r:id="rId40"/>
    <p:sldId id="635" r:id="rId41"/>
    <p:sldId id="638" r:id="rId42"/>
    <p:sldId id="639" r:id="rId43"/>
    <p:sldId id="640" r:id="rId44"/>
    <p:sldId id="641" r:id="rId45"/>
    <p:sldId id="642" r:id="rId46"/>
    <p:sldId id="647" r:id="rId47"/>
    <p:sldId id="649" r:id="rId48"/>
    <p:sldId id="650" r:id="rId49"/>
    <p:sldId id="651" r:id="rId50"/>
    <p:sldId id="652" r:id="rId51"/>
    <p:sldId id="653" r:id="rId52"/>
    <p:sldId id="654" r:id="rId53"/>
    <p:sldId id="655" r:id="rId54"/>
    <p:sldId id="648" r:id="rId55"/>
    <p:sldId id="678" r:id="rId56"/>
    <p:sldId id="656" r:id="rId57"/>
    <p:sldId id="657" r:id="rId58"/>
    <p:sldId id="658" r:id="rId59"/>
    <p:sldId id="659" r:id="rId60"/>
    <p:sldId id="660" r:id="rId61"/>
    <p:sldId id="662" r:id="rId62"/>
    <p:sldId id="661" r:id="rId63"/>
    <p:sldId id="663" r:id="rId64"/>
    <p:sldId id="664" r:id="rId65"/>
    <p:sldId id="665" r:id="rId66"/>
    <p:sldId id="666" r:id="rId67"/>
    <p:sldId id="667" r:id="rId68"/>
    <p:sldId id="669" r:id="rId69"/>
    <p:sldId id="670" r:id="rId70"/>
    <p:sldId id="671" r:id="rId71"/>
    <p:sldId id="672" r:id="rId72"/>
    <p:sldId id="673" r:id="rId73"/>
    <p:sldId id="674" r:id="rId74"/>
    <p:sldId id="675" r:id="rId75"/>
    <p:sldId id="676" r:id="rId76"/>
    <p:sldId id="677" r:id="rId77"/>
    <p:sldId id="668" r:id="rId78"/>
  </p:sldIdLst>
  <p:sldSz cx="9144000" cy="6858000" type="screen4x3"/>
  <p:notesSz cx="6815138" cy="9942513"/>
  <p:defaultTextStyle>
    <a:defPPr>
      <a:defRPr lang="ru-RU"/>
    </a:defPPr>
    <a:lvl1pPr algn="l" rtl="0" fontAlgn="base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CC0066"/>
    <a:srgbClr val="800080"/>
    <a:srgbClr val="008000"/>
    <a:srgbClr val="CCFFFF"/>
    <a:srgbClr val="5626A4"/>
    <a:srgbClr val="003300"/>
    <a:srgbClr val="666633"/>
    <a:srgbClr val="0033CC"/>
    <a:srgbClr val="CC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Светлый стиль 3 - акцент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8FB837D-C827-4EFA-A057-4D05807E0F7C}" styleName="Стиль из темы 1 - акцент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BDBED569-4797-4DF1-A0F4-6AAB3CD982D8}" styleName="Светлый стиль 3 - акцент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1E4AEA4-8DFA-4A89-87EB-49C32662AFE0}" styleName="Средний стиль 2 -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10A1B5D5-9B99-4C35-A422-299274C87663}" styleName="Средний стиль 1 - акцент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7292A2E-F333-43FB-9621-5CBBE7FDCDCB}" styleName="Светлый стиль 2 - акцент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261" autoAdjust="0"/>
    <p:restoredTop sz="94621" autoAdjust="0"/>
  </p:normalViewPr>
  <p:slideViewPr>
    <p:cSldViewPr snapToObjects="1">
      <p:cViewPr varScale="1">
        <p:scale>
          <a:sx n="48" d="100"/>
          <a:sy n="48" d="100"/>
        </p:scale>
        <p:origin x="-1218" y="-4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-7656"/>
    </p:cViewPr>
  </p:sorterViewPr>
  <p:gridSpacing cx="36004" cy="36004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9" Type="http://schemas.openxmlformats.org/officeDocument/2006/relationships/slide" Target="slides/slide33.xml"/><Relationship Id="rId21" Type="http://schemas.openxmlformats.org/officeDocument/2006/relationships/slide" Target="slides/slide15.xml"/><Relationship Id="rId34" Type="http://schemas.openxmlformats.org/officeDocument/2006/relationships/slide" Target="slides/slide28.xml"/><Relationship Id="rId42" Type="http://schemas.openxmlformats.org/officeDocument/2006/relationships/slide" Target="slides/slide36.xml"/><Relationship Id="rId47" Type="http://schemas.openxmlformats.org/officeDocument/2006/relationships/slide" Target="slides/slide41.xml"/><Relationship Id="rId50" Type="http://schemas.openxmlformats.org/officeDocument/2006/relationships/slide" Target="slides/slide44.xml"/><Relationship Id="rId55" Type="http://schemas.openxmlformats.org/officeDocument/2006/relationships/slide" Target="slides/slide49.xml"/><Relationship Id="rId63" Type="http://schemas.openxmlformats.org/officeDocument/2006/relationships/slide" Target="slides/slide57.xml"/><Relationship Id="rId68" Type="http://schemas.openxmlformats.org/officeDocument/2006/relationships/slide" Target="slides/slide62.xml"/><Relationship Id="rId76" Type="http://schemas.openxmlformats.org/officeDocument/2006/relationships/slide" Target="slides/slide70.xml"/><Relationship Id="rId84" Type="http://schemas.openxmlformats.org/officeDocument/2006/relationships/tableStyles" Target="tableStyles.xml"/><Relationship Id="rId7" Type="http://schemas.openxmlformats.org/officeDocument/2006/relationships/slide" Target="slides/slide1.xml"/><Relationship Id="rId71" Type="http://schemas.openxmlformats.org/officeDocument/2006/relationships/slide" Target="slides/slide6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9" Type="http://schemas.openxmlformats.org/officeDocument/2006/relationships/slide" Target="slides/slide2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40" Type="http://schemas.openxmlformats.org/officeDocument/2006/relationships/slide" Target="slides/slide34.xml"/><Relationship Id="rId45" Type="http://schemas.openxmlformats.org/officeDocument/2006/relationships/slide" Target="slides/slide39.xml"/><Relationship Id="rId53" Type="http://schemas.openxmlformats.org/officeDocument/2006/relationships/slide" Target="slides/slide47.xml"/><Relationship Id="rId58" Type="http://schemas.openxmlformats.org/officeDocument/2006/relationships/slide" Target="slides/slide52.xml"/><Relationship Id="rId66" Type="http://schemas.openxmlformats.org/officeDocument/2006/relationships/slide" Target="slides/slide60.xml"/><Relationship Id="rId74" Type="http://schemas.openxmlformats.org/officeDocument/2006/relationships/slide" Target="slides/slide68.xml"/><Relationship Id="rId79" Type="http://schemas.openxmlformats.org/officeDocument/2006/relationships/notesMaster" Target="notesMasters/notesMaster1.xml"/><Relationship Id="rId5" Type="http://schemas.openxmlformats.org/officeDocument/2006/relationships/slideMaster" Target="slideMasters/slideMaster5.xml"/><Relationship Id="rId61" Type="http://schemas.openxmlformats.org/officeDocument/2006/relationships/slide" Target="slides/slide55.xml"/><Relationship Id="rId82" Type="http://schemas.openxmlformats.org/officeDocument/2006/relationships/viewProps" Target="viewProps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slide" Target="slides/slide25.xml"/><Relationship Id="rId44" Type="http://schemas.openxmlformats.org/officeDocument/2006/relationships/slide" Target="slides/slide38.xml"/><Relationship Id="rId52" Type="http://schemas.openxmlformats.org/officeDocument/2006/relationships/slide" Target="slides/slide46.xml"/><Relationship Id="rId60" Type="http://schemas.openxmlformats.org/officeDocument/2006/relationships/slide" Target="slides/slide54.xml"/><Relationship Id="rId65" Type="http://schemas.openxmlformats.org/officeDocument/2006/relationships/slide" Target="slides/slide59.xml"/><Relationship Id="rId73" Type="http://schemas.openxmlformats.org/officeDocument/2006/relationships/slide" Target="slides/slide67.xml"/><Relationship Id="rId78" Type="http://schemas.openxmlformats.org/officeDocument/2006/relationships/slide" Target="slides/slide72.xml"/><Relationship Id="rId81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43" Type="http://schemas.openxmlformats.org/officeDocument/2006/relationships/slide" Target="slides/slide37.xml"/><Relationship Id="rId48" Type="http://schemas.openxmlformats.org/officeDocument/2006/relationships/slide" Target="slides/slide42.xml"/><Relationship Id="rId56" Type="http://schemas.openxmlformats.org/officeDocument/2006/relationships/slide" Target="slides/slide50.xml"/><Relationship Id="rId64" Type="http://schemas.openxmlformats.org/officeDocument/2006/relationships/slide" Target="slides/slide58.xml"/><Relationship Id="rId69" Type="http://schemas.openxmlformats.org/officeDocument/2006/relationships/slide" Target="slides/slide63.xml"/><Relationship Id="rId77" Type="http://schemas.openxmlformats.org/officeDocument/2006/relationships/slide" Target="slides/slide71.xml"/><Relationship Id="rId8" Type="http://schemas.openxmlformats.org/officeDocument/2006/relationships/slide" Target="slides/slide2.xml"/><Relationship Id="rId51" Type="http://schemas.openxmlformats.org/officeDocument/2006/relationships/slide" Target="slides/slide45.xml"/><Relationship Id="rId72" Type="http://schemas.openxmlformats.org/officeDocument/2006/relationships/slide" Target="slides/slide66.xml"/><Relationship Id="rId80" Type="http://schemas.openxmlformats.org/officeDocument/2006/relationships/handoutMaster" Target="handoutMasters/handoutMaster1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slide" Target="slides/slide32.xml"/><Relationship Id="rId46" Type="http://schemas.openxmlformats.org/officeDocument/2006/relationships/slide" Target="slides/slide40.xml"/><Relationship Id="rId59" Type="http://schemas.openxmlformats.org/officeDocument/2006/relationships/slide" Target="slides/slide53.xml"/><Relationship Id="rId67" Type="http://schemas.openxmlformats.org/officeDocument/2006/relationships/slide" Target="slides/slide61.xml"/><Relationship Id="rId20" Type="http://schemas.openxmlformats.org/officeDocument/2006/relationships/slide" Target="slides/slide14.xml"/><Relationship Id="rId41" Type="http://schemas.openxmlformats.org/officeDocument/2006/relationships/slide" Target="slides/slide35.xml"/><Relationship Id="rId54" Type="http://schemas.openxmlformats.org/officeDocument/2006/relationships/slide" Target="slides/slide48.xml"/><Relationship Id="rId62" Type="http://schemas.openxmlformats.org/officeDocument/2006/relationships/slide" Target="slides/slide56.xml"/><Relationship Id="rId70" Type="http://schemas.openxmlformats.org/officeDocument/2006/relationships/slide" Target="slides/slide64.xml"/><Relationship Id="rId75" Type="http://schemas.openxmlformats.org/officeDocument/2006/relationships/slide" Target="slides/slide69.xml"/><Relationship Id="rId83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49" Type="http://schemas.openxmlformats.org/officeDocument/2006/relationships/slide" Target="slides/slide43.xml"/><Relationship Id="rId57" Type="http://schemas.openxmlformats.org/officeDocument/2006/relationships/slide" Target="slides/slide5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5275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60800" y="0"/>
            <a:ext cx="295275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710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44038"/>
            <a:ext cx="2952750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710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60800" y="9444038"/>
            <a:ext cx="2952750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/>
            </a:lvl1pPr>
          </a:lstStyle>
          <a:p>
            <a:pPr>
              <a:defRPr/>
            </a:pPr>
            <a:fld id="{3D9F1B88-9ED4-45F9-8A2D-377C8F28D0FB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4316451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5275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60800" y="0"/>
            <a:ext cx="295275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246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23925" y="746125"/>
            <a:ext cx="4970463" cy="3727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608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1038" y="4722813"/>
            <a:ext cx="5453062" cy="4473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noProof="0" smtClean="0"/>
              <a:t>Образец текста</a:t>
            </a:r>
          </a:p>
          <a:p>
            <a:pPr lvl="1"/>
            <a:r>
              <a:rPr lang="ru-RU" noProof="0" smtClean="0"/>
              <a:t>Второй уровень</a:t>
            </a:r>
          </a:p>
          <a:p>
            <a:pPr lvl="2"/>
            <a:r>
              <a:rPr lang="ru-RU" noProof="0" smtClean="0"/>
              <a:t>Третий уровень</a:t>
            </a:r>
          </a:p>
          <a:p>
            <a:pPr lvl="3"/>
            <a:r>
              <a:rPr lang="ru-RU" noProof="0" smtClean="0"/>
              <a:t>Четвертый уровень</a:t>
            </a:r>
          </a:p>
          <a:p>
            <a:pPr lvl="4"/>
            <a:r>
              <a:rPr lang="ru-RU" noProof="0" smtClean="0"/>
              <a:t>Пятый уровень</a:t>
            </a:r>
          </a:p>
        </p:txBody>
      </p:sp>
      <p:sp>
        <p:nvSpPr>
          <p:cNvPr id="4608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44038"/>
            <a:ext cx="2952750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608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60800" y="9444038"/>
            <a:ext cx="2952750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/>
            </a:lvl1pPr>
          </a:lstStyle>
          <a:p>
            <a:pPr>
              <a:defRPr/>
            </a:pPr>
            <a:fld id="{60598E3B-9A9D-4C60-BD2E-F9A041E28CA3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135661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3CF607A-F581-4B15-BE10-7F92A6CF5D0B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F29ACD-61B0-4129-9B74-D11C5435C8C8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BB9D9D2-C0F6-4620-A9CC-CD46F34B4AC1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A9E080-34AE-4F86-9558-B238501D18F4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018F4D-F102-41BA-AEC4-7415F61832FA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EDA2490-F09E-4354-ACAD-800A6134A787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C62334B-FD9D-42E4-98B4-C18AF6104F0E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AFF870-78DC-4528-B548-C4542E1F970F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ru-RU" noProof="0" smtClean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2DC641-2DE2-440F-ABFA-4D4B5FDAA45E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BD3B33E-513D-4676-9D10-32B22272F303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607135F-B6B1-4F66-802E-F86D6DA56315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0"/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1000"/>
                </a:schemeClr>
              </a:gs>
              <a:gs pos="37000">
                <a:schemeClr val="bg1">
                  <a:alpha val="76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kumimoji="1" lang="en-US" b="0">
              <a:solidFill>
                <a:prstClr val="white"/>
              </a:solidFill>
            </a:endParaRPr>
          </a:p>
        </p:txBody>
      </p:sp>
      <p:sp>
        <p:nvSpPr>
          <p:cNvPr id="5" name="Rectangle 11"/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89000"/>
                </a:schemeClr>
              </a:gs>
              <a:gs pos="48000">
                <a:schemeClr val="bg1">
                  <a:alpha val="62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kumimoji="1" lang="en-US" b="0" dirty="0">
              <a:solidFill>
                <a:prstClr val="white"/>
              </a:solidFill>
            </a:endParaRPr>
          </a:p>
        </p:txBody>
      </p:sp>
      <p:sp>
        <p:nvSpPr>
          <p:cNvPr id="6" name="Rectangle 12"/>
          <p:cNvSpPr/>
          <p:nvPr/>
        </p:nvSpPr>
        <p:spPr>
          <a:xfrm>
            <a:off x="0" y="2652713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kumimoji="1" lang="en-US" b="0">
              <a:solidFill>
                <a:prstClr val="white"/>
              </a:solidFill>
            </a:endParaRPr>
          </a:p>
        </p:txBody>
      </p:sp>
      <p:sp>
        <p:nvSpPr>
          <p:cNvPr id="7" name="Oval 13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kumimoji="1" lang="en-US" b="0">
              <a:solidFill>
                <a:prstClr val="white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73795" y="5052545"/>
            <a:ext cx="5637010" cy="882119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7581" y="3132290"/>
            <a:ext cx="7175351" cy="1793167"/>
          </a:xfrm>
          <a:effectLst/>
        </p:spPr>
        <p:txBody>
          <a:bodyPr/>
          <a:lstStyle>
            <a:lvl1pPr marL="640080" indent="-457200" algn="l">
              <a:defRPr sz="54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 kumimoji="0">
                <a:latin typeface="Arial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 kumimoji="0">
                <a:latin typeface="Arial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kumimoji="0">
                <a:latin typeface="Arial" charset="0"/>
              </a:defRPr>
            </a:lvl1pPr>
          </a:lstStyle>
          <a:p>
            <a:pPr>
              <a:defRPr/>
            </a:pPr>
            <a:fld id="{948C2760-98A4-4CA5-9972-ED5C17142EE4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100250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3"/>
          </p:nvPr>
        </p:nvSpPr>
        <p:spPr>
          <a:xfrm>
            <a:off x="1143000" y="731520"/>
            <a:ext cx="6400800" cy="347472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 eaLnBrk="0" hangingPunct="0">
              <a:defRPr kumimoji="0">
                <a:latin typeface="Arial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 eaLnBrk="0" hangingPunct="0">
              <a:defRPr kumimoji="0">
                <a:latin typeface="Arial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 eaLnBrk="0" hangingPunct="0">
              <a:defRPr kumimoji="0">
                <a:latin typeface="Arial" charset="0"/>
              </a:defRPr>
            </a:lvl1pPr>
          </a:lstStyle>
          <a:p>
            <a:pPr>
              <a:defRPr/>
            </a:pPr>
            <a:fld id="{B6DE1CAC-2FCB-493E-8EAA-E619E3203726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626802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/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2000"/>
                </a:schemeClr>
              </a:gs>
              <a:gs pos="37000">
                <a:schemeClr val="bg1">
                  <a:alpha val="77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kumimoji="1" lang="en-US" b="0">
              <a:solidFill>
                <a:prstClr val="white"/>
              </a:solidFill>
            </a:endParaRPr>
          </a:p>
        </p:txBody>
      </p:sp>
      <p:sp>
        <p:nvSpPr>
          <p:cNvPr id="5" name="Rectangle 7"/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90000"/>
                </a:schemeClr>
              </a:gs>
              <a:gs pos="48000">
                <a:schemeClr val="bg1">
                  <a:alpha val="63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kumimoji="1" lang="en-US" b="0" dirty="0">
              <a:solidFill>
                <a:prstClr val="white"/>
              </a:solidFill>
            </a:endParaRPr>
          </a:p>
        </p:txBody>
      </p:sp>
      <p:sp>
        <p:nvSpPr>
          <p:cNvPr id="6" name="Rectangle 8"/>
          <p:cNvSpPr/>
          <p:nvPr/>
        </p:nvSpPr>
        <p:spPr>
          <a:xfrm>
            <a:off x="0" y="2652713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kumimoji="1" lang="en-US" b="0">
              <a:solidFill>
                <a:prstClr val="white"/>
              </a:solidFill>
            </a:endParaRPr>
          </a:p>
        </p:txBody>
      </p:sp>
      <p:sp>
        <p:nvSpPr>
          <p:cNvPr id="7" name="Oval 9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kumimoji="1" lang="en-US" b="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3195" y="2172648"/>
            <a:ext cx="5966666" cy="2423346"/>
          </a:xfrm>
          <a:effectLst/>
        </p:spPr>
        <p:txBody>
          <a:bodyPr anchor="b"/>
          <a:lstStyle>
            <a:lvl1pPr algn="r">
              <a:defRPr sz="4600" b="1" cap="none" baseline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22438" y="4607511"/>
            <a:ext cx="5970494" cy="83546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 kumimoji="0">
                <a:latin typeface="Arial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 kumimoji="0">
                <a:latin typeface="Arial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kumimoji="0">
                <a:latin typeface="Arial" charset="0"/>
              </a:defRPr>
            </a:lvl1pPr>
          </a:lstStyle>
          <a:p>
            <a:pPr>
              <a:defRPr/>
            </a:pPr>
            <a:fld id="{ED5DE2CF-6C4B-4334-95F1-60DDE2FCB04B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407927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142999" y="731519"/>
            <a:ext cx="3346704" cy="347472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731520"/>
            <a:ext cx="3346704" cy="347472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 eaLnBrk="0" hangingPunct="0">
              <a:defRPr kumimoji="0">
                <a:latin typeface="Arial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 eaLnBrk="0" hangingPunct="0">
              <a:defRPr kumimoji="0">
                <a:latin typeface="Arial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 eaLnBrk="0" hangingPunct="0">
              <a:defRPr kumimoji="0">
                <a:latin typeface="Arial" charset="0"/>
              </a:defRPr>
            </a:lvl1pPr>
          </a:lstStyle>
          <a:p>
            <a:pPr>
              <a:defRPr/>
            </a:pPr>
            <a:fld id="{D219B42E-4F7D-441F-9E58-EE85C2D8025F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6647937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731520"/>
            <a:ext cx="3346704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lang="en-US" sz="2400" b="1" i="0" kern="1200" dirty="0" smtClean="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6447" y="1400327"/>
            <a:ext cx="3346704" cy="2743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7302" y="731520"/>
            <a:ext cx="3346704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lang="en-US" sz="2400" b="1" i="0" kern="1200" dirty="0" smtClean="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399032"/>
            <a:ext cx="3346704" cy="2743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 kumimoji="0">
                <a:latin typeface="Arial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 kumimoji="0">
                <a:latin typeface="Arial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kumimoji="0">
                <a:latin typeface="Arial" charset="0"/>
              </a:defRPr>
            </a:lvl1pPr>
          </a:lstStyle>
          <a:p>
            <a:pPr>
              <a:defRPr/>
            </a:pPr>
            <a:fld id="{88EA634C-441C-4069-B807-13D12C245D02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494695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 kumimoji="0">
                <a:latin typeface="Arial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 kumimoji="0">
                <a:latin typeface="Arial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kumimoji="0">
                <a:latin typeface="Arial" charset="0"/>
              </a:defRPr>
            </a:lvl1pPr>
          </a:lstStyle>
          <a:p>
            <a:pPr>
              <a:defRPr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206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 kumimoji="0">
                <a:latin typeface="Arial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 kumimoji="0">
                <a:latin typeface="Arial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kumimoji="0">
                <a:latin typeface="Arial" charset="0"/>
              </a:defRPr>
            </a:lvl1pPr>
          </a:lstStyle>
          <a:p>
            <a:pPr>
              <a:defRPr/>
            </a:pPr>
            <a:fld id="{593FAA06-B425-44EC-81BC-8754DF470EEB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3776974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095" y="2209800"/>
            <a:ext cx="3636085" cy="1258493"/>
          </a:xfrm>
          <a:effectLst/>
        </p:spPr>
        <p:txBody>
          <a:bodyPr anchor="b"/>
          <a:lstStyle>
            <a:lvl1pPr marL="228600" indent="-228600" algn="l">
              <a:defRPr sz="2800" b="1">
                <a:effectLst/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93515" y="731520"/>
            <a:ext cx="4017085" cy="4894730"/>
          </a:xfrm>
        </p:spPr>
        <p:txBody>
          <a:bodyPr anchor="ctr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5765" y="3497802"/>
            <a:ext cx="3388660" cy="213951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 kumimoji="0">
                <a:latin typeface="Arial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 kumimoji="0">
                <a:latin typeface="Arial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kumimoji="0">
                <a:latin typeface="Arial" charset="0"/>
              </a:defRPr>
            </a:lvl1pPr>
          </a:lstStyle>
          <a:p>
            <a:pPr>
              <a:defRPr/>
            </a:pPr>
            <a:fld id="{B7133F47-06F7-4B5B-B128-631FC9640658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366932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2000"/>
                </a:schemeClr>
              </a:gs>
              <a:gs pos="37000">
                <a:schemeClr val="bg1">
                  <a:alpha val="77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kumimoji="1" lang="en-US" b="0">
              <a:solidFill>
                <a:prstClr val="white"/>
              </a:solidFill>
            </a:endParaRPr>
          </a:p>
        </p:txBody>
      </p:sp>
      <p:sp>
        <p:nvSpPr>
          <p:cNvPr id="6" name="Rectangle 8"/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90000"/>
                </a:schemeClr>
              </a:gs>
              <a:gs pos="48000">
                <a:schemeClr val="bg1">
                  <a:alpha val="63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kumimoji="1" lang="en-US" b="0" dirty="0">
              <a:solidFill>
                <a:prstClr val="white"/>
              </a:solidFill>
            </a:endParaRPr>
          </a:p>
        </p:txBody>
      </p:sp>
      <p:sp>
        <p:nvSpPr>
          <p:cNvPr id="7" name="Rectangle 9"/>
          <p:cNvSpPr/>
          <p:nvPr/>
        </p:nvSpPr>
        <p:spPr>
          <a:xfrm>
            <a:off x="0" y="2652713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kumimoji="1" lang="en-US" b="0">
              <a:solidFill>
                <a:prstClr val="white"/>
              </a:solidFill>
            </a:endParaRPr>
          </a:p>
        </p:txBody>
      </p:sp>
      <p:sp>
        <p:nvSpPr>
          <p:cNvPr id="8" name="Oval 10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kumimoji="1" lang="en-US" b="0">
              <a:solidFill>
                <a:prstClr val="white"/>
              </a:solidFill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475175" y="1143000"/>
            <a:ext cx="4114800" cy="3127806"/>
          </a:xfrm>
          <a:prstGeom prst="roundRect">
            <a:avLst>
              <a:gd name="adj" fmla="val 4230"/>
            </a:avLst>
          </a:prstGeom>
          <a:solidFill>
            <a:schemeClr val="bg2">
              <a:lumMod val="90000"/>
            </a:schemeClr>
          </a:solidFill>
          <a:effectLst>
            <a:reflection blurRad="4350" stA="23000" endA="300" endPos="28000" dir="5400000" sy="-100000" algn="bl" rotWithShape="0"/>
          </a:effectLst>
          <a:scene3d>
            <a:camera prst="perspectiveContrastingLeftFacing" fov="1800000">
              <a:rot lat="300000" lon="2100000" rev="0"/>
            </a:camera>
            <a:lightRig rig="balanced" dir="t"/>
          </a:scene3d>
          <a:sp3d>
            <a:bevelT w="50800" h="50800"/>
          </a:sp3d>
        </p:spPr>
        <p:txBody>
          <a:bodyPr rtlCol="0">
            <a:normAutofit/>
            <a:flatTx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ru-RU" noProof="0" smtClean="0"/>
              <a:t>Вставка рисунка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77887" y="1010486"/>
            <a:ext cx="3694114" cy="2163020"/>
          </a:xfrm>
        </p:spPr>
        <p:txBody>
          <a:bodyPr anchor="b"/>
          <a:lstStyle>
            <a:lvl1pPr marL="182880" indent="-182880">
              <a:buFont typeface="Georgia" pitchFamily="18" charset="0"/>
              <a:buChar char="*"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7268" y="4464421"/>
            <a:ext cx="6383538" cy="1143000"/>
          </a:xfrm>
        </p:spPr>
        <p:txBody>
          <a:bodyPr anchor="b"/>
          <a:lstStyle>
            <a:lvl1pPr algn="l">
              <a:defRPr sz="4600" b="1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9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 kumimoji="0">
                <a:latin typeface="Arial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0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 kumimoji="0">
                <a:latin typeface="Arial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1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kumimoji="0">
                <a:latin typeface="Arial" charset="0"/>
              </a:defRPr>
            </a:lvl1pPr>
          </a:lstStyle>
          <a:p>
            <a:pPr>
              <a:defRPr/>
            </a:pPr>
            <a:fld id="{EEE8F3AB-D1CD-4B13-A3C4-2CE28E94E502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2778430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05000" y="731519"/>
            <a:ext cx="6400800" cy="3474720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 kumimoji="0">
                <a:latin typeface="Arial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 kumimoji="0">
                <a:latin typeface="Arial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kumimoji="0">
                <a:latin typeface="Arial" charset="0"/>
              </a:defRPr>
            </a:lvl1pPr>
          </a:lstStyle>
          <a:p>
            <a:pPr>
              <a:defRPr/>
            </a:pPr>
            <a:fld id="{5DF7375B-950B-4925-8E56-ACB8BDC7DC5B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8242797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53758" y="376517"/>
            <a:ext cx="2057400" cy="5238339"/>
          </a:xfrm>
          <a:effectLst/>
        </p:spPr>
        <p:txBody>
          <a:bodyPr vert="eaVert"/>
          <a:lstStyle>
            <a:lvl1pPr algn="l">
              <a:defRPr/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324113" y="731519"/>
            <a:ext cx="4829287" cy="4894729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 kumimoji="0">
                <a:latin typeface="Arial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 kumimoji="0">
                <a:latin typeface="Arial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kumimoji="0">
                <a:latin typeface="Arial" charset="0"/>
              </a:defRPr>
            </a:lvl1pPr>
          </a:lstStyle>
          <a:p>
            <a:pPr>
              <a:defRPr/>
            </a:pPr>
            <a:fld id="{7BF6F652-7FFB-42AF-AD82-45927E7564F6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2445985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3CF607A-F581-4B15-BE10-7F92A6CF5D0B}" type="slidenum">
              <a:rPr lang="ru-RU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ru-RU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855760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F29ACD-61B0-4129-9B74-D11C5435C8C8}" type="slidenum">
              <a:rPr lang="ru-RU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ru-RU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347255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BB9D9D2-C0F6-4620-A9CC-CD46F34B4AC1}" type="slidenum">
              <a:rPr lang="ru-RU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ru-RU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921314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A9E080-34AE-4F86-9558-B238501D18F4}" type="slidenum">
              <a:rPr lang="ru-RU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ru-RU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247038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>
              <a:solidFill>
                <a:srgbClr val="000000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>
              <a:solidFill>
                <a:srgbClr val="000000"/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018F4D-F102-41BA-AEC4-7415F61832FA}" type="slidenum">
              <a:rPr lang="ru-RU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ru-RU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65532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EDA2490-F09E-4354-ACAD-800A6134A787}" type="slidenum">
              <a:rPr lang="ru-RU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ru-RU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182481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>
              <a:solidFill>
                <a:srgbClr val="000000"/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>
              <a:solidFill>
                <a:srgbClr val="000000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C62334B-FD9D-42E4-98B4-C18AF6104F0E}" type="slidenum">
              <a:rPr lang="ru-RU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ru-RU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233307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AFF870-78DC-4528-B548-C4542E1F970F}" type="slidenum">
              <a:rPr lang="ru-RU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ru-RU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344501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ru-RU" noProof="0" smtClean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2DC641-2DE2-440F-ABFA-4D4B5FDAA45E}" type="slidenum">
              <a:rPr lang="ru-RU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ru-RU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615268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BD3B33E-513D-4676-9D10-32B22272F303}" type="slidenum">
              <a:rPr lang="ru-RU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ru-RU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192098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607135F-B6B1-4F66-802E-F86D6DA56315}" type="slidenum">
              <a:rPr lang="ru-RU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ru-RU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691610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kumimoji="1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kumimoji="1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kumimoji="1"/>
            </a:lvl1pPr>
          </a:lstStyle>
          <a:p>
            <a:pPr>
              <a:defRPr/>
            </a:pPr>
            <a:fld id="{DED9556C-9CC3-41C1-BD49-82F21DA10480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7081566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kumimoji="1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kumimoji="1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kumimoji="1"/>
            </a:lvl1pPr>
          </a:lstStyle>
          <a:p>
            <a:pPr>
              <a:defRPr/>
            </a:pPr>
            <a:fld id="{F2FB7913-DA2B-47DB-BFC6-C8B95FD993B5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6185843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kumimoji="1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kumimoji="1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kumimoji="1"/>
            </a:lvl1pPr>
          </a:lstStyle>
          <a:p>
            <a:pPr>
              <a:defRPr/>
            </a:pPr>
            <a:fld id="{F1BDB9A0-9405-44AE-88E1-5BD772E3FA66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3137141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kumimoji="1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kumimoji="1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kumimoji="1"/>
            </a:lvl1pPr>
          </a:lstStyle>
          <a:p>
            <a:pPr>
              <a:defRPr/>
            </a:pPr>
            <a:fld id="{3329C95A-7783-40CF-BAC6-CF0E9595C4DF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0280843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kumimoji="1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kumimoji="1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kumimoji="1"/>
            </a:lvl1pPr>
          </a:lstStyle>
          <a:p>
            <a:pPr>
              <a:defRPr/>
            </a:pPr>
            <a:fld id="{D93A2F03-D39E-4615-8FF4-868584F9FF00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092406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kumimoji="1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kumimoji="1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kumimoji="1"/>
            </a:lvl1pPr>
          </a:lstStyle>
          <a:p>
            <a:pPr>
              <a:defRPr/>
            </a:pPr>
            <a:fld id="{A610BEEE-6FA2-4065-9487-FBEC227DD689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6709746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kumimoji="1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kumimoji="1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kumimoji="1"/>
            </a:lvl1pPr>
          </a:lstStyle>
          <a:p>
            <a:pPr>
              <a:defRPr/>
            </a:pPr>
            <a:fld id="{4369E6E0-4B5B-46B4-A5DF-B894BCEE2CF3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254757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kumimoji="1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kumimoji="1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kumimoji="1"/>
            </a:lvl1pPr>
          </a:lstStyle>
          <a:p>
            <a:pPr>
              <a:defRPr/>
            </a:pPr>
            <a:fld id="{42D37168-4583-4886-B9C7-33CAC5295801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6484022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ru-RU" noProof="0" smtClean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kumimoji="1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kumimoji="1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kumimoji="1"/>
            </a:lvl1pPr>
          </a:lstStyle>
          <a:p>
            <a:pPr>
              <a:defRPr/>
            </a:pPr>
            <a:fld id="{479A84EA-8955-4657-A6E0-A18FC430C60C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4664252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kumimoji="1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kumimoji="1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kumimoji="1"/>
            </a:lvl1pPr>
          </a:lstStyle>
          <a:p>
            <a:pPr>
              <a:defRPr/>
            </a:pPr>
            <a:fld id="{9D09C395-5A8A-4F0B-ADD0-9090CD8B3D30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2159269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kumimoji="1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kumimoji="1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kumimoji="1"/>
            </a:lvl1pPr>
          </a:lstStyle>
          <a:p>
            <a:pPr>
              <a:defRPr/>
            </a:pPr>
            <a:fld id="{B6A06EC0-BBE2-45E1-BFA3-4AB1B7C06635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6988599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F18C10D-BF6C-4875-9D40-A99558FF3386}" type="slidenum">
              <a:rPr lang="ru-RU" altLang="ru-RU" smtClean="0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413242601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5252112-8720-4D78-A32C-0813FAA22A81}" type="slidenum">
              <a:rPr lang="ru-RU" altLang="ru-RU" smtClean="0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06035625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D705E23-AF67-4688-A32B-C132EB04DA51}" type="slidenum">
              <a:rPr lang="ru-RU" altLang="ru-RU" smtClean="0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683920288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A891AAB-5D7C-4A91-828A-49B074EFED9A}" type="slidenum">
              <a:rPr lang="ru-RU" altLang="ru-RU" smtClean="0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812481415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55C1173-2404-489A-96D6-8A97416E18C9}" type="slidenum">
              <a:rPr lang="ru-RU" altLang="ru-RU" smtClean="0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98289871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ru-RU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9686827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342691F-449B-4926-8EDA-3D10CE23B335}" type="slidenum">
              <a:rPr lang="ru-RU" altLang="ru-RU" smtClean="0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02208563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22881C-57CB-44F7-A18A-579260376FF6}" type="slidenum">
              <a:rPr lang="ru-RU" altLang="ru-RU" smtClean="0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030892086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70257D0-7A83-4C40-AFF4-94A6ACF890FC}" type="slidenum">
              <a:rPr lang="ru-RU" altLang="ru-RU" smtClean="0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287214745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B420141-E1F8-4D7A-9A8B-58688D8980D1}" type="slidenum">
              <a:rPr lang="ru-RU" altLang="ru-RU" smtClean="0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26348175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A667B1F-3480-4183-B4CC-03686CF450F5}" type="slidenum">
              <a:rPr lang="ru-RU" altLang="ru-RU" smtClean="0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524076730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D4E52C4-9804-4607-A2F3-80A23F7A4EEB}" type="slidenum">
              <a:rPr lang="ru-RU" altLang="ru-RU" smtClean="0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975803996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BF7C740-6C9A-45BF-AEDC-17CD989D16E0}" type="slidenum">
              <a:rPr lang="ru-RU" altLang="ru-RU" smtClean="0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093143405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7D24770-576B-46A4-8A08-A0114F47EB6F}" type="slidenum">
              <a:rPr lang="ru-RU" altLang="ru-RU" smtClean="0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461644512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D31B92D-C51C-4453-90CF-19063E8C6A2F}" type="slidenum">
              <a:rPr lang="ru-RU" altLang="ru-RU" smtClean="0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39680827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DA1A14E-81FA-47B3-945D-EDB070A9DE88}" type="slidenum">
              <a:rPr lang="ru-RU" altLang="ru-RU" smtClean="0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346232659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ru-RU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5846864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ADC7168-364E-4576-B658-EB59706C6FBC}" type="slidenum">
              <a:rPr lang="ru-RU" altLang="ru-RU" smtClean="0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437730108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76CB78-5D5F-4986-A6BC-91DD47412E12}" type="slidenum">
              <a:rPr lang="ru-RU" altLang="ru-RU" smtClean="0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099439899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DF1B6D8-222A-4253-948D-8260F45F0583}" type="slidenum">
              <a:rPr lang="ru-RU" altLang="ru-RU" smtClean="0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334580564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A047954-8047-4D54-B3FF-D6259C348F9F}" type="slidenum">
              <a:rPr lang="ru-RU" altLang="ru-RU" smtClean="0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495001210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0689CAB-5C2A-4B37-AD6E-F2860BE186DD}" type="slidenum">
              <a:rPr lang="ru-RU" altLang="ru-RU" smtClean="0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7375978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3.xml"/><Relationship Id="rId3" Type="http://schemas.openxmlformats.org/officeDocument/2006/relationships/slideLayout" Target="../slideLayouts/slideLayout58.xml"/><Relationship Id="rId7" Type="http://schemas.openxmlformats.org/officeDocument/2006/relationships/slideLayout" Target="../slideLayouts/slideLayout62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57.xml"/><Relationship Id="rId1" Type="http://schemas.openxmlformats.org/officeDocument/2006/relationships/slideLayout" Target="../slideLayouts/slideLayout56.xml"/><Relationship Id="rId6" Type="http://schemas.openxmlformats.org/officeDocument/2006/relationships/slideLayout" Target="../slideLayouts/slideLayout61.xml"/><Relationship Id="rId11" Type="http://schemas.openxmlformats.org/officeDocument/2006/relationships/slideLayout" Target="../slideLayouts/slideLayout66.xml"/><Relationship Id="rId5" Type="http://schemas.openxmlformats.org/officeDocument/2006/relationships/slideLayout" Target="../slideLayouts/slideLayout60.xml"/><Relationship Id="rId10" Type="http://schemas.openxmlformats.org/officeDocument/2006/relationships/slideLayout" Target="../slideLayouts/slideLayout65.xml"/><Relationship Id="rId4" Type="http://schemas.openxmlformats.org/officeDocument/2006/relationships/slideLayout" Target="../slideLayouts/slideLayout59.xml"/><Relationship Id="rId9" Type="http://schemas.openxmlformats.org/officeDocument/2006/relationships/slideLayout" Target="../slideLayouts/slideLayout6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0">
          <a:gsLst>
            <a:gs pos="0">
              <a:schemeClr val="accent2">
                <a:gamma/>
                <a:tint val="0"/>
                <a:invGamma/>
              </a:schemeClr>
            </a:gs>
            <a:gs pos="100000">
              <a:srgbClr val="CCFFFF">
                <a:lumMod val="44000"/>
                <a:lumOff val="56000"/>
              </a:srgbClr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 smtClean="0"/>
              <a:t>Образец заголовка</a:t>
            </a:r>
          </a:p>
        </p:txBody>
      </p:sp>
      <p:sp>
        <p:nvSpPr>
          <p:cNvPr id="11059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/>
            </a:lvl1pPr>
          </a:lstStyle>
          <a:p>
            <a:pPr>
              <a:defRPr/>
            </a:pPr>
            <a:fld id="{25534C14-376B-4BF0-9720-80EADC15DE15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8" r:id="rId1"/>
    <p:sldLayoutId id="2147483797" r:id="rId2"/>
    <p:sldLayoutId id="2147483796" r:id="rId3"/>
    <p:sldLayoutId id="2147483795" r:id="rId4"/>
    <p:sldLayoutId id="2147483794" r:id="rId5"/>
    <p:sldLayoutId id="2147483793" r:id="rId6"/>
    <p:sldLayoutId id="2147483792" r:id="rId7"/>
    <p:sldLayoutId id="2147483791" r:id="rId8"/>
    <p:sldLayoutId id="2147483790" r:id="rId9"/>
    <p:sldLayoutId id="2147483789" r:id="rId10"/>
    <p:sldLayoutId id="2147483788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0">
          <a:gsLst>
            <a:gs pos="0">
              <a:schemeClr val="accent2">
                <a:gamma/>
                <a:tint val="0"/>
                <a:invGamma/>
              </a:schemeClr>
            </a:gs>
            <a:gs pos="100000">
              <a:srgbClr val="CCFFFF">
                <a:lumMod val="44000"/>
                <a:lumOff val="56000"/>
              </a:srgbClr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5105400"/>
            <a:ext cx="9144000" cy="1752600"/>
          </a:xfrm>
          <a:prstGeom prst="rect">
            <a:avLst/>
          </a:prstGeom>
          <a:gradFill>
            <a:gsLst>
              <a:gs pos="0">
                <a:schemeClr val="bg1">
                  <a:alpha val="91000"/>
                </a:schemeClr>
              </a:gs>
              <a:gs pos="37000">
                <a:schemeClr val="bg1">
                  <a:alpha val="76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kumimoji="1" lang="en-US" b="0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51054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89000"/>
                </a:schemeClr>
              </a:gs>
              <a:gs pos="48000">
                <a:schemeClr val="bg1">
                  <a:alpha val="62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kumimoji="1" lang="en-US" b="0" dirty="0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3768725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kumimoji="1" lang="en-US" b="0">
              <a:solidFill>
                <a:prstClr val="white"/>
              </a:solidFill>
            </a:endParaRPr>
          </a:p>
        </p:txBody>
      </p:sp>
      <p:sp>
        <p:nvSpPr>
          <p:cNvPr id="10" name="Oval 9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6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kumimoji="1" lang="en-US" b="0">
              <a:solidFill>
                <a:prstClr val="white"/>
              </a:solidFill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793875" y="4371975"/>
            <a:ext cx="6511925" cy="1143000"/>
          </a:xfrm>
          <a:prstGeom prst="rect">
            <a:avLst/>
          </a:prstGeom>
          <a:effectLst/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820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143000" y="731838"/>
            <a:ext cx="6400800" cy="3475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 smtClean="0"/>
              <a:t>Образец текста</a:t>
            </a:r>
          </a:p>
          <a:p>
            <a:pPr lvl="1"/>
            <a:r>
              <a:rPr lang="ru-RU" altLang="ru-RU" smtClean="0"/>
              <a:t>Второй уровень</a:t>
            </a:r>
          </a:p>
          <a:p>
            <a:pPr lvl="2"/>
            <a:r>
              <a:rPr lang="ru-RU" altLang="ru-RU" smtClean="0"/>
              <a:t>Третий уровень</a:t>
            </a:r>
          </a:p>
          <a:p>
            <a:pPr lvl="3"/>
            <a:r>
              <a:rPr lang="ru-RU" altLang="ru-RU" smtClean="0"/>
              <a:t>Четвертый уровень</a:t>
            </a:r>
          </a:p>
          <a:p>
            <a:pPr lvl="4"/>
            <a:r>
              <a:rPr lang="ru-RU" altLang="ru-RU" smtClean="0"/>
              <a:t>Пятый уровень</a:t>
            </a:r>
            <a:endParaRPr lang="en-US" altLang="ru-RU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172200" y="6172200"/>
            <a:ext cx="2514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hangingPunct="1">
              <a:defRPr kumimoji="1" sz="1100" b="1">
                <a:solidFill>
                  <a:prstClr val="black">
                    <a:lumMod val="50000"/>
                    <a:lumOff val="50000"/>
                  </a:prstClr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" y="6172200"/>
            <a:ext cx="3352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hangingPunct="1">
              <a:defRPr kumimoji="1" sz="1100" b="1">
                <a:solidFill>
                  <a:prstClr val="black">
                    <a:lumMod val="50000"/>
                    <a:lumOff val="50000"/>
                  </a:prstClr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810000" y="6172200"/>
            <a:ext cx="1828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hangingPunct="1">
              <a:defRPr kumimoji="1" sz="1200" b="1">
                <a:solidFill>
                  <a:prstClr val="black">
                    <a:lumMod val="50000"/>
                    <a:lumOff val="50000"/>
                  </a:prstClr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fld id="{3C45AFDF-30B8-4661-B25F-DA17ED0529D6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938878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0" r:id="rId1"/>
    <p:sldLayoutId id="2147483801" r:id="rId2"/>
    <p:sldLayoutId id="2147483802" r:id="rId3"/>
    <p:sldLayoutId id="2147483803" r:id="rId4"/>
    <p:sldLayoutId id="2147483804" r:id="rId5"/>
    <p:sldLayoutId id="2147483805" r:id="rId6"/>
    <p:sldLayoutId id="2147483806" r:id="rId7"/>
    <p:sldLayoutId id="2147483807" r:id="rId8"/>
    <p:sldLayoutId id="2147483808" r:id="rId9"/>
    <p:sldLayoutId id="2147483809" r:id="rId10"/>
    <p:sldLayoutId id="2147483810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marL="319088" indent="-319088" algn="r" rtl="0" eaLnBrk="0" fontAlgn="base" hangingPunct="0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itchFamily="18" charset="0"/>
        <a:buChar char="*"/>
        <a:defRPr sz="4600" b="1" kern="1200">
          <a:gradFill>
            <a:gsLst>
              <a:gs pos="0">
                <a:schemeClr val="tx1"/>
              </a:gs>
              <a:gs pos="40000">
                <a:schemeClr val="tx1">
                  <a:lumMod val="75000"/>
                  <a:lumOff val="25000"/>
                </a:schemeClr>
              </a:gs>
              <a:gs pos="100000">
                <a:schemeClr val="tx2">
                  <a:alpha val="65000"/>
                </a:schemeClr>
              </a:gs>
            </a:gsLst>
            <a:lin ang="5400000" scaled="0"/>
          </a:gradFill>
          <a:effectLst>
            <a:reflection blurRad="6350" stA="55000" endA="300" endPos="45500" dir="5400000" sy="-100000" algn="bl" rotWithShape="0"/>
          </a:effectLst>
          <a:latin typeface="+mj-lt"/>
          <a:ea typeface="+mj-ea"/>
          <a:cs typeface="+mj-cs"/>
        </a:defRPr>
      </a:lvl1pPr>
      <a:lvl2pPr marL="319088" indent="-319088" algn="r" rtl="0" eaLnBrk="0" fontAlgn="base" hangingPunct="0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itchFamily="18" charset="0"/>
        <a:buChar char="*"/>
        <a:defRPr sz="4600" b="1">
          <a:solidFill>
            <a:schemeClr val="tx1"/>
          </a:solidFill>
          <a:latin typeface="Trebuchet MS" pitchFamily="34" charset="0"/>
        </a:defRPr>
      </a:lvl2pPr>
      <a:lvl3pPr marL="319088" indent="-319088" algn="r" rtl="0" eaLnBrk="0" fontAlgn="base" hangingPunct="0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itchFamily="18" charset="0"/>
        <a:buChar char="*"/>
        <a:defRPr sz="4600" b="1">
          <a:solidFill>
            <a:schemeClr val="tx1"/>
          </a:solidFill>
          <a:latin typeface="Trebuchet MS" pitchFamily="34" charset="0"/>
        </a:defRPr>
      </a:lvl3pPr>
      <a:lvl4pPr marL="319088" indent="-319088" algn="r" rtl="0" eaLnBrk="0" fontAlgn="base" hangingPunct="0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itchFamily="18" charset="0"/>
        <a:buChar char="*"/>
        <a:defRPr sz="4600" b="1">
          <a:solidFill>
            <a:schemeClr val="tx1"/>
          </a:solidFill>
          <a:latin typeface="Trebuchet MS" pitchFamily="34" charset="0"/>
        </a:defRPr>
      </a:lvl4pPr>
      <a:lvl5pPr marL="319088" indent="-319088" algn="r" rtl="0" eaLnBrk="0" fontAlgn="base" hangingPunct="0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itchFamily="18" charset="0"/>
        <a:buChar char="*"/>
        <a:defRPr sz="4600" b="1">
          <a:solidFill>
            <a:schemeClr val="tx1"/>
          </a:solidFill>
          <a:latin typeface="Trebuchet MS" pitchFamily="34" charset="0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182563" algn="l" rtl="0" eaLnBrk="0" fontAlgn="base" hangingPunct="0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itchFamily="18" charset="0"/>
        <a:buChar char="*"/>
        <a:defRPr sz="2200" kern="1200">
          <a:solidFill>
            <a:srgbClr val="404040"/>
          </a:solidFill>
          <a:latin typeface="+mn-lt"/>
          <a:ea typeface="+mn-ea"/>
          <a:cs typeface="+mn-cs"/>
        </a:defRPr>
      </a:lvl1pPr>
      <a:lvl2pPr marL="547688" indent="-182563" algn="l" rtl="0" eaLnBrk="0" fontAlgn="base" hangingPunct="0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itchFamily="18" charset="0"/>
        <a:buChar char="*"/>
        <a:defRPr sz="2000" kern="1200">
          <a:solidFill>
            <a:srgbClr val="404040"/>
          </a:solidFill>
          <a:latin typeface="+mn-lt"/>
          <a:ea typeface="+mn-ea"/>
          <a:cs typeface="+mn-cs"/>
        </a:defRPr>
      </a:lvl2pPr>
      <a:lvl3pPr marL="822325" indent="-182563" algn="l" rtl="0" eaLnBrk="0" fontAlgn="base" hangingPunct="0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itchFamily="18" charset="0"/>
        <a:buChar char="*"/>
        <a:defRPr kern="1200">
          <a:solidFill>
            <a:srgbClr val="404040"/>
          </a:solidFill>
          <a:latin typeface="+mn-lt"/>
          <a:ea typeface="+mn-ea"/>
          <a:cs typeface="+mn-cs"/>
        </a:defRPr>
      </a:lvl3pPr>
      <a:lvl4pPr marL="1096963" indent="-182563" algn="l" rtl="0" eaLnBrk="0" fontAlgn="base" hangingPunct="0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itchFamily="18" charset="0"/>
        <a:buChar char="*"/>
        <a:defRPr sz="1600" kern="1200">
          <a:solidFill>
            <a:srgbClr val="404040"/>
          </a:solidFill>
          <a:latin typeface="+mn-lt"/>
          <a:ea typeface="+mn-ea"/>
          <a:cs typeface="+mn-cs"/>
        </a:defRPr>
      </a:lvl4pPr>
      <a:lvl5pPr marL="1389063" indent="-182563" algn="l" rtl="0" eaLnBrk="0" fontAlgn="base" hangingPunct="0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itchFamily="18" charset="0"/>
        <a:buChar char="*"/>
        <a:defRPr sz="1400" kern="1200">
          <a:solidFill>
            <a:srgbClr val="404040"/>
          </a:solidFill>
          <a:latin typeface="+mn-lt"/>
          <a:ea typeface="+mn-ea"/>
          <a:cs typeface="+mn-cs"/>
        </a:defRPr>
      </a:lvl5pPr>
      <a:lvl6pPr marL="1664208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96596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8600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587752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0">
          <a:gsLst>
            <a:gs pos="0">
              <a:schemeClr val="accent2">
                <a:gamma/>
                <a:tint val="0"/>
                <a:invGamma/>
              </a:schemeClr>
            </a:gs>
            <a:gs pos="100000">
              <a:srgbClr val="CCFFFF">
                <a:lumMod val="44000"/>
                <a:lumOff val="56000"/>
              </a:srgbClr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 smtClean="0"/>
              <a:t>Образец заголовка</a:t>
            </a:r>
          </a:p>
        </p:txBody>
      </p:sp>
      <p:sp>
        <p:nvSpPr>
          <p:cNvPr id="11059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/>
            </a:lvl1pPr>
          </a:lstStyle>
          <a:p>
            <a:pPr>
              <a:defRPr/>
            </a:pPr>
            <a:endParaRPr lang="ru-RU">
              <a:solidFill>
                <a:srgbClr val="000000"/>
              </a:solidFill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/>
            </a:lvl1pPr>
          </a:lstStyle>
          <a:p>
            <a:pPr>
              <a:defRPr/>
            </a:pPr>
            <a:endParaRPr lang="ru-RU">
              <a:solidFill>
                <a:srgbClr val="000000"/>
              </a:solidFill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/>
            </a:lvl1pPr>
          </a:lstStyle>
          <a:p>
            <a:pPr>
              <a:defRPr/>
            </a:pPr>
            <a:fld id="{25534C14-376B-4BF0-9720-80EADC15DE15}" type="slidenum">
              <a:rPr lang="ru-RU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ru-RU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58154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2" r:id="rId1"/>
    <p:sldLayoutId id="2147483813" r:id="rId2"/>
    <p:sldLayoutId id="2147483814" r:id="rId3"/>
    <p:sldLayoutId id="2147483815" r:id="rId4"/>
    <p:sldLayoutId id="2147483816" r:id="rId5"/>
    <p:sldLayoutId id="2147483817" r:id="rId6"/>
    <p:sldLayoutId id="2147483818" r:id="rId7"/>
    <p:sldLayoutId id="2147483819" r:id="rId8"/>
    <p:sldLayoutId id="2147483820" r:id="rId9"/>
    <p:sldLayoutId id="2147483821" r:id="rId10"/>
    <p:sldLayoutId id="2147483822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0">
          <a:gsLst>
            <a:gs pos="0">
              <a:schemeClr val="accent2">
                <a:gamma/>
                <a:tint val="0"/>
                <a:invGamma/>
              </a:schemeClr>
            </a:gs>
            <a:gs pos="100000">
              <a:srgbClr val="CCFFFF">
                <a:lumMod val="44000"/>
                <a:lumOff val="56000"/>
              </a:srgbClr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 smtClean="0"/>
              <a:t>Образец заголовка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 smtClean="0"/>
              <a:t>Образец текста</a:t>
            </a:r>
          </a:p>
          <a:p>
            <a:pPr lvl="1"/>
            <a:r>
              <a:rPr lang="ru-RU" altLang="ru-RU" smtClean="0"/>
              <a:t>Второй уровень</a:t>
            </a:r>
          </a:p>
          <a:p>
            <a:pPr lvl="2"/>
            <a:r>
              <a:rPr lang="ru-RU" altLang="ru-RU" smtClean="0"/>
              <a:t>Третий уровень</a:t>
            </a:r>
          </a:p>
          <a:p>
            <a:pPr lvl="3"/>
            <a:r>
              <a:rPr lang="ru-RU" altLang="ru-RU" smtClean="0"/>
              <a:t>Четвертый уровень</a:t>
            </a:r>
          </a:p>
          <a:p>
            <a:pPr lvl="4"/>
            <a:r>
              <a:rPr lang="ru-RU" altLang="ru-RU" smtClean="0"/>
              <a:t>Пятый уровень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kumimoji="0" sz="1400" b="0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kumimoji="0" sz="1400" b="0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kumimoji="0" sz="1400" b="0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fld id="{F28398CD-2DFA-461B-A1DB-5D86CB72E2F8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110492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8" r:id="rId1"/>
    <p:sldLayoutId id="2147483849" r:id="rId2"/>
    <p:sldLayoutId id="2147483850" r:id="rId3"/>
    <p:sldLayoutId id="2147483851" r:id="rId4"/>
    <p:sldLayoutId id="2147483852" r:id="rId5"/>
    <p:sldLayoutId id="2147483853" r:id="rId6"/>
    <p:sldLayoutId id="2147483854" r:id="rId7"/>
    <p:sldLayoutId id="2147483855" r:id="rId8"/>
    <p:sldLayoutId id="2147483856" r:id="rId9"/>
    <p:sldLayoutId id="2147483857" r:id="rId10"/>
    <p:sldLayoutId id="2147483858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25534C14-376B-4BF0-9720-80EADC15DE15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968141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0" r:id="rId1"/>
    <p:sldLayoutId id="2147483861" r:id="rId2"/>
    <p:sldLayoutId id="2147483862" r:id="rId3"/>
    <p:sldLayoutId id="2147483863" r:id="rId4"/>
    <p:sldLayoutId id="2147483864" r:id="rId5"/>
    <p:sldLayoutId id="2147483865" r:id="rId6"/>
    <p:sldLayoutId id="2147483866" r:id="rId7"/>
    <p:sldLayoutId id="2147483867" r:id="rId8"/>
    <p:sldLayoutId id="2147483868" r:id="rId9"/>
    <p:sldLayoutId id="2147483869" r:id="rId10"/>
    <p:sldLayoutId id="2147483870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25534C14-376B-4BF0-9720-80EADC15DE15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859661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2" r:id="rId1"/>
    <p:sldLayoutId id="2147483873" r:id="rId2"/>
    <p:sldLayoutId id="2147483874" r:id="rId3"/>
    <p:sldLayoutId id="2147483875" r:id="rId4"/>
    <p:sldLayoutId id="2147483876" r:id="rId5"/>
    <p:sldLayoutId id="2147483877" r:id="rId6"/>
    <p:sldLayoutId id="2147483878" r:id="rId7"/>
    <p:sldLayoutId id="2147483879" r:id="rId8"/>
    <p:sldLayoutId id="2147483880" r:id="rId9"/>
    <p:sldLayoutId id="2147483881" r:id="rId10"/>
    <p:sldLayoutId id="2147483882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9.xml"/><Relationship Id="rId1" Type="http://schemas.openxmlformats.org/officeDocument/2006/relationships/themeOverride" Target="../theme/themeOverride1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9.xml"/><Relationship Id="rId1" Type="http://schemas.openxmlformats.org/officeDocument/2006/relationships/themeOverride" Target="../theme/themeOverride1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29.xml"/><Relationship Id="rId1" Type="http://schemas.openxmlformats.org/officeDocument/2006/relationships/themeOverride" Target="../theme/themeOverride1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29.xml"/><Relationship Id="rId1" Type="http://schemas.openxmlformats.org/officeDocument/2006/relationships/themeOverride" Target="../theme/themeOverride1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29.xml"/><Relationship Id="rId1" Type="http://schemas.openxmlformats.org/officeDocument/2006/relationships/themeOverride" Target="../theme/themeOverride18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0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29.xml"/><Relationship Id="rId1" Type="http://schemas.openxmlformats.org/officeDocument/2006/relationships/themeOverride" Target="../theme/themeOverride19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9.xml"/><Relationship Id="rId1" Type="http://schemas.openxmlformats.org/officeDocument/2006/relationships/themeOverride" Target="../theme/themeOverride20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9.xml"/><Relationship Id="rId1" Type="http://schemas.openxmlformats.org/officeDocument/2006/relationships/themeOverride" Target="../theme/themeOverride2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9.xml"/><Relationship Id="rId1" Type="http://schemas.openxmlformats.org/officeDocument/2006/relationships/themeOverride" Target="../theme/themeOverride2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9.xml"/><Relationship Id="rId1" Type="http://schemas.openxmlformats.org/officeDocument/2006/relationships/themeOverride" Target="../theme/themeOverride2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9.xml"/><Relationship Id="rId1" Type="http://schemas.openxmlformats.org/officeDocument/2006/relationships/themeOverride" Target="../theme/themeOverride2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9.xml"/><Relationship Id="rId1" Type="http://schemas.openxmlformats.org/officeDocument/2006/relationships/themeOverride" Target="../theme/themeOverride2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9.xml"/><Relationship Id="rId1" Type="http://schemas.openxmlformats.org/officeDocument/2006/relationships/themeOverride" Target="../theme/themeOverride26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29.xml"/><Relationship Id="rId1" Type="http://schemas.openxmlformats.org/officeDocument/2006/relationships/themeOverride" Target="../theme/themeOverride2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9.xml"/><Relationship Id="rId1" Type="http://schemas.openxmlformats.org/officeDocument/2006/relationships/themeOverride" Target="../theme/themeOverride28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9.xml"/><Relationship Id="rId1" Type="http://schemas.openxmlformats.org/officeDocument/2006/relationships/themeOverride" Target="../theme/themeOverride29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9.xml"/><Relationship Id="rId1" Type="http://schemas.openxmlformats.org/officeDocument/2006/relationships/themeOverride" Target="../theme/themeOverride30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9.xml"/><Relationship Id="rId1" Type="http://schemas.openxmlformats.org/officeDocument/2006/relationships/themeOverride" Target="../theme/themeOverride3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9.xml"/><Relationship Id="rId1" Type="http://schemas.openxmlformats.org/officeDocument/2006/relationships/themeOverride" Target="../theme/themeOverride3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9.xml"/><Relationship Id="rId1" Type="http://schemas.openxmlformats.org/officeDocument/2006/relationships/themeOverride" Target="../theme/themeOverride3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9.xml"/><Relationship Id="rId1" Type="http://schemas.openxmlformats.org/officeDocument/2006/relationships/themeOverride" Target="../theme/themeOverride3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9.xml"/><Relationship Id="rId1" Type="http://schemas.openxmlformats.org/officeDocument/2006/relationships/themeOverride" Target="../theme/themeOverride35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9.xml"/><Relationship Id="rId1" Type="http://schemas.openxmlformats.org/officeDocument/2006/relationships/themeOverride" Target="../theme/themeOverride36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9.xml"/><Relationship Id="rId1" Type="http://schemas.openxmlformats.org/officeDocument/2006/relationships/themeOverride" Target="../theme/themeOverride3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9.xml"/><Relationship Id="rId1" Type="http://schemas.openxmlformats.org/officeDocument/2006/relationships/themeOverride" Target="../theme/themeOverride38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9.xml"/><Relationship Id="rId1" Type="http://schemas.openxmlformats.org/officeDocument/2006/relationships/themeOverride" Target="../theme/themeOverride39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9.xml"/><Relationship Id="rId1" Type="http://schemas.openxmlformats.org/officeDocument/2006/relationships/themeOverride" Target="../theme/themeOverride40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0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9.xml"/><Relationship Id="rId1" Type="http://schemas.openxmlformats.org/officeDocument/2006/relationships/themeOverride" Target="../theme/themeOverride4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9.xml"/><Relationship Id="rId1" Type="http://schemas.openxmlformats.org/officeDocument/2006/relationships/themeOverride" Target="../theme/themeOverride4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9.xml"/><Relationship Id="rId1" Type="http://schemas.openxmlformats.org/officeDocument/2006/relationships/themeOverride" Target="../theme/themeOverride43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9.xml"/><Relationship Id="rId1" Type="http://schemas.openxmlformats.org/officeDocument/2006/relationships/themeOverride" Target="../theme/themeOverride44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9.xml"/><Relationship Id="rId1" Type="http://schemas.openxmlformats.org/officeDocument/2006/relationships/themeOverride" Target="../theme/themeOverride45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9.xml"/><Relationship Id="rId1" Type="http://schemas.openxmlformats.org/officeDocument/2006/relationships/themeOverride" Target="../theme/themeOverride46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9.xml"/><Relationship Id="rId1" Type="http://schemas.openxmlformats.org/officeDocument/2006/relationships/themeOverride" Target="../theme/themeOverride4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9.xml"/><Relationship Id="rId1" Type="http://schemas.openxmlformats.org/officeDocument/2006/relationships/themeOverride" Target="../theme/themeOverride48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9.xml"/><Relationship Id="rId1" Type="http://schemas.openxmlformats.org/officeDocument/2006/relationships/themeOverride" Target="../theme/themeOverride49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9.xml"/><Relationship Id="rId1" Type="http://schemas.openxmlformats.org/officeDocument/2006/relationships/themeOverride" Target="../theme/themeOverride50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9.xml"/><Relationship Id="rId1" Type="http://schemas.openxmlformats.org/officeDocument/2006/relationships/themeOverride" Target="../theme/themeOverride5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9.xml"/><Relationship Id="rId1" Type="http://schemas.openxmlformats.org/officeDocument/2006/relationships/themeOverride" Target="../theme/themeOverride5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0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9.xml"/><Relationship Id="rId1" Type="http://schemas.openxmlformats.org/officeDocument/2006/relationships/themeOverride" Target="../theme/themeOverride5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533400" y="473075"/>
            <a:ext cx="8153400" cy="1143000"/>
          </a:xfrm>
          <a:solidFill>
            <a:schemeClr val="accent1"/>
          </a:solidFill>
          <a:ln>
            <a:solidFill>
              <a:schemeClr val="tx1"/>
            </a:solidFill>
          </a:ln>
        </p:spPr>
        <p:txBody>
          <a:bodyPr/>
          <a:lstStyle/>
          <a:p>
            <a:pPr eaLnBrk="1" hangingPunct="1"/>
            <a:endParaRPr lang="ru-RU" dirty="0" smtClean="0"/>
          </a:p>
        </p:txBody>
      </p:sp>
      <p:sp>
        <p:nvSpPr>
          <p:cNvPr id="64514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757238" y="2189163"/>
            <a:ext cx="7700962" cy="3671887"/>
          </a:xfrm>
          <a:solidFill>
            <a:schemeClr val="accent1"/>
          </a:solidFill>
          <a:ln>
            <a:solidFill>
              <a:schemeClr val="tx1"/>
            </a:solidFill>
          </a:ln>
        </p:spPr>
        <p:txBody>
          <a:bodyPr/>
          <a:lstStyle/>
          <a:p>
            <a:pPr eaLnBrk="1" hangingPunct="1"/>
            <a:endParaRPr lang="ru-RU" dirty="0" smtClean="0"/>
          </a:p>
        </p:txBody>
      </p:sp>
      <p:pic>
        <p:nvPicPr>
          <p:cNvPr id="64515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14126" y="-137592"/>
            <a:ext cx="9144000" cy="723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6677" name="Rectangle 5"/>
          <p:cNvSpPr>
            <a:spLocks noChangeArrowheads="1"/>
          </p:cNvSpPr>
          <p:nvPr/>
        </p:nvSpPr>
        <p:spPr bwMode="auto">
          <a:xfrm>
            <a:off x="920911" y="2189498"/>
            <a:ext cx="8208963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5921" dir="2700000" algn="ctr" rotWithShape="0">
              <a:schemeClr val="tx1"/>
            </a:outerShdw>
          </a:effectLst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ru-RU" sz="3600" dirty="0" smtClean="0">
                <a:solidFill>
                  <a:srgbClr val="990000"/>
                </a:solidFill>
                <a:effectLst>
                  <a:outerShdw blurRad="50800" dist="50800" dir="5400000" algn="ctr" rotWithShape="0">
                    <a:schemeClr val="bg1"/>
                  </a:outerShdw>
                </a:effectLst>
                <a:latin typeface="Arial" charset="0"/>
              </a:rPr>
              <a:t>Проектирование информационных систем </a:t>
            </a:r>
            <a:endParaRPr lang="ru-RU" sz="3600" dirty="0">
              <a:solidFill>
                <a:srgbClr val="990000"/>
              </a:solidFill>
              <a:effectLst>
                <a:outerShdw blurRad="50800" dist="50800" dir="5400000" algn="ctr" rotWithShape="0">
                  <a:schemeClr val="bg1"/>
                </a:outerShdw>
              </a:effectLst>
              <a:latin typeface="Arial" charset="0"/>
            </a:endParaRPr>
          </a:p>
        </p:txBody>
      </p:sp>
      <p:sp>
        <p:nvSpPr>
          <p:cNvPr id="64517" name="Rectangle 6"/>
          <p:cNvSpPr>
            <a:spLocks noChangeArrowheads="1"/>
          </p:cNvSpPr>
          <p:nvPr/>
        </p:nvSpPr>
        <p:spPr bwMode="auto">
          <a:xfrm>
            <a:off x="0" y="-171450"/>
            <a:ext cx="1414463" cy="7272338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CCCC00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kumimoji="1" lang="ru-RU" b="0" dirty="0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51" y="44450"/>
            <a:ext cx="1340193" cy="1260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462503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533400" y="473075"/>
            <a:ext cx="8153400" cy="1143000"/>
          </a:xfrm>
          <a:solidFill>
            <a:schemeClr val="accent1"/>
          </a:solidFill>
          <a:ln>
            <a:solidFill>
              <a:schemeClr val="tx1"/>
            </a:solidFill>
          </a:ln>
        </p:spPr>
        <p:txBody>
          <a:bodyPr/>
          <a:lstStyle/>
          <a:p>
            <a:pPr eaLnBrk="1" hangingPunct="1"/>
            <a:endParaRPr lang="ru-RU" dirty="0" smtClean="0"/>
          </a:p>
        </p:txBody>
      </p:sp>
      <p:sp>
        <p:nvSpPr>
          <p:cNvPr id="64514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757238" y="2189163"/>
            <a:ext cx="7700962" cy="3671887"/>
          </a:xfrm>
          <a:solidFill>
            <a:schemeClr val="accent1"/>
          </a:solidFill>
          <a:ln>
            <a:solidFill>
              <a:schemeClr val="tx1"/>
            </a:solidFill>
          </a:ln>
        </p:spPr>
        <p:txBody>
          <a:bodyPr/>
          <a:lstStyle/>
          <a:p>
            <a:pPr eaLnBrk="1" hangingPunct="1"/>
            <a:endParaRPr lang="ru-RU" dirty="0" smtClean="0"/>
          </a:p>
        </p:txBody>
      </p:sp>
      <p:pic>
        <p:nvPicPr>
          <p:cNvPr id="64515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14126" y="-190500"/>
            <a:ext cx="9144000" cy="723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6677" name="Rectangle 5"/>
          <p:cNvSpPr>
            <a:spLocks noChangeArrowheads="1"/>
          </p:cNvSpPr>
          <p:nvPr/>
        </p:nvSpPr>
        <p:spPr bwMode="auto">
          <a:xfrm>
            <a:off x="1150572" y="2112675"/>
            <a:ext cx="8208963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ru-RU" sz="30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Arial" charset="0"/>
              </a:rPr>
              <a:t>Цель и задачи изучения дисциплины. </a:t>
            </a:r>
          </a:p>
          <a:p>
            <a:pPr algn="ctr">
              <a:defRPr/>
            </a:pPr>
            <a:r>
              <a:rPr lang="ru-RU" sz="30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Arial" charset="0"/>
              </a:rPr>
              <a:t>Основные понятия курса </a:t>
            </a:r>
          </a:p>
        </p:txBody>
      </p:sp>
      <p:sp>
        <p:nvSpPr>
          <p:cNvPr id="64517" name="Rectangle 6"/>
          <p:cNvSpPr>
            <a:spLocks noChangeArrowheads="1"/>
          </p:cNvSpPr>
          <p:nvPr/>
        </p:nvSpPr>
        <p:spPr bwMode="auto">
          <a:xfrm>
            <a:off x="0" y="-171450"/>
            <a:ext cx="1414463" cy="7272338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CCCC00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kumimoji="1" lang="ru-RU" b="0" dirty="0"/>
          </a:p>
        </p:txBody>
      </p:sp>
      <p:sp>
        <p:nvSpPr>
          <p:cNvPr id="8" name="Rectangle 17"/>
          <p:cNvSpPr>
            <a:spLocks noChangeArrowheads="1"/>
          </p:cNvSpPr>
          <p:nvPr/>
        </p:nvSpPr>
        <p:spPr bwMode="auto">
          <a:xfrm>
            <a:off x="3027467" y="3056118"/>
            <a:ext cx="4149725" cy="1717393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buClr>
                <a:srgbClr val="CC0000"/>
              </a:buClr>
            </a:pPr>
            <a:endParaRPr lang="ru-RU" i="1" dirty="0" smtClean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  <a:p>
            <a:pPr algn="ctr">
              <a:lnSpc>
                <a:spcPct val="110000"/>
              </a:lnSpc>
              <a:buClr>
                <a:srgbClr val="CC0000"/>
              </a:buClr>
            </a:pPr>
            <a:endParaRPr lang="ru-RU" i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  <a:p>
            <a:pPr algn="ctr">
              <a:lnSpc>
                <a:spcPct val="110000"/>
              </a:lnSpc>
              <a:buClr>
                <a:srgbClr val="CC0000"/>
              </a:buClr>
            </a:pPr>
            <a:endParaRPr lang="ru-RU" i="1" dirty="0" smtClean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  <a:p>
            <a:pPr algn="ctr">
              <a:lnSpc>
                <a:spcPct val="110000"/>
              </a:lnSpc>
              <a:buClr>
                <a:srgbClr val="CC0000"/>
              </a:buClr>
            </a:pPr>
            <a:r>
              <a:rPr lang="ru-RU" i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Лекция  1</a:t>
            </a:r>
            <a:endParaRPr lang="ru-RU" i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pic>
        <p:nvPicPr>
          <p:cNvPr id="9" name="Picture 22" descr="https://encrypted-tbn3.gstatic.com/images?q=tbn:ANd9GcR9i45ysK8L_fsNZWpXljHThqdNl_6L1eaud5q7uUyfFKbK3A_L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25" y="29369"/>
            <a:ext cx="1343025" cy="890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533400" y="473075"/>
            <a:ext cx="8153400" cy="1143000"/>
          </a:xfrm>
          <a:solidFill>
            <a:schemeClr val="accent1"/>
          </a:solidFill>
          <a:ln>
            <a:solidFill>
              <a:schemeClr val="tx1"/>
            </a:solidFill>
          </a:ln>
        </p:spPr>
        <p:txBody>
          <a:bodyPr/>
          <a:lstStyle/>
          <a:p>
            <a:pPr eaLnBrk="1" hangingPunct="1"/>
            <a:endParaRPr lang="ru-RU" dirty="0" smtClean="0"/>
          </a:p>
        </p:txBody>
      </p:sp>
      <p:sp>
        <p:nvSpPr>
          <p:cNvPr id="64514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757238" y="2189163"/>
            <a:ext cx="7700962" cy="3671887"/>
          </a:xfrm>
          <a:solidFill>
            <a:schemeClr val="accent1"/>
          </a:solidFill>
          <a:ln>
            <a:solidFill>
              <a:schemeClr val="tx1"/>
            </a:solidFill>
          </a:ln>
        </p:spPr>
        <p:txBody>
          <a:bodyPr/>
          <a:lstStyle/>
          <a:p>
            <a:pPr eaLnBrk="1" hangingPunct="1"/>
            <a:endParaRPr lang="ru-RU" dirty="0" smtClean="0"/>
          </a:p>
        </p:txBody>
      </p:sp>
      <p:pic>
        <p:nvPicPr>
          <p:cNvPr id="64515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14126" y="-190500"/>
            <a:ext cx="9144000" cy="723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503237" y="1982450"/>
            <a:ext cx="8208963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defRPr/>
            </a:pPr>
            <a:r>
              <a:rPr lang="ru-RU" sz="4400" dirty="0" smtClean="0">
                <a:ln w="22225">
                  <a:solidFill>
                    <a:srgbClr val="3333CC"/>
                  </a:solidFill>
                  <a:prstDash val="solid"/>
                </a:ln>
                <a:solidFill>
                  <a:srgbClr val="C00000"/>
                </a:solidFill>
                <a:latin typeface="Arial" charset="0"/>
              </a:rPr>
              <a:t>Введение</a:t>
            </a:r>
            <a:endParaRPr lang="ru-RU" sz="4400" dirty="0">
              <a:ln w="22225">
                <a:solidFill>
                  <a:srgbClr val="3333CC"/>
                </a:solidFill>
                <a:prstDash val="solid"/>
              </a:ln>
              <a:solidFill>
                <a:srgbClr val="C00000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987690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2"/>
          <p:cNvSpPr>
            <a:spLocks noGrp="1" noChangeArrowheads="1"/>
          </p:cNvSpPr>
          <p:nvPr>
            <p:ph type="title"/>
          </p:nvPr>
        </p:nvSpPr>
        <p:spPr>
          <a:xfrm>
            <a:off x="473621" y="224644"/>
            <a:ext cx="7772400" cy="620713"/>
          </a:xfrm>
        </p:spPr>
        <p:txBody>
          <a:bodyPr/>
          <a:lstStyle/>
          <a:p>
            <a:pPr marL="320040" indent="-320040"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ru-RU" sz="4000" dirty="0" smtClean="0"/>
              <a:t>Литература</a:t>
            </a:r>
            <a:br>
              <a:rPr lang="ru-RU" sz="4000" dirty="0" smtClean="0"/>
            </a:br>
            <a:endParaRPr lang="ru-RU" sz="3200" dirty="0" smtClean="0"/>
          </a:p>
        </p:txBody>
      </p:sp>
      <p:sp>
        <p:nvSpPr>
          <p:cNvPr id="100355" name="Rectangle 3"/>
          <p:cNvSpPr>
            <a:spLocks noGrp="1" noChangeArrowheads="1"/>
          </p:cNvSpPr>
          <p:nvPr>
            <p:ph sz="quarter" idx="13"/>
          </p:nvPr>
        </p:nvSpPr>
        <p:spPr>
          <a:xfrm>
            <a:off x="250825" y="1125538"/>
            <a:ext cx="8640763" cy="4103687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en-US" altLang="ru-RU" sz="2000" smtClean="0"/>
              <a:t>Автоматизированные </a:t>
            </a:r>
            <a:r>
              <a:rPr lang="ru-RU" altLang="ru-RU" sz="2000" smtClean="0"/>
              <a:t>с</a:t>
            </a:r>
            <a:r>
              <a:rPr lang="en-US" altLang="ru-RU" sz="2000" smtClean="0"/>
              <a:t>истемы</a:t>
            </a:r>
            <a:r>
              <a:rPr lang="ru-RU" altLang="ru-RU" sz="2000" smtClean="0"/>
              <a:t>.</a:t>
            </a:r>
            <a:r>
              <a:rPr lang="en-US" altLang="ru-RU" sz="2000" smtClean="0"/>
              <a:t> Стадии создания. ГОСТ 34.601-90 Комплекс стандартов на автоматизированные системы. ИПК издательство стандартов, М., 1997</a:t>
            </a:r>
            <a:r>
              <a:rPr lang="ru-RU" altLang="ru-RU" sz="2000" smtClean="0"/>
              <a:t>.</a:t>
            </a:r>
          </a:p>
          <a:p>
            <a:pPr eaLnBrk="1" hangingPunct="1">
              <a:lnSpc>
                <a:spcPct val="120000"/>
              </a:lnSpc>
            </a:pPr>
            <a:r>
              <a:rPr kumimoji="1" lang="ru-RU" altLang="ru-RU" sz="2000" smtClean="0"/>
              <a:t>Грекул В.И., Денищенко Г.Н., Коровкина Н.Л. Проектирование ИС. Учебное пособие. Интернет-университет, М., 2005.</a:t>
            </a:r>
          </a:p>
          <a:p>
            <a:pPr eaLnBrk="1" hangingPunct="1">
              <a:lnSpc>
                <a:spcPct val="120000"/>
              </a:lnSpc>
            </a:pPr>
            <a:r>
              <a:rPr lang="ru-RU" altLang="ru-RU" sz="2000" smtClean="0"/>
              <a:t>Вендров А.М. Проектирование программного обеспечения экономических информационных систем. Учебник. – М.: Финансы и статистика. 2006. – 543 с.</a:t>
            </a:r>
          </a:p>
          <a:p>
            <a:pPr eaLnBrk="1" hangingPunct="1">
              <a:lnSpc>
                <a:spcPct val="120000"/>
              </a:lnSpc>
            </a:pPr>
            <a:r>
              <a:rPr lang="ru-RU" altLang="ru-RU" sz="2000" smtClean="0"/>
              <a:t>Вендров А.М. Практикум по проектированию программного обеспечения экономических информационных систем: Учеб. пособие. – М.: Финансы и статистика, 2006. – 192 с.</a:t>
            </a:r>
            <a:endParaRPr lang="en-US" altLang="ru-RU" sz="2000" smtClean="0"/>
          </a:p>
          <a:p>
            <a:pPr eaLnBrk="1" hangingPunct="1">
              <a:lnSpc>
                <a:spcPct val="120000"/>
              </a:lnSpc>
            </a:pPr>
            <a:r>
              <a:rPr lang="ru-RU" altLang="ru-RU" sz="2000" smtClean="0"/>
              <a:t>Тельнов Ю.Ф., Смирнова Г.Н., Позин Б.А., Калянов Г.Н. Проектирование информационных систем.</a:t>
            </a:r>
            <a:r>
              <a:rPr kumimoji="1" lang="ru-RU" altLang="ru-RU" sz="2000" smtClean="0"/>
              <a:t> Учебное пособие. </a:t>
            </a:r>
            <a:r>
              <a:rPr lang="ru-RU" altLang="ru-RU" sz="2000" smtClean="0"/>
              <a:t>  МЭСИ, М., 2013.</a:t>
            </a:r>
            <a:endParaRPr kumimoji="1" lang="ru-RU" altLang="ru-RU" sz="2000" smtClean="0"/>
          </a:p>
        </p:txBody>
      </p:sp>
    </p:spTree>
    <p:extLst>
      <p:ext uri="{BB962C8B-B14F-4D97-AF65-F5344CB8AC3E}">
        <p14:creationId xmlns:p14="http://schemas.microsoft.com/office/powerpoint/2010/main" val="3111752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2"/>
          <p:cNvSpPr>
            <a:spLocks noGrp="1" noChangeArrowheads="1"/>
          </p:cNvSpPr>
          <p:nvPr>
            <p:ph type="title"/>
          </p:nvPr>
        </p:nvSpPr>
        <p:spPr>
          <a:xfrm>
            <a:off x="467544" y="404664"/>
            <a:ext cx="7772400" cy="620713"/>
          </a:xfrm>
        </p:spPr>
        <p:txBody>
          <a:bodyPr/>
          <a:lstStyle/>
          <a:p>
            <a:pPr marL="320040" indent="-320040"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ru-RU" sz="4000" dirty="0" smtClean="0"/>
              <a:t>Литература</a:t>
            </a:r>
            <a:br>
              <a:rPr lang="ru-RU" sz="4000" dirty="0" smtClean="0"/>
            </a:br>
            <a:endParaRPr lang="ru-RU" sz="3200" dirty="0" smtClean="0"/>
          </a:p>
        </p:txBody>
      </p:sp>
      <p:sp>
        <p:nvSpPr>
          <p:cNvPr id="10244" name="Rectangle 3"/>
          <p:cNvSpPr>
            <a:spLocks noGrp="1" noChangeArrowheads="1"/>
          </p:cNvSpPr>
          <p:nvPr>
            <p:ph sz="quarter" idx="13"/>
          </p:nvPr>
        </p:nvSpPr>
        <p:spPr>
          <a:xfrm>
            <a:off x="0" y="1160463"/>
            <a:ext cx="8964613" cy="2663825"/>
          </a:xfrm>
        </p:spPr>
        <p:txBody>
          <a:bodyPr/>
          <a:lstStyle/>
          <a:p>
            <a:pPr eaLnBrk="1" hangingPunct="1">
              <a:lnSpc>
                <a:spcPct val="120000"/>
              </a:lnSpc>
              <a:defRPr/>
            </a:pPr>
            <a:r>
              <a:rPr lang="ru-RU" sz="2000" dirty="0" smtClean="0"/>
              <a:t>ГОСТ Р ИСО/МЭК 15288—2005. </a:t>
            </a:r>
            <a:r>
              <a:rPr lang="en-US" sz="2000" dirty="0" smtClean="0"/>
              <a:t>http://www.pqm-online.com/assets/files/standards/gost_r_iso_iec_15288-2005.pdf</a:t>
            </a:r>
            <a:r>
              <a:rPr lang="ru-RU" sz="2000" dirty="0" smtClean="0"/>
              <a:t> (дата обращения 09.01.2015).</a:t>
            </a:r>
          </a:p>
          <a:p>
            <a:pPr eaLnBrk="1" hangingPunct="1">
              <a:lnSpc>
                <a:spcPct val="120000"/>
              </a:lnSpc>
              <a:defRPr/>
            </a:pPr>
            <a:r>
              <a:rPr kumimoji="1" lang="ru-RU" sz="2000" dirty="0" smtClean="0"/>
              <a:t>ГОСТ 34.601-­90. Автоматизированные системы. Стадии создания. </a:t>
            </a:r>
            <a:r>
              <a:rPr kumimoji="1" lang="en-US" sz="2000" dirty="0" smtClean="0"/>
              <a:t>http://www.tusur.ru/export/sites/ru.tusur.new/ru/informatization/documents/standards/20090902_0901.pdf</a:t>
            </a:r>
            <a:r>
              <a:rPr kumimoji="1" lang="ru-RU" sz="2000" dirty="0" smtClean="0"/>
              <a:t> </a:t>
            </a:r>
            <a:r>
              <a:rPr lang="ru-RU" sz="2000" dirty="0" smtClean="0"/>
              <a:t>(дата обращения 09.01.2015).</a:t>
            </a:r>
          </a:p>
          <a:p>
            <a:pPr eaLnBrk="1" hangingPunct="1">
              <a:lnSpc>
                <a:spcPct val="120000"/>
              </a:lnSpc>
              <a:defRPr/>
            </a:pPr>
            <a:r>
              <a:rPr lang="ru-RU" sz="2000" dirty="0" smtClean="0"/>
              <a:t>ГОСТ Р ИСО/МЭК 12207-2010 Информационная технология. Процессы жизненного цикла программных средств. </a:t>
            </a:r>
            <a:r>
              <a:rPr lang="en-US" sz="2000" dirty="0" smtClean="0"/>
              <a:t>http://labsm.ru/pluginfile.php/969/mod_resource/content/2/12207.pdf</a:t>
            </a:r>
            <a:r>
              <a:rPr lang="ru-RU" sz="2000" dirty="0" smtClean="0"/>
              <a:t> (дата обращения 09.01.2015).</a:t>
            </a:r>
          </a:p>
          <a:p>
            <a:pPr eaLnBrk="1" hangingPunct="1">
              <a:lnSpc>
                <a:spcPct val="120000"/>
              </a:lnSpc>
              <a:defRPr/>
            </a:pPr>
            <a:r>
              <a:rPr lang="ru-RU" sz="2000" dirty="0" smtClean="0"/>
              <a:t>РД 50-34.698-90. Автоматизированные системы. Требования к содержанию документов. </a:t>
            </a:r>
            <a:r>
              <a:rPr lang="en-US" sz="2000" dirty="0" smtClean="0"/>
              <a:t>http://www.tusur.ru/export/sites/ru.tusur.new/ru/informatization/documents/standards/20090902_0900-2.pdf</a:t>
            </a:r>
            <a:r>
              <a:rPr lang="ru-RU" sz="2000" dirty="0" smtClean="0"/>
              <a:t> (дата обращения 09.01.2015).</a:t>
            </a:r>
          </a:p>
          <a:p>
            <a:pPr marL="46037" indent="0" eaLnBrk="1" hangingPunct="1">
              <a:lnSpc>
                <a:spcPct val="120000"/>
              </a:lnSpc>
              <a:buFont typeface="Georgia" pitchFamily="18" charset="0"/>
              <a:buNone/>
              <a:defRPr/>
            </a:pPr>
            <a:endParaRPr lang="ru-RU" sz="2000" dirty="0" smtClean="0"/>
          </a:p>
        </p:txBody>
      </p:sp>
    </p:spTree>
    <p:extLst>
      <p:ext uri="{BB962C8B-B14F-4D97-AF65-F5344CB8AC3E}">
        <p14:creationId xmlns:p14="http://schemas.microsoft.com/office/powerpoint/2010/main" val="24922970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7"/>
          <p:cNvSpPr>
            <a:spLocks noChangeArrowheads="1"/>
          </p:cNvSpPr>
          <p:nvPr/>
        </p:nvSpPr>
        <p:spPr bwMode="auto">
          <a:xfrm>
            <a:off x="599652" y="753228"/>
            <a:ext cx="8299450" cy="429040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anchor="ctr">
            <a:spAutoFit/>
          </a:bodyPr>
          <a:lstStyle/>
          <a:p>
            <a:pPr>
              <a:lnSpc>
                <a:spcPct val="110000"/>
              </a:lnSpc>
              <a:buClr>
                <a:srgbClr val="CC0000"/>
              </a:buClr>
            </a:pPr>
            <a:r>
              <a:rPr lang="ru-RU" sz="32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Целью</a:t>
            </a:r>
            <a:r>
              <a:rPr lang="ru-RU" dirty="0">
                <a:solidFill>
                  <a:srgbClr val="000000"/>
                </a:solidFill>
                <a:latin typeface="Arial" charset="0"/>
              </a:rPr>
              <a:t> </a:t>
            </a:r>
            <a:endParaRPr lang="ru-RU" dirty="0" smtClean="0">
              <a:solidFill>
                <a:srgbClr val="000000"/>
              </a:solidFill>
              <a:latin typeface="Arial" charset="0"/>
            </a:endParaRPr>
          </a:p>
          <a:p>
            <a:pPr>
              <a:lnSpc>
                <a:spcPct val="110000"/>
              </a:lnSpc>
              <a:buClr>
                <a:srgbClr val="CC0000"/>
              </a:buClr>
            </a:pPr>
            <a:r>
              <a:rPr lang="ru-RU" dirty="0" smtClean="0">
                <a:solidFill>
                  <a:srgbClr val="000000"/>
                </a:solidFill>
                <a:latin typeface="Arial" charset="0"/>
              </a:rPr>
              <a:t>изучения </a:t>
            </a:r>
            <a:r>
              <a:rPr lang="ru-RU" dirty="0">
                <a:solidFill>
                  <a:srgbClr val="000000"/>
                </a:solidFill>
                <a:latin typeface="Arial" charset="0"/>
              </a:rPr>
              <a:t>дисциплины </a:t>
            </a:r>
            <a:r>
              <a:rPr lang="ru-RU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«Проектирование </a:t>
            </a:r>
            <a:r>
              <a:rPr lang="ru-RU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информационных </a:t>
            </a:r>
            <a:r>
              <a:rPr lang="ru-RU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систем»</a:t>
            </a:r>
            <a:r>
              <a:rPr lang="ru-RU" dirty="0" smtClean="0">
                <a:solidFill>
                  <a:srgbClr val="000000"/>
                </a:solidFill>
                <a:latin typeface="Arial" charset="0"/>
              </a:rPr>
              <a:t> является </a:t>
            </a:r>
            <a:r>
              <a:rPr lang="ru-RU" dirty="0">
                <a:solidFill>
                  <a:srgbClr val="000000"/>
                </a:solidFill>
                <a:latin typeface="Arial" charset="0"/>
              </a:rPr>
              <a:t>получение знаний о методологиях и перспективных информационных технологиях проектирования, профессионально-ориентированных информационных </a:t>
            </a:r>
            <a:r>
              <a:rPr lang="ru-RU" dirty="0" smtClean="0">
                <a:solidFill>
                  <a:srgbClr val="000000"/>
                </a:solidFill>
                <a:latin typeface="Arial" charset="0"/>
              </a:rPr>
              <a:t>систем, </a:t>
            </a:r>
            <a:r>
              <a:rPr lang="ru-RU" dirty="0">
                <a:solidFill>
                  <a:srgbClr val="000000"/>
                </a:solidFill>
                <a:latin typeface="Arial" charset="0"/>
              </a:rPr>
              <a:t>о методах моделирования бизнес </a:t>
            </a:r>
            <a:r>
              <a:rPr lang="ru-RU" dirty="0" smtClean="0">
                <a:solidFill>
                  <a:srgbClr val="000000"/>
                </a:solidFill>
                <a:latin typeface="Arial" charset="0"/>
              </a:rPr>
              <a:t>и информационных </a:t>
            </a:r>
            <a:r>
              <a:rPr lang="ru-RU" dirty="0">
                <a:solidFill>
                  <a:srgbClr val="000000"/>
                </a:solidFill>
                <a:latin typeface="Arial" charset="0"/>
              </a:rPr>
              <a:t>процессов в области экономики, выработки умений по созданию </a:t>
            </a:r>
            <a:r>
              <a:rPr lang="ru-RU" dirty="0" smtClean="0">
                <a:solidFill>
                  <a:srgbClr val="000000"/>
                </a:solidFill>
                <a:latin typeface="Arial" charset="0"/>
              </a:rPr>
              <a:t>проектов ИС. </a:t>
            </a:r>
            <a:endParaRPr lang="ru-RU" dirty="0">
              <a:solidFill>
                <a:srgbClr val="000000"/>
              </a:solidFill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5"/>
          <p:cNvSpPr>
            <a:spLocks noChangeArrowheads="1"/>
          </p:cNvSpPr>
          <p:nvPr/>
        </p:nvSpPr>
        <p:spPr bwMode="auto">
          <a:xfrm>
            <a:off x="244114" y="692696"/>
            <a:ext cx="8917453" cy="54414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buClr>
                <a:srgbClr val="CC0000"/>
              </a:buClr>
            </a:pPr>
            <a:r>
              <a:rPr lang="ru-RU" sz="2800" dirty="0">
                <a:solidFill>
                  <a:srgbClr val="99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Задачи изучения дисциплины: </a:t>
            </a:r>
            <a:endParaRPr lang="ru-RU" sz="2800" dirty="0" smtClean="0">
              <a:solidFill>
                <a:srgbClr val="990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charset="0"/>
            </a:endParaRPr>
          </a:p>
          <a:p>
            <a:pPr>
              <a:lnSpc>
                <a:spcPct val="110000"/>
              </a:lnSpc>
              <a:buClr>
                <a:srgbClr val="CC0000"/>
              </a:buClr>
            </a:pPr>
            <a:endParaRPr lang="ru-RU" sz="2800" dirty="0">
              <a:solidFill>
                <a:srgbClr val="990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charset="0"/>
            </a:endParaRPr>
          </a:p>
          <a:p>
            <a:pPr marL="342900" indent="-342900">
              <a:lnSpc>
                <a:spcPct val="110000"/>
              </a:lnSpc>
              <a:buClr>
                <a:srgbClr val="CC0000"/>
              </a:buClr>
              <a:buFontTx/>
              <a:buAutoNum type="arabicPeriod"/>
            </a:pPr>
            <a:r>
              <a:rPr lang="ru-RU" sz="2000" dirty="0">
                <a:solidFill>
                  <a:srgbClr val="000000"/>
                </a:solidFill>
                <a:latin typeface="Arial" charset="0"/>
              </a:rPr>
              <a:t>Ознакомиться </a:t>
            </a:r>
            <a:r>
              <a:rPr lang="ru-RU" sz="2000" dirty="0" smtClean="0">
                <a:solidFill>
                  <a:srgbClr val="000000"/>
                </a:solidFill>
                <a:latin typeface="Arial" charset="0"/>
              </a:rPr>
              <a:t>со стандартами </a:t>
            </a:r>
            <a:r>
              <a:rPr lang="ru-RU" sz="2000" dirty="0">
                <a:solidFill>
                  <a:srgbClr val="000000"/>
                </a:solidFill>
                <a:latin typeface="Arial" charset="0"/>
              </a:rPr>
              <a:t>проектирования информационных систем на примере ГОСТ 34 и ИСО МЭК 12207. </a:t>
            </a:r>
            <a:endParaRPr lang="ru-RU" sz="2000" dirty="0" smtClean="0">
              <a:solidFill>
                <a:srgbClr val="000000"/>
              </a:solidFill>
              <a:latin typeface="Arial" charset="0"/>
            </a:endParaRPr>
          </a:p>
          <a:p>
            <a:pPr marL="342900" indent="-342900">
              <a:lnSpc>
                <a:spcPct val="110000"/>
              </a:lnSpc>
              <a:buClr>
                <a:srgbClr val="CC0000"/>
              </a:buClr>
              <a:buFontTx/>
              <a:buAutoNum type="arabicPeriod"/>
            </a:pPr>
            <a:r>
              <a:rPr lang="ru-RU" sz="2000" dirty="0">
                <a:solidFill>
                  <a:srgbClr val="000000"/>
                </a:solidFill>
                <a:latin typeface="Arial" charset="0"/>
              </a:rPr>
              <a:t>Изучить методологические основы проектирования ИС с соответствующим инструментарием. </a:t>
            </a:r>
          </a:p>
          <a:p>
            <a:pPr marL="342900" indent="-342900">
              <a:lnSpc>
                <a:spcPct val="110000"/>
              </a:lnSpc>
              <a:buClr>
                <a:srgbClr val="CC0000"/>
              </a:buClr>
              <a:buFontTx/>
              <a:buAutoNum type="arabicPeriod"/>
            </a:pPr>
            <a:r>
              <a:rPr lang="ru-RU" sz="2000" dirty="0" smtClean="0">
                <a:solidFill>
                  <a:srgbClr val="000000"/>
                </a:solidFill>
                <a:latin typeface="Arial" charset="0"/>
              </a:rPr>
              <a:t>Ознакомиться с понятием </a:t>
            </a:r>
            <a:r>
              <a:rPr lang="ru-RU" sz="2000" dirty="0">
                <a:solidFill>
                  <a:srgbClr val="000000"/>
                </a:solidFill>
                <a:latin typeface="Arial" charset="0"/>
              </a:rPr>
              <a:t>профиля информационной системы. </a:t>
            </a:r>
            <a:endParaRPr lang="ru-RU" sz="2000" dirty="0" smtClean="0">
              <a:solidFill>
                <a:srgbClr val="000000"/>
              </a:solidFill>
              <a:latin typeface="Arial" charset="0"/>
            </a:endParaRPr>
          </a:p>
          <a:p>
            <a:pPr marL="342900" indent="-342900">
              <a:lnSpc>
                <a:spcPct val="110000"/>
              </a:lnSpc>
              <a:buClr>
                <a:srgbClr val="CC0000"/>
              </a:buClr>
              <a:buFontTx/>
              <a:buAutoNum type="arabicPeriod"/>
            </a:pPr>
            <a:r>
              <a:rPr lang="ru-RU" sz="2000" dirty="0" smtClean="0">
                <a:solidFill>
                  <a:srgbClr val="000000"/>
                </a:solidFill>
                <a:latin typeface="Arial" charset="0"/>
              </a:rPr>
              <a:t>Овладеть методикой </a:t>
            </a:r>
            <a:r>
              <a:rPr lang="ru-RU" sz="2000" dirty="0">
                <a:solidFill>
                  <a:srgbClr val="000000"/>
                </a:solidFill>
                <a:latin typeface="Arial" charset="0"/>
              </a:rPr>
              <a:t>системного проектирования ИС: </a:t>
            </a:r>
            <a:r>
              <a:rPr lang="ru-RU" sz="2000" dirty="0" err="1">
                <a:solidFill>
                  <a:srgbClr val="000000"/>
                </a:solidFill>
                <a:latin typeface="Arial" charset="0"/>
              </a:rPr>
              <a:t>предпроектное</a:t>
            </a:r>
            <a:r>
              <a:rPr lang="ru-RU" sz="2000" dirty="0">
                <a:solidFill>
                  <a:srgbClr val="000000"/>
                </a:solidFill>
                <a:latin typeface="Arial" charset="0"/>
              </a:rPr>
              <a:t> обследование, формирование требований к системе, создание прототипа ИС, создание системного проекта ИС. </a:t>
            </a:r>
            <a:endParaRPr lang="ru-RU" sz="2000" dirty="0" smtClean="0">
              <a:solidFill>
                <a:srgbClr val="000000"/>
              </a:solidFill>
              <a:latin typeface="Arial" charset="0"/>
            </a:endParaRPr>
          </a:p>
          <a:p>
            <a:pPr marL="342900" indent="-342900">
              <a:lnSpc>
                <a:spcPct val="110000"/>
              </a:lnSpc>
              <a:buClr>
                <a:srgbClr val="CC0000"/>
              </a:buClr>
              <a:buFontTx/>
              <a:buAutoNum type="arabicPeriod"/>
            </a:pPr>
            <a:r>
              <a:rPr lang="ru-RU" sz="2000" dirty="0" smtClean="0">
                <a:solidFill>
                  <a:srgbClr val="000000"/>
                </a:solidFill>
                <a:latin typeface="Arial" charset="0"/>
              </a:rPr>
              <a:t>Изучить </a:t>
            </a:r>
            <a:r>
              <a:rPr lang="ru-RU" sz="2000" dirty="0">
                <a:solidFill>
                  <a:srgbClr val="000000"/>
                </a:solidFill>
                <a:latin typeface="Arial" charset="0"/>
              </a:rPr>
              <a:t>основные процедуры </a:t>
            </a:r>
            <a:r>
              <a:rPr lang="ru-RU" sz="2000" dirty="0" smtClean="0">
                <a:solidFill>
                  <a:srgbClr val="000000"/>
                </a:solidFill>
                <a:latin typeface="Arial" charset="0"/>
              </a:rPr>
              <a:t>проектирования</a:t>
            </a:r>
            <a:r>
              <a:rPr lang="ru-RU" sz="2000" dirty="0">
                <a:solidFill>
                  <a:srgbClr val="000000"/>
                </a:solidFill>
                <a:latin typeface="Arial" charset="0"/>
              </a:rPr>
              <a:t>. </a:t>
            </a:r>
            <a:endParaRPr lang="ru-RU" sz="2000" dirty="0" smtClean="0">
              <a:solidFill>
                <a:srgbClr val="000000"/>
              </a:solidFill>
              <a:latin typeface="Arial" charset="0"/>
            </a:endParaRPr>
          </a:p>
          <a:p>
            <a:pPr marL="342900" indent="-342900">
              <a:lnSpc>
                <a:spcPct val="110000"/>
              </a:lnSpc>
              <a:buClr>
                <a:srgbClr val="CC0000"/>
              </a:buClr>
              <a:buFontTx/>
              <a:buAutoNum type="arabicPeriod"/>
            </a:pPr>
            <a:r>
              <a:rPr lang="ru-RU" sz="2000" dirty="0" smtClean="0">
                <a:solidFill>
                  <a:srgbClr val="000000"/>
                </a:solidFill>
                <a:latin typeface="Arial" charset="0"/>
              </a:rPr>
              <a:t>Овладеть </a:t>
            </a:r>
            <a:r>
              <a:rPr lang="ru-RU" sz="2000" dirty="0">
                <a:solidFill>
                  <a:srgbClr val="000000"/>
                </a:solidFill>
                <a:latin typeface="Arial" charset="0"/>
              </a:rPr>
              <a:t>инструментальными средствами проектирования информационных систем и методикой системного и детального </a:t>
            </a:r>
            <a:r>
              <a:rPr lang="ru-RU" sz="2000" dirty="0" smtClean="0">
                <a:solidFill>
                  <a:srgbClr val="000000"/>
                </a:solidFill>
                <a:latin typeface="Arial" charset="0"/>
              </a:rPr>
              <a:t>проектирования.</a:t>
            </a:r>
          </a:p>
        </p:txBody>
      </p:sp>
    </p:spTree>
    <p:extLst>
      <p:ext uri="{BB962C8B-B14F-4D97-AF65-F5344CB8AC3E}">
        <p14:creationId xmlns:p14="http://schemas.microsoft.com/office/powerpoint/2010/main" val="18957254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5"/>
          <p:cNvSpPr>
            <a:spLocks noChangeArrowheads="1"/>
          </p:cNvSpPr>
          <p:nvPr/>
        </p:nvSpPr>
        <p:spPr bwMode="auto">
          <a:xfrm>
            <a:off x="0" y="80628"/>
            <a:ext cx="9161567" cy="4670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buClr>
                <a:srgbClr val="CC0000"/>
              </a:buClr>
            </a:pPr>
            <a:r>
              <a:rPr lang="ru-RU" dirty="0" smtClean="0">
                <a:solidFill>
                  <a:srgbClr val="99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Содержание </a:t>
            </a:r>
            <a:r>
              <a:rPr lang="ru-RU" dirty="0">
                <a:solidFill>
                  <a:srgbClr val="99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учебной </a:t>
            </a:r>
            <a:r>
              <a:rPr lang="ru-RU" dirty="0" smtClean="0">
                <a:solidFill>
                  <a:srgbClr val="99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дисциплины</a:t>
            </a:r>
            <a:endParaRPr lang="ru-RU" dirty="0">
              <a:solidFill>
                <a:srgbClr val="990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charset="0"/>
            </a:endParaRPr>
          </a:p>
        </p:txBody>
      </p:sp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9593972"/>
              </p:ext>
            </p:extLst>
          </p:nvPr>
        </p:nvGraphicFramePr>
        <p:xfrm>
          <a:off x="431540" y="629307"/>
          <a:ext cx="8208912" cy="6096000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{08FB837D-C827-4EFA-A057-4D05807E0F7C}</a:tableStyleId>
              </a:tblPr>
              <a:tblGrid>
                <a:gridCol w="537908"/>
                <a:gridCol w="2390704"/>
                <a:gridCol w="5280300"/>
              </a:tblGrid>
              <a:tr h="382119">
                <a:tc>
                  <a:txBody>
                    <a:bodyPr/>
                    <a:lstStyle/>
                    <a:p>
                      <a:pPr marL="0" marR="36195" indent="0" algn="ctr"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№</a:t>
                      </a:r>
                    </a:p>
                    <a:p>
                      <a:pPr marL="0" marR="36195" indent="0" algn="ctr"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п/п</a:t>
                      </a:r>
                      <a:endParaRPr lang="ru-RU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0315" marR="6031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36195" indent="0" algn="ctr"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Наименование раздела/темы дисциплины</a:t>
                      </a:r>
                      <a:endParaRPr lang="ru-RU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0315" marR="6031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36195" indent="0" algn="ctr"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Содержание раздела/темы</a:t>
                      </a:r>
                      <a:endParaRPr lang="ru-RU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0315" marR="6031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34505">
                <a:tc>
                  <a:txBody>
                    <a:bodyPr/>
                    <a:lstStyle/>
                    <a:p>
                      <a:pPr marL="0" indent="0" algn="ctr"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1.</a:t>
                      </a:r>
                      <a:endParaRPr lang="ru-RU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0315" marR="6031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Тема 1. Стандарты и профили в области </a:t>
                      </a:r>
                      <a:r>
                        <a:rPr lang="ru-RU" sz="1600" dirty="0" smtClean="0">
                          <a:effectLst/>
                        </a:rPr>
                        <a:t>ИС </a:t>
                      </a:r>
                      <a:endParaRPr lang="ru-RU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0315" marR="6031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0"/>
                        </a:spcAft>
                        <a:tabLst>
                          <a:tab pos="6223635" algn="l"/>
                        </a:tabLst>
                      </a:pPr>
                      <a:r>
                        <a:rPr lang="ru-RU" sz="1600" dirty="0">
                          <a:effectLst/>
                        </a:rPr>
                        <a:t>Роль и место стандартизации в проектировании ИС.</a:t>
                      </a:r>
                    </a:p>
                    <a:p>
                      <a:pPr marL="0" indent="0" algn="l">
                        <a:spcAft>
                          <a:spcPts val="0"/>
                        </a:spcAft>
                        <a:tabLst>
                          <a:tab pos="6223635" algn="l"/>
                        </a:tabLst>
                      </a:pPr>
                      <a:r>
                        <a:rPr lang="ru-RU" sz="1600" dirty="0">
                          <a:effectLst/>
                        </a:rPr>
                        <a:t>ГОСТ 34. 601-90. Автоматизированные системы. Стадии создания.</a:t>
                      </a:r>
                    </a:p>
                    <a:p>
                      <a:pPr marL="0" indent="0" algn="l">
                        <a:spcAft>
                          <a:spcPts val="0"/>
                        </a:spcAft>
                        <a:tabLst>
                          <a:tab pos="6223635" algn="l"/>
                        </a:tabLst>
                      </a:pPr>
                      <a:r>
                        <a:rPr lang="ru-RU" sz="1600" dirty="0">
                          <a:effectLst/>
                        </a:rPr>
                        <a:t>ГОСТ Р ИСО/МЭК 12207 – 99. Информационная технология. Процессы жизненного цикла программных средств и связанные с ним документы: ГОСТ Р ИСО/МЭК ТО 15271 – 2002. Информационная технология. Руководство по применению ГОСТ Р ИСО/МЭК 12207 (Процессы жизненного цикла программных средств). ГОСТ Р ИСО/МЭК ТО 16326 – 2002. Программная инженерия. Руководство по применению ГОСТ Р ИСО/МЭК 12207 при управлении проектами.</a:t>
                      </a:r>
                    </a:p>
                    <a:p>
                      <a:pPr marL="0" indent="0" algn="l">
                        <a:spcAft>
                          <a:spcPts val="0"/>
                        </a:spcAft>
                        <a:tabLst>
                          <a:tab pos="6223635" algn="l"/>
                        </a:tabLst>
                      </a:pPr>
                      <a:r>
                        <a:rPr lang="ru-RU" sz="1600" dirty="0">
                          <a:effectLst/>
                        </a:rPr>
                        <a:t>Цели и принципы формирования профилей информационных систем.</a:t>
                      </a:r>
                    </a:p>
                    <a:p>
                      <a:pPr marL="0" indent="0" algn="l">
                        <a:spcAft>
                          <a:spcPts val="0"/>
                        </a:spcAft>
                        <a:tabLst>
                          <a:tab pos="6223635" algn="l"/>
                        </a:tabLst>
                      </a:pPr>
                      <a:r>
                        <a:rPr lang="ru-RU" sz="1600" dirty="0">
                          <a:effectLst/>
                        </a:rPr>
                        <a:t>Структура и содержание профилей информационных систем</a:t>
                      </a:r>
                    </a:p>
                    <a:p>
                      <a:pPr marL="0" lvl="0" indent="0" algn="l">
                        <a:spcAft>
                          <a:spcPts val="0"/>
                        </a:spcAft>
                        <a:buFont typeface="Symbol"/>
                        <a:buChar char=""/>
                        <a:tabLst>
                          <a:tab pos="457200" algn="l"/>
                          <a:tab pos="6223635" algn="l"/>
                        </a:tabLst>
                      </a:pPr>
                      <a:r>
                        <a:rPr lang="ru-RU" sz="1600" dirty="0">
                          <a:effectLst/>
                        </a:rPr>
                        <a:t>Функциональные профили.</a:t>
                      </a:r>
                    </a:p>
                    <a:p>
                      <a:pPr marL="0" lvl="0" indent="0" algn="l">
                        <a:spcAft>
                          <a:spcPts val="0"/>
                        </a:spcAft>
                        <a:buFont typeface="Symbol"/>
                        <a:buChar char=""/>
                        <a:tabLst>
                          <a:tab pos="457200" algn="l"/>
                          <a:tab pos="6223635" algn="l"/>
                        </a:tabLst>
                      </a:pPr>
                      <a:r>
                        <a:rPr lang="ru-RU" sz="1600" dirty="0">
                          <a:effectLst/>
                        </a:rPr>
                        <a:t>Профили жизненного цикла (технологические профили).</a:t>
                      </a:r>
                    </a:p>
                    <a:p>
                      <a:pPr marL="0" indent="0" algn="l"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Процессы формирования, развития и применения профилей информационных систем</a:t>
                      </a:r>
                      <a:endParaRPr lang="ru-RU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0315" marR="6031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203744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667608"/>
              </p:ext>
            </p:extLst>
          </p:nvPr>
        </p:nvGraphicFramePr>
        <p:xfrm>
          <a:off x="431540" y="944724"/>
          <a:ext cx="8208912" cy="4599893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{08FB837D-C827-4EFA-A057-4D05807E0F7C}</a:tableStyleId>
              </a:tblPr>
              <a:tblGrid>
                <a:gridCol w="537908"/>
                <a:gridCol w="2390704"/>
                <a:gridCol w="5280300"/>
              </a:tblGrid>
              <a:tr h="382119">
                <a:tc>
                  <a:txBody>
                    <a:bodyPr/>
                    <a:lstStyle/>
                    <a:p>
                      <a:pPr marL="0" marR="36195" indent="0" algn="ctr"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№</a:t>
                      </a:r>
                    </a:p>
                    <a:p>
                      <a:pPr marL="0" marR="36195" indent="0" algn="ctr"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п/п</a:t>
                      </a:r>
                      <a:endParaRPr lang="ru-RU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0315" marR="6031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36195" indent="0" algn="ctr"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Наименование раздела/темы дисциплины</a:t>
                      </a:r>
                      <a:endParaRPr lang="ru-RU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0315" marR="6031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36195" indent="0" algn="ctr"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Содержание раздела/темы</a:t>
                      </a:r>
                      <a:endParaRPr lang="ru-RU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0315" marR="6031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8373">
                <a:tc>
                  <a:txBody>
                    <a:bodyPr/>
                    <a:lstStyle/>
                    <a:p>
                      <a:pPr marL="0" indent="0" algn="ctr">
                        <a:spcAft>
                          <a:spcPts val="0"/>
                        </a:spcAft>
                      </a:pPr>
                      <a:r>
                        <a:rPr lang="ru-RU" sz="1600" dirty="0" smtClean="0">
                          <a:effectLst/>
                        </a:rPr>
                        <a:t>2.</a:t>
                      </a:r>
                      <a:endParaRPr lang="ru-RU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0315" marR="6031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0"/>
                        </a:spcAft>
                      </a:pPr>
                      <a:r>
                        <a:rPr lang="ru-RU" sz="18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Тема 2. Методологии и технологии проектирования ИС</a:t>
                      </a:r>
                      <a:r>
                        <a:rPr lang="ru-RU" sz="1600" dirty="0" smtClean="0">
                          <a:effectLst/>
                        </a:rPr>
                        <a:t> </a:t>
                      </a:r>
                      <a:endParaRPr lang="ru-RU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0315" marR="6031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Структурный подход к проектированию ИС. Методология </a:t>
                      </a:r>
                      <a:r>
                        <a:rPr lang="en-US" sz="18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SADT</a:t>
                      </a:r>
                      <a:r>
                        <a:rPr lang="ru-RU" sz="18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Технологии и инструменты моделирования бизнес процессов и информационных потоков. </a:t>
                      </a:r>
                    </a:p>
                    <a:p>
                      <a:r>
                        <a:rPr lang="ru-RU" sz="18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Объектно-ориентированный подход к проектированию ИС. Методология </a:t>
                      </a:r>
                      <a:r>
                        <a:rPr lang="en-US" sz="18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RUP</a:t>
                      </a:r>
                      <a:r>
                        <a:rPr lang="ru-RU" sz="18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Технологии и инструменты </a:t>
                      </a:r>
                      <a:r>
                        <a:rPr lang="en-US" sz="18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IBM</a:t>
                      </a:r>
                      <a:r>
                        <a:rPr lang="ru-RU" sz="18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1800" b="1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Rational</a:t>
                      </a:r>
                      <a:r>
                        <a:rPr lang="ru-RU" sz="18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r>
                        <a:rPr lang="ru-RU" sz="18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Архитектурный подход. Метод </a:t>
                      </a:r>
                      <a:r>
                        <a:rPr lang="ru-RU" sz="1800" b="1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Захмана</a:t>
                      </a:r>
                      <a:r>
                        <a:rPr lang="ru-RU" sz="18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и другие методики описания архитектур. Технологии и инструменты IBM </a:t>
                      </a:r>
                      <a:r>
                        <a:rPr lang="ru-RU" sz="1800" b="1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Rational</a:t>
                      </a:r>
                      <a:r>
                        <a:rPr lang="ru-RU" sz="18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ru-RU" sz="1800" b="1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Telelogic</a:t>
                      </a:r>
                      <a:r>
                        <a:rPr lang="ru-RU" sz="18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1800" b="1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System</a:t>
                      </a:r>
                      <a:r>
                        <a:rPr lang="ru-RU" sz="18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1800" b="1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Architect</a:t>
                      </a:r>
                      <a:endParaRPr lang="ru-RU" sz="1800" b="1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ru-RU" sz="18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Основные модели бизнеса (</a:t>
                      </a:r>
                      <a:r>
                        <a:rPr lang="en-US" sz="18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MRPII</a:t>
                      </a:r>
                      <a:r>
                        <a:rPr lang="ru-RU" sz="18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sz="18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ERPII</a:t>
                      </a:r>
                      <a:r>
                        <a:rPr lang="ru-RU" sz="18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sz="18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HRM</a:t>
                      </a:r>
                      <a:r>
                        <a:rPr lang="ru-RU" sz="18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sz="18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CRM</a:t>
                      </a:r>
                      <a:r>
                        <a:rPr lang="ru-RU" sz="18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и другие).</a:t>
                      </a:r>
                    </a:p>
                    <a:p>
                      <a:r>
                        <a:rPr lang="ru-RU" sz="18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Основы методологии </a:t>
                      </a:r>
                      <a:r>
                        <a:rPr lang="en-US" sz="18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ITIL, ITSM.</a:t>
                      </a:r>
                      <a:endParaRPr lang="ru-RU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0315" marR="6031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" name="Rectangle 5"/>
          <p:cNvSpPr>
            <a:spLocks noChangeArrowheads="1"/>
          </p:cNvSpPr>
          <p:nvPr/>
        </p:nvSpPr>
        <p:spPr bwMode="auto">
          <a:xfrm>
            <a:off x="0" y="80628"/>
            <a:ext cx="9161567" cy="4670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buClr>
                <a:srgbClr val="CC0000"/>
              </a:buClr>
            </a:pPr>
            <a:r>
              <a:rPr lang="ru-RU" dirty="0" smtClean="0">
                <a:solidFill>
                  <a:srgbClr val="99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Содержание </a:t>
            </a:r>
            <a:r>
              <a:rPr lang="ru-RU" dirty="0">
                <a:solidFill>
                  <a:srgbClr val="99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учебной </a:t>
            </a:r>
            <a:r>
              <a:rPr lang="ru-RU" dirty="0" smtClean="0">
                <a:solidFill>
                  <a:srgbClr val="99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дисциплины</a:t>
            </a:r>
            <a:endParaRPr lang="ru-RU" dirty="0">
              <a:solidFill>
                <a:srgbClr val="990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8227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7655274"/>
              </p:ext>
            </p:extLst>
          </p:nvPr>
        </p:nvGraphicFramePr>
        <p:xfrm>
          <a:off x="160567" y="944724"/>
          <a:ext cx="8731913" cy="5120640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{08FB837D-C827-4EFA-A057-4D05807E0F7C}</a:tableStyleId>
              </a:tblPr>
              <a:tblGrid>
                <a:gridCol w="556782"/>
                <a:gridCol w="2270475"/>
                <a:gridCol w="5904656"/>
              </a:tblGrid>
              <a:tr h="382119">
                <a:tc>
                  <a:txBody>
                    <a:bodyPr/>
                    <a:lstStyle/>
                    <a:p>
                      <a:pPr marL="0" marR="36195" indent="0" algn="ctr"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№</a:t>
                      </a:r>
                    </a:p>
                    <a:p>
                      <a:pPr marL="0" marR="36195" indent="0" algn="ctr"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п/п</a:t>
                      </a:r>
                      <a:endParaRPr lang="ru-RU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0315" marR="6031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36195" indent="0" algn="ctr"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Наименование раздела/темы дисциплины</a:t>
                      </a:r>
                      <a:endParaRPr lang="ru-RU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0315" marR="6031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36195" indent="0" algn="ctr"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Содержание раздела/темы</a:t>
                      </a:r>
                      <a:endParaRPr lang="ru-RU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0315" marR="6031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8373">
                <a:tc>
                  <a:txBody>
                    <a:bodyPr/>
                    <a:lstStyle/>
                    <a:p>
                      <a:pPr marL="0" indent="0" algn="ctr">
                        <a:spcAft>
                          <a:spcPts val="0"/>
                        </a:spcAft>
                      </a:pPr>
                      <a:r>
                        <a:rPr lang="ru-RU" sz="1600" dirty="0" smtClean="0">
                          <a:effectLst/>
                        </a:rPr>
                        <a:t>3.</a:t>
                      </a:r>
                      <a:endParaRPr lang="ru-RU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0315" marR="6031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0"/>
                        </a:spcAft>
                      </a:pPr>
                      <a:r>
                        <a:rPr lang="ru-RU" sz="18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Тема 3. Методика системного проектирования</a:t>
                      </a:r>
                      <a:r>
                        <a:rPr lang="ru-RU" sz="1600" dirty="0" smtClean="0">
                          <a:effectLst/>
                        </a:rPr>
                        <a:t> </a:t>
                      </a:r>
                      <a:endParaRPr lang="ru-RU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0315" marR="6031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Роль системного проектирования в процессе создания информационных систем.</a:t>
                      </a:r>
                    </a:p>
                    <a:p>
                      <a:r>
                        <a:rPr lang="ru-RU" sz="18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Цель системного проектирования.</a:t>
                      </a:r>
                    </a:p>
                    <a:p>
                      <a:r>
                        <a:rPr lang="ru-RU" sz="18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Этапы процесса системного проектирования. </a:t>
                      </a:r>
                    </a:p>
                    <a:p>
                      <a:r>
                        <a:rPr lang="ru-RU" sz="18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Результаты системного проектирования.</a:t>
                      </a:r>
                    </a:p>
                    <a:p>
                      <a:r>
                        <a:rPr lang="ru-RU" sz="1800" b="1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Предпроектное</a:t>
                      </a:r>
                      <a:r>
                        <a:rPr lang="ru-RU" sz="18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обследование объекта информатизации. Анализ результатов </a:t>
                      </a:r>
                      <a:r>
                        <a:rPr lang="ru-RU" sz="1800" b="1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предпроектного</a:t>
                      </a:r>
                      <a:r>
                        <a:rPr lang="ru-RU" sz="18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обследования.</a:t>
                      </a:r>
                    </a:p>
                    <a:p>
                      <a:r>
                        <a:rPr lang="ru-RU" sz="18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Формирование требований к системе. Функциональные и нефункциональные требования.</a:t>
                      </a:r>
                    </a:p>
                    <a:p>
                      <a:r>
                        <a:rPr lang="ru-RU" sz="18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Разработка системного проекта. Формирование ТЗ на системный проект.</a:t>
                      </a:r>
                    </a:p>
                    <a:p>
                      <a:r>
                        <a:rPr lang="ru-RU" sz="18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Управление проектом на этапе создания системного проекта на ИС.</a:t>
                      </a:r>
                    </a:p>
                    <a:p>
                      <a:r>
                        <a:rPr lang="ru-RU" sz="18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Оценка стоимости проекта. Оценка экономической эффективности проекта.</a:t>
                      </a:r>
                      <a:endParaRPr lang="ru-RU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0315" marR="6031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" name="Rectangle 5"/>
          <p:cNvSpPr>
            <a:spLocks noChangeArrowheads="1"/>
          </p:cNvSpPr>
          <p:nvPr/>
        </p:nvSpPr>
        <p:spPr bwMode="auto">
          <a:xfrm>
            <a:off x="0" y="80628"/>
            <a:ext cx="9161567" cy="4670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buClr>
                <a:srgbClr val="CC0000"/>
              </a:buClr>
            </a:pPr>
            <a:r>
              <a:rPr lang="ru-RU" dirty="0" smtClean="0">
                <a:solidFill>
                  <a:srgbClr val="99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Содержание </a:t>
            </a:r>
            <a:r>
              <a:rPr lang="ru-RU" dirty="0">
                <a:solidFill>
                  <a:srgbClr val="99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учебной </a:t>
            </a:r>
            <a:r>
              <a:rPr lang="ru-RU" dirty="0" smtClean="0">
                <a:solidFill>
                  <a:srgbClr val="99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дисциплины</a:t>
            </a:r>
            <a:endParaRPr lang="ru-RU" dirty="0">
              <a:solidFill>
                <a:srgbClr val="990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90020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9925781"/>
              </p:ext>
            </p:extLst>
          </p:nvPr>
        </p:nvGraphicFramePr>
        <p:xfrm>
          <a:off x="431540" y="944724"/>
          <a:ext cx="8496944" cy="3312368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{08FB837D-C827-4EFA-A057-4D05807E0F7C}</a:tableStyleId>
              </a:tblPr>
              <a:tblGrid>
                <a:gridCol w="537908"/>
                <a:gridCol w="2390704"/>
                <a:gridCol w="5568332"/>
              </a:tblGrid>
              <a:tr h="382119">
                <a:tc>
                  <a:txBody>
                    <a:bodyPr/>
                    <a:lstStyle/>
                    <a:p>
                      <a:pPr marL="0" marR="36195" indent="0" algn="ctr"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№</a:t>
                      </a:r>
                    </a:p>
                    <a:p>
                      <a:pPr marL="0" marR="36195" indent="0" algn="ctr"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п/п</a:t>
                      </a:r>
                      <a:endParaRPr lang="ru-RU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0315" marR="6031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36195" indent="0" algn="ctr"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Наименование раздела/темы дисциплины</a:t>
                      </a:r>
                      <a:endParaRPr lang="ru-RU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0315" marR="6031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36195" indent="0" algn="ctr"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Содержание раздела/темы</a:t>
                      </a:r>
                      <a:endParaRPr lang="ru-RU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0315" marR="6031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80848">
                <a:tc>
                  <a:txBody>
                    <a:bodyPr/>
                    <a:lstStyle/>
                    <a:p>
                      <a:pPr marL="0" indent="0" algn="ctr">
                        <a:spcAft>
                          <a:spcPts val="0"/>
                        </a:spcAft>
                      </a:pPr>
                      <a:r>
                        <a:rPr lang="ru-RU" sz="1600" dirty="0" smtClean="0">
                          <a:effectLst/>
                        </a:rPr>
                        <a:t>4.</a:t>
                      </a:r>
                      <a:endParaRPr lang="ru-RU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0315" marR="6031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0"/>
                        </a:spcAft>
                      </a:pPr>
                      <a:r>
                        <a:rPr lang="ru-RU" sz="18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Тема 4. Основы детального проектирования компонентов ИС</a:t>
                      </a:r>
                      <a:r>
                        <a:rPr lang="ru-RU" sz="1600" dirty="0" smtClean="0">
                          <a:effectLst/>
                        </a:rPr>
                        <a:t> </a:t>
                      </a:r>
                      <a:endParaRPr lang="ru-RU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0315" marR="6031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Проектирование баз данных как компоненты ИС.</a:t>
                      </a:r>
                    </a:p>
                    <a:p>
                      <a:r>
                        <a:rPr lang="ru-RU" sz="18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Проектирование обмена данными.</a:t>
                      </a:r>
                    </a:p>
                    <a:p>
                      <a:r>
                        <a:rPr lang="ru-RU" sz="18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Проектирование приложений как компонента ИС.</a:t>
                      </a:r>
                    </a:p>
                    <a:p>
                      <a:r>
                        <a:rPr lang="ru-RU" sz="18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Проектирование инфраструктуры ИС.</a:t>
                      </a:r>
                    </a:p>
                    <a:p>
                      <a:r>
                        <a:rPr lang="ru-RU" sz="18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Проектирование защиты и безопасности ИС как компоненты ИС.</a:t>
                      </a:r>
                    </a:p>
                    <a:p>
                      <a:r>
                        <a:rPr lang="ru-RU" sz="18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Управление проектом на этапе создания детальных проектов компонентов ИС. Менеджмент качества ИТ – проекта.</a:t>
                      </a:r>
                      <a:endParaRPr lang="ru-RU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0315" marR="6031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" name="Rectangle 5"/>
          <p:cNvSpPr>
            <a:spLocks noChangeArrowheads="1"/>
          </p:cNvSpPr>
          <p:nvPr/>
        </p:nvSpPr>
        <p:spPr bwMode="auto">
          <a:xfrm>
            <a:off x="-17567" y="152636"/>
            <a:ext cx="9161567" cy="4670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buClr>
                <a:srgbClr val="CC0000"/>
              </a:buClr>
            </a:pPr>
            <a:r>
              <a:rPr lang="ru-RU" dirty="0" smtClean="0">
                <a:solidFill>
                  <a:srgbClr val="99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Содержание </a:t>
            </a:r>
            <a:r>
              <a:rPr lang="ru-RU" dirty="0">
                <a:solidFill>
                  <a:srgbClr val="99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учебной </a:t>
            </a:r>
            <a:r>
              <a:rPr lang="ru-RU" dirty="0" smtClean="0">
                <a:solidFill>
                  <a:srgbClr val="99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дисциплины</a:t>
            </a:r>
            <a:endParaRPr lang="ru-RU" dirty="0">
              <a:solidFill>
                <a:srgbClr val="990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40455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431540" y="228209"/>
            <a:ext cx="766885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ru-RU" dirty="0">
                <a:solidFill>
                  <a:srgbClr val="99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Форма проведения и содержание мероприятий промежуточной аттестации</a:t>
            </a: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6090661"/>
              </p:ext>
            </p:extLst>
          </p:nvPr>
        </p:nvGraphicFramePr>
        <p:xfrm>
          <a:off x="143508" y="2132856"/>
          <a:ext cx="8676964" cy="1260140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1692188"/>
                <a:gridCol w="1512168"/>
                <a:gridCol w="4500500"/>
                <a:gridCol w="972108"/>
              </a:tblGrid>
              <a:tr h="678537"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solidFill>
                            <a:srgbClr val="000000"/>
                          </a:solidFill>
                          <a:effectLst/>
                        </a:rPr>
                        <a:t>Вид мероприятия</a:t>
                      </a:r>
                      <a:endParaRPr lang="ru-RU" sz="2000" dirty="0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solidFill>
                            <a:srgbClr val="000000"/>
                          </a:solidFill>
                          <a:effectLst/>
                        </a:rPr>
                        <a:t>Форма проведения</a:t>
                      </a:r>
                      <a:endParaRPr lang="ru-RU" sz="2000" dirty="0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solidFill>
                            <a:srgbClr val="000000"/>
                          </a:solidFill>
                          <a:effectLst/>
                        </a:rPr>
                        <a:t>Структура экзаменационного задания (билета)</a:t>
                      </a:r>
                      <a:endParaRPr lang="ru-RU" sz="2000" dirty="0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ru-RU" sz="2000" dirty="0" err="1" smtClean="0">
                          <a:solidFill>
                            <a:srgbClr val="000000"/>
                          </a:solidFill>
                          <a:effectLst/>
                        </a:rPr>
                        <a:t>Исп</a:t>
                      </a:r>
                      <a:r>
                        <a:rPr lang="ru-RU" sz="2000" dirty="0" smtClean="0">
                          <a:solidFill>
                            <a:srgbClr val="000000"/>
                          </a:solidFill>
                          <a:effectLst/>
                        </a:rPr>
                        <a:t>-е ПК</a:t>
                      </a:r>
                      <a:endParaRPr lang="ru-RU" sz="1800" dirty="0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581603"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ru-RU" sz="2000" dirty="0" err="1" smtClean="0"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Диф</a:t>
                      </a:r>
                      <a:r>
                        <a:rPr lang="ru-RU" sz="2000" dirty="0" smtClean="0"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. зачет</a:t>
                      </a:r>
                      <a:endParaRPr lang="ru-RU" sz="2000" dirty="0">
                        <a:solidFill>
                          <a:srgbClr val="C0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Устно</a:t>
                      </a:r>
                      <a:endParaRPr lang="ru-RU" sz="2000" dirty="0">
                        <a:solidFill>
                          <a:srgbClr val="C0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ru-RU" sz="2000" dirty="0" smtClean="0"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1 теоретический вопрос или 1 задача</a:t>
                      </a:r>
                      <a:endParaRPr lang="ru-RU" sz="2000" dirty="0">
                        <a:solidFill>
                          <a:srgbClr val="C0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Да</a:t>
                      </a:r>
                      <a:endParaRPr lang="ru-RU" sz="2000" dirty="0">
                        <a:solidFill>
                          <a:srgbClr val="C0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206861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5"/>
          <p:cNvSpPr>
            <a:spLocks noChangeArrowheads="1"/>
          </p:cNvSpPr>
          <p:nvPr/>
        </p:nvSpPr>
        <p:spPr bwMode="auto">
          <a:xfrm>
            <a:off x="467544" y="2366593"/>
            <a:ext cx="8388350" cy="21236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10000"/>
              </a:lnSpc>
              <a:buClr>
                <a:srgbClr val="CC0000"/>
              </a:buClr>
            </a:pPr>
            <a:r>
              <a:rPr lang="ru-RU" dirty="0" smtClean="0">
                <a:solidFill>
                  <a:srgbClr val="99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a</a:t>
            </a:r>
            <a:r>
              <a:rPr lang="ru-RU" dirty="0">
                <a:solidFill>
                  <a:srgbClr val="99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) </a:t>
            </a:r>
            <a:r>
              <a:rPr lang="ru-RU" dirty="0">
                <a:solidFill>
                  <a:srgbClr val="000000"/>
                </a:solidFill>
                <a:latin typeface="Arial" charset="0"/>
              </a:rPr>
              <a:t>Совокупность документов (расчетов, чертежей) для создания какого </a:t>
            </a:r>
            <a:r>
              <a:rPr lang="ru-RU" dirty="0" smtClean="0">
                <a:solidFill>
                  <a:srgbClr val="000000"/>
                </a:solidFill>
                <a:latin typeface="Arial" charset="0"/>
              </a:rPr>
              <a:t>либо сооружения </a:t>
            </a:r>
            <a:r>
              <a:rPr lang="ru-RU" dirty="0">
                <a:solidFill>
                  <a:srgbClr val="000000"/>
                </a:solidFill>
                <a:latin typeface="Arial" charset="0"/>
              </a:rPr>
              <a:t>или изделия; </a:t>
            </a:r>
          </a:p>
          <a:p>
            <a:pPr>
              <a:lnSpc>
                <a:spcPct val="110000"/>
              </a:lnSpc>
              <a:buClr>
                <a:srgbClr val="CC0000"/>
              </a:buClr>
            </a:pPr>
            <a:r>
              <a:rPr lang="ru-RU" dirty="0">
                <a:solidFill>
                  <a:srgbClr val="99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b) </a:t>
            </a:r>
            <a:r>
              <a:rPr lang="ru-RU" dirty="0">
                <a:solidFill>
                  <a:srgbClr val="000000"/>
                </a:solidFill>
                <a:latin typeface="Arial" charset="0"/>
              </a:rPr>
              <a:t>Предварительный текст документа; </a:t>
            </a:r>
          </a:p>
          <a:p>
            <a:pPr>
              <a:lnSpc>
                <a:spcPct val="110000"/>
              </a:lnSpc>
              <a:buClr>
                <a:srgbClr val="CC0000"/>
              </a:buClr>
            </a:pPr>
            <a:r>
              <a:rPr lang="ru-RU" dirty="0">
                <a:solidFill>
                  <a:srgbClr val="99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c) </a:t>
            </a:r>
            <a:r>
              <a:rPr lang="ru-RU" dirty="0">
                <a:solidFill>
                  <a:srgbClr val="000000"/>
                </a:solidFill>
                <a:latin typeface="Arial" charset="0"/>
              </a:rPr>
              <a:t>Замысел, план, прототип, прообраз какого либо </a:t>
            </a:r>
            <a:r>
              <a:rPr lang="ru-RU" dirty="0" smtClean="0">
                <a:solidFill>
                  <a:srgbClr val="000000"/>
                </a:solidFill>
                <a:latin typeface="Arial" charset="0"/>
              </a:rPr>
              <a:t>объекта</a:t>
            </a:r>
            <a:r>
              <a:rPr lang="ru-RU" dirty="0">
                <a:solidFill>
                  <a:srgbClr val="000000"/>
                </a:solidFill>
                <a:latin typeface="Arial" charset="0"/>
              </a:rPr>
              <a:t>.</a:t>
            </a:r>
          </a:p>
        </p:txBody>
      </p:sp>
      <p:sp>
        <p:nvSpPr>
          <p:cNvPr id="6" name="Rectangle 17"/>
          <p:cNvSpPr>
            <a:spLocks noChangeArrowheads="1"/>
          </p:cNvSpPr>
          <p:nvPr/>
        </p:nvSpPr>
        <p:spPr bwMode="auto">
          <a:xfrm>
            <a:off x="511994" y="696985"/>
            <a:ext cx="8299450" cy="892552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anchor="ctr">
            <a:spAutoFit/>
          </a:bodyPr>
          <a:lstStyle/>
          <a:p>
            <a:pPr>
              <a:defRPr/>
            </a:pPr>
            <a:r>
              <a:rPr lang="ru-RU" sz="2800" dirty="0">
                <a:solidFill>
                  <a:srgbClr val="99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Проект </a:t>
            </a:r>
            <a:r>
              <a:rPr lang="ru-RU" dirty="0">
                <a:solidFill>
                  <a:srgbClr val="46341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(от латинского </a:t>
            </a:r>
            <a:r>
              <a:rPr lang="ru-RU" dirty="0" err="1">
                <a:solidFill>
                  <a:srgbClr val="46341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projectus</a:t>
            </a:r>
            <a:r>
              <a:rPr lang="ru-RU" dirty="0">
                <a:solidFill>
                  <a:srgbClr val="46341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-буквально: брошенный вперед) </a:t>
            </a:r>
          </a:p>
        </p:txBody>
      </p:sp>
    </p:spTree>
    <p:extLst>
      <p:ext uri="{BB962C8B-B14F-4D97-AF65-F5344CB8AC3E}">
        <p14:creationId xmlns:p14="http://schemas.microsoft.com/office/powerpoint/2010/main" val="30660732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7"/>
          <p:cNvSpPr>
            <a:spLocks noChangeArrowheads="1"/>
          </p:cNvSpPr>
          <p:nvPr/>
        </p:nvSpPr>
        <p:spPr bwMode="auto">
          <a:xfrm>
            <a:off x="611560" y="1417421"/>
            <a:ext cx="8299450" cy="236988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anchor="ctr">
            <a:spAutoFit/>
          </a:bodyPr>
          <a:lstStyle/>
          <a:p>
            <a:pPr>
              <a:defRPr/>
            </a:pPr>
            <a:r>
              <a:rPr lang="ru-RU" sz="2800" dirty="0" smtClean="0">
                <a:solidFill>
                  <a:srgbClr val="99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Процесс </a:t>
            </a:r>
            <a:r>
              <a:rPr lang="ru-RU" sz="2800" dirty="0">
                <a:solidFill>
                  <a:srgbClr val="99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проектирования </a:t>
            </a:r>
            <a:r>
              <a:rPr lang="ru-RU" dirty="0">
                <a:solidFill>
                  <a:srgbClr val="46341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(определение 1, относится к 70-годам 20 века)</a:t>
            </a:r>
          </a:p>
          <a:p>
            <a:pPr>
              <a:defRPr/>
            </a:pPr>
            <a:r>
              <a:rPr lang="ru-RU" dirty="0">
                <a:solidFill>
                  <a:srgbClr val="46341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Информационно-логический процесс, состоящий из операций принятия </a:t>
            </a:r>
            <a:r>
              <a:rPr lang="ru-RU" dirty="0" smtClean="0">
                <a:solidFill>
                  <a:srgbClr val="46341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проектных </a:t>
            </a:r>
            <a:r>
              <a:rPr lang="ru-RU" dirty="0">
                <a:solidFill>
                  <a:srgbClr val="46341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решений, выполняемых согласно некоторой методологии и приводящих </a:t>
            </a:r>
            <a:r>
              <a:rPr lang="ru-RU" dirty="0" smtClean="0">
                <a:solidFill>
                  <a:srgbClr val="46341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к преобразованию </a:t>
            </a:r>
            <a:r>
              <a:rPr lang="ru-RU" dirty="0">
                <a:solidFill>
                  <a:srgbClr val="46341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цели в результат. </a:t>
            </a:r>
          </a:p>
        </p:txBody>
      </p:sp>
    </p:spTree>
    <p:extLst>
      <p:ext uri="{BB962C8B-B14F-4D97-AF65-F5344CB8AC3E}">
        <p14:creationId xmlns:p14="http://schemas.microsoft.com/office/powerpoint/2010/main" val="17355284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7"/>
          <p:cNvSpPr>
            <a:spLocks noChangeArrowheads="1"/>
          </p:cNvSpPr>
          <p:nvPr/>
        </p:nvSpPr>
        <p:spPr bwMode="auto">
          <a:xfrm>
            <a:off x="611560" y="494092"/>
            <a:ext cx="8299450" cy="4216539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anchor="ctr">
            <a:spAutoFit/>
          </a:bodyPr>
          <a:lstStyle/>
          <a:p>
            <a:pPr>
              <a:defRPr/>
            </a:pPr>
            <a:r>
              <a:rPr lang="ru-RU" sz="2800" dirty="0" smtClean="0">
                <a:solidFill>
                  <a:srgbClr val="99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Проектирование </a:t>
            </a:r>
            <a:r>
              <a:rPr lang="ru-RU" dirty="0">
                <a:solidFill>
                  <a:srgbClr val="46341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(определение 2, относится к 70-годам 20 века) </a:t>
            </a:r>
          </a:p>
          <a:p>
            <a:pPr>
              <a:defRPr/>
            </a:pPr>
            <a:r>
              <a:rPr lang="ru-RU" dirty="0">
                <a:solidFill>
                  <a:srgbClr val="46341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Вид целенаправленной деятельности человека (или коллектива </a:t>
            </a:r>
            <a:r>
              <a:rPr lang="ru-RU" dirty="0" smtClean="0">
                <a:solidFill>
                  <a:srgbClr val="46341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специалистов</a:t>
            </a:r>
            <a:r>
              <a:rPr lang="ru-RU" dirty="0">
                <a:solidFill>
                  <a:srgbClr val="46341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) по решению задач проектирования, направленной на создание </a:t>
            </a:r>
            <a:r>
              <a:rPr lang="ru-RU" dirty="0" smtClean="0">
                <a:solidFill>
                  <a:srgbClr val="46341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устройств или </a:t>
            </a:r>
            <a:r>
              <a:rPr lang="ru-RU" dirty="0">
                <a:solidFill>
                  <a:srgbClr val="46341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систем, соответствующих техническому заданию, оптимально </a:t>
            </a:r>
            <a:r>
              <a:rPr lang="ru-RU" dirty="0" smtClean="0">
                <a:solidFill>
                  <a:srgbClr val="46341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удовлетворяющих </a:t>
            </a:r>
            <a:r>
              <a:rPr lang="ru-RU" dirty="0">
                <a:solidFill>
                  <a:srgbClr val="46341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поставленным требованиям и удовлетворительно функционирующих в </a:t>
            </a:r>
            <a:r>
              <a:rPr lang="ru-RU" dirty="0" smtClean="0">
                <a:solidFill>
                  <a:srgbClr val="46341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течение </a:t>
            </a:r>
            <a:r>
              <a:rPr lang="ru-RU" dirty="0">
                <a:solidFill>
                  <a:srgbClr val="46341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заданного промежутка времени при прогнозируемых </a:t>
            </a:r>
            <a:r>
              <a:rPr lang="ru-RU" dirty="0" smtClean="0">
                <a:solidFill>
                  <a:srgbClr val="46341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условиях.</a:t>
            </a:r>
            <a:endParaRPr lang="ru-RU" dirty="0">
              <a:solidFill>
                <a:srgbClr val="463416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26598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7"/>
          <p:cNvSpPr>
            <a:spLocks noChangeArrowheads="1"/>
          </p:cNvSpPr>
          <p:nvPr/>
        </p:nvSpPr>
        <p:spPr bwMode="auto">
          <a:xfrm>
            <a:off x="611560" y="124760"/>
            <a:ext cx="8299450" cy="4955203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anchor="ctr">
            <a:spAutoFit/>
          </a:bodyPr>
          <a:lstStyle/>
          <a:p>
            <a:pPr>
              <a:defRPr/>
            </a:pPr>
            <a:r>
              <a:rPr lang="ru-RU" sz="2800" dirty="0" smtClean="0">
                <a:solidFill>
                  <a:srgbClr val="99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Процесс </a:t>
            </a:r>
            <a:r>
              <a:rPr lang="ru-RU" sz="2800" dirty="0">
                <a:solidFill>
                  <a:srgbClr val="99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проектирования </a:t>
            </a:r>
          </a:p>
          <a:p>
            <a:pPr>
              <a:defRPr/>
            </a:pPr>
            <a:r>
              <a:rPr lang="ru-RU" dirty="0">
                <a:solidFill>
                  <a:srgbClr val="46341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(определение 3, по глоссарию «Унифицированный процесс разработки </a:t>
            </a:r>
            <a:r>
              <a:rPr lang="ru-RU" dirty="0" smtClean="0">
                <a:solidFill>
                  <a:srgbClr val="46341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программного </a:t>
            </a:r>
            <a:r>
              <a:rPr lang="ru-RU" dirty="0">
                <a:solidFill>
                  <a:srgbClr val="46341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обеспечения» Питер, 2002)</a:t>
            </a:r>
          </a:p>
          <a:p>
            <a:pPr>
              <a:defRPr/>
            </a:pPr>
            <a:r>
              <a:rPr lang="ru-RU" dirty="0">
                <a:solidFill>
                  <a:srgbClr val="46341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Основной рабочий процесс разработки программного обеспечения, целью</a:t>
            </a:r>
          </a:p>
          <a:p>
            <a:pPr>
              <a:defRPr/>
            </a:pPr>
            <a:r>
              <a:rPr lang="ru-RU" dirty="0">
                <a:solidFill>
                  <a:srgbClr val="46341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которого является создание модели, содержащей проектные решения, </a:t>
            </a:r>
            <a:r>
              <a:rPr lang="ru-RU" dirty="0" smtClean="0">
                <a:solidFill>
                  <a:srgbClr val="46341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удовлетворяющие </a:t>
            </a:r>
            <a:r>
              <a:rPr lang="ru-RU" dirty="0">
                <a:solidFill>
                  <a:srgbClr val="46341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функциональным и нефункциональным требованиям, а также </a:t>
            </a:r>
            <a:r>
              <a:rPr lang="ru-RU" dirty="0" smtClean="0">
                <a:solidFill>
                  <a:srgbClr val="46341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ограничениям</a:t>
            </a:r>
            <a:r>
              <a:rPr lang="ru-RU" dirty="0">
                <a:solidFill>
                  <a:srgbClr val="46341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, относящимся к среде реализации. Процесс проектирования </a:t>
            </a:r>
            <a:r>
              <a:rPr lang="ru-RU" dirty="0" smtClean="0">
                <a:solidFill>
                  <a:srgbClr val="46341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предназначен для </a:t>
            </a:r>
            <a:r>
              <a:rPr lang="ru-RU" dirty="0">
                <a:solidFill>
                  <a:srgbClr val="46341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подготовки к реализации и тестированию системы. </a:t>
            </a:r>
          </a:p>
        </p:txBody>
      </p:sp>
    </p:spTree>
    <p:extLst>
      <p:ext uri="{BB962C8B-B14F-4D97-AF65-F5344CB8AC3E}">
        <p14:creationId xmlns:p14="http://schemas.microsoft.com/office/powerpoint/2010/main" val="20415776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7"/>
          <p:cNvSpPr>
            <a:spLocks noChangeArrowheads="1"/>
          </p:cNvSpPr>
          <p:nvPr/>
        </p:nvSpPr>
        <p:spPr bwMode="auto">
          <a:xfrm>
            <a:off x="611560" y="617203"/>
            <a:ext cx="8299450" cy="3970318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anchor="ctr">
            <a:spAutoFit/>
          </a:bodyPr>
          <a:lstStyle/>
          <a:p>
            <a:pPr>
              <a:defRPr/>
            </a:pPr>
            <a:r>
              <a:rPr lang="ru-RU" sz="2800" dirty="0" smtClean="0">
                <a:solidFill>
                  <a:srgbClr val="46341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В </a:t>
            </a:r>
            <a:r>
              <a:rPr lang="ru-RU" sz="2800" dirty="0">
                <a:solidFill>
                  <a:srgbClr val="46341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результате </a:t>
            </a:r>
            <a:r>
              <a:rPr lang="ru-RU" sz="2800" dirty="0" smtClean="0">
                <a:solidFill>
                  <a:srgbClr val="46341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анализа </a:t>
            </a:r>
            <a:r>
              <a:rPr lang="ru-RU" sz="2800" dirty="0">
                <a:solidFill>
                  <a:srgbClr val="99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концептуальной модели </a:t>
            </a:r>
            <a:r>
              <a:rPr lang="ru-RU" sz="2800" dirty="0">
                <a:solidFill>
                  <a:srgbClr val="46341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предметной области (</a:t>
            </a:r>
            <a:r>
              <a:rPr lang="ru-RU" sz="2800" dirty="0" err="1">
                <a:solidFill>
                  <a:srgbClr val="46341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ПрО</a:t>
            </a:r>
            <a:r>
              <a:rPr lang="ru-RU" sz="2800" dirty="0">
                <a:solidFill>
                  <a:srgbClr val="46341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) осуществляется поиск </a:t>
            </a:r>
            <a:r>
              <a:rPr lang="ru-RU" sz="2800" dirty="0" smtClean="0">
                <a:solidFill>
                  <a:srgbClr val="46341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проблем, </a:t>
            </a:r>
            <a:r>
              <a:rPr lang="ru-RU" sz="2800" dirty="0">
                <a:solidFill>
                  <a:srgbClr val="46341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которые в последствие должны быть </a:t>
            </a:r>
            <a:r>
              <a:rPr lang="ru-RU" sz="2800" dirty="0" smtClean="0">
                <a:solidFill>
                  <a:srgbClr val="46341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разрешены </a:t>
            </a:r>
            <a:r>
              <a:rPr lang="ru-RU" sz="2800" dirty="0">
                <a:solidFill>
                  <a:srgbClr val="46341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с помощью информационной системы (ИС). То есть, должна быть </a:t>
            </a:r>
            <a:r>
              <a:rPr lang="ru-RU" sz="2800" dirty="0" smtClean="0">
                <a:solidFill>
                  <a:srgbClr val="46341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разработана </a:t>
            </a:r>
            <a:r>
              <a:rPr lang="ru-RU" sz="2800" dirty="0">
                <a:solidFill>
                  <a:srgbClr val="46341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ИС, функциональные возможности которой позволяли бы полностью </a:t>
            </a:r>
            <a:r>
              <a:rPr lang="ru-RU" sz="2800" dirty="0" smtClean="0">
                <a:solidFill>
                  <a:srgbClr val="46341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или частично </a:t>
            </a:r>
            <a:r>
              <a:rPr lang="ru-RU" sz="2800" dirty="0">
                <a:solidFill>
                  <a:srgbClr val="46341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разрешать проблемы </a:t>
            </a:r>
            <a:r>
              <a:rPr lang="ru-RU" sz="2800" dirty="0" err="1">
                <a:solidFill>
                  <a:srgbClr val="46341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ПрО</a:t>
            </a:r>
            <a:r>
              <a:rPr lang="ru-RU" sz="2800" dirty="0">
                <a:solidFill>
                  <a:srgbClr val="46341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9629782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7"/>
          <p:cNvSpPr>
            <a:spLocks noChangeArrowheads="1"/>
          </p:cNvSpPr>
          <p:nvPr/>
        </p:nvSpPr>
        <p:spPr bwMode="auto">
          <a:xfrm>
            <a:off x="179512" y="580038"/>
            <a:ext cx="8839510" cy="5632311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ru-RU" dirty="0" smtClean="0">
                <a:solidFill>
                  <a:srgbClr val="46341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В процессе проектирования проектировщик </a:t>
            </a:r>
            <a:r>
              <a:rPr lang="ru-RU" dirty="0">
                <a:solidFill>
                  <a:srgbClr val="46341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выступает </a:t>
            </a:r>
            <a:r>
              <a:rPr lang="ru-RU" dirty="0" smtClean="0">
                <a:solidFill>
                  <a:srgbClr val="46341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как исследователь </a:t>
            </a:r>
            <a:r>
              <a:rPr lang="ru-RU" dirty="0">
                <a:solidFill>
                  <a:srgbClr val="46341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и выполняет соответствующие действия: обследование </a:t>
            </a:r>
            <a:r>
              <a:rPr lang="ru-RU" dirty="0" smtClean="0">
                <a:solidFill>
                  <a:srgbClr val="46341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предметной </a:t>
            </a:r>
            <a:r>
              <a:rPr lang="ru-RU" dirty="0">
                <a:solidFill>
                  <a:srgbClr val="46341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области, отражение предметной области в модели (моделирование), </a:t>
            </a:r>
            <a:r>
              <a:rPr lang="ru-RU" dirty="0" smtClean="0">
                <a:solidFill>
                  <a:srgbClr val="46341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исследование </a:t>
            </a:r>
            <a:r>
              <a:rPr lang="ru-RU" dirty="0">
                <a:solidFill>
                  <a:srgbClr val="46341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модели, поиск </a:t>
            </a:r>
            <a:r>
              <a:rPr lang="ru-RU" dirty="0" smtClean="0">
                <a:solidFill>
                  <a:srgbClr val="46341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проблем</a:t>
            </a:r>
            <a:r>
              <a:rPr lang="ru-RU" dirty="0">
                <a:solidFill>
                  <a:srgbClr val="46341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. </a:t>
            </a:r>
          </a:p>
          <a:p>
            <a:pPr>
              <a:defRPr/>
            </a:pPr>
            <a:r>
              <a:rPr lang="ru-RU" dirty="0" smtClean="0">
                <a:solidFill>
                  <a:srgbClr val="46341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Исследователь </a:t>
            </a:r>
            <a:r>
              <a:rPr lang="ru-RU" dirty="0">
                <a:solidFill>
                  <a:srgbClr val="46341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определяет </a:t>
            </a:r>
            <a:r>
              <a:rPr lang="ru-RU" dirty="0" smtClean="0">
                <a:solidFill>
                  <a:srgbClr val="46341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в виде </a:t>
            </a:r>
            <a:r>
              <a:rPr lang="ru-RU" dirty="0">
                <a:solidFill>
                  <a:srgbClr val="46341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требований перечень задач ИС (функциональных возможностей ИС), </a:t>
            </a:r>
            <a:r>
              <a:rPr lang="ru-RU" dirty="0" smtClean="0">
                <a:solidFill>
                  <a:srgbClr val="46341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которые </a:t>
            </a:r>
            <a:r>
              <a:rPr lang="ru-RU" dirty="0">
                <a:solidFill>
                  <a:srgbClr val="46341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должны способствовать разрешению проблем </a:t>
            </a:r>
            <a:r>
              <a:rPr lang="ru-RU" dirty="0" err="1" smtClean="0">
                <a:solidFill>
                  <a:srgbClr val="46341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ПрО</a:t>
            </a:r>
            <a:r>
              <a:rPr lang="ru-RU" dirty="0" smtClean="0">
                <a:solidFill>
                  <a:srgbClr val="46341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. </a:t>
            </a:r>
          </a:p>
          <a:p>
            <a:pPr>
              <a:defRPr/>
            </a:pPr>
            <a:r>
              <a:rPr lang="ru-RU" dirty="0" smtClean="0">
                <a:solidFill>
                  <a:srgbClr val="46341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При определении </a:t>
            </a:r>
            <a:r>
              <a:rPr lang="ru-RU" dirty="0">
                <a:solidFill>
                  <a:srgbClr val="46341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задач исследователь применяет </a:t>
            </a:r>
            <a:r>
              <a:rPr lang="ru-RU" dirty="0">
                <a:solidFill>
                  <a:srgbClr val="99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метод замещения</a:t>
            </a:r>
            <a:r>
              <a:rPr lang="ru-RU" dirty="0">
                <a:solidFill>
                  <a:srgbClr val="46341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, согласно которому </a:t>
            </a:r>
            <a:r>
              <a:rPr lang="ru-RU" dirty="0" smtClean="0">
                <a:solidFill>
                  <a:srgbClr val="46341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операции</a:t>
            </a:r>
            <a:r>
              <a:rPr lang="ru-RU" dirty="0">
                <a:solidFill>
                  <a:srgbClr val="46341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, выполняемые в </a:t>
            </a:r>
            <a:r>
              <a:rPr lang="ru-RU" dirty="0" err="1">
                <a:solidFill>
                  <a:srgbClr val="46341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ПрО</a:t>
            </a:r>
            <a:r>
              <a:rPr lang="ru-RU" dirty="0">
                <a:solidFill>
                  <a:srgbClr val="46341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, замещаются операциями, выполняемыми с </a:t>
            </a:r>
            <a:r>
              <a:rPr lang="ru-RU" dirty="0" smtClean="0">
                <a:solidFill>
                  <a:srgbClr val="46341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помощью (</a:t>
            </a:r>
            <a:r>
              <a:rPr lang="ru-RU" dirty="0">
                <a:solidFill>
                  <a:srgbClr val="46341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или полностью) функциональных возможностей ИС.  </a:t>
            </a:r>
          </a:p>
        </p:txBody>
      </p:sp>
    </p:spTree>
    <p:extLst>
      <p:ext uri="{BB962C8B-B14F-4D97-AF65-F5344CB8AC3E}">
        <p14:creationId xmlns:p14="http://schemas.microsoft.com/office/powerpoint/2010/main" val="8653172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533400" y="473075"/>
            <a:ext cx="8153400" cy="1143000"/>
          </a:xfrm>
          <a:solidFill>
            <a:schemeClr val="accent1"/>
          </a:solidFill>
          <a:ln>
            <a:solidFill>
              <a:schemeClr val="tx1"/>
            </a:solidFill>
          </a:ln>
        </p:spPr>
        <p:txBody>
          <a:bodyPr/>
          <a:lstStyle/>
          <a:p>
            <a:pPr eaLnBrk="1" hangingPunct="1"/>
            <a:endParaRPr lang="ru-RU" dirty="0" smtClean="0"/>
          </a:p>
        </p:txBody>
      </p:sp>
      <p:sp>
        <p:nvSpPr>
          <p:cNvPr id="64514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757238" y="2189163"/>
            <a:ext cx="7700962" cy="3671887"/>
          </a:xfrm>
          <a:solidFill>
            <a:schemeClr val="accent1"/>
          </a:solidFill>
          <a:ln>
            <a:solidFill>
              <a:schemeClr val="tx1"/>
            </a:solidFill>
          </a:ln>
        </p:spPr>
        <p:txBody>
          <a:bodyPr/>
          <a:lstStyle/>
          <a:p>
            <a:pPr eaLnBrk="1" hangingPunct="1"/>
            <a:endParaRPr lang="ru-RU" dirty="0" smtClean="0"/>
          </a:p>
        </p:txBody>
      </p:sp>
      <p:pic>
        <p:nvPicPr>
          <p:cNvPr id="64515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14126" y="-190500"/>
            <a:ext cx="9144000" cy="723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503237" y="1982450"/>
            <a:ext cx="8208963" cy="144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defRPr/>
            </a:pPr>
            <a:r>
              <a:rPr lang="ru-RU" sz="4400" dirty="0" smtClean="0">
                <a:ln w="22225">
                  <a:solidFill>
                    <a:srgbClr val="3333CC"/>
                  </a:solidFill>
                  <a:prstDash val="solid"/>
                </a:ln>
                <a:solidFill>
                  <a:srgbClr val="C00000"/>
                </a:solidFill>
                <a:latin typeface="Arial" charset="0"/>
              </a:rPr>
              <a:t>Понятие информационной системы, ее структура </a:t>
            </a:r>
            <a:endParaRPr lang="ru-RU" sz="4400" dirty="0">
              <a:ln w="22225">
                <a:solidFill>
                  <a:srgbClr val="3333CC"/>
                </a:solidFill>
                <a:prstDash val="solid"/>
              </a:ln>
              <a:solidFill>
                <a:srgbClr val="C00000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426570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739" name="Text Box 43"/>
          <p:cNvSpPr txBox="1">
            <a:spLocks noChangeArrowheads="1"/>
          </p:cNvSpPr>
          <p:nvPr/>
        </p:nvSpPr>
        <p:spPr bwMode="auto">
          <a:xfrm>
            <a:off x="306388" y="12700"/>
            <a:ext cx="8640762" cy="2246313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ru-RU" sz="3200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Arial" charset="0"/>
              </a:rPr>
              <a:t>Информационная система – </a:t>
            </a:r>
          </a:p>
          <a:p>
            <a:pPr>
              <a:spcBef>
                <a:spcPct val="50000"/>
              </a:spcBef>
              <a:defRPr/>
            </a:pPr>
            <a:r>
              <a:rPr lang="ru-RU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</a:rPr>
              <a:t>взаимосвязанная совокупность средств, методов и персонала, используемых для хранения, обработки и выдачи информации в интересах достижения поставленной цели.</a:t>
            </a:r>
          </a:p>
        </p:txBody>
      </p:sp>
      <p:sp>
        <p:nvSpPr>
          <p:cNvPr id="72706" name="Rectangle 5"/>
          <p:cNvSpPr>
            <a:spLocks noChangeArrowheads="1"/>
          </p:cNvSpPr>
          <p:nvPr/>
        </p:nvSpPr>
        <p:spPr bwMode="auto">
          <a:xfrm>
            <a:off x="576263" y="2816225"/>
            <a:ext cx="8388350" cy="3409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lnSpc>
                <a:spcPct val="110000"/>
              </a:lnSpc>
              <a:buClr>
                <a:srgbClr val="CC0000"/>
              </a:buClr>
              <a:buFontTx/>
              <a:buAutoNum type="arabicPeriod"/>
            </a:pPr>
            <a:r>
              <a:rPr lang="ru-RU" sz="1800" dirty="0">
                <a:solidFill>
                  <a:srgbClr val="000000"/>
                </a:solidFill>
                <a:latin typeface="Arial" charset="0"/>
              </a:rPr>
              <a:t>Повышать степень обоснованности принимаемых решений за счет оперативного сбора, передачи и обработки информации;</a:t>
            </a:r>
          </a:p>
          <a:p>
            <a:pPr marL="342900" indent="-342900">
              <a:lnSpc>
                <a:spcPct val="110000"/>
              </a:lnSpc>
              <a:buClr>
                <a:srgbClr val="CC0000"/>
              </a:buClr>
              <a:buFontTx/>
              <a:buAutoNum type="arabicPeriod"/>
            </a:pPr>
            <a:r>
              <a:rPr lang="ru-RU" sz="1800" dirty="0">
                <a:solidFill>
                  <a:srgbClr val="000000"/>
                </a:solidFill>
                <a:latin typeface="Arial" charset="0"/>
              </a:rPr>
              <a:t>Обеспечивать своевременность принятия решений;</a:t>
            </a:r>
          </a:p>
          <a:p>
            <a:pPr marL="342900" indent="-342900">
              <a:lnSpc>
                <a:spcPct val="110000"/>
              </a:lnSpc>
              <a:buClr>
                <a:srgbClr val="CC0000"/>
              </a:buClr>
              <a:buFontTx/>
              <a:buAutoNum type="arabicPeriod"/>
            </a:pPr>
            <a:r>
              <a:rPr lang="ru-RU" sz="1800" dirty="0">
                <a:solidFill>
                  <a:srgbClr val="000000"/>
                </a:solidFill>
                <a:latin typeface="Arial" charset="0"/>
              </a:rPr>
              <a:t>Добиваться роста эффективности управления за счет своевременного представления необходимой информации руководителям всех уровней управления из единого информационного фонда;</a:t>
            </a:r>
          </a:p>
          <a:p>
            <a:pPr marL="342900" indent="-342900">
              <a:lnSpc>
                <a:spcPct val="110000"/>
              </a:lnSpc>
              <a:buClr>
                <a:srgbClr val="CC0000"/>
              </a:buClr>
              <a:buFontTx/>
              <a:buAutoNum type="arabicPeriod"/>
            </a:pPr>
            <a:r>
              <a:rPr lang="ru-RU" sz="1800" dirty="0">
                <a:solidFill>
                  <a:srgbClr val="000000"/>
                </a:solidFill>
                <a:latin typeface="Arial" charset="0"/>
              </a:rPr>
              <a:t>Согласовывать решения, принимаемые на различных уровнях управления и в разных структурных подразделениях;</a:t>
            </a:r>
          </a:p>
          <a:p>
            <a:pPr marL="342900" indent="-342900">
              <a:lnSpc>
                <a:spcPct val="110000"/>
              </a:lnSpc>
              <a:buClr>
                <a:srgbClr val="CC0000"/>
              </a:buClr>
              <a:buFontTx/>
              <a:buAutoNum type="arabicPeriod"/>
            </a:pPr>
            <a:r>
              <a:rPr lang="ru-RU" sz="1800" dirty="0">
                <a:solidFill>
                  <a:srgbClr val="000000"/>
                </a:solidFill>
                <a:latin typeface="Arial" charset="0"/>
              </a:rPr>
              <a:t>Обеспечивать рост производительности труда, сокращение непроизводственных потерь и т. д</a:t>
            </a:r>
          </a:p>
        </p:txBody>
      </p:sp>
      <p:sp>
        <p:nvSpPr>
          <p:cNvPr id="6" name="Rectangle 17"/>
          <p:cNvSpPr>
            <a:spLocks noChangeArrowheads="1"/>
          </p:cNvSpPr>
          <p:nvPr/>
        </p:nvSpPr>
        <p:spPr bwMode="auto">
          <a:xfrm>
            <a:off x="647700" y="2235200"/>
            <a:ext cx="8299450" cy="519113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anchor="ctr">
            <a:spAutoFit/>
          </a:bodyPr>
          <a:lstStyle/>
          <a:p>
            <a:pPr>
              <a:defRPr/>
            </a:pPr>
            <a:r>
              <a:rPr lang="ru-RU" sz="2800" dirty="0">
                <a:solidFill>
                  <a:srgbClr val="99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Информационные системы позволяют: </a:t>
            </a:r>
          </a:p>
        </p:txBody>
      </p:sp>
    </p:spTree>
    <p:extLst>
      <p:ext uri="{BB962C8B-B14F-4D97-AF65-F5344CB8AC3E}">
        <p14:creationId xmlns:p14="http://schemas.microsoft.com/office/powerpoint/2010/main" val="14447835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6758016"/>
              </p:ext>
            </p:extLst>
          </p:nvPr>
        </p:nvGraphicFramePr>
        <p:xfrm>
          <a:off x="60686" y="494308"/>
          <a:ext cx="9011813" cy="6035040"/>
        </p:xfrm>
        <a:graphic>
          <a:graphicData uri="http://schemas.openxmlformats.org/drawingml/2006/table">
            <a:tbl>
              <a:tbl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433876"/>
                <a:gridCol w="2043164"/>
                <a:gridCol w="2845836"/>
                <a:gridCol w="2688937"/>
              </a:tblGrid>
              <a:tr h="78933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b="1" i="0" kern="1200" dirty="0">
                          <a:solidFill>
                            <a:srgbClr val="C00000"/>
                          </a:solidFill>
                          <a:effectLst/>
                          <a:latin typeface="Comic Sans MS" panose="030F0702030302020204" pitchFamily="66" charset="0"/>
                          <a:ea typeface="+mn-ea"/>
                          <a:cs typeface="+mn-cs"/>
                        </a:rPr>
                        <a:t>Период времени</a:t>
                      </a:r>
                    </a:p>
                  </a:txBody>
                  <a:tcPr marL="24442" marR="2444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b="1" i="0" kern="1200" dirty="0">
                          <a:solidFill>
                            <a:srgbClr val="C00000"/>
                          </a:solidFill>
                          <a:effectLst/>
                          <a:latin typeface="Comic Sans MS" panose="030F0702030302020204" pitchFamily="66" charset="0"/>
                          <a:ea typeface="+mn-ea"/>
                          <a:cs typeface="+mn-cs"/>
                        </a:rPr>
                        <a:t>Концепция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b="1" i="0" kern="1200" dirty="0">
                          <a:solidFill>
                            <a:srgbClr val="C00000"/>
                          </a:solidFill>
                          <a:effectLst/>
                          <a:latin typeface="Comic Sans MS" panose="030F0702030302020204" pitchFamily="66" charset="0"/>
                          <a:ea typeface="+mn-ea"/>
                          <a:cs typeface="+mn-cs"/>
                        </a:rPr>
                        <a:t>использования информации</a:t>
                      </a:r>
                    </a:p>
                  </a:txBody>
                  <a:tcPr marL="24442" marR="2444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b="1" i="0" kern="1200" dirty="0">
                          <a:solidFill>
                            <a:srgbClr val="C00000"/>
                          </a:solidFill>
                          <a:effectLst/>
                          <a:latin typeface="Comic Sans MS" panose="030F0702030302020204" pitchFamily="66" charset="0"/>
                          <a:ea typeface="+mn-ea"/>
                          <a:cs typeface="+mn-cs"/>
                        </a:rPr>
                        <a:t>Вид информационных систем</a:t>
                      </a:r>
                    </a:p>
                  </a:txBody>
                  <a:tcPr marL="24442" marR="2444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b="1" i="0" kern="1200" dirty="0">
                          <a:solidFill>
                            <a:srgbClr val="C00000"/>
                          </a:solidFill>
                          <a:effectLst/>
                          <a:latin typeface="Comic Sans MS" panose="030F0702030302020204" pitchFamily="66" charset="0"/>
                          <a:ea typeface="+mn-ea"/>
                          <a:cs typeface="+mn-cs"/>
                        </a:rPr>
                        <a:t>Цель использования</a:t>
                      </a:r>
                    </a:p>
                  </a:txBody>
                  <a:tcPr marL="24442" marR="2444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95918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b="1" dirty="0">
                          <a:solidFill>
                            <a:srgbClr val="000000"/>
                          </a:solidFill>
                          <a:effectLst/>
                          <a:latin typeface="Comic Sans MS" panose="030F0702030302020204" pitchFamily="66" charset="0"/>
                        </a:rPr>
                        <a:t>1955-1970 гг.</a:t>
                      </a:r>
                      <a:endParaRPr lang="ru-RU" sz="1800" b="1" dirty="0">
                        <a:solidFill>
                          <a:srgbClr val="000000"/>
                        </a:solidFill>
                        <a:effectLst/>
                        <a:latin typeface="Comic Sans MS" panose="030F0702030302020204" pitchFamily="66" charset="0"/>
                        <a:ea typeface="Times New Roman"/>
                      </a:endParaRPr>
                    </a:p>
                  </a:txBody>
                  <a:tcPr marL="24442" marR="2444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b="1" dirty="0">
                          <a:solidFill>
                            <a:srgbClr val="000000"/>
                          </a:solidFill>
                          <a:effectLst/>
                          <a:latin typeface="Comic Sans MS" panose="030F0702030302020204" pitchFamily="66" charset="0"/>
                        </a:rPr>
                        <a:t>Бумажный поток расчетных доку­ментов</a:t>
                      </a:r>
                      <a:endParaRPr lang="ru-RU" sz="1800" b="1" dirty="0">
                        <a:solidFill>
                          <a:srgbClr val="000000"/>
                        </a:solidFill>
                        <a:effectLst/>
                        <a:latin typeface="Comic Sans MS" panose="030F0702030302020204" pitchFamily="66" charset="0"/>
                        <a:ea typeface="Times New Roman"/>
                      </a:endParaRPr>
                    </a:p>
                  </a:txBody>
                  <a:tcPr marL="24442" marR="2444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b="1" dirty="0">
                          <a:solidFill>
                            <a:srgbClr val="000000"/>
                          </a:solidFill>
                          <a:effectLst/>
                          <a:latin typeface="Comic Sans MS" panose="030F0702030302020204" pitchFamily="66" charset="0"/>
                        </a:rPr>
                        <a:t>Информационные системы обработки расчетных доку­ментов на электромеханиче­ских бухгалтерских машинах</a:t>
                      </a:r>
                      <a:endParaRPr lang="ru-RU" sz="1800" b="1" dirty="0">
                        <a:solidFill>
                          <a:srgbClr val="000000"/>
                        </a:solidFill>
                        <a:effectLst/>
                        <a:latin typeface="Comic Sans MS" panose="030F0702030302020204" pitchFamily="66" charset="0"/>
                        <a:ea typeface="Times New Roman"/>
                      </a:endParaRPr>
                    </a:p>
                  </a:txBody>
                  <a:tcPr marL="24442" marR="2444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b="1" dirty="0">
                          <a:solidFill>
                            <a:srgbClr val="000000"/>
                          </a:solidFill>
                          <a:effectLst/>
                          <a:latin typeface="Comic Sans MS" panose="030F0702030302020204" pitchFamily="66" charset="0"/>
                        </a:rPr>
                        <a:t>Повышение скорости об­работки документов, а также упрощение процедур обработ­ки счетов и расчета зарплаты</a:t>
                      </a:r>
                      <a:endParaRPr lang="ru-RU" sz="1800" b="1" dirty="0">
                        <a:solidFill>
                          <a:srgbClr val="000000"/>
                        </a:solidFill>
                        <a:effectLst/>
                        <a:latin typeface="Comic Sans MS" panose="030F0702030302020204" pitchFamily="66" charset="0"/>
                        <a:ea typeface="Times New Roman"/>
                      </a:endParaRPr>
                    </a:p>
                  </a:txBody>
                  <a:tcPr marL="24442" marR="2444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72938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b="1" dirty="0">
                          <a:solidFill>
                            <a:srgbClr val="000000"/>
                          </a:solidFill>
                          <a:effectLst/>
                          <a:latin typeface="Comic Sans MS" panose="030F0702030302020204" pitchFamily="66" charset="0"/>
                        </a:rPr>
                        <a:t>1970-1980 гг.</a:t>
                      </a:r>
                      <a:endParaRPr lang="ru-RU" sz="1800" b="1" dirty="0">
                        <a:solidFill>
                          <a:srgbClr val="000000"/>
                        </a:solidFill>
                        <a:effectLst/>
                        <a:latin typeface="Comic Sans MS" panose="030F0702030302020204" pitchFamily="66" charset="0"/>
                        <a:ea typeface="Times New Roman"/>
                      </a:endParaRPr>
                    </a:p>
                  </a:txBody>
                  <a:tcPr marL="24442" marR="2444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b="1" dirty="0">
                          <a:solidFill>
                            <a:srgbClr val="000000"/>
                          </a:solidFill>
                          <a:effectLst/>
                          <a:latin typeface="Comic Sans MS" panose="030F0702030302020204" pitchFamily="66" charset="0"/>
                        </a:rPr>
                        <a:t>Основная помощь в подготовке от­четов</a:t>
                      </a:r>
                      <a:endParaRPr lang="ru-RU" sz="1800" b="1" dirty="0">
                        <a:solidFill>
                          <a:srgbClr val="000000"/>
                        </a:solidFill>
                        <a:effectLst/>
                        <a:latin typeface="Comic Sans MS" panose="030F0702030302020204" pitchFamily="66" charset="0"/>
                        <a:ea typeface="Times New Roman"/>
                      </a:endParaRPr>
                    </a:p>
                  </a:txBody>
                  <a:tcPr marL="24442" marR="2444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b="1" dirty="0">
                          <a:solidFill>
                            <a:srgbClr val="000000"/>
                          </a:solidFill>
                          <a:effectLst/>
                          <a:latin typeface="Comic Sans MS" panose="030F0702030302020204" pitchFamily="66" charset="0"/>
                        </a:rPr>
                        <a:t>Управленческие информаци­онные системы для производ­ственной сферы</a:t>
                      </a:r>
                      <a:endParaRPr lang="ru-RU" sz="1800" b="1" dirty="0">
                        <a:solidFill>
                          <a:srgbClr val="000000"/>
                        </a:solidFill>
                        <a:effectLst/>
                        <a:latin typeface="Comic Sans MS" panose="030F0702030302020204" pitchFamily="66" charset="0"/>
                        <a:ea typeface="Times New Roman"/>
                      </a:endParaRPr>
                    </a:p>
                  </a:txBody>
                  <a:tcPr marL="24442" marR="2444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b="1" dirty="0">
                          <a:solidFill>
                            <a:srgbClr val="000000"/>
                          </a:solidFill>
                          <a:effectLst/>
                          <a:latin typeface="Comic Sans MS" panose="030F0702030302020204" pitchFamily="66" charset="0"/>
                        </a:rPr>
                        <a:t>Ускорение процесса подготов­ки отчетности</a:t>
                      </a:r>
                      <a:endParaRPr lang="ru-RU" sz="1800" b="1" dirty="0">
                        <a:solidFill>
                          <a:srgbClr val="000000"/>
                        </a:solidFill>
                        <a:effectLst/>
                        <a:latin typeface="Comic Sans MS" panose="030F0702030302020204" pitchFamily="66" charset="0"/>
                        <a:ea typeface="Times New Roman"/>
                      </a:endParaRPr>
                    </a:p>
                  </a:txBody>
                  <a:tcPr marL="24442" marR="2444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73937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b="1" dirty="0">
                          <a:solidFill>
                            <a:srgbClr val="000000"/>
                          </a:solidFill>
                          <a:effectLst/>
                          <a:latin typeface="Comic Sans MS" panose="030F0702030302020204" pitchFamily="66" charset="0"/>
                        </a:rPr>
                        <a:t>1980-2000 гг.</a:t>
                      </a:r>
                      <a:endParaRPr lang="ru-RU" sz="1800" b="1" dirty="0">
                        <a:solidFill>
                          <a:srgbClr val="000000"/>
                        </a:solidFill>
                        <a:effectLst/>
                        <a:latin typeface="Comic Sans MS" panose="030F0702030302020204" pitchFamily="66" charset="0"/>
                        <a:ea typeface="Times New Roman"/>
                      </a:endParaRPr>
                    </a:p>
                  </a:txBody>
                  <a:tcPr marL="24442" marR="2444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b="1" dirty="0">
                          <a:solidFill>
                            <a:srgbClr val="000000"/>
                          </a:solidFill>
                          <a:effectLst/>
                          <a:latin typeface="Comic Sans MS" panose="030F0702030302020204" pitchFamily="66" charset="0"/>
                        </a:rPr>
                        <a:t>Управленческий контроль реализа­ции (продаж)</a:t>
                      </a:r>
                      <a:endParaRPr lang="ru-RU" sz="1800" b="1" dirty="0">
                        <a:solidFill>
                          <a:srgbClr val="000000"/>
                        </a:solidFill>
                        <a:effectLst/>
                        <a:latin typeface="Comic Sans MS" panose="030F0702030302020204" pitchFamily="66" charset="0"/>
                        <a:ea typeface="Times New Roman"/>
                      </a:endParaRPr>
                    </a:p>
                  </a:txBody>
                  <a:tcPr marL="24442" marR="2444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b="1" dirty="0">
                          <a:solidFill>
                            <a:srgbClr val="000000"/>
                          </a:solidFill>
                          <a:effectLst/>
                          <a:latin typeface="Comic Sans MS" panose="030F0702030302020204" pitchFamily="66" charset="0"/>
                        </a:rPr>
                        <a:t>Системы поддержки приня­тия решений и системы для высшего звена управления</a:t>
                      </a:r>
                      <a:endParaRPr lang="ru-RU" sz="1800" b="1" dirty="0">
                        <a:solidFill>
                          <a:srgbClr val="000000"/>
                        </a:solidFill>
                        <a:effectLst/>
                        <a:latin typeface="Comic Sans MS" panose="030F0702030302020204" pitchFamily="66" charset="0"/>
                        <a:ea typeface="Times New Roman"/>
                      </a:endParaRPr>
                    </a:p>
                  </a:txBody>
                  <a:tcPr marL="24442" marR="2444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b="1" dirty="0">
                          <a:solidFill>
                            <a:srgbClr val="000000"/>
                          </a:solidFill>
                          <a:effectLst/>
                          <a:latin typeface="Comic Sans MS" panose="030F0702030302020204" pitchFamily="66" charset="0"/>
                        </a:rPr>
                        <a:t>Выработка наиболее рацио­нального решения</a:t>
                      </a:r>
                      <a:endParaRPr lang="ru-RU" sz="1800" b="1" dirty="0">
                        <a:solidFill>
                          <a:srgbClr val="000000"/>
                        </a:solidFill>
                        <a:effectLst/>
                        <a:latin typeface="Comic Sans MS" panose="030F0702030302020204" pitchFamily="66" charset="0"/>
                        <a:ea typeface="Times New Roman"/>
                      </a:endParaRPr>
                    </a:p>
                  </a:txBody>
                  <a:tcPr marL="24442" marR="2444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95918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b="1" dirty="0">
                          <a:solidFill>
                            <a:srgbClr val="000000"/>
                          </a:solidFill>
                          <a:effectLst/>
                          <a:latin typeface="Comic Sans MS" panose="030F0702030302020204" pitchFamily="66" charset="0"/>
                        </a:rPr>
                        <a:t>2000 гг. - по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b="1" dirty="0">
                          <a:solidFill>
                            <a:srgbClr val="000000"/>
                          </a:solidFill>
                          <a:effectLst/>
                          <a:latin typeface="Comic Sans MS" panose="030F0702030302020204" pitchFamily="66" charset="0"/>
                        </a:rPr>
                        <a:t>настоящее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b="1" dirty="0">
                          <a:solidFill>
                            <a:srgbClr val="000000"/>
                          </a:solidFill>
                          <a:effectLst/>
                          <a:latin typeface="Comic Sans MS" panose="030F0702030302020204" pitchFamily="66" charset="0"/>
                        </a:rPr>
                        <a:t>время</a:t>
                      </a:r>
                      <a:endParaRPr lang="ru-RU" sz="1800" b="1" dirty="0">
                        <a:solidFill>
                          <a:srgbClr val="000000"/>
                        </a:solidFill>
                        <a:effectLst/>
                        <a:latin typeface="Comic Sans MS" panose="030F0702030302020204" pitchFamily="66" charset="0"/>
                        <a:ea typeface="Times New Roman"/>
                      </a:endParaRPr>
                    </a:p>
                  </a:txBody>
                  <a:tcPr marL="24442" marR="2444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b="1" dirty="0">
                          <a:solidFill>
                            <a:srgbClr val="000000"/>
                          </a:solidFill>
                          <a:effectLst/>
                          <a:latin typeface="Comic Sans MS" panose="030F0702030302020204" pitchFamily="66" charset="0"/>
                        </a:rPr>
                        <a:t>Стратегический ре­сурс, обеспечиваю­щий конкурентное преимущество</a:t>
                      </a:r>
                      <a:endParaRPr lang="ru-RU" sz="1800" b="1" dirty="0">
                        <a:solidFill>
                          <a:srgbClr val="000000"/>
                        </a:solidFill>
                        <a:effectLst/>
                        <a:latin typeface="Comic Sans MS" panose="030F0702030302020204" pitchFamily="66" charset="0"/>
                        <a:ea typeface="Times New Roman"/>
                      </a:endParaRPr>
                    </a:p>
                  </a:txBody>
                  <a:tcPr marL="24442" marR="2444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b="1" dirty="0">
                          <a:solidFill>
                            <a:srgbClr val="000000"/>
                          </a:solidFill>
                          <a:effectLst/>
                          <a:latin typeface="Comic Sans MS" panose="030F0702030302020204" pitchFamily="66" charset="0"/>
                        </a:rPr>
                        <a:t>Стратегические информаци­онные системы и автоматизи­рованные офисы</a:t>
                      </a:r>
                      <a:endParaRPr lang="ru-RU" sz="1800" b="1" dirty="0">
                        <a:solidFill>
                          <a:srgbClr val="000000"/>
                        </a:solidFill>
                        <a:effectLst/>
                        <a:latin typeface="Comic Sans MS" panose="030F0702030302020204" pitchFamily="66" charset="0"/>
                        <a:ea typeface="Times New Roman"/>
                      </a:endParaRPr>
                    </a:p>
                  </a:txBody>
                  <a:tcPr marL="24442" marR="2444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b="1" dirty="0">
                          <a:solidFill>
                            <a:srgbClr val="000000"/>
                          </a:solidFill>
                          <a:effectLst/>
                          <a:latin typeface="Comic Sans MS" panose="030F0702030302020204" pitchFamily="66" charset="0"/>
                        </a:rPr>
                        <a:t>Выживание и процветание организации</a:t>
                      </a:r>
                      <a:endParaRPr lang="ru-RU" sz="1800" b="1" dirty="0">
                        <a:solidFill>
                          <a:srgbClr val="000000"/>
                        </a:solidFill>
                        <a:effectLst/>
                        <a:latin typeface="Comic Sans MS" panose="030F0702030302020204" pitchFamily="66" charset="0"/>
                        <a:ea typeface="Times New Roman"/>
                      </a:endParaRPr>
                    </a:p>
                  </a:txBody>
                  <a:tcPr marL="24442" marR="2444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8" name="Text Box 43"/>
          <p:cNvSpPr txBox="1">
            <a:spLocks noChangeArrowheads="1"/>
          </p:cNvSpPr>
          <p:nvPr/>
        </p:nvSpPr>
        <p:spPr bwMode="auto">
          <a:xfrm>
            <a:off x="127000" y="-63500"/>
            <a:ext cx="8837613" cy="523875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ru-RU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Arial" charset="0"/>
              </a:rPr>
              <a:t>Этапы развития информационных систем </a:t>
            </a:r>
          </a:p>
        </p:txBody>
      </p:sp>
    </p:spTree>
    <p:extLst>
      <p:ext uri="{BB962C8B-B14F-4D97-AF65-F5344CB8AC3E}">
        <p14:creationId xmlns:p14="http://schemas.microsoft.com/office/powerpoint/2010/main" val="36527046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739" name="Text Box 43"/>
          <p:cNvSpPr txBox="1">
            <a:spLocks noChangeArrowheads="1"/>
          </p:cNvSpPr>
          <p:nvPr/>
        </p:nvSpPr>
        <p:spPr bwMode="auto">
          <a:xfrm>
            <a:off x="127000" y="-26988"/>
            <a:ext cx="8837613" cy="584201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ru-RU" sz="3200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Arial" charset="0"/>
              </a:rPr>
              <a:t>Процессы в информационной системе </a:t>
            </a:r>
          </a:p>
        </p:txBody>
      </p:sp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127000" y="557213"/>
            <a:ext cx="8945563" cy="3170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/>
        </p:spPr>
        <p:txBody>
          <a:bodyPr>
            <a:spAutoFit/>
          </a:bodyPr>
          <a:lstStyle/>
          <a:p>
            <a:pPr>
              <a:buClr>
                <a:srgbClr val="CC0000"/>
              </a:buClr>
              <a:defRPr/>
            </a:pPr>
            <a:r>
              <a:rPr lang="ru-RU" sz="2000" dirty="0">
                <a:solidFill>
                  <a:srgbClr val="000000"/>
                </a:solidFill>
                <a:latin typeface="Arial" charset="0"/>
              </a:rPr>
              <a:t>Процессы, обеспечивающие работу информационной системы любого назначения, условно можно представить в виде схемы, состоящей из блоков:</a:t>
            </a:r>
          </a:p>
          <a:p>
            <a:pPr>
              <a:buClr>
                <a:srgbClr val="CC0000"/>
              </a:buClr>
              <a:defRPr/>
            </a:pPr>
            <a:r>
              <a:rPr lang="ru-RU" sz="2000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Arial" charset="0"/>
              </a:rPr>
              <a:t>1)</a:t>
            </a:r>
            <a:r>
              <a:rPr lang="en-US" sz="2000" dirty="0">
                <a:solidFill>
                  <a:srgbClr val="FF0000"/>
                </a:solidFill>
                <a:latin typeface="Arial" charset="0"/>
              </a:rPr>
              <a:t> </a:t>
            </a:r>
            <a:r>
              <a:rPr lang="ru-RU" sz="2000" dirty="0">
                <a:solidFill>
                  <a:srgbClr val="000000"/>
                </a:solidFill>
                <a:latin typeface="Arial" charset="0"/>
              </a:rPr>
              <a:t>ввод информации из внешних или внутренних источников;</a:t>
            </a:r>
          </a:p>
          <a:p>
            <a:pPr>
              <a:buClr>
                <a:srgbClr val="CC0000"/>
              </a:buClr>
              <a:defRPr/>
            </a:pPr>
            <a:r>
              <a:rPr lang="ru-RU" sz="2000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Arial" charset="0"/>
              </a:rPr>
              <a:t>2)</a:t>
            </a:r>
            <a:r>
              <a:rPr lang="en-US" sz="2000" dirty="0">
                <a:solidFill>
                  <a:srgbClr val="FF0000"/>
                </a:solidFill>
                <a:latin typeface="Arial" charset="0"/>
              </a:rPr>
              <a:t> </a:t>
            </a:r>
            <a:r>
              <a:rPr lang="ru-RU" sz="2000" dirty="0">
                <a:solidFill>
                  <a:srgbClr val="000000"/>
                </a:solidFill>
                <a:latin typeface="Arial" charset="0"/>
              </a:rPr>
              <a:t>обработка входной информации и представление ее в удобном виде;</a:t>
            </a:r>
          </a:p>
          <a:p>
            <a:pPr>
              <a:buClr>
                <a:srgbClr val="CC0000"/>
              </a:buClr>
              <a:defRPr/>
            </a:pPr>
            <a:r>
              <a:rPr lang="ru-RU" sz="2000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Arial" charset="0"/>
              </a:rPr>
              <a:t>3)</a:t>
            </a:r>
            <a:r>
              <a:rPr lang="en-US" sz="2000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Arial" charset="0"/>
              </a:rPr>
              <a:t> </a:t>
            </a:r>
            <a:r>
              <a:rPr lang="ru-RU" sz="2000" dirty="0">
                <a:solidFill>
                  <a:srgbClr val="000000"/>
                </a:solidFill>
                <a:latin typeface="Arial" charset="0"/>
              </a:rPr>
              <a:t>вывод информации для представления потребителям или передачи в другую систему;</a:t>
            </a:r>
          </a:p>
          <a:p>
            <a:pPr>
              <a:buClr>
                <a:srgbClr val="CC0000"/>
              </a:buClr>
              <a:defRPr/>
            </a:pPr>
            <a:r>
              <a:rPr lang="ru-RU" sz="2000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Arial" charset="0"/>
              </a:rPr>
              <a:t>4)</a:t>
            </a:r>
            <a:r>
              <a:rPr lang="en-US" sz="2000" dirty="0">
                <a:solidFill>
                  <a:srgbClr val="FF0000"/>
                </a:solidFill>
                <a:latin typeface="Arial" charset="0"/>
              </a:rPr>
              <a:t> </a:t>
            </a:r>
            <a:r>
              <a:rPr lang="ru-RU" sz="2000" dirty="0">
                <a:solidFill>
                  <a:srgbClr val="000000"/>
                </a:solidFill>
                <a:latin typeface="Arial" charset="0"/>
              </a:rPr>
              <a:t>обратная связь — это информация, переработанная людьми данной организации для коррекции входной информации.</a:t>
            </a:r>
          </a:p>
        </p:txBody>
      </p:sp>
      <p:pic>
        <p:nvPicPr>
          <p:cNvPr id="121861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57163" y="3717925"/>
            <a:ext cx="8699500" cy="3054350"/>
          </a:xfrm>
          <a:prstGeom prst="rect">
            <a:avLst/>
          </a:prstGeom>
          <a:noFill/>
          <a:ln w="9525">
            <a:solidFill>
              <a:srgbClr val="C00000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  <a:extLst/>
        </p:spPr>
      </p:pic>
    </p:spTree>
    <p:extLst>
      <p:ext uri="{BB962C8B-B14F-4D97-AF65-F5344CB8AC3E}">
        <p14:creationId xmlns:p14="http://schemas.microsoft.com/office/powerpoint/2010/main" val="2526515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739" name="Text Box 43"/>
          <p:cNvSpPr txBox="1">
            <a:spLocks noChangeArrowheads="1"/>
          </p:cNvSpPr>
          <p:nvPr/>
        </p:nvSpPr>
        <p:spPr bwMode="auto">
          <a:xfrm>
            <a:off x="127000" y="-26988"/>
            <a:ext cx="8837613" cy="584201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ru-RU" sz="3200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Arial" charset="0"/>
              </a:rPr>
              <a:t>Структура информационной системы</a:t>
            </a:r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06" y="559016"/>
            <a:ext cx="9017000" cy="59092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480377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141750" y="260648"/>
            <a:ext cx="8945563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/>
        </p:spPr>
        <p:txBody>
          <a:bodyPr>
            <a:spAutoFit/>
          </a:bodyPr>
          <a:lstStyle/>
          <a:p>
            <a:pPr>
              <a:buClr>
                <a:srgbClr val="CC0000"/>
              </a:buClr>
              <a:defRPr/>
            </a:pPr>
            <a:r>
              <a:rPr lang="ru-RU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Arial" charset="0"/>
              </a:rPr>
              <a:t>Подсистема </a:t>
            </a:r>
            <a:r>
              <a:rPr lang="ru-RU" dirty="0">
                <a:solidFill>
                  <a:srgbClr val="000000"/>
                </a:solidFill>
                <a:latin typeface="Arial" charset="0"/>
              </a:rPr>
              <a:t>— это часть системы, выделенная по какому-либо признаку.</a:t>
            </a:r>
            <a:endParaRPr lang="en-US" dirty="0">
              <a:solidFill>
                <a:srgbClr val="000000"/>
              </a:solidFill>
              <a:latin typeface="Arial" charset="0"/>
            </a:endParaRPr>
          </a:p>
          <a:p>
            <a:pPr>
              <a:buClr>
                <a:srgbClr val="CC0000"/>
              </a:buClr>
              <a:defRPr/>
            </a:pPr>
            <a:r>
              <a:rPr lang="ru-RU" dirty="0" smtClean="0">
                <a:solidFill>
                  <a:srgbClr val="000000"/>
                </a:solidFill>
                <a:latin typeface="Arial" charset="0"/>
              </a:rPr>
              <a:t>Среди </a:t>
            </a:r>
            <a:r>
              <a:rPr lang="ru-RU" dirty="0">
                <a:solidFill>
                  <a:srgbClr val="000000"/>
                </a:solidFill>
                <a:latin typeface="Arial" charset="0"/>
              </a:rPr>
              <a:t>обеспечивающих подсистем обычно выделяют </a:t>
            </a:r>
            <a:r>
              <a:rPr lang="ru-RU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Arial" charset="0"/>
              </a:rPr>
              <a:t>информационное, техническое, математическое, программное, организационное и правовое обеспечение</a:t>
            </a:r>
            <a:r>
              <a:rPr lang="ru-RU" dirty="0">
                <a:solidFill>
                  <a:srgbClr val="000000"/>
                </a:solidFill>
                <a:latin typeface="Arial" charset="0"/>
              </a:rPr>
              <a:t>.</a:t>
            </a:r>
          </a:p>
        </p:txBody>
      </p:sp>
      <p:pic>
        <p:nvPicPr>
          <p:cNvPr id="122882" name="Picture 2"/>
          <p:cNvPicPr>
            <a:picLocks noChangeAspect="1" noChangeArrowheads="1"/>
          </p:cNvPicPr>
          <p:nvPr/>
        </p:nvPicPr>
        <p:blipFill>
          <a:blip r:embed="rId3">
            <a:extLst/>
          </a:blip>
          <a:srcRect/>
          <a:stretch>
            <a:fillRect/>
          </a:stretch>
        </p:blipFill>
        <p:spPr bwMode="auto">
          <a:xfrm>
            <a:off x="127000" y="2636912"/>
            <a:ext cx="8836865" cy="317346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/>
          <a:scene3d>
            <a:camera prst="orthographicFront"/>
            <a:lightRig rig="threePt" dir="t"/>
          </a:scene3d>
          <a:sp3d>
            <a:bevelT prst="convex"/>
          </a:sp3d>
        </p:spPr>
      </p:pic>
    </p:spTree>
    <p:extLst>
      <p:ext uri="{BB962C8B-B14F-4D97-AF65-F5344CB8AC3E}">
        <p14:creationId xmlns:p14="http://schemas.microsoft.com/office/powerpoint/2010/main" val="22990558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>
                <a:lumMod val="95000"/>
              </a:schemeClr>
            </a:gs>
            <a:gs pos="100000">
              <a:schemeClr val="accent3">
                <a:lumMod val="20000"/>
                <a:lumOff val="80000"/>
              </a:schemeClr>
            </a:gs>
          </a:gsLst>
          <a:lin ang="189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7772400" cy="1143000"/>
          </a:xfrm>
        </p:spPr>
        <p:txBody>
          <a:bodyPr/>
          <a:lstStyle/>
          <a:p>
            <a:pPr marL="320040" indent="-320040"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ru-RU" sz="3600" smtClean="0"/>
              <a:t>Подсистемы ИС</a:t>
            </a:r>
          </a:p>
        </p:txBody>
      </p:sp>
      <p:sp>
        <p:nvSpPr>
          <p:cNvPr id="31747" name="Номер слайда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  <a:defRPr sz="2200">
                <a:solidFill>
                  <a:srgbClr val="404040"/>
                </a:solidFill>
                <a:latin typeface="Trebuchet MS" panose="020B060302020202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  <a:defRPr sz="2000">
                <a:solidFill>
                  <a:srgbClr val="404040"/>
                </a:solidFill>
                <a:latin typeface="Trebuchet MS" panose="020B060302020202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  <a:defRPr>
                <a:solidFill>
                  <a:srgbClr val="404040"/>
                </a:solidFill>
                <a:latin typeface="Trebuchet MS" panose="020B060302020202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  <a:defRPr sz="1600">
                <a:solidFill>
                  <a:srgbClr val="404040"/>
                </a:solidFill>
                <a:latin typeface="Trebuchet MS" panose="020B060302020202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  <a:defRPr sz="1400">
                <a:solidFill>
                  <a:srgbClr val="404040"/>
                </a:solidFill>
                <a:latin typeface="Trebuchet MS" panose="020B0603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  <a:defRPr sz="1400">
                <a:solidFill>
                  <a:srgbClr val="404040"/>
                </a:solidFill>
                <a:latin typeface="Trebuchet MS" panose="020B0603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  <a:defRPr sz="1400">
                <a:solidFill>
                  <a:srgbClr val="404040"/>
                </a:solidFill>
                <a:latin typeface="Trebuchet MS" panose="020B0603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  <a:defRPr sz="1400">
                <a:solidFill>
                  <a:srgbClr val="404040"/>
                </a:solidFill>
                <a:latin typeface="Trebuchet MS" panose="020B0603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  <a:defRPr sz="1400">
                <a:solidFill>
                  <a:srgbClr val="404040"/>
                </a:solidFill>
                <a:latin typeface="Trebuchet MS" panose="020B0603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7519BF1E-E22F-40EE-9D10-8D8607018C06}" type="slidenum">
              <a:rPr kumimoji="0" lang="ru-RU" altLang="ru-RU" sz="1400" smtClean="0">
                <a:solidFill>
                  <a:prstClr val="black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25</a:t>
            </a:fld>
            <a:endParaRPr kumimoji="0" lang="ru-RU" altLang="ru-RU" sz="1400" smtClean="0">
              <a:solidFill>
                <a:prstClr val="black"/>
              </a:solidFill>
              <a:latin typeface="Times New Roman" panose="02020603050405020304" pitchFamily="18" charset="0"/>
            </a:endParaRPr>
          </a:p>
        </p:txBody>
      </p:sp>
      <p:sp>
        <p:nvSpPr>
          <p:cNvPr id="17411" name="Text Box 3"/>
          <p:cNvSpPr txBox="1">
            <a:spLocks noChangeArrowheads="1"/>
          </p:cNvSpPr>
          <p:nvPr/>
        </p:nvSpPr>
        <p:spPr bwMode="auto">
          <a:xfrm>
            <a:off x="0" y="1371600"/>
            <a:ext cx="9144000" cy="5186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just">
              <a:spcBef>
                <a:spcPct val="50000"/>
              </a:spcBef>
              <a:defRPr/>
            </a:pPr>
            <a:r>
              <a:rPr kumimoji="1" lang="ru-RU" sz="2800" dirty="0">
                <a:solidFill>
                  <a:srgbClr val="59A8D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Информационное обеспечение</a:t>
            </a:r>
            <a:r>
              <a:rPr kumimoji="1" lang="ru-RU" b="0" dirty="0">
                <a:solidFill>
                  <a:prstClr val="black"/>
                </a:solidFill>
                <a:latin typeface="Arial" charset="0"/>
              </a:rPr>
              <a:t> </a:t>
            </a:r>
            <a:r>
              <a:rPr kumimoji="1" lang="ru-RU" sz="2000" b="0" dirty="0">
                <a:solidFill>
                  <a:prstClr val="black"/>
                </a:solidFill>
                <a:latin typeface="Arial" charset="0"/>
                <a:cs typeface="Times New Roman" pitchFamily="18" charset="0"/>
              </a:rPr>
              <a:t>совокупность единой системы классификации и кодирования информации, унифицированных документов и вспомогательных информационных массивов (обычно – классификаторы, таблицы кодирования и пр.)</a:t>
            </a:r>
            <a:endParaRPr kumimoji="1" lang="ru-RU" sz="2000" b="0" dirty="0">
              <a:solidFill>
                <a:prstClr val="black"/>
              </a:solidFill>
              <a:latin typeface="Arial" charset="0"/>
            </a:endParaRPr>
          </a:p>
          <a:p>
            <a:pPr algn="just">
              <a:spcBef>
                <a:spcPct val="50000"/>
              </a:spcBef>
              <a:defRPr/>
            </a:pPr>
            <a:r>
              <a:rPr kumimoji="1" lang="ru-RU" b="0" dirty="0">
                <a:solidFill>
                  <a:prstClr val="black"/>
                </a:solidFill>
                <a:latin typeface="Arial" charset="0"/>
              </a:rPr>
              <a:t> </a:t>
            </a:r>
            <a:r>
              <a:rPr kumimoji="1" lang="ru-RU" sz="2800" dirty="0">
                <a:solidFill>
                  <a:srgbClr val="59A8D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Техническое обеспечение</a:t>
            </a:r>
            <a:r>
              <a:rPr kumimoji="1" lang="ru-RU" dirty="0">
                <a:solidFill>
                  <a:prstClr val="black"/>
                </a:solidFill>
                <a:latin typeface="Arial" charset="0"/>
              </a:rPr>
              <a:t> </a:t>
            </a:r>
            <a:r>
              <a:rPr kumimoji="1" lang="ru-RU" sz="2000" b="0" dirty="0">
                <a:solidFill>
                  <a:prstClr val="black"/>
                </a:solidFill>
                <a:latin typeface="Arial" charset="0"/>
                <a:cs typeface="Times New Roman" pitchFamily="18" charset="0"/>
              </a:rPr>
              <a:t>комплекс технических средств, предназначенных для обеспечения работы информационной системы и ее пользователей, и документация на них. </a:t>
            </a:r>
          </a:p>
          <a:p>
            <a:pPr algn="just">
              <a:spcBef>
                <a:spcPct val="50000"/>
              </a:spcBef>
              <a:defRPr/>
            </a:pPr>
            <a:r>
              <a:rPr kumimoji="1" lang="ru-RU" sz="2800" dirty="0">
                <a:solidFill>
                  <a:srgbClr val="59A8D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Программное обеспечение</a:t>
            </a:r>
            <a:r>
              <a:rPr kumimoji="1" lang="ru-RU" dirty="0">
                <a:solidFill>
                  <a:prstClr val="black"/>
                </a:solidFill>
                <a:latin typeface="Arial" charset="0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kumimoji="1" lang="ru-RU" sz="2000" b="0" dirty="0">
                <a:solidFill>
                  <a:prstClr val="black"/>
                </a:solidFill>
                <a:latin typeface="Arial" charset="0"/>
                <a:cs typeface="Times New Roman" pitchFamily="18" charset="0"/>
              </a:rPr>
              <a:t>общесистемные и специальные программные продукты, а также техническая документация. </a:t>
            </a:r>
          </a:p>
          <a:p>
            <a:pPr algn="just">
              <a:spcBef>
                <a:spcPct val="50000"/>
              </a:spcBef>
              <a:defRPr/>
            </a:pPr>
            <a:r>
              <a:rPr kumimoji="1" lang="ru-RU" sz="2800" dirty="0">
                <a:solidFill>
                  <a:srgbClr val="59A8D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Организационное обеспечение</a:t>
            </a:r>
            <a:r>
              <a:rPr kumimoji="1" lang="ru-RU" sz="2000" b="0" dirty="0">
                <a:solidFill>
                  <a:prstClr val="black"/>
                </a:solidFill>
                <a:latin typeface="Arial" charset="0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kumimoji="1" lang="ru-RU" sz="2000" b="0" dirty="0">
                <a:solidFill>
                  <a:prstClr val="black"/>
                </a:solidFill>
                <a:latin typeface="Arial" charset="0"/>
                <a:cs typeface="Times New Roman" pitchFamily="18" charset="0"/>
              </a:rPr>
              <a:t>комплекс мероприятий и руководящих документов, регламентирующих взаимодействие работников с техническими средствами и между собой в процессе разработки и эксплуатации информационной системы.</a:t>
            </a:r>
          </a:p>
        </p:txBody>
      </p:sp>
      <p:sp>
        <p:nvSpPr>
          <p:cNvPr id="17412" name="Text Box 4"/>
          <p:cNvSpPr txBox="1">
            <a:spLocks noChangeArrowheads="1"/>
          </p:cNvSpPr>
          <p:nvPr/>
        </p:nvSpPr>
        <p:spPr bwMode="auto">
          <a:xfrm rot="20400000">
            <a:off x="3200400" y="2895600"/>
            <a:ext cx="5943600" cy="1311275"/>
          </a:xfrm>
          <a:prstGeom prst="rect">
            <a:avLst/>
          </a:prstGeom>
          <a:solidFill>
            <a:srgbClr val="66FFFF">
              <a:alpha val="50000"/>
            </a:srgbClr>
          </a:solidFill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kumimoji="1" lang="ru-RU" sz="4000" b="0">
                <a:solidFill>
                  <a:srgbClr val="FB3A2B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mic Sans MS" pitchFamily="66" charset="0"/>
              </a:rPr>
              <a:t>Разрабатывается исполнителем проекта</a:t>
            </a:r>
          </a:p>
        </p:txBody>
      </p:sp>
    </p:spTree>
    <p:extLst>
      <p:ext uri="{BB962C8B-B14F-4D97-AF65-F5344CB8AC3E}">
        <p14:creationId xmlns:p14="http://schemas.microsoft.com/office/powerpoint/2010/main" val="4038864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7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2" grpId="0" animBg="1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>
                <a:lumMod val="95000"/>
              </a:schemeClr>
            </a:gs>
            <a:gs pos="100000">
              <a:schemeClr val="accent3">
                <a:lumMod val="20000"/>
                <a:lumOff val="80000"/>
              </a:schemeClr>
            </a:gs>
          </a:gsLst>
          <a:lin ang="189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Номер слайда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  <a:defRPr sz="2200">
                <a:solidFill>
                  <a:srgbClr val="404040"/>
                </a:solidFill>
                <a:latin typeface="Trebuchet MS" panose="020B060302020202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  <a:defRPr sz="2000">
                <a:solidFill>
                  <a:srgbClr val="404040"/>
                </a:solidFill>
                <a:latin typeface="Trebuchet MS" panose="020B060302020202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  <a:defRPr>
                <a:solidFill>
                  <a:srgbClr val="404040"/>
                </a:solidFill>
                <a:latin typeface="Trebuchet MS" panose="020B060302020202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  <a:defRPr sz="1600">
                <a:solidFill>
                  <a:srgbClr val="404040"/>
                </a:solidFill>
                <a:latin typeface="Trebuchet MS" panose="020B060302020202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  <a:defRPr sz="1400">
                <a:solidFill>
                  <a:srgbClr val="404040"/>
                </a:solidFill>
                <a:latin typeface="Trebuchet MS" panose="020B0603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  <a:defRPr sz="1400">
                <a:solidFill>
                  <a:srgbClr val="404040"/>
                </a:solidFill>
                <a:latin typeface="Trebuchet MS" panose="020B0603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  <a:defRPr sz="1400">
                <a:solidFill>
                  <a:srgbClr val="404040"/>
                </a:solidFill>
                <a:latin typeface="Trebuchet MS" panose="020B0603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  <a:defRPr sz="1400">
                <a:solidFill>
                  <a:srgbClr val="404040"/>
                </a:solidFill>
                <a:latin typeface="Trebuchet MS" panose="020B0603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Georgia" panose="02040502050405020303" pitchFamily="18" charset="0"/>
              <a:buChar char="*"/>
              <a:defRPr sz="1400">
                <a:solidFill>
                  <a:srgbClr val="404040"/>
                </a:solidFill>
                <a:latin typeface="Trebuchet MS" panose="020B0603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ACD3B7A6-2DAB-420C-8CB3-7342DE46E53A}" type="slidenum">
              <a:rPr kumimoji="0" lang="ru-RU" altLang="ru-RU" sz="1400">
                <a:solidFill>
                  <a:prstClr val="black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26</a:t>
            </a:fld>
            <a:endParaRPr kumimoji="0" lang="ru-RU" altLang="ru-RU" sz="1400">
              <a:solidFill>
                <a:prstClr val="black"/>
              </a:solidFill>
              <a:latin typeface="Times New Roman" panose="02020603050405020304" pitchFamily="18" charset="0"/>
            </a:endParaRPr>
          </a:p>
        </p:txBody>
      </p:sp>
      <p:sp>
        <p:nvSpPr>
          <p:cNvPr id="19458" name="Text Box 2"/>
          <p:cNvSpPr txBox="1">
            <a:spLocks noChangeArrowheads="1"/>
          </p:cNvSpPr>
          <p:nvPr/>
        </p:nvSpPr>
        <p:spPr bwMode="auto">
          <a:xfrm>
            <a:off x="0" y="1295400"/>
            <a:ext cx="8915400" cy="1128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just">
              <a:spcBef>
                <a:spcPct val="50000"/>
              </a:spcBef>
              <a:defRPr/>
            </a:pPr>
            <a:r>
              <a:rPr kumimoji="1" lang="ru-RU" sz="2800" dirty="0">
                <a:solidFill>
                  <a:srgbClr val="59A8D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Математическое обеспечение</a:t>
            </a:r>
            <a:r>
              <a:rPr kumimoji="1" lang="ru-RU" sz="2000" b="0" dirty="0">
                <a:solidFill>
                  <a:prstClr val="black"/>
                </a:solidFill>
                <a:latin typeface="Arial" charset="0"/>
                <a:cs typeface="Times New Roman" pitchFamily="18" charset="0"/>
              </a:rPr>
              <a:t> совокупность математических методов, моделей и алгоритмов, использующихся для управления системой и  реализации прикладных задач. </a:t>
            </a:r>
            <a:endParaRPr kumimoji="1" lang="ru-RU" sz="2000" b="0" dirty="0">
              <a:solidFill>
                <a:prstClr val="black"/>
              </a:solidFill>
              <a:latin typeface="Arial" charset="0"/>
            </a:endParaRPr>
          </a:p>
        </p:txBody>
      </p:sp>
      <p:sp>
        <p:nvSpPr>
          <p:cNvPr id="19459" name="Rectangle 3"/>
          <p:cNvSpPr>
            <a:spLocks noChangeArrowheads="1"/>
          </p:cNvSpPr>
          <p:nvPr/>
        </p:nvSpPr>
        <p:spPr bwMode="auto">
          <a:xfrm>
            <a:off x="0" y="2514600"/>
            <a:ext cx="9144000" cy="338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just">
              <a:defRPr/>
            </a:pPr>
            <a:r>
              <a:rPr kumimoji="1" lang="ru-RU" sz="2800">
                <a:solidFill>
                  <a:srgbClr val="59A8D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Лингвистическое обеспечение</a:t>
            </a:r>
            <a:r>
              <a:rPr kumimoji="1" lang="ru-RU" b="0">
                <a:solidFill>
                  <a:prstClr val="black"/>
                </a:solidFill>
                <a:latin typeface="Arial" charset="0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kumimoji="1" lang="ru-RU" sz="2000" b="0">
                <a:solidFill>
                  <a:prstClr val="black"/>
                </a:solidFill>
                <a:latin typeface="Arial" charset="0"/>
                <a:ea typeface="Arial Unicode MS" pitchFamily="34" charset="-128"/>
                <a:cs typeface="Arial Unicode MS" pitchFamily="34" charset="-128"/>
              </a:rPr>
              <a:t>множество языков, использующихся при разработке и эксплуатации ИС (языки программирования, языки общения, набор словарей и пр.). </a:t>
            </a:r>
            <a:endParaRPr kumimoji="1" lang="ru-RU" sz="2000" b="0">
              <a:solidFill>
                <a:prstClr val="black"/>
              </a:solidFill>
              <a:latin typeface="Arial" charset="0"/>
            </a:endParaRPr>
          </a:p>
          <a:p>
            <a:pPr algn="just">
              <a:defRPr/>
            </a:pPr>
            <a:endParaRPr kumimoji="1" lang="ru-RU" sz="2000" b="0">
              <a:solidFill>
                <a:prstClr val="black"/>
              </a:solidFill>
              <a:latin typeface="Arial" charset="0"/>
            </a:endParaRPr>
          </a:p>
          <a:p>
            <a:pPr algn="just">
              <a:defRPr/>
            </a:pPr>
            <a:endParaRPr kumimoji="1" lang="ru-RU" sz="2000" b="0">
              <a:solidFill>
                <a:prstClr val="black"/>
              </a:solidFill>
              <a:latin typeface="Arial" charset="0"/>
            </a:endParaRPr>
          </a:p>
          <a:p>
            <a:pPr algn="just">
              <a:defRPr/>
            </a:pPr>
            <a:r>
              <a:rPr kumimoji="1" lang="ru-RU" sz="2800">
                <a:solidFill>
                  <a:srgbClr val="59A8D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Правовое обеспечение</a:t>
            </a:r>
            <a:r>
              <a:rPr kumimoji="1" lang="ru-RU" b="0">
                <a:solidFill>
                  <a:prstClr val="black"/>
                </a:solidFill>
                <a:latin typeface="Arial" charset="0"/>
              </a:rPr>
              <a:t> </a:t>
            </a:r>
            <a:r>
              <a:rPr kumimoji="1" lang="ru-RU" sz="2000" b="0">
                <a:solidFill>
                  <a:prstClr val="black"/>
                </a:solidFill>
                <a:latin typeface="Arial" charset="0"/>
                <a:cs typeface="Times New Roman" pitchFamily="18" charset="0"/>
              </a:rPr>
              <a:t>совокупность правовых норм, определяющих создание, юридический статус и функционирование информационных систем, регламентирующих порядок получения, преобразования и использования информации.</a:t>
            </a:r>
            <a:r>
              <a:rPr kumimoji="1" lang="ru-RU" sz="2000" b="0">
                <a:solidFill>
                  <a:prstClr val="black"/>
                </a:solidFill>
                <a:latin typeface="Arial" charset="0"/>
              </a:rPr>
              <a:t> </a:t>
            </a:r>
          </a:p>
          <a:p>
            <a:pPr algn="just">
              <a:defRPr/>
            </a:pPr>
            <a:endParaRPr kumimoji="1" lang="ru-RU" sz="2000" b="0">
              <a:solidFill>
                <a:prstClr val="black"/>
              </a:solidFill>
              <a:latin typeface="Arial" charset="0"/>
            </a:endParaRPr>
          </a:p>
        </p:txBody>
      </p:sp>
      <p:sp>
        <p:nvSpPr>
          <p:cNvPr id="19460" name="Text Box 4"/>
          <p:cNvSpPr txBox="1">
            <a:spLocks noChangeArrowheads="1"/>
          </p:cNvSpPr>
          <p:nvPr/>
        </p:nvSpPr>
        <p:spPr bwMode="auto">
          <a:xfrm rot="20400000">
            <a:off x="3200400" y="914400"/>
            <a:ext cx="5943600" cy="1920875"/>
          </a:xfrm>
          <a:prstGeom prst="rect">
            <a:avLst/>
          </a:prstGeom>
          <a:solidFill>
            <a:schemeClr val="accent3">
              <a:lumMod val="40000"/>
              <a:lumOff val="60000"/>
              <a:alpha val="5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kumimoji="1" lang="ru-RU" sz="4000" b="0" dirty="0">
                <a:solidFill>
                  <a:srgbClr val="FB3A2B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mic Sans MS" pitchFamily="66" charset="0"/>
              </a:rPr>
              <a:t>Предопределено принятой в компании методологией</a:t>
            </a:r>
          </a:p>
        </p:txBody>
      </p:sp>
      <p:sp>
        <p:nvSpPr>
          <p:cNvPr id="19461" name="Text Box 5"/>
          <p:cNvSpPr txBox="1">
            <a:spLocks noChangeArrowheads="1"/>
          </p:cNvSpPr>
          <p:nvPr/>
        </p:nvSpPr>
        <p:spPr bwMode="auto">
          <a:xfrm rot="20400000">
            <a:off x="2895600" y="4191000"/>
            <a:ext cx="5943600" cy="1311275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kumimoji="1" lang="ru-RU" sz="4000" b="0">
                <a:solidFill>
                  <a:srgbClr val="FB3A2B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mic Sans MS" pitchFamily="66" charset="0"/>
              </a:rPr>
              <a:t>Разрабатывается заказчиком </a:t>
            </a:r>
          </a:p>
        </p:txBody>
      </p:sp>
    </p:spTree>
    <p:extLst>
      <p:ext uri="{BB962C8B-B14F-4D97-AF65-F5344CB8AC3E}">
        <p14:creationId xmlns:p14="http://schemas.microsoft.com/office/powerpoint/2010/main" val="14234915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9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9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60" grpId="0" animBg="1" autoUpdateAnimBg="0"/>
      <p:bldP spid="19461" grpId="0" animBg="1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533400" y="473075"/>
            <a:ext cx="8153400" cy="1143000"/>
          </a:xfrm>
          <a:solidFill>
            <a:schemeClr val="accent1"/>
          </a:solidFill>
          <a:ln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ru-RU" altLang="ru-RU" smtClean="0"/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757238" y="2189163"/>
            <a:ext cx="7700962" cy="3671887"/>
          </a:xfrm>
          <a:solidFill>
            <a:schemeClr val="accent1"/>
          </a:solidFill>
          <a:ln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ru-RU" altLang="ru-RU" smtClean="0"/>
          </a:p>
        </p:txBody>
      </p:sp>
      <p:pic>
        <p:nvPicPr>
          <p:cNvPr id="19460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4288" y="-190500"/>
            <a:ext cx="9144001" cy="723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6677" name="Rectangle 5"/>
          <p:cNvSpPr>
            <a:spLocks noChangeArrowheads="1"/>
          </p:cNvSpPr>
          <p:nvPr/>
        </p:nvSpPr>
        <p:spPr bwMode="auto">
          <a:xfrm>
            <a:off x="533400" y="2082362"/>
            <a:ext cx="8208963" cy="144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defRPr/>
            </a:pPr>
            <a:r>
              <a:rPr lang="ru-RU" sz="4400" dirty="0">
                <a:ln w="22225">
                  <a:solidFill>
                    <a:srgbClr val="3333CC"/>
                  </a:solidFill>
                  <a:prstDash val="solid"/>
                </a:ln>
                <a:solidFill>
                  <a:srgbClr val="C00000"/>
                </a:solidFill>
                <a:latin typeface="Arial" charset="0"/>
              </a:rPr>
              <a:t>Классификация информационных систем </a:t>
            </a:r>
          </a:p>
        </p:txBody>
      </p:sp>
    </p:spTree>
    <p:extLst>
      <p:ext uri="{BB962C8B-B14F-4D97-AF65-F5344CB8AC3E}">
        <p14:creationId xmlns:p14="http://schemas.microsoft.com/office/powerpoint/2010/main" val="169554383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739" name="Text Box 43"/>
          <p:cNvSpPr txBox="1">
            <a:spLocks noChangeArrowheads="1"/>
          </p:cNvSpPr>
          <p:nvPr/>
        </p:nvSpPr>
        <p:spPr bwMode="auto">
          <a:xfrm>
            <a:off x="719572" y="224644"/>
            <a:ext cx="9144000" cy="523220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kumimoji="1" lang="ru-RU" sz="28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Классификация информационных систем 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612" y="995362"/>
            <a:ext cx="7392799" cy="56019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48889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739" name="Text Box 43"/>
          <p:cNvSpPr txBox="1">
            <a:spLocks noChangeArrowheads="1"/>
          </p:cNvSpPr>
          <p:nvPr/>
        </p:nvSpPr>
        <p:spPr bwMode="auto">
          <a:xfrm>
            <a:off x="791580" y="332656"/>
            <a:ext cx="8028892" cy="5686172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/>
            </a:pPr>
            <a:r>
              <a:rPr kumimoji="1" lang="ru-RU" sz="28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По типу хранимых данных ИС делятся на </a:t>
            </a:r>
            <a:r>
              <a:rPr lang="ru-RU" sz="2800" dirty="0">
                <a:solidFill>
                  <a:srgbClr val="99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фактографические и документальные. </a:t>
            </a:r>
          </a:p>
          <a:p>
            <a:pPr>
              <a:spcBef>
                <a:spcPts val="300"/>
              </a:spcBef>
              <a:defRPr/>
            </a:pPr>
            <a:endParaRPr lang="ru-RU" sz="2800" dirty="0">
              <a:solidFill>
                <a:srgbClr val="990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charset="0"/>
            </a:endParaRPr>
          </a:p>
          <a:p>
            <a:pPr>
              <a:spcBef>
                <a:spcPts val="300"/>
              </a:spcBef>
              <a:defRPr/>
            </a:pPr>
            <a:r>
              <a:rPr lang="ru-RU" sz="2800" dirty="0">
                <a:solidFill>
                  <a:srgbClr val="99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Фактографические системы </a:t>
            </a:r>
            <a:r>
              <a:rPr lang="ru-RU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</a:rPr>
              <a:t>предназначены для хранения и обработки структурированных данных в виде чисел и текстов. Над такими данными можно выполнять различные операции. </a:t>
            </a:r>
          </a:p>
          <a:p>
            <a:pPr>
              <a:spcBef>
                <a:spcPts val="300"/>
              </a:spcBef>
              <a:defRPr/>
            </a:pPr>
            <a:r>
              <a:rPr lang="ru-RU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</a:rPr>
              <a:t>В </a:t>
            </a:r>
            <a:r>
              <a:rPr lang="ru-RU" sz="2800" dirty="0">
                <a:solidFill>
                  <a:srgbClr val="99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документальных системах </a:t>
            </a:r>
            <a:r>
              <a:rPr lang="ru-RU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</a:rPr>
              <a:t>информация представлена в виде документов. Поиск по неструктурированным данным осуществляется с использованием семантических признаков. Отобранные документы предоставляются пользователю, а обработка данных в таких системах практически не производится.</a:t>
            </a:r>
          </a:p>
        </p:txBody>
      </p:sp>
    </p:spTree>
    <p:extLst>
      <p:ext uri="{BB962C8B-B14F-4D97-AF65-F5344CB8AC3E}">
        <p14:creationId xmlns:p14="http://schemas.microsoft.com/office/powerpoint/2010/main" val="32029111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739" name="Text Box 43"/>
          <p:cNvSpPr txBox="1">
            <a:spLocks noChangeArrowheads="1"/>
          </p:cNvSpPr>
          <p:nvPr/>
        </p:nvSpPr>
        <p:spPr bwMode="auto">
          <a:xfrm>
            <a:off x="211277" y="21509"/>
            <a:ext cx="8928992" cy="6794168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kumimoji="1" lang="ru-RU" sz="28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По степени автоматизации информационных процессов ИС подразделяются на: </a:t>
            </a:r>
          </a:p>
          <a:p>
            <a:pPr>
              <a:spcBef>
                <a:spcPts val="300"/>
              </a:spcBef>
              <a:defRPr/>
            </a:pPr>
            <a:r>
              <a:rPr lang="ru-RU" sz="2800" dirty="0">
                <a:solidFill>
                  <a:srgbClr val="99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Ручные информационные системы</a:t>
            </a:r>
            <a:r>
              <a:rPr lang="ru-RU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</a:rPr>
              <a:t>, которые характеризуются отсутствием современных технических средств обработки информации и выполнением всех операций человеком по заранее разработанным методикам.</a:t>
            </a:r>
          </a:p>
          <a:p>
            <a:pPr>
              <a:spcBef>
                <a:spcPts val="300"/>
              </a:spcBef>
              <a:defRPr/>
            </a:pPr>
            <a:r>
              <a:rPr lang="ru-RU" sz="2800" spc="-150" dirty="0">
                <a:solidFill>
                  <a:srgbClr val="99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Автоматизированные информационные системы </a:t>
            </a:r>
            <a:r>
              <a:rPr lang="ru-RU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</a:rPr>
              <a:t>— </a:t>
            </a:r>
            <a:r>
              <a:rPr lang="ru-RU" spc="-3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</a:rPr>
              <a:t>человеко-машинные системы, обеспечивающие автоматизированный сбор, обработку и передачу информации, необходимой для принятия управленческих решений в организациях различного типа.</a:t>
            </a:r>
          </a:p>
          <a:p>
            <a:pPr>
              <a:spcBef>
                <a:spcPts val="300"/>
              </a:spcBef>
              <a:defRPr/>
            </a:pPr>
            <a:r>
              <a:rPr lang="ru-RU" sz="2800" dirty="0">
                <a:solidFill>
                  <a:srgbClr val="99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Автоматические информационные системы </a:t>
            </a:r>
            <a:r>
              <a:rPr lang="ru-RU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</a:rPr>
              <a:t>характеризуются выполнением всех операций по обработке информации автоматически, без участия человека, но оставляют за человеком контрольные функции.</a:t>
            </a:r>
          </a:p>
        </p:txBody>
      </p:sp>
    </p:spTree>
    <p:extLst>
      <p:ext uri="{BB962C8B-B14F-4D97-AF65-F5344CB8AC3E}">
        <p14:creationId xmlns:p14="http://schemas.microsoft.com/office/powerpoint/2010/main" val="19952947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739" name="Text Box 43"/>
          <p:cNvSpPr txBox="1">
            <a:spLocks noChangeArrowheads="1"/>
          </p:cNvSpPr>
          <p:nvPr/>
        </p:nvSpPr>
        <p:spPr bwMode="auto">
          <a:xfrm>
            <a:off x="107504" y="88885"/>
            <a:ext cx="9036496" cy="6804235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89000"/>
              </a:lnSpc>
              <a:spcBef>
                <a:spcPts val="300"/>
              </a:spcBef>
            </a:pPr>
            <a:r>
              <a:rPr kumimoji="1" lang="ru-RU" sz="2800" spc="-5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Классификация ИС по сфере </a:t>
            </a:r>
            <a:r>
              <a:rPr kumimoji="1" lang="ru-RU" sz="2800" spc="-5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применения</a:t>
            </a:r>
            <a:endParaRPr kumimoji="1" lang="ru-RU" sz="2800" spc="-50" dirty="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Comic Sans MS" pitchFamily="66" charset="0"/>
            </a:endParaRPr>
          </a:p>
          <a:p>
            <a:pPr>
              <a:lnSpc>
                <a:spcPct val="89000"/>
              </a:lnSpc>
              <a:spcBef>
                <a:spcPts val="600"/>
              </a:spcBef>
            </a:pPr>
            <a:r>
              <a:rPr lang="ru-RU" sz="2800" spc="-50" dirty="0">
                <a:solidFill>
                  <a:srgbClr val="99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Информационные  системы  организационного управления</a:t>
            </a:r>
            <a:r>
              <a:rPr lang="ru-RU" sz="2800" spc="-5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 предназначены для автоматизации функций управленческого персонала. </a:t>
            </a:r>
          </a:p>
          <a:p>
            <a:pPr>
              <a:lnSpc>
                <a:spcPct val="89000"/>
              </a:lnSpc>
              <a:spcBef>
                <a:spcPts val="300"/>
              </a:spcBef>
            </a:pPr>
            <a:r>
              <a:rPr lang="ru-RU" sz="2800" spc="-50" dirty="0">
                <a:solidFill>
                  <a:srgbClr val="99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ИС управления технологическими процессами</a:t>
            </a:r>
            <a:r>
              <a:rPr lang="ru-RU" sz="2800" spc="-5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 </a:t>
            </a:r>
            <a:r>
              <a:rPr lang="ru-RU" sz="2800" spc="-5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служат </a:t>
            </a:r>
            <a:r>
              <a:rPr lang="ru-RU" sz="2800" spc="-5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для автоматизации функций производственного персонала по контролю и управлению производственными операциями.</a:t>
            </a:r>
          </a:p>
          <a:p>
            <a:pPr>
              <a:lnSpc>
                <a:spcPct val="89000"/>
              </a:lnSpc>
              <a:spcBef>
                <a:spcPts val="300"/>
              </a:spcBef>
            </a:pPr>
            <a:r>
              <a:rPr lang="ru-RU" sz="2800" spc="-50" dirty="0">
                <a:solidFill>
                  <a:srgbClr val="99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ИС автоматизированного проектирования (САПР)</a:t>
            </a:r>
            <a:r>
              <a:rPr lang="ru-RU" sz="2800" spc="-5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 предназначены для автоматизации функций инженеров-проектировщиков, конструкторов, архитекторов, дизайнеров при создании новой техники или технологии.</a:t>
            </a:r>
          </a:p>
          <a:p>
            <a:pPr>
              <a:lnSpc>
                <a:spcPct val="89000"/>
              </a:lnSpc>
              <a:spcBef>
                <a:spcPts val="300"/>
              </a:spcBef>
            </a:pPr>
            <a:r>
              <a:rPr lang="ru-RU" sz="2800" spc="-50" dirty="0">
                <a:solidFill>
                  <a:srgbClr val="99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Интегрированные (</a:t>
            </a:r>
            <a:r>
              <a:rPr lang="ru-RU" sz="2800" spc="-50" dirty="0" smtClean="0">
                <a:solidFill>
                  <a:srgbClr val="99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корпоративные) ИС</a:t>
            </a:r>
            <a:r>
              <a:rPr lang="ru-RU" sz="2800" spc="-5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 </a:t>
            </a:r>
            <a:r>
              <a:rPr lang="ru-RU" sz="2800" spc="-5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используются для автоматизации всех функций организации и охватывают весь цикл работ от планирования деятельности  до сбыта продукции. </a:t>
            </a:r>
          </a:p>
        </p:txBody>
      </p:sp>
    </p:spTree>
    <p:extLst>
      <p:ext uri="{BB962C8B-B14F-4D97-AF65-F5344CB8AC3E}">
        <p14:creationId xmlns:p14="http://schemas.microsoft.com/office/powerpoint/2010/main" val="38284064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739" name="Text Box 43"/>
          <p:cNvSpPr txBox="1">
            <a:spLocks noChangeArrowheads="1"/>
          </p:cNvSpPr>
          <p:nvPr/>
        </p:nvSpPr>
        <p:spPr bwMode="auto">
          <a:xfrm>
            <a:off x="323528" y="-13853"/>
            <a:ext cx="9036496" cy="421013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89000"/>
              </a:lnSpc>
              <a:spcBef>
                <a:spcPts val="300"/>
              </a:spcBef>
            </a:pPr>
            <a:r>
              <a:rPr kumimoji="1" lang="ru-RU" spc="-5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Функциональное назначение модулей корпоративной ИС</a:t>
            </a:r>
          </a:p>
        </p:txBody>
      </p:sp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3529069"/>
              </p:ext>
            </p:extLst>
          </p:nvPr>
        </p:nvGraphicFramePr>
        <p:xfrm>
          <a:off x="107504" y="475836"/>
          <a:ext cx="9001000" cy="636414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81461"/>
                <a:gridCol w="1890947"/>
                <a:gridCol w="1908212"/>
                <a:gridCol w="1728192"/>
                <a:gridCol w="1692188"/>
              </a:tblGrid>
              <a:tr h="83088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kumimoji="1" lang="ru-RU" sz="1600" b="1" kern="1200" spc="-50" dirty="0"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  <a:ea typeface="+mn-ea"/>
                          <a:cs typeface="+mn-cs"/>
                        </a:rPr>
                        <a:t>Подсистема маркетинга</a:t>
                      </a:r>
                    </a:p>
                  </a:txBody>
                  <a:tcPr marL="18841" marR="18841" marT="18841" marB="18841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kumimoji="1" lang="ru-RU" sz="1600" b="1" kern="1200" spc="-50" dirty="0"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  <a:ea typeface="+mn-ea"/>
                          <a:cs typeface="+mn-cs"/>
                        </a:rPr>
                        <a:t>Производственные подсистемы</a:t>
                      </a:r>
                    </a:p>
                  </a:txBody>
                  <a:tcPr marL="18841" marR="18841" marT="18841" marB="18841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7620" algn="ctr">
                        <a:spcAft>
                          <a:spcPts val="0"/>
                        </a:spcAft>
                      </a:pPr>
                      <a:r>
                        <a:rPr kumimoji="1" lang="ru-RU" sz="1600" b="1" kern="1200" spc="-50" dirty="0"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  <a:ea typeface="+mn-ea"/>
                          <a:cs typeface="+mn-cs"/>
                        </a:rPr>
                        <a:t>Финансовые и учетные подсистемы</a:t>
                      </a:r>
                    </a:p>
                  </a:txBody>
                  <a:tcPr marL="18841" marR="18841" marT="18841" marB="18841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9525" algn="ctr">
                        <a:spcAft>
                          <a:spcPts val="0"/>
                        </a:spcAft>
                      </a:pPr>
                      <a:r>
                        <a:rPr kumimoji="1" lang="ru-RU" sz="1600" b="1" kern="1200" spc="-50" dirty="0"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  <a:ea typeface="+mn-ea"/>
                          <a:cs typeface="+mn-cs"/>
                        </a:rPr>
                        <a:t>Подсистема кадров (человеческих ресурсов)</a:t>
                      </a:r>
                    </a:p>
                  </a:txBody>
                  <a:tcPr marL="18841" marR="18841" marT="18841" marB="18841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11430" algn="ctr">
                        <a:spcAft>
                          <a:spcPts val="0"/>
                        </a:spcAft>
                      </a:pPr>
                      <a:r>
                        <a:rPr kumimoji="1" lang="ru-RU" sz="1600" b="1" kern="1200" spc="-50" dirty="0"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  <a:ea typeface="+mn-ea"/>
                          <a:cs typeface="+mn-cs"/>
                        </a:rPr>
                        <a:t>Прочие подсистемы (например, ИС руководства)</a:t>
                      </a:r>
                    </a:p>
                  </a:txBody>
                  <a:tcPr marL="18841" marR="18841" marT="18841" marB="18841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103087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kumimoji="1" lang="ru-RU" sz="1600" b="1" kern="1200" spc="-50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  <a:ea typeface="+mn-ea"/>
                          <a:cs typeface="+mn-cs"/>
                        </a:rPr>
                        <a:t>Исследование рынка и прогнозирование продаж</a:t>
                      </a:r>
                    </a:p>
                  </a:txBody>
                  <a:tcPr marL="18841" marR="18841" marT="18841" marB="1884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kumimoji="1" lang="ru-RU" sz="1600" b="1" kern="1200" spc="-50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  <a:ea typeface="+mn-ea"/>
                          <a:cs typeface="+mn-cs"/>
                        </a:rPr>
                        <a:t>Планирование объемов работ и разработка календарных планов</a:t>
                      </a:r>
                    </a:p>
                  </a:txBody>
                  <a:tcPr marL="18841" marR="18841" marT="18841" marB="1884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7620" algn="ctr">
                        <a:spcAft>
                          <a:spcPts val="0"/>
                        </a:spcAft>
                      </a:pPr>
                      <a:r>
                        <a:rPr kumimoji="1" lang="ru-RU" sz="1600" b="1" kern="1200" spc="-50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  <a:ea typeface="+mn-ea"/>
                          <a:cs typeface="+mn-cs"/>
                        </a:rPr>
                        <a:t>Управление портфелем заказов</a:t>
                      </a:r>
                    </a:p>
                  </a:txBody>
                  <a:tcPr marL="18841" marR="18841" marT="18841" marB="1884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9525" algn="ctr">
                        <a:spcAft>
                          <a:spcPts val="0"/>
                        </a:spcAft>
                      </a:pPr>
                      <a:r>
                        <a:rPr kumimoji="1" lang="ru-RU" sz="1600" b="1" kern="1200" spc="-50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  <a:ea typeface="+mn-ea"/>
                          <a:cs typeface="+mn-cs"/>
                        </a:rPr>
                        <a:t>Анализ и прогнозирование потребности в трудовых ресурсах</a:t>
                      </a:r>
                    </a:p>
                  </a:txBody>
                  <a:tcPr marL="18841" marR="18841" marT="18841" marB="1884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1430" algn="ctr">
                        <a:spcAft>
                          <a:spcPts val="0"/>
                        </a:spcAft>
                      </a:pPr>
                      <a:r>
                        <a:rPr kumimoji="1" lang="ru-RU" sz="1600" b="1" kern="1200" spc="-5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  <a:ea typeface="+mn-ea"/>
                          <a:cs typeface="+mn-cs"/>
                        </a:rPr>
                        <a:t>Контроль за деятельностью фирмы</a:t>
                      </a:r>
                    </a:p>
                  </a:txBody>
                  <a:tcPr marL="18841" marR="18841" marT="18841" marB="1884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3088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kumimoji="1" lang="ru-RU" sz="1600" b="1" kern="1200" spc="-5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  <a:ea typeface="+mn-ea"/>
                          <a:cs typeface="+mn-cs"/>
                        </a:rPr>
                        <a:t>Управление продажами</a:t>
                      </a:r>
                    </a:p>
                  </a:txBody>
                  <a:tcPr marL="18841" marR="18841" marT="18841" marB="1884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kumimoji="1" lang="ru-RU" sz="1600" b="1" kern="1200" spc="-5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  <a:ea typeface="+mn-ea"/>
                          <a:cs typeface="+mn-cs"/>
                        </a:rPr>
                        <a:t>Оперативный контроль и управление производством</a:t>
                      </a:r>
                    </a:p>
                  </a:txBody>
                  <a:tcPr marL="18841" marR="18841" marT="18841" marB="1884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7620" algn="ctr">
                        <a:spcAft>
                          <a:spcPts val="0"/>
                        </a:spcAft>
                      </a:pPr>
                      <a:r>
                        <a:rPr kumimoji="1" lang="ru-RU" sz="1600" b="1" kern="1200" spc="-5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  <a:ea typeface="+mn-ea"/>
                          <a:cs typeface="+mn-cs"/>
                        </a:rPr>
                        <a:t>Управление кредитной политикой</a:t>
                      </a:r>
                    </a:p>
                  </a:txBody>
                  <a:tcPr marL="18841" marR="18841" marT="18841" marB="1884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9525" algn="ctr">
                        <a:spcAft>
                          <a:spcPts val="0"/>
                        </a:spcAft>
                      </a:pPr>
                      <a:r>
                        <a:rPr kumimoji="1" lang="ru-RU" sz="1600" b="1" kern="1200" spc="-50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  <a:ea typeface="+mn-ea"/>
                          <a:cs typeface="+mn-cs"/>
                        </a:rPr>
                        <a:t>Ведение архивов записей о персонале</a:t>
                      </a:r>
                    </a:p>
                  </a:txBody>
                  <a:tcPr marL="18841" marR="18841" marT="18841" marB="1884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1430" algn="ctr">
                        <a:spcAft>
                          <a:spcPts val="0"/>
                        </a:spcAft>
                      </a:pPr>
                      <a:r>
                        <a:rPr kumimoji="1" lang="ru-RU" sz="1600" b="1" kern="1200" spc="-50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  <a:ea typeface="+mn-ea"/>
                          <a:cs typeface="+mn-cs"/>
                        </a:rPr>
                        <a:t>Выявление оперативных проблем</a:t>
                      </a:r>
                    </a:p>
                  </a:txBody>
                  <a:tcPr marL="18841" marR="18841" marT="18841" marB="1884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3087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kumimoji="1" lang="ru-RU" sz="1600" b="1" kern="1200" spc="-5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  <a:ea typeface="+mn-ea"/>
                          <a:cs typeface="+mn-cs"/>
                        </a:rPr>
                        <a:t>Рекомендации по производству новой продукции</a:t>
                      </a:r>
                    </a:p>
                  </a:txBody>
                  <a:tcPr marL="18841" marR="18841" marT="18841" marB="1884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kumimoji="1" lang="ru-RU" sz="1600" b="1" kern="1200" spc="-5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  <a:ea typeface="+mn-ea"/>
                          <a:cs typeface="+mn-cs"/>
                        </a:rPr>
                        <a:t>Анализ работы оборудования</a:t>
                      </a:r>
                    </a:p>
                  </a:txBody>
                  <a:tcPr marL="18841" marR="18841" marT="18841" marB="1884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7620" algn="ctr">
                        <a:spcAft>
                          <a:spcPts val="0"/>
                        </a:spcAft>
                      </a:pPr>
                      <a:r>
                        <a:rPr kumimoji="1" lang="ru-RU" sz="1600" b="1" kern="1200" spc="-5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  <a:ea typeface="+mn-ea"/>
                          <a:cs typeface="+mn-cs"/>
                        </a:rPr>
                        <a:t>Разработка финансового плана</a:t>
                      </a:r>
                    </a:p>
                  </a:txBody>
                  <a:tcPr marL="18841" marR="18841" marT="18841" marB="1884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9525" algn="ctr">
                        <a:spcAft>
                          <a:spcPts val="0"/>
                        </a:spcAft>
                      </a:pPr>
                      <a:r>
                        <a:rPr kumimoji="1" lang="ru-RU" sz="1600" b="1" kern="1200" spc="-50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  <a:ea typeface="+mn-ea"/>
                          <a:cs typeface="+mn-cs"/>
                        </a:rPr>
                        <a:t>Анализ и планирование подготовки кадров</a:t>
                      </a:r>
                    </a:p>
                  </a:txBody>
                  <a:tcPr marL="18841" marR="18841" marT="18841" marB="1884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1430" algn="ctr">
                        <a:spcAft>
                          <a:spcPts val="0"/>
                        </a:spcAft>
                      </a:pPr>
                      <a:r>
                        <a:rPr kumimoji="1" lang="ru-RU" sz="1600" b="1" kern="1200" spc="-50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  <a:ea typeface="+mn-ea"/>
                          <a:cs typeface="+mn-cs"/>
                        </a:rPr>
                        <a:t>Анализ управленческих и стратегических ситуаций</a:t>
                      </a:r>
                    </a:p>
                  </a:txBody>
                  <a:tcPr marL="18841" marR="18841" marT="18841" marB="1884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3087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kumimoji="1" lang="ru-RU" sz="1600" b="1" kern="1200" spc="-5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  <a:ea typeface="+mn-ea"/>
                          <a:cs typeface="+mn-cs"/>
                        </a:rPr>
                        <a:t>Анализ и установление цены</a:t>
                      </a:r>
                    </a:p>
                  </a:txBody>
                  <a:tcPr marL="18841" marR="18841" marT="18841" marB="1884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kumimoji="1" lang="ru-RU" sz="1600" b="1" kern="1200" spc="-5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  <a:ea typeface="+mn-ea"/>
                          <a:cs typeface="+mn-cs"/>
                        </a:rPr>
                        <a:t>Участие в формировании заказов поставщикам</a:t>
                      </a:r>
                    </a:p>
                  </a:txBody>
                  <a:tcPr marL="18841" marR="18841" marT="18841" marB="1884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7620" algn="ctr">
                        <a:spcAft>
                          <a:spcPts val="0"/>
                        </a:spcAft>
                      </a:pPr>
                      <a:r>
                        <a:rPr kumimoji="1" lang="ru-RU" sz="1600" b="1" kern="1200" spc="-5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  <a:ea typeface="+mn-ea"/>
                          <a:cs typeface="+mn-cs"/>
                        </a:rPr>
                        <a:t>Финансовый анализ и прогнозирование</a:t>
                      </a:r>
                    </a:p>
                  </a:txBody>
                  <a:tcPr marL="18841" marR="18841" marT="18841" marB="1884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450215" algn="ctr">
                        <a:spcAft>
                          <a:spcPts val="0"/>
                        </a:spcAft>
                      </a:pPr>
                      <a:r>
                        <a:rPr kumimoji="1" lang="ru-RU" sz="1600" b="1" kern="1200" spc="-50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marL="18841" marR="18841" marT="18841" marB="1884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1430" algn="ctr">
                        <a:spcAft>
                          <a:spcPts val="0"/>
                        </a:spcAft>
                      </a:pPr>
                      <a:r>
                        <a:rPr kumimoji="1" lang="ru-RU" sz="1600" b="1" kern="1200" spc="-50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  <a:ea typeface="+mn-ea"/>
                          <a:cs typeface="+mn-cs"/>
                        </a:rPr>
                        <a:t>Обеспечение процесса выработки стратегических решений</a:t>
                      </a:r>
                    </a:p>
                  </a:txBody>
                  <a:tcPr marL="18841" marR="18841" marT="18841" marB="1884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341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kumimoji="1" lang="ru-RU" sz="1600" b="1" kern="1200" spc="-5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  <a:ea typeface="+mn-ea"/>
                          <a:cs typeface="+mn-cs"/>
                        </a:rPr>
                        <a:t>Учет заказов</a:t>
                      </a:r>
                    </a:p>
                  </a:txBody>
                  <a:tcPr marL="18841" marR="18841" marT="18841" marB="1884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kumimoji="1" lang="ru-RU" sz="1600" b="1" kern="1200" spc="-5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  <a:ea typeface="+mn-ea"/>
                          <a:cs typeface="+mn-cs"/>
                        </a:rPr>
                        <a:t>Управление запасами</a:t>
                      </a:r>
                    </a:p>
                  </a:txBody>
                  <a:tcPr marL="18841" marR="18841" marT="18841" marB="1884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7620" algn="ctr">
                        <a:spcAft>
                          <a:spcPts val="0"/>
                        </a:spcAft>
                      </a:pPr>
                      <a:r>
                        <a:rPr kumimoji="1" lang="ru-RU" sz="1600" b="1" kern="1200" spc="-5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  <a:ea typeface="+mn-ea"/>
                          <a:cs typeface="+mn-cs"/>
                        </a:rPr>
                        <a:t>Контроль бюджета, бухгалтерский учет и расчет зарплаты</a:t>
                      </a:r>
                    </a:p>
                  </a:txBody>
                  <a:tcPr marL="18841" marR="18841" marT="18841" marB="1884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450215" algn="ctr">
                        <a:spcAft>
                          <a:spcPts val="0"/>
                        </a:spcAft>
                      </a:pPr>
                      <a:r>
                        <a:rPr kumimoji="1" lang="ru-RU" sz="1600" b="1" kern="1200" spc="-5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marL="18841" marR="18841" marT="18841" marB="1884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450215" algn="ctr">
                        <a:spcAft>
                          <a:spcPts val="0"/>
                        </a:spcAft>
                      </a:pPr>
                      <a:r>
                        <a:rPr kumimoji="1" lang="ru-RU" sz="1600" b="1" kern="1200" spc="-50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marL="18841" marR="18841" marT="18841" marB="1884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807265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739" name="Text Box 43"/>
          <p:cNvSpPr txBox="1">
            <a:spLocks noChangeArrowheads="1"/>
          </p:cNvSpPr>
          <p:nvPr/>
        </p:nvSpPr>
        <p:spPr bwMode="auto">
          <a:xfrm>
            <a:off x="827584" y="80628"/>
            <a:ext cx="9036496" cy="421013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89000"/>
              </a:lnSpc>
              <a:spcBef>
                <a:spcPts val="300"/>
              </a:spcBef>
            </a:pPr>
            <a:r>
              <a:rPr kumimoji="1" lang="ru-RU" spc="-5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Классификация рынка информационных систем</a:t>
            </a: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7412246"/>
              </p:ext>
            </p:extLst>
          </p:nvPr>
        </p:nvGraphicFramePr>
        <p:xfrm>
          <a:off x="83709" y="584684"/>
          <a:ext cx="9000999" cy="58686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59999"/>
                <a:gridCol w="2660964"/>
                <a:gridCol w="2307588"/>
                <a:gridCol w="2172448"/>
              </a:tblGrid>
              <a:tr h="106553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kumimoji="1" lang="ru-RU" sz="2000" b="1" kern="1200" spc="-50" dirty="0"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  <a:ea typeface="+mn-ea"/>
                          <a:cs typeface="+mn-cs"/>
                        </a:rPr>
                        <a:t>Локальные системы</a:t>
                      </a:r>
                    </a:p>
                  </a:txBody>
                  <a:tcPr marL="19050" marR="19050" marT="19050" marB="190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66040" algn="ctr">
                        <a:spcAft>
                          <a:spcPts val="0"/>
                        </a:spcAft>
                      </a:pPr>
                      <a:r>
                        <a:rPr kumimoji="1" lang="ru-RU" sz="2000" b="1" kern="1200" spc="-50" dirty="0"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  <a:ea typeface="+mn-ea"/>
                          <a:cs typeface="+mn-cs"/>
                        </a:rPr>
                        <a:t>Малые интегрированные системы</a:t>
                      </a:r>
                    </a:p>
                  </a:txBody>
                  <a:tcPr marL="19050" marR="19050" marT="19050" marB="190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13970" algn="ctr">
                        <a:spcAft>
                          <a:spcPts val="0"/>
                        </a:spcAft>
                      </a:pPr>
                      <a:r>
                        <a:rPr kumimoji="1" lang="ru-RU" sz="2000" b="1" kern="1200" spc="-50" dirty="0"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  <a:ea typeface="+mn-ea"/>
                          <a:cs typeface="+mn-cs"/>
                        </a:rPr>
                        <a:t>Средние интегрированные системы</a:t>
                      </a:r>
                    </a:p>
                  </a:txBody>
                  <a:tcPr marL="19050" marR="19050" marT="19050" marB="190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kumimoji="1" lang="ru-RU" sz="2000" b="1" kern="1200" spc="-50" dirty="0"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  <a:ea typeface="+mn-ea"/>
                          <a:cs typeface="+mn-cs"/>
                        </a:rPr>
                        <a:t>Крупные интегрированные </a:t>
                      </a:r>
                      <a:r>
                        <a:rPr kumimoji="1" lang="ru-RU" sz="2000" b="1" kern="1200" spc="-50" dirty="0" smtClean="0"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  <a:ea typeface="+mn-ea"/>
                          <a:cs typeface="+mn-cs"/>
                        </a:rPr>
                        <a:t>системы</a:t>
                      </a:r>
                      <a:endParaRPr kumimoji="1" lang="ru-RU" sz="2000" b="1" kern="1200" spc="-50" dirty="0">
                        <a:solidFill>
                          <a:srgbClr val="C00000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mic Sans MS" pitchFamily="66" charset="0"/>
                        <a:ea typeface="+mn-ea"/>
                        <a:cs typeface="+mn-cs"/>
                      </a:endParaRPr>
                    </a:p>
                  </a:txBody>
                  <a:tcPr marL="19050" marR="19050" marT="19050" marB="190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10000"/>
                        <a:lumOff val="90000"/>
                      </a:schemeClr>
                    </a:solidFill>
                  </a:tcPr>
                </a:tc>
              </a:tr>
              <a:tr h="4803115">
                <a:tc>
                  <a:txBody>
                    <a:bodyPr/>
                    <a:lstStyle/>
                    <a:p>
                      <a:pPr marL="342900" lvl="0" indent="-342900">
                        <a:spcBef>
                          <a:spcPts val="50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Font typeface="Wingdings 2" panose="05020102010507070707" pitchFamily="18" charset="2"/>
                        <a:buChar char=""/>
                        <a:tabLst>
                          <a:tab pos="180340" algn="l"/>
                        </a:tabLst>
                      </a:pPr>
                      <a:r>
                        <a:rPr kumimoji="1" lang="ru-RU" sz="2000" b="1" kern="1200" spc="-50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БЭСТ </a:t>
                      </a:r>
                    </a:p>
                    <a:p>
                      <a:pPr marL="342900" lvl="0" indent="-342900">
                        <a:spcBef>
                          <a:spcPts val="50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Font typeface="Wingdings 2" panose="05020102010507070707" pitchFamily="18" charset="2"/>
                        <a:buChar char=""/>
                        <a:tabLst>
                          <a:tab pos="180340" algn="l"/>
                        </a:tabLst>
                      </a:pPr>
                      <a:r>
                        <a:rPr kumimoji="1" lang="ru-RU" sz="2000" b="1" kern="1200" spc="-50" dirty="0" err="1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Инотек</a:t>
                      </a:r>
                      <a:r>
                        <a:rPr kumimoji="1" lang="ru-RU" sz="2000" b="1" kern="1200" spc="-50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</a:p>
                    <a:p>
                      <a:pPr marL="342900" lvl="0" indent="-342900">
                        <a:spcBef>
                          <a:spcPts val="50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Font typeface="Wingdings 2" panose="05020102010507070707" pitchFamily="18" charset="2"/>
                        <a:buChar char=""/>
                        <a:tabLst>
                          <a:tab pos="180340" algn="l"/>
                        </a:tabLst>
                      </a:pPr>
                      <a:r>
                        <a:rPr kumimoji="1" lang="ru-RU" sz="2000" b="1" kern="1200" spc="-50" dirty="0" err="1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Инфософт</a:t>
                      </a:r>
                      <a:r>
                        <a:rPr kumimoji="1" lang="ru-RU" sz="2000" b="1" kern="1200" spc="-50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</a:p>
                    <a:p>
                      <a:pPr marL="342900" lvl="0" indent="-342900">
                        <a:spcBef>
                          <a:spcPts val="50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Font typeface="Wingdings 2" panose="05020102010507070707" pitchFamily="18" charset="2"/>
                        <a:buChar char=""/>
                        <a:tabLst>
                          <a:tab pos="180340" algn="l"/>
                        </a:tabLst>
                      </a:pPr>
                      <a:r>
                        <a:rPr kumimoji="1" lang="ru-RU" sz="2000" b="1" kern="1200" spc="-50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Супер-Менеджер </a:t>
                      </a:r>
                    </a:p>
                    <a:p>
                      <a:pPr marL="342900" lvl="0" indent="-342900">
                        <a:spcBef>
                          <a:spcPts val="50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Font typeface="Wingdings 2" panose="05020102010507070707" pitchFamily="18" charset="2"/>
                        <a:buChar char=""/>
                        <a:tabLst>
                          <a:tab pos="180340" algn="l"/>
                        </a:tabLst>
                      </a:pPr>
                      <a:r>
                        <a:rPr kumimoji="1" lang="ru-RU" sz="2000" b="1" kern="1200" spc="-50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Турбо-Бухгалтер </a:t>
                      </a:r>
                    </a:p>
                    <a:p>
                      <a:pPr marL="342900" lvl="0" indent="-342900">
                        <a:spcBef>
                          <a:spcPts val="50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Font typeface="Wingdings 2" panose="05020102010507070707" pitchFamily="18" charset="2"/>
                        <a:buChar char=""/>
                        <a:tabLst>
                          <a:tab pos="180340" algn="l"/>
                        </a:tabLst>
                      </a:pPr>
                      <a:r>
                        <a:rPr kumimoji="1" lang="ru-RU" sz="2000" b="1" kern="1200" spc="-50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Инфо-Бухгалтер</a:t>
                      </a:r>
                    </a:p>
                  </a:txBody>
                  <a:tcPr marL="19050" marR="19050" marT="19050" marB="1905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lvl="0" indent="-342900">
                        <a:spcBef>
                          <a:spcPts val="50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Font typeface="Wingdings 2" panose="05020102010507070707" pitchFamily="18" charset="2"/>
                        <a:buChar char=""/>
                        <a:tabLst>
                          <a:tab pos="180340" algn="l"/>
                        </a:tabLst>
                      </a:pPr>
                      <a:r>
                        <a:rPr kumimoji="1" lang="ru-RU" sz="2000" b="1" kern="1200" spc="-50" dirty="0" err="1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Concorde</a:t>
                      </a:r>
                      <a:r>
                        <a:rPr kumimoji="1" lang="ru-RU" sz="2000" b="1" kern="1200" spc="-50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XAL </a:t>
                      </a:r>
                      <a:r>
                        <a:rPr kumimoji="1" lang="ru-RU" sz="2000" b="1" kern="1200" spc="-50" dirty="0" err="1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Exact</a:t>
                      </a:r>
                      <a:r>
                        <a:rPr kumimoji="1" lang="ru-RU" sz="2000" b="1" kern="1200" spc="-50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</a:p>
                    <a:p>
                      <a:pPr marL="342900" lvl="0" indent="-342900">
                        <a:spcBef>
                          <a:spcPts val="50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Font typeface="Wingdings 2" panose="05020102010507070707" pitchFamily="18" charset="2"/>
                        <a:buChar char=""/>
                        <a:tabLst>
                          <a:tab pos="180340" algn="l"/>
                        </a:tabLst>
                      </a:pPr>
                      <a:r>
                        <a:rPr kumimoji="1" lang="ru-RU" sz="2000" b="1" kern="1200" spc="-50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NS-2000 </a:t>
                      </a:r>
                      <a:r>
                        <a:rPr kumimoji="1" lang="ru-RU" sz="2000" b="1" kern="1200" spc="-50" dirty="0" err="1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Platinum</a:t>
                      </a:r>
                      <a:r>
                        <a:rPr kumimoji="1" lang="ru-RU" sz="2000" b="1" kern="1200" spc="-50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PRO/MIS </a:t>
                      </a:r>
                    </a:p>
                    <a:p>
                      <a:pPr marL="342900" lvl="0" indent="-342900">
                        <a:spcBef>
                          <a:spcPts val="50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Font typeface="Wingdings 2" panose="05020102010507070707" pitchFamily="18" charset="2"/>
                        <a:buChar char=""/>
                        <a:tabLst>
                          <a:tab pos="180340" algn="l"/>
                        </a:tabLst>
                      </a:pPr>
                      <a:r>
                        <a:rPr kumimoji="1" lang="ru-RU" sz="2000" b="1" kern="1200" spc="-50" dirty="0" err="1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Scala</a:t>
                      </a:r>
                      <a:r>
                        <a:rPr kumimoji="1" lang="ru-RU" sz="2000" b="1" kern="1200" spc="-50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ru-RU" sz="2000" b="1" kern="1200" spc="-50" dirty="0" err="1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SunSystems</a:t>
                      </a:r>
                      <a:r>
                        <a:rPr kumimoji="1" lang="ru-RU" sz="2000" b="1" kern="1200" spc="-50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</a:p>
                    <a:p>
                      <a:pPr marL="342900" lvl="0" indent="-342900">
                        <a:spcBef>
                          <a:spcPts val="50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Font typeface="Wingdings 2" panose="05020102010507070707" pitchFamily="18" charset="2"/>
                        <a:buChar char=""/>
                        <a:tabLst>
                          <a:tab pos="180340" algn="l"/>
                        </a:tabLst>
                      </a:pPr>
                      <a:r>
                        <a:rPr kumimoji="1" lang="ru-RU" sz="2000" b="1" kern="1200" spc="-50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БЭСТ-ПРО </a:t>
                      </a:r>
                    </a:p>
                    <a:p>
                      <a:pPr marL="342900" lvl="0" indent="-342900">
                        <a:spcBef>
                          <a:spcPts val="50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Font typeface="Wingdings 2" panose="05020102010507070707" pitchFamily="18" charset="2"/>
                        <a:buChar char=""/>
                        <a:tabLst>
                          <a:tab pos="180340" algn="l"/>
                        </a:tabLst>
                      </a:pPr>
                      <a:r>
                        <a:rPr kumimoji="1" lang="ru-RU" sz="2000" b="1" kern="1200" spc="-50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1C-Предприятие </a:t>
                      </a:r>
                    </a:p>
                    <a:p>
                      <a:pPr marL="342900" lvl="0" indent="-342900">
                        <a:spcBef>
                          <a:spcPts val="50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Font typeface="Wingdings 2" panose="05020102010507070707" pitchFamily="18" charset="2"/>
                        <a:buChar char=""/>
                        <a:tabLst>
                          <a:tab pos="180340" algn="l"/>
                        </a:tabLst>
                      </a:pPr>
                      <a:r>
                        <a:rPr kumimoji="1" lang="ru-RU" sz="2000" b="1" kern="1200" spc="-50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БОСС-Корпорация </a:t>
                      </a:r>
                    </a:p>
                    <a:p>
                      <a:pPr marL="342900" lvl="0" indent="-342900">
                        <a:spcBef>
                          <a:spcPts val="50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Font typeface="Wingdings 2" panose="05020102010507070707" pitchFamily="18" charset="2"/>
                        <a:buChar char=""/>
                        <a:tabLst>
                          <a:tab pos="180340" algn="l"/>
                        </a:tabLst>
                      </a:pPr>
                      <a:r>
                        <a:rPr kumimoji="1" lang="ru-RU" sz="2000" b="1" kern="1200" spc="-50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Галактика </a:t>
                      </a:r>
                    </a:p>
                    <a:p>
                      <a:pPr marL="342900" lvl="0" indent="-342900">
                        <a:spcBef>
                          <a:spcPts val="50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Font typeface="Wingdings 2" panose="05020102010507070707" pitchFamily="18" charset="2"/>
                        <a:buChar char=""/>
                        <a:tabLst>
                          <a:tab pos="180340" algn="l"/>
                        </a:tabLst>
                      </a:pPr>
                      <a:r>
                        <a:rPr kumimoji="1" lang="ru-RU" sz="2000" b="1" kern="1200" spc="-50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Парус </a:t>
                      </a:r>
                    </a:p>
                    <a:p>
                      <a:pPr marL="342900" lvl="0" indent="-342900">
                        <a:spcBef>
                          <a:spcPts val="50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Font typeface="Wingdings 2" panose="05020102010507070707" pitchFamily="18" charset="2"/>
                        <a:buChar char=""/>
                        <a:tabLst>
                          <a:tab pos="180340" algn="l"/>
                        </a:tabLst>
                      </a:pPr>
                      <a:r>
                        <a:rPr kumimoji="1" lang="ru-RU" sz="2000" b="1" kern="1200" spc="-50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Ресурс </a:t>
                      </a:r>
                    </a:p>
                    <a:p>
                      <a:pPr marL="342900" lvl="0" indent="-342900">
                        <a:spcBef>
                          <a:spcPts val="50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Font typeface="Wingdings 2" panose="05020102010507070707" pitchFamily="18" charset="2"/>
                        <a:buChar char=""/>
                        <a:tabLst>
                          <a:tab pos="180340" algn="l"/>
                        </a:tabLst>
                      </a:pPr>
                      <a:r>
                        <a:rPr kumimoji="1" lang="ru-RU" sz="2000" b="1" kern="1200" spc="-50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Эталон</a:t>
                      </a:r>
                    </a:p>
                  </a:txBody>
                  <a:tcPr marL="19050" marR="19050" marT="19050" marB="1905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lvl="0" indent="-342900">
                        <a:spcBef>
                          <a:spcPts val="50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Font typeface="Wingdings 2" panose="05020102010507070707" pitchFamily="18" charset="2"/>
                        <a:buChar char=""/>
                        <a:tabLst>
                          <a:tab pos="180340" algn="l"/>
                        </a:tabLst>
                      </a:pPr>
                      <a:r>
                        <a:rPr kumimoji="1" lang="ru-RU" sz="2000" b="1" kern="1200" spc="-50" dirty="0" err="1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Microsoft-Business</a:t>
                      </a:r>
                      <a:r>
                        <a:rPr kumimoji="1" lang="ru-RU" sz="2000" b="1" kern="1200" spc="-50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ru-RU" sz="2000" b="1" kern="1200" spc="-50" dirty="0" err="1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Solutions</a:t>
                      </a:r>
                      <a:r>
                        <a:rPr kumimoji="1" lang="ru-RU" sz="2000" b="1" kern="1200" spc="-50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- </a:t>
                      </a:r>
                      <a:r>
                        <a:rPr kumimoji="1" lang="ru-RU" sz="2000" b="1" kern="1200" spc="-50" dirty="0" err="1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Navision</a:t>
                      </a:r>
                      <a:r>
                        <a:rPr kumimoji="1" lang="ru-RU" sz="2000" b="1" kern="1200" spc="-50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, </a:t>
                      </a:r>
                      <a:r>
                        <a:rPr kumimoji="1" lang="ru-RU" sz="2000" b="1" kern="1200" spc="-50" dirty="0" err="1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Axapta</a:t>
                      </a:r>
                      <a:r>
                        <a:rPr kumimoji="1" lang="ru-RU" sz="2000" b="1" kern="1200" spc="-50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</a:p>
                    <a:p>
                      <a:pPr marL="342900" lvl="0" indent="-342900">
                        <a:spcBef>
                          <a:spcPts val="50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Font typeface="Wingdings 2" panose="05020102010507070707" pitchFamily="18" charset="2"/>
                        <a:buChar char=""/>
                        <a:tabLst>
                          <a:tab pos="180340" algn="l"/>
                        </a:tabLst>
                      </a:pPr>
                      <a:r>
                        <a:rPr kumimoji="1" lang="en-US" sz="2000" b="1" kern="1200" spc="-50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J D Edwards (Robertson &amp; </a:t>
                      </a:r>
                      <a:r>
                        <a:rPr kumimoji="1" lang="en-US" sz="2000" b="1" kern="1200" spc="-50" dirty="0" err="1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Blums</a:t>
                      </a:r>
                      <a:r>
                        <a:rPr kumimoji="1" lang="en-US" sz="2000" b="1" kern="1200" spc="-50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) </a:t>
                      </a:r>
                      <a:endParaRPr kumimoji="1" lang="ru-RU" sz="2000" b="1" kern="1200" spc="-50" dirty="0"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342900" lvl="0" indent="-342900">
                        <a:spcBef>
                          <a:spcPts val="50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Font typeface="Wingdings 2" panose="05020102010507070707" pitchFamily="18" charset="2"/>
                        <a:buChar char=""/>
                        <a:tabLst>
                          <a:tab pos="180340" algn="l"/>
                        </a:tabLst>
                      </a:pPr>
                      <a:r>
                        <a:rPr kumimoji="1" lang="en-US" sz="2000" b="1" kern="1200" spc="-50" dirty="0" smtClean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QAD Enterprise Applications</a:t>
                      </a:r>
                      <a:r>
                        <a:rPr kumimoji="1" lang="ru-RU" sz="2000" b="1" kern="1200" spc="-50" dirty="0" smtClean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endParaRPr kumimoji="1" lang="ru-RU" sz="2000" b="1" kern="1200" spc="-50" dirty="0"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342900" lvl="0" indent="-342900">
                        <a:spcBef>
                          <a:spcPts val="50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Font typeface="Wingdings 2" panose="05020102010507070707" pitchFamily="18" charset="2"/>
                        <a:buChar char=""/>
                        <a:tabLst>
                          <a:tab pos="180340" algn="l"/>
                        </a:tabLst>
                      </a:pPr>
                      <a:r>
                        <a:rPr kumimoji="1" lang="ru-RU" sz="2000" b="1" kern="1200" spc="-50" dirty="0" err="1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SyteLine</a:t>
                      </a:r>
                      <a:r>
                        <a:rPr kumimoji="1" lang="ru-RU" sz="2000" b="1" kern="1200" spc="-50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(COKAП/SYMIX)</a:t>
                      </a:r>
                    </a:p>
                  </a:txBody>
                  <a:tcPr marL="19050" marR="19050" marT="19050" marB="1905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lvl="0" indent="-342900">
                        <a:spcBef>
                          <a:spcPts val="50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Font typeface="Wingdings 2" panose="05020102010507070707" pitchFamily="18" charset="2"/>
                        <a:buChar char=""/>
                        <a:tabLst>
                          <a:tab pos="180340" algn="l"/>
                        </a:tabLst>
                      </a:pPr>
                      <a:r>
                        <a:rPr kumimoji="1" lang="ru-RU" sz="2000" b="1" kern="1200" spc="-50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SAP/R3 (SAP AG) </a:t>
                      </a:r>
                    </a:p>
                    <a:p>
                      <a:pPr marL="342900" lvl="0" indent="-342900">
                        <a:spcBef>
                          <a:spcPts val="50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Font typeface="Wingdings 2" panose="05020102010507070707" pitchFamily="18" charset="2"/>
                        <a:buChar char=""/>
                        <a:tabLst>
                          <a:tab pos="180340" algn="l"/>
                        </a:tabLst>
                      </a:pPr>
                      <a:r>
                        <a:rPr kumimoji="1" lang="ru-RU" sz="2000" b="1" kern="1200" spc="-50" dirty="0" err="1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Baan</a:t>
                      </a:r>
                      <a:r>
                        <a:rPr kumimoji="1" lang="ru-RU" sz="2000" b="1" kern="1200" spc="-50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(</a:t>
                      </a:r>
                      <a:r>
                        <a:rPr kumimoji="1" lang="ru-RU" sz="2000" b="1" kern="1200" spc="-50" dirty="0" err="1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Baan</a:t>
                      </a:r>
                      <a:r>
                        <a:rPr kumimoji="1" lang="ru-RU" sz="2000" b="1" kern="1200" spc="-50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) </a:t>
                      </a:r>
                    </a:p>
                    <a:p>
                      <a:pPr marL="342900" lvl="0" indent="-342900">
                        <a:spcBef>
                          <a:spcPts val="50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Font typeface="Wingdings 2" panose="05020102010507070707" pitchFamily="18" charset="2"/>
                        <a:buChar char=""/>
                        <a:tabLst>
                          <a:tab pos="180340" algn="l"/>
                        </a:tabLst>
                      </a:pPr>
                      <a:r>
                        <a:rPr kumimoji="1" lang="ru-RU" sz="2000" b="1" kern="1200" spc="-50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BPCS (ITS/SSA) </a:t>
                      </a:r>
                    </a:p>
                    <a:p>
                      <a:pPr marL="342900" lvl="0" indent="-342900">
                        <a:spcBef>
                          <a:spcPts val="50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Font typeface="Wingdings 2" panose="05020102010507070707" pitchFamily="18" charset="2"/>
                        <a:buChar char=""/>
                        <a:tabLst>
                          <a:tab pos="180340" algn="l"/>
                        </a:tabLst>
                      </a:pPr>
                      <a:r>
                        <a:rPr kumimoji="1" lang="en-US" sz="2000" b="1" kern="1200" spc="-50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OEBS (Oracle E-Business Suite)</a:t>
                      </a:r>
                      <a:endParaRPr kumimoji="1" lang="ru-RU" sz="2000" b="1" kern="1200" spc="-50" dirty="0"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9050" marR="19050" marT="19050" marB="1905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432693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739" name="Text Box 43"/>
          <p:cNvSpPr txBox="1">
            <a:spLocks noChangeArrowheads="1"/>
          </p:cNvSpPr>
          <p:nvPr/>
        </p:nvSpPr>
        <p:spPr bwMode="auto">
          <a:xfrm>
            <a:off x="251520" y="15658"/>
            <a:ext cx="8806185" cy="7101944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/>
            </a:pPr>
            <a:r>
              <a:rPr kumimoji="1" lang="ru-RU" sz="28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В зависимости от характера обработки данных ИС делятся на информационно-поисковые и информационно-решающие.</a:t>
            </a:r>
          </a:p>
          <a:p>
            <a:pPr>
              <a:spcBef>
                <a:spcPts val="300"/>
              </a:spcBef>
              <a:defRPr/>
            </a:pPr>
            <a:endParaRPr lang="ru-RU" sz="1050" dirty="0">
              <a:solidFill>
                <a:srgbClr val="990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charset="0"/>
            </a:endParaRPr>
          </a:p>
          <a:p>
            <a:pPr>
              <a:spcBef>
                <a:spcPts val="300"/>
              </a:spcBef>
              <a:defRPr/>
            </a:pPr>
            <a:r>
              <a:rPr lang="ru-RU" sz="2800" dirty="0">
                <a:solidFill>
                  <a:srgbClr val="99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Информационно-поисковые системы </a:t>
            </a:r>
            <a:r>
              <a:rPr lang="ru-RU" sz="280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</a:rPr>
              <a:t>производят ввод, систематизацию, хранение, выдачу информации по запросу пользователя без сложных преобразований данных. </a:t>
            </a:r>
            <a:r>
              <a:rPr lang="ru-RU" sz="280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</a:rPr>
              <a:t>Например</a:t>
            </a:r>
            <a:r>
              <a:rPr lang="ru-RU" sz="280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</a:rPr>
              <a:t>, ИС библиотечного обслуживания, резервирования и продажи билетов на транспорте, бронирования мест в гостиницах и пр</a:t>
            </a:r>
            <a:r>
              <a:rPr lang="ru-RU" sz="280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</a:rPr>
              <a:t>.</a:t>
            </a:r>
            <a:endParaRPr lang="ru-RU" sz="2800" dirty="0">
              <a:solidFill>
                <a:srgbClr val="000000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Arial" charset="0"/>
            </a:endParaRPr>
          </a:p>
          <a:p>
            <a:pPr>
              <a:spcBef>
                <a:spcPts val="300"/>
              </a:spcBef>
              <a:defRPr/>
            </a:pPr>
            <a:r>
              <a:rPr lang="ru-RU" sz="2800" dirty="0">
                <a:solidFill>
                  <a:srgbClr val="99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Информационно-решающие системы </a:t>
            </a:r>
            <a:r>
              <a:rPr lang="ru-RU" sz="280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</a:rPr>
              <a:t>осуществляют, кроме того, операции переработки информации по определенному алгоритму. </a:t>
            </a:r>
          </a:p>
        </p:txBody>
      </p:sp>
    </p:spTree>
    <p:extLst>
      <p:ext uri="{BB962C8B-B14F-4D97-AF65-F5344CB8AC3E}">
        <p14:creationId xmlns:p14="http://schemas.microsoft.com/office/powerpoint/2010/main" val="41358204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739" name="Text Box 43"/>
          <p:cNvSpPr txBox="1">
            <a:spLocks noChangeArrowheads="1"/>
          </p:cNvSpPr>
          <p:nvPr/>
        </p:nvSpPr>
        <p:spPr bwMode="auto">
          <a:xfrm>
            <a:off x="287524" y="0"/>
            <a:ext cx="8856476" cy="6827838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kumimoji="1" lang="ru-RU" sz="28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Информационно-решающие системы, в свою очередь,  делятся на управляющие и советующие.</a:t>
            </a:r>
          </a:p>
          <a:p>
            <a:pPr>
              <a:lnSpc>
                <a:spcPct val="90000"/>
              </a:lnSpc>
              <a:spcBef>
                <a:spcPts val="300"/>
              </a:spcBef>
            </a:pPr>
            <a:r>
              <a:rPr lang="ru-RU" sz="2800" dirty="0">
                <a:solidFill>
                  <a:srgbClr val="99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Управляющие ИС</a:t>
            </a:r>
            <a:r>
              <a:rPr lang="ru-RU" sz="280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 вырабатывают информацию, на основании которой человек принимает решение. Для этих систем характерны тип задач расчетного характера и обработка больших объемов данных. Примером могут служить </a:t>
            </a:r>
            <a:r>
              <a:rPr lang="ru-RU" sz="2800" i="1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система оперативного планирования выпуска продукции, система бухгалтерского учета</a:t>
            </a:r>
            <a:r>
              <a:rPr lang="ru-RU" sz="280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.</a:t>
            </a:r>
          </a:p>
          <a:p>
            <a:pPr>
              <a:lnSpc>
                <a:spcPct val="90000"/>
              </a:lnSpc>
              <a:spcBef>
                <a:spcPts val="300"/>
              </a:spcBef>
            </a:pPr>
            <a:r>
              <a:rPr lang="ru-RU" sz="2800" dirty="0">
                <a:solidFill>
                  <a:srgbClr val="99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Советующие (экспертные)</a:t>
            </a:r>
            <a:r>
              <a:rPr lang="ru-RU" sz="280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 ИС вырабатывают информацию, которая принимается человеком к сведению и не превращается немедленно в серию конкретных действий. Эти системы обладают более высокой степенью интеллекта, так как для них характерна обработка знаний, а не данных. </a:t>
            </a:r>
          </a:p>
        </p:txBody>
      </p:sp>
    </p:spTree>
    <p:extLst>
      <p:ext uri="{BB962C8B-B14F-4D97-AF65-F5344CB8AC3E}">
        <p14:creationId xmlns:p14="http://schemas.microsoft.com/office/powerpoint/2010/main" val="30041621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739" name="Text Box 43"/>
          <p:cNvSpPr txBox="1">
            <a:spLocks noChangeArrowheads="1"/>
          </p:cNvSpPr>
          <p:nvPr/>
        </p:nvSpPr>
        <p:spPr bwMode="auto">
          <a:xfrm>
            <a:off x="503548" y="0"/>
            <a:ext cx="8640452" cy="1854354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lang="ru-RU" sz="28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Классификация ИС </a:t>
            </a:r>
            <a:r>
              <a:rPr lang="ru-RU" sz="28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систем </a:t>
            </a:r>
            <a:r>
              <a:rPr lang="ru-RU" sz="28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по функциональному признаку с учетом уровней </a:t>
            </a:r>
            <a:r>
              <a:rPr lang="ru-RU" sz="28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управления и </a:t>
            </a:r>
            <a:r>
              <a:rPr lang="ru-RU" sz="28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уровней квалификации </a:t>
            </a:r>
            <a:r>
              <a:rPr lang="ru-RU" sz="28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персонала</a:t>
            </a:r>
            <a:endParaRPr lang="ru-RU" sz="2800" dirty="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  <a:cs typeface="Arial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588" y="2096852"/>
            <a:ext cx="6591300" cy="3962400"/>
          </a:xfrm>
          <a:prstGeom prst="rect">
            <a:avLst/>
          </a:prstGeom>
          <a:noFill/>
          <a:ln w="9525">
            <a:solidFill>
              <a:srgbClr val="CC0066"/>
            </a:solidFill>
            <a:miter lim="800000"/>
            <a:headEnd/>
            <a:tailEnd/>
          </a:ln>
          <a:effectLst/>
          <a:scene3d>
            <a:camera prst="orthographicFront"/>
            <a:lightRig rig="threePt" dir="t"/>
          </a:scene3d>
          <a:sp3d>
            <a:bevelT prst="relaxedInset"/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885334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739" name="Text Box 43"/>
          <p:cNvSpPr txBox="1">
            <a:spLocks noChangeArrowheads="1"/>
          </p:cNvSpPr>
          <p:nvPr/>
        </p:nvSpPr>
        <p:spPr bwMode="auto">
          <a:xfrm>
            <a:off x="410968" y="404664"/>
            <a:ext cx="8028384" cy="6124754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ru-RU" sz="280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</a:rPr>
              <a:t>Информационная система </a:t>
            </a:r>
            <a:r>
              <a:rPr lang="ru-RU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Arial" charset="0"/>
              </a:rPr>
              <a:t>операционного уровня </a:t>
            </a:r>
            <a:r>
              <a:rPr lang="ru-RU" sz="280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</a:rPr>
              <a:t>поддерживает </a:t>
            </a:r>
            <a:r>
              <a:rPr lang="ru-RU" sz="280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</a:rPr>
              <a:t>специалистов-исполнителей. Задачи</a:t>
            </a:r>
            <a:r>
              <a:rPr lang="ru-RU" sz="280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</a:rPr>
              <a:t>, цели и источники информации на операционном уровне заранее </a:t>
            </a:r>
            <a:r>
              <a:rPr lang="ru-RU" sz="280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</a:rPr>
              <a:t>определены и </a:t>
            </a:r>
            <a:r>
              <a:rPr lang="ru-RU" sz="280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</a:rPr>
              <a:t>в высокой степени структурированы. Решение запрограммировано в </a:t>
            </a:r>
            <a:r>
              <a:rPr lang="ru-RU" sz="280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</a:rPr>
              <a:t>соответствии с </a:t>
            </a:r>
            <a:r>
              <a:rPr lang="ru-RU" sz="280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</a:rPr>
              <a:t>заданным алгоритмом.</a:t>
            </a:r>
          </a:p>
          <a:p>
            <a:r>
              <a:rPr lang="ru-RU" sz="280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</a:rPr>
              <a:t>Информационная система операционного уровня является связующим </a:t>
            </a:r>
            <a:r>
              <a:rPr lang="ru-RU" sz="280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</a:rPr>
              <a:t>звеном между организацией </a:t>
            </a:r>
            <a:r>
              <a:rPr lang="ru-RU" sz="280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</a:rPr>
              <a:t>и внешней средой. Если система работает плохо, то организация </a:t>
            </a:r>
            <a:r>
              <a:rPr lang="ru-RU" sz="280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</a:rPr>
              <a:t>либо не </a:t>
            </a:r>
            <a:r>
              <a:rPr lang="ru-RU" sz="280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</a:rPr>
              <a:t>получает информации извне, либо не выдает информацию.</a:t>
            </a:r>
          </a:p>
        </p:txBody>
      </p:sp>
    </p:spTree>
    <p:extLst>
      <p:ext uri="{BB962C8B-B14F-4D97-AF65-F5344CB8AC3E}">
        <p14:creationId xmlns:p14="http://schemas.microsoft.com/office/powerpoint/2010/main" val="19232333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739" name="Text Box 43"/>
          <p:cNvSpPr txBox="1">
            <a:spLocks noChangeArrowheads="1"/>
          </p:cNvSpPr>
          <p:nvPr/>
        </p:nvSpPr>
        <p:spPr bwMode="auto">
          <a:xfrm>
            <a:off x="359532" y="440668"/>
            <a:ext cx="8496944" cy="6124754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ru-RU" sz="280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</a:rPr>
              <a:t>Информационные </a:t>
            </a:r>
            <a:r>
              <a:rPr lang="ru-RU" sz="280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</a:rPr>
              <a:t>системы </a:t>
            </a:r>
            <a:r>
              <a:rPr lang="ru-RU" sz="28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Arial" charset="0"/>
              </a:rPr>
              <a:t>функционального (тактического) уровня </a:t>
            </a:r>
            <a:r>
              <a:rPr lang="ru-RU" sz="280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</a:rPr>
              <a:t>используются работниками среднего </a:t>
            </a:r>
            <a:r>
              <a:rPr lang="ru-RU" sz="280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</a:rPr>
              <a:t>управленческого звена для мониторинга (постоянного слежения), </a:t>
            </a:r>
            <a:r>
              <a:rPr lang="ru-RU" sz="280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</a:rPr>
              <a:t>контроля, принятия </a:t>
            </a:r>
            <a:r>
              <a:rPr lang="ru-RU" sz="280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</a:rPr>
              <a:t>решений и </a:t>
            </a:r>
            <a:r>
              <a:rPr lang="ru-RU" sz="280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</a:rPr>
              <a:t>администрирования</a:t>
            </a:r>
            <a:r>
              <a:rPr lang="ru-RU" sz="280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</a:rPr>
              <a:t>. </a:t>
            </a:r>
            <a:endParaRPr lang="ru-RU" sz="2800" dirty="0" smtClean="0">
              <a:solidFill>
                <a:srgbClr val="000000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Arial" charset="0"/>
            </a:endParaRPr>
          </a:p>
          <a:p>
            <a:r>
              <a:rPr lang="ru-RU" sz="280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</a:rPr>
              <a:t>Основные </a:t>
            </a:r>
            <a:r>
              <a:rPr lang="ru-RU" sz="280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</a:rPr>
              <a:t>функции этих </a:t>
            </a:r>
            <a:r>
              <a:rPr lang="ru-RU" sz="280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</a:rPr>
              <a:t>информационных систем</a:t>
            </a:r>
            <a:r>
              <a:rPr lang="ru-RU" sz="280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</a:rPr>
              <a:t>:</a:t>
            </a:r>
          </a:p>
          <a:p>
            <a:pPr marL="342900" indent="-342900">
              <a:buClr>
                <a:srgbClr val="C00000"/>
              </a:buClr>
              <a:buSzPct val="112000"/>
              <a:buFont typeface="Wingdings" pitchFamily="2" charset="2"/>
              <a:buChar char="ü"/>
            </a:pPr>
            <a:r>
              <a:rPr lang="ru-RU" sz="280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</a:rPr>
              <a:t>сравнение </a:t>
            </a:r>
            <a:r>
              <a:rPr lang="ru-RU" sz="280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</a:rPr>
              <a:t>текущих показателей с прошлыми;</a:t>
            </a:r>
          </a:p>
          <a:p>
            <a:pPr marL="342900" indent="-342900">
              <a:buClr>
                <a:srgbClr val="C00000"/>
              </a:buClr>
              <a:buSzPct val="112000"/>
              <a:buFont typeface="Wingdings" pitchFamily="2" charset="2"/>
              <a:buChar char="ü"/>
            </a:pPr>
            <a:r>
              <a:rPr lang="ru-RU" sz="280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</a:rPr>
              <a:t>составление </a:t>
            </a:r>
            <a:r>
              <a:rPr lang="ru-RU" sz="280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</a:rPr>
              <a:t>периодических отчетов за определенное </a:t>
            </a:r>
            <a:r>
              <a:rPr lang="ru-RU" sz="280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</a:rPr>
              <a:t>время;</a:t>
            </a:r>
            <a:endParaRPr lang="ru-RU" sz="2800" dirty="0">
              <a:solidFill>
                <a:srgbClr val="000000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Arial" charset="0"/>
            </a:endParaRPr>
          </a:p>
          <a:p>
            <a:pPr marL="342900" indent="-342900">
              <a:buClr>
                <a:srgbClr val="C00000"/>
              </a:buClr>
              <a:buSzPct val="112000"/>
              <a:buFont typeface="Wingdings" pitchFamily="2" charset="2"/>
              <a:buChar char="ü"/>
            </a:pPr>
            <a:r>
              <a:rPr lang="ru-RU" sz="280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</a:rPr>
              <a:t>обеспечение </a:t>
            </a:r>
            <a:r>
              <a:rPr lang="ru-RU" sz="280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</a:rPr>
              <a:t>доступа к архивной информации и т. д.</a:t>
            </a:r>
          </a:p>
        </p:txBody>
      </p:sp>
    </p:spTree>
    <p:extLst>
      <p:ext uri="{BB962C8B-B14F-4D97-AF65-F5344CB8AC3E}">
        <p14:creationId xmlns:p14="http://schemas.microsoft.com/office/powerpoint/2010/main" val="25788865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739" name="Text Box 43"/>
          <p:cNvSpPr txBox="1">
            <a:spLocks noChangeArrowheads="1"/>
          </p:cNvSpPr>
          <p:nvPr/>
        </p:nvSpPr>
        <p:spPr bwMode="auto">
          <a:xfrm>
            <a:off x="10662" y="116632"/>
            <a:ext cx="9144000" cy="6524863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ru-RU" sz="220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</a:rPr>
              <a:t>На </a:t>
            </a:r>
            <a:r>
              <a:rPr lang="ru-RU" sz="220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</a:rPr>
              <a:t>уровне </a:t>
            </a:r>
            <a:r>
              <a:rPr lang="ru-RU" sz="2200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Arial" charset="0"/>
              </a:rPr>
              <a:t>руководителей среднего звена </a:t>
            </a:r>
            <a:r>
              <a:rPr lang="ru-RU" sz="220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</a:rPr>
              <a:t>можно </a:t>
            </a:r>
            <a:r>
              <a:rPr lang="ru-RU" sz="220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</a:rPr>
              <a:t>выделить два типа информационных систем: </a:t>
            </a:r>
            <a:r>
              <a:rPr lang="ru-RU" sz="2200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Arial" charset="0"/>
              </a:rPr>
              <a:t>управленческие </a:t>
            </a:r>
            <a:r>
              <a:rPr lang="ru-RU" sz="220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</a:rPr>
              <a:t>и</a:t>
            </a:r>
            <a:r>
              <a:rPr lang="ru-RU" sz="22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</a:rPr>
              <a:t> </a:t>
            </a:r>
            <a:r>
              <a:rPr lang="ru-RU" sz="2200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Arial" charset="0"/>
              </a:rPr>
              <a:t>системы поддержки принятия решений</a:t>
            </a:r>
            <a:r>
              <a:rPr lang="ru-RU" sz="220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</a:rPr>
              <a:t>.</a:t>
            </a:r>
          </a:p>
          <a:p>
            <a:r>
              <a:rPr lang="ru-RU" sz="2200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Arial" charset="0"/>
              </a:rPr>
              <a:t>Управленческие ИС </a:t>
            </a:r>
            <a:r>
              <a:rPr lang="ru-RU" sz="220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</a:rPr>
              <a:t>имеют крайне небольшие аналитические возможности</a:t>
            </a:r>
            <a:r>
              <a:rPr lang="ru-RU" sz="220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</a:rPr>
              <a:t>. Они </a:t>
            </a:r>
            <a:r>
              <a:rPr lang="ru-RU" sz="220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</a:rPr>
              <a:t>обслуживают управленцев, которые нуждаются в ежедневной, еженедельной</a:t>
            </a:r>
          </a:p>
          <a:p>
            <a:r>
              <a:rPr lang="ru-RU" sz="220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</a:rPr>
              <a:t>информации о состоянии дел. Основное их назначение состоит в </a:t>
            </a:r>
            <a:r>
              <a:rPr lang="ru-RU" sz="220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</a:rPr>
              <a:t>отслеживании ежедневных </a:t>
            </a:r>
            <a:r>
              <a:rPr lang="ru-RU" sz="220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</a:rPr>
              <a:t>операций </a:t>
            </a:r>
            <a:r>
              <a:rPr lang="ru-RU" sz="220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</a:rPr>
              <a:t>и </a:t>
            </a:r>
            <a:r>
              <a:rPr lang="ru-RU" sz="220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</a:rPr>
              <a:t>периодическом формировании строго </a:t>
            </a:r>
            <a:r>
              <a:rPr lang="ru-RU" sz="220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</a:rPr>
              <a:t>структурированных сводных </a:t>
            </a:r>
            <a:r>
              <a:rPr lang="ru-RU" sz="220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</a:rPr>
              <a:t>типовых отчетов. Информация поступает из информационной</a:t>
            </a:r>
          </a:p>
          <a:p>
            <a:r>
              <a:rPr lang="ru-RU" sz="220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</a:rPr>
              <a:t>системы операционного уровня.</a:t>
            </a:r>
          </a:p>
          <a:p>
            <a:r>
              <a:rPr lang="ru-RU" sz="2200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Arial" charset="0"/>
              </a:rPr>
              <a:t>Системы поддержки принятия решений </a:t>
            </a:r>
            <a:r>
              <a:rPr lang="ru-RU" sz="220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</a:rPr>
              <a:t>обслуживают частично </a:t>
            </a:r>
            <a:r>
              <a:rPr lang="ru-RU" sz="220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</a:rPr>
              <a:t>структурированные задачи</a:t>
            </a:r>
            <a:r>
              <a:rPr lang="ru-RU" sz="220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</a:rPr>
              <a:t>, результаты которых трудно спрогнозировать заранее. Они </a:t>
            </a:r>
            <a:r>
              <a:rPr lang="ru-RU" sz="220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</a:rPr>
              <a:t>имеют более мощный </a:t>
            </a:r>
            <a:r>
              <a:rPr lang="ru-RU" sz="220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</a:rPr>
              <a:t>аналитический аппарат с несколькими моделями. Информацию </a:t>
            </a:r>
            <a:r>
              <a:rPr lang="ru-RU" sz="220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</a:rPr>
              <a:t>получают из </a:t>
            </a:r>
            <a:r>
              <a:rPr lang="ru-RU" sz="220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</a:rPr>
              <a:t>управленческих и операционных информационных систем. </a:t>
            </a:r>
            <a:r>
              <a:rPr lang="ru-RU" sz="220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</a:rPr>
              <a:t>Используют эти </a:t>
            </a:r>
            <a:r>
              <a:rPr lang="ru-RU" sz="220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</a:rPr>
              <a:t>системы все, кому необходимо принимать решение: </a:t>
            </a:r>
            <a:r>
              <a:rPr lang="ru-RU" sz="220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</a:rPr>
              <a:t>руководители, </a:t>
            </a:r>
            <a:r>
              <a:rPr lang="ru-RU" sz="220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</a:rPr>
              <a:t>специалисты,</a:t>
            </a:r>
          </a:p>
          <a:p>
            <a:r>
              <a:rPr lang="ru-RU" sz="220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</a:rPr>
              <a:t>аналитики и пр.</a:t>
            </a:r>
          </a:p>
        </p:txBody>
      </p:sp>
    </p:spTree>
    <p:extLst>
      <p:ext uri="{BB962C8B-B14F-4D97-AF65-F5344CB8AC3E}">
        <p14:creationId xmlns:p14="http://schemas.microsoft.com/office/powerpoint/2010/main" val="33904141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739" name="Text Box 43"/>
          <p:cNvSpPr txBox="1">
            <a:spLocks noChangeArrowheads="1"/>
          </p:cNvSpPr>
          <p:nvPr/>
        </p:nvSpPr>
        <p:spPr bwMode="auto">
          <a:xfrm>
            <a:off x="395536" y="1124744"/>
            <a:ext cx="8352928" cy="4832092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ru-RU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Arial" charset="0"/>
              </a:rPr>
              <a:t>Стратегические информационные </a:t>
            </a:r>
            <a:r>
              <a:rPr lang="ru-RU" sz="28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Arial" charset="0"/>
              </a:rPr>
              <a:t>системы</a:t>
            </a:r>
          </a:p>
          <a:p>
            <a:endParaRPr lang="ru-RU" sz="2800" dirty="0" smtClean="0"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charset="0"/>
              <a:cs typeface="Arial" charset="0"/>
            </a:endParaRPr>
          </a:p>
          <a:p>
            <a:r>
              <a:rPr lang="ru-RU" sz="280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</a:rPr>
              <a:t>Под</a:t>
            </a:r>
            <a:r>
              <a:rPr lang="ru-RU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Arial" charset="0"/>
              </a:rPr>
              <a:t> стратегией </a:t>
            </a:r>
            <a:r>
              <a:rPr lang="ru-RU" sz="280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</a:rPr>
              <a:t>понимается набор методов и средств </a:t>
            </a:r>
            <a:r>
              <a:rPr lang="ru-RU" sz="280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</a:rPr>
              <a:t>решения перспективных </a:t>
            </a:r>
            <a:r>
              <a:rPr lang="ru-RU" sz="280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</a:rPr>
              <a:t>долгосрочных </a:t>
            </a:r>
            <a:r>
              <a:rPr lang="ru-RU" sz="280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</a:rPr>
              <a:t>задач.</a:t>
            </a:r>
          </a:p>
          <a:p>
            <a:endParaRPr lang="ru-RU" sz="2800" dirty="0" smtClean="0">
              <a:solidFill>
                <a:srgbClr val="000000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Arial" charset="0"/>
            </a:endParaRPr>
          </a:p>
          <a:p>
            <a:r>
              <a:rPr lang="ru-RU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Arial" charset="0"/>
              </a:rPr>
              <a:t>Стратегическая информационная система </a:t>
            </a:r>
            <a:r>
              <a:rPr lang="ru-RU" sz="280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</a:rPr>
              <a:t>— компьютерная </a:t>
            </a:r>
            <a:r>
              <a:rPr lang="ru-RU" sz="280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</a:rPr>
              <a:t>информационная система</a:t>
            </a:r>
            <a:r>
              <a:rPr lang="ru-RU" sz="280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</a:rPr>
              <a:t>, </a:t>
            </a:r>
            <a:r>
              <a:rPr lang="ru-RU" sz="280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</a:rPr>
              <a:t>обеспечивающая </a:t>
            </a:r>
            <a:r>
              <a:rPr lang="ru-RU" sz="280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</a:rPr>
              <a:t>поддержку принятия решений по реализации стратегических</a:t>
            </a:r>
          </a:p>
          <a:p>
            <a:r>
              <a:rPr lang="ru-RU" sz="280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</a:rPr>
              <a:t>перспективных целей развития организации.</a:t>
            </a:r>
          </a:p>
        </p:txBody>
      </p:sp>
    </p:spTree>
    <p:extLst>
      <p:ext uri="{BB962C8B-B14F-4D97-AF65-F5344CB8AC3E}">
        <p14:creationId xmlns:p14="http://schemas.microsoft.com/office/powerpoint/2010/main" val="34116401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739" name="Text Box 43"/>
          <p:cNvSpPr txBox="1">
            <a:spLocks noChangeArrowheads="1"/>
          </p:cNvSpPr>
          <p:nvPr/>
        </p:nvSpPr>
        <p:spPr bwMode="auto">
          <a:xfrm>
            <a:off x="132338" y="1124744"/>
            <a:ext cx="8652130" cy="4401205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ru-RU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Arial" charset="0"/>
              </a:rPr>
              <a:t>Информационные системы стратегического уровня</a:t>
            </a:r>
            <a:r>
              <a:rPr lang="ru-RU" sz="280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</a:rPr>
              <a:t> помогают высшему звену управленцев решать </a:t>
            </a:r>
            <a:r>
              <a:rPr lang="ru-RU" sz="2800" i="1" dirty="0">
                <a:solidFill>
                  <a:srgbClr val="C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</a:rPr>
              <a:t>неструктурированные</a:t>
            </a:r>
            <a:r>
              <a:rPr lang="ru-RU" sz="280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</a:rPr>
              <a:t> задачи, осуществлять долгосрочное планирование. Основная задача </a:t>
            </a:r>
            <a:r>
              <a:rPr lang="ru-RU" sz="280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</a:rPr>
              <a:t>– </a:t>
            </a:r>
            <a:r>
              <a:rPr lang="ru-RU" sz="280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</a:rPr>
              <a:t>сравнение происходящих во внешнем окружении изменений с существующим потенциалом фирмы. Они призваны создать общую среду компьютерной телекоммуникационной поддержки решений в неожиданно возникающих ситуациях. </a:t>
            </a:r>
          </a:p>
        </p:txBody>
      </p:sp>
    </p:spTree>
    <p:extLst>
      <p:ext uri="{BB962C8B-B14F-4D97-AF65-F5344CB8AC3E}">
        <p14:creationId xmlns:p14="http://schemas.microsoft.com/office/powerpoint/2010/main" val="42941478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739" name="Text Box 43"/>
          <p:cNvSpPr txBox="1">
            <a:spLocks noChangeArrowheads="1"/>
          </p:cNvSpPr>
          <p:nvPr/>
        </p:nvSpPr>
        <p:spPr bwMode="auto">
          <a:xfrm>
            <a:off x="71500" y="15658"/>
            <a:ext cx="8986205" cy="6794168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/>
            </a:pPr>
            <a:r>
              <a:rPr kumimoji="1" lang="ru-RU" sz="28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Эволюция методов и подходов к проектированию ИС:</a:t>
            </a:r>
          </a:p>
          <a:p>
            <a:pPr>
              <a:spcBef>
                <a:spcPts val="300"/>
              </a:spcBef>
              <a:defRPr/>
            </a:pPr>
            <a:endParaRPr lang="ru-RU" sz="800" dirty="0">
              <a:solidFill>
                <a:srgbClr val="990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charset="0"/>
            </a:endParaRPr>
          </a:p>
          <a:p>
            <a:pPr marL="269875">
              <a:spcBef>
                <a:spcPts val="300"/>
              </a:spcBef>
              <a:buClr>
                <a:srgbClr val="C00000"/>
              </a:buClr>
              <a:buSzPct val="129000"/>
              <a:defRPr/>
            </a:pPr>
            <a:r>
              <a:rPr lang="ru-RU" sz="2800" dirty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Индустрия разработки автоматизированных информационных систем управления зароди-</a:t>
            </a:r>
            <a:r>
              <a:rPr lang="ru-RU" sz="2800" dirty="0" err="1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лась</a:t>
            </a:r>
            <a:r>
              <a:rPr lang="ru-RU" sz="2800" dirty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 в 1950-х - 1960-х </a:t>
            </a:r>
            <a:r>
              <a:rPr lang="ru-RU" sz="2800" dirty="0" smtClean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годах.</a:t>
            </a:r>
            <a:endParaRPr lang="ru-RU" sz="2800" dirty="0">
              <a:solidFill>
                <a:schemeClr val="bg2">
                  <a:lumMod val="75000"/>
                  <a:lumOff val="25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charset="0"/>
            </a:endParaRPr>
          </a:p>
          <a:p>
            <a:pPr marL="457200" indent="-457200">
              <a:spcBef>
                <a:spcPts val="300"/>
              </a:spcBef>
              <a:buClr>
                <a:srgbClr val="C00000"/>
              </a:buClr>
              <a:buSzPct val="129000"/>
              <a:buFont typeface="Wingdings 2" panose="05020102010507070707" pitchFamily="18" charset="2"/>
              <a:buChar char=""/>
              <a:defRPr/>
            </a:pPr>
            <a:r>
              <a:rPr lang="ru-RU" sz="2800" i="1" dirty="0">
                <a:solidFill>
                  <a:srgbClr val="CC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На первом этапе </a:t>
            </a:r>
            <a:r>
              <a:rPr lang="ru-RU" sz="2800" dirty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основным подходом в проектировании ИС был метод </a:t>
            </a:r>
            <a:r>
              <a:rPr lang="ru-RU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"снизу-вверх"</a:t>
            </a:r>
            <a:r>
              <a:rPr lang="ru-RU" sz="2800" dirty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, </a:t>
            </a:r>
            <a:r>
              <a:rPr lang="ru-RU" sz="2800" dirty="0" smtClean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когда </a:t>
            </a:r>
            <a:r>
              <a:rPr lang="ru-RU" sz="2800" dirty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система создавалась как набор приложений, наиболее важных в данный момент для </a:t>
            </a:r>
            <a:r>
              <a:rPr lang="ru-RU" sz="2800" dirty="0" smtClean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поддержки </a:t>
            </a:r>
            <a:r>
              <a:rPr lang="ru-RU" sz="2800" dirty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деятельности предприятия. Основной целью этих проектов было не создание тиражируемых продуктов, а обслуживание текущих потребностей конкретного учреждения </a:t>
            </a:r>
            <a:r>
              <a:rPr lang="ru-RU" sz="2800" dirty="0" smtClean="0">
                <a:solidFill>
                  <a:srgbClr val="80008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(«лоскутная автоматизация»)</a:t>
            </a:r>
            <a:r>
              <a:rPr lang="ru-RU" sz="2800" dirty="0" smtClean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. </a:t>
            </a:r>
            <a:endParaRPr lang="ru-RU" sz="2800" dirty="0">
              <a:solidFill>
                <a:schemeClr val="bg2">
                  <a:lumMod val="75000"/>
                  <a:lumOff val="25000"/>
                </a:schemeClr>
              </a:solidFill>
              <a:effectLst>
                <a:outerShdw blurRad="38100" dist="38100" dir="2700000" algn="tl">
                  <a:srgbClr val="FFFFFF"/>
                </a:outerShdw>
              </a:effectLst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263134"/>
      </p:ext>
    </p:extLst>
  </p:cSld>
  <p:clrMapOvr>
    <a:overrideClrMapping bg1="dk2" tx1="lt1" bg2="dk1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739" name="Text Box 43"/>
          <p:cNvSpPr txBox="1">
            <a:spLocks noChangeArrowheads="1"/>
          </p:cNvSpPr>
          <p:nvPr/>
        </p:nvSpPr>
        <p:spPr bwMode="auto">
          <a:xfrm>
            <a:off x="71500" y="15658"/>
            <a:ext cx="8986205" cy="6694140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/>
            </a:pPr>
            <a:r>
              <a:rPr kumimoji="1" lang="ru-RU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Эволюция методов и подходов к проектированию ИС:</a:t>
            </a:r>
          </a:p>
          <a:p>
            <a:pPr>
              <a:spcBef>
                <a:spcPts val="300"/>
              </a:spcBef>
              <a:defRPr/>
            </a:pPr>
            <a:endParaRPr lang="ru-RU" sz="800" dirty="0">
              <a:solidFill>
                <a:srgbClr val="990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charset="0"/>
            </a:endParaRPr>
          </a:p>
          <a:p>
            <a:pPr marL="457200" indent="-457200">
              <a:spcBef>
                <a:spcPts val="300"/>
              </a:spcBef>
              <a:buClr>
                <a:srgbClr val="C00000"/>
              </a:buClr>
              <a:buSzPct val="129000"/>
              <a:buFont typeface="Wingdings 2" panose="05020102010507070707" pitchFamily="18" charset="2"/>
              <a:buChar char=""/>
              <a:defRPr/>
            </a:pPr>
            <a:r>
              <a:rPr lang="ru-RU" sz="2800" i="1" dirty="0">
                <a:solidFill>
                  <a:srgbClr val="CC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Следующий этап </a:t>
            </a:r>
            <a:r>
              <a:rPr lang="ru-RU" sz="2800" i="1" dirty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связан с осознанием того факта, что существует потребность в достаточно </a:t>
            </a:r>
            <a:r>
              <a:rPr lang="ru-RU" sz="2800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стандартных</a:t>
            </a:r>
            <a:r>
              <a:rPr lang="ru-RU" sz="2800" i="1" dirty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 программных средствах автоматизации деятельности различных учреждений и предприятий. Из всего спектра проблем разработчики выделили наиболее заметные: </a:t>
            </a:r>
            <a:r>
              <a:rPr lang="ru-RU" sz="2800" i="1" dirty="0" smtClean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автоматизацию </a:t>
            </a:r>
            <a:r>
              <a:rPr lang="ru-RU" sz="2800" i="1" dirty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ведения бухгалтерского аналитического учета и технологических процессов. Системы </a:t>
            </a:r>
            <a:r>
              <a:rPr lang="ru-RU" sz="2800" i="1" dirty="0" smtClean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начали </a:t>
            </a:r>
            <a:r>
              <a:rPr lang="ru-RU" sz="2800" i="1" dirty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проектироваться </a:t>
            </a:r>
            <a:r>
              <a:rPr lang="ru-RU" sz="2800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"сверху-вниз"</a:t>
            </a:r>
            <a:r>
              <a:rPr lang="ru-RU" sz="2800" i="1" dirty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, т.е. в предположении, что одна программа должна </a:t>
            </a:r>
            <a:r>
              <a:rPr lang="ru-RU" sz="2800" i="1" dirty="0" smtClean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удовлетворять </a:t>
            </a:r>
            <a:r>
              <a:rPr lang="ru-RU" sz="2800" i="1" dirty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потребности многих пользователей.</a:t>
            </a:r>
            <a:endParaRPr lang="ru-RU" sz="2800" dirty="0">
              <a:solidFill>
                <a:schemeClr val="bg2">
                  <a:lumMod val="75000"/>
                  <a:lumOff val="25000"/>
                </a:schemeClr>
              </a:solidFill>
              <a:effectLst>
                <a:outerShdw blurRad="38100" dist="38100" dir="2700000" algn="tl">
                  <a:srgbClr val="FFFFFF"/>
                </a:outerShdw>
              </a:effectLst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0509841"/>
      </p:ext>
    </p:extLst>
  </p:cSld>
  <p:clrMapOvr>
    <a:overrideClrMapping bg1="dk2" tx1="lt1" bg2="dk1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739" name="Text Box 43"/>
          <p:cNvSpPr txBox="1">
            <a:spLocks noChangeArrowheads="1"/>
          </p:cNvSpPr>
          <p:nvPr/>
        </p:nvSpPr>
        <p:spPr bwMode="auto">
          <a:xfrm>
            <a:off x="71500" y="15658"/>
            <a:ext cx="8986205" cy="5870838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/>
            </a:pPr>
            <a:r>
              <a:rPr kumimoji="1" lang="ru-RU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Эволюция методов и подходов к проектированию ИС:</a:t>
            </a:r>
          </a:p>
          <a:p>
            <a:pPr>
              <a:spcBef>
                <a:spcPts val="300"/>
              </a:spcBef>
              <a:defRPr/>
            </a:pPr>
            <a:endParaRPr lang="ru-RU" sz="800" dirty="0">
              <a:solidFill>
                <a:srgbClr val="990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charset="0"/>
            </a:endParaRPr>
          </a:p>
          <a:p>
            <a:pPr marL="457200" indent="-457200">
              <a:spcBef>
                <a:spcPts val="300"/>
              </a:spcBef>
              <a:buClr>
                <a:srgbClr val="C00000"/>
              </a:buClr>
              <a:buSzPct val="129000"/>
              <a:buFont typeface="Wingdings 2" panose="05020102010507070707" pitchFamily="18" charset="2"/>
              <a:buChar char=""/>
              <a:defRPr/>
            </a:pPr>
            <a:r>
              <a:rPr lang="ru-RU" sz="2800" i="1" dirty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Недостатки отмеченных подходов с одной стороны и ужесточение требований заказчиков с другой обусловили необходимость формирования новой методологии построения информационных систем.</a:t>
            </a:r>
          </a:p>
          <a:p>
            <a:pPr marL="457200" indent="-457200">
              <a:spcBef>
                <a:spcPts val="300"/>
              </a:spcBef>
              <a:buClr>
                <a:srgbClr val="C00000"/>
              </a:buClr>
              <a:buSzPct val="129000"/>
              <a:buFont typeface="Wingdings 2" panose="05020102010507070707" pitchFamily="18" charset="2"/>
              <a:buChar char=""/>
              <a:defRPr/>
            </a:pPr>
            <a:r>
              <a:rPr lang="ru-RU" sz="2800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Цель такой методологии заключается в регламентации процесса проектирования ИС и обеспечении управления этим процессом с тем, чтобы гарантировать выполнение </a:t>
            </a:r>
            <a:r>
              <a:rPr lang="ru-RU" sz="2800" i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требований </a:t>
            </a:r>
            <a:r>
              <a:rPr lang="ru-RU" sz="2800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как к самой ИС, так и к характеристикам процесса разработки.</a:t>
            </a:r>
            <a:endParaRPr lang="ru-RU" sz="2800" dirty="0">
              <a:solidFill>
                <a:srgbClr val="FF0000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6507747"/>
      </p:ext>
    </p:extLst>
  </p:cSld>
  <p:clrMapOvr>
    <a:overrideClrMapping bg1="dk2" tx1="lt1" bg2="dk1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739" name="Text Box 43"/>
          <p:cNvSpPr txBox="1">
            <a:spLocks noChangeArrowheads="1"/>
          </p:cNvSpPr>
          <p:nvPr/>
        </p:nvSpPr>
        <p:spPr bwMode="auto">
          <a:xfrm>
            <a:off x="791580" y="15658"/>
            <a:ext cx="8208911" cy="6894195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buClr>
                <a:srgbClr val="C00000"/>
              </a:buClr>
              <a:buSzPct val="129000"/>
              <a:defRPr/>
            </a:pPr>
            <a:r>
              <a:rPr kumimoji="1" lang="ru-RU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Основные задачи</a:t>
            </a:r>
            <a:r>
              <a:rPr kumimoji="1" lang="ru-RU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, решению которых должна способствовать методология проектирования корпоративных </a:t>
            </a:r>
            <a:r>
              <a:rPr kumimoji="1" lang="ru-RU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ИС:</a:t>
            </a:r>
          </a:p>
          <a:p>
            <a:pPr marL="457200" indent="-457200">
              <a:spcBef>
                <a:spcPts val="300"/>
              </a:spcBef>
              <a:buClr>
                <a:srgbClr val="C00000"/>
              </a:buClr>
              <a:buSzPct val="129000"/>
              <a:buFont typeface="Wingdings" panose="05000000000000000000" pitchFamily="2" charset="2"/>
              <a:buChar char="ü"/>
              <a:defRPr/>
            </a:pPr>
            <a:r>
              <a:rPr lang="ru-RU" dirty="0" smtClean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обеспечивать </a:t>
            </a:r>
            <a:r>
              <a:rPr lang="ru-RU" dirty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создание корпоративных ИС, </a:t>
            </a:r>
            <a:r>
              <a:rPr lang="ru-RU" dirty="0">
                <a:solidFill>
                  <a:srgbClr val="CC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отвечающих целям и задачам организации</a:t>
            </a:r>
            <a:r>
              <a:rPr lang="ru-RU" dirty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, а также предъявляемым требованиям по автоматизации деловых процессов заказчика; </a:t>
            </a:r>
          </a:p>
          <a:p>
            <a:pPr marL="457200" indent="-457200">
              <a:spcBef>
                <a:spcPts val="300"/>
              </a:spcBef>
              <a:buClr>
                <a:srgbClr val="C00000"/>
              </a:buClr>
              <a:buSzPct val="129000"/>
              <a:buFont typeface="Wingdings" panose="05000000000000000000" pitchFamily="2" charset="2"/>
              <a:buChar char="ü"/>
              <a:defRPr/>
            </a:pPr>
            <a:r>
              <a:rPr lang="ru-RU" dirty="0" smtClean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гарантировать </a:t>
            </a:r>
            <a:r>
              <a:rPr lang="ru-RU" dirty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создание системы с </a:t>
            </a:r>
            <a:r>
              <a:rPr lang="ru-RU" dirty="0">
                <a:solidFill>
                  <a:srgbClr val="CC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заданным качеством в заданные сроки </a:t>
            </a:r>
            <a:r>
              <a:rPr lang="ru-RU" dirty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и в рамках </a:t>
            </a:r>
            <a:r>
              <a:rPr lang="ru-RU" dirty="0" smtClean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установленного </a:t>
            </a:r>
            <a:r>
              <a:rPr lang="ru-RU" dirty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бюджета проекта; </a:t>
            </a:r>
          </a:p>
          <a:p>
            <a:pPr marL="457200" indent="-457200">
              <a:spcBef>
                <a:spcPts val="300"/>
              </a:spcBef>
              <a:buClr>
                <a:srgbClr val="C00000"/>
              </a:buClr>
              <a:buSzPct val="129000"/>
              <a:buFont typeface="Wingdings" panose="05000000000000000000" pitchFamily="2" charset="2"/>
              <a:buChar char="ü"/>
              <a:defRPr/>
            </a:pPr>
            <a:r>
              <a:rPr lang="ru-RU" dirty="0" smtClean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поддерживать </a:t>
            </a:r>
            <a:r>
              <a:rPr lang="ru-RU" dirty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удобную дисциплину </a:t>
            </a:r>
            <a:r>
              <a:rPr lang="ru-RU" dirty="0">
                <a:solidFill>
                  <a:srgbClr val="CC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сопровождения, модификации и наращивания системы</a:t>
            </a:r>
            <a:r>
              <a:rPr lang="ru-RU" dirty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; </a:t>
            </a:r>
          </a:p>
          <a:p>
            <a:pPr marL="457200" indent="-457200">
              <a:spcBef>
                <a:spcPts val="300"/>
              </a:spcBef>
              <a:buClr>
                <a:srgbClr val="C00000"/>
              </a:buClr>
              <a:buSzPct val="129000"/>
              <a:buFont typeface="Wingdings" panose="05000000000000000000" pitchFamily="2" charset="2"/>
              <a:buChar char="ü"/>
              <a:defRPr/>
            </a:pPr>
            <a:r>
              <a:rPr lang="ru-RU" dirty="0">
                <a:solidFill>
                  <a:srgbClr val="CC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обеспечивать преемственность разработки</a:t>
            </a:r>
            <a:r>
              <a:rPr lang="ru-RU" dirty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, т.е. использование в разрабатываемой ИС </a:t>
            </a:r>
            <a:r>
              <a:rPr lang="ru-RU" dirty="0" smtClean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существующей </a:t>
            </a:r>
            <a:r>
              <a:rPr lang="ru-RU" dirty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информационной инфраструктуры организации (задела в области информационных технологий</a:t>
            </a:r>
            <a:r>
              <a:rPr lang="ru-RU" dirty="0" smtClean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).</a:t>
            </a:r>
            <a:endParaRPr lang="ru-RU" dirty="0">
              <a:solidFill>
                <a:schemeClr val="bg2">
                  <a:lumMod val="75000"/>
                  <a:lumOff val="25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4068202"/>
      </p:ext>
    </p:extLst>
  </p:cSld>
  <p:clrMapOvr>
    <a:overrideClrMapping bg1="dk2" tx1="lt1" bg2="dk1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739" name="Text Box 43"/>
          <p:cNvSpPr txBox="1">
            <a:spLocks noChangeArrowheads="1"/>
          </p:cNvSpPr>
          <p:nvPr/>
        </p:nvSpPr>
        <p:spPr bwMode="auto">
          <a:xfrm>
            <a:off x="323528" y="188640"/>
            <a:ext cx="8100901" cy="7140416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buClr>
                <a:srgbClr val="C00000"/>
              </a:buClr>
              <a:buSzPct val="129000"/>
              <a:defRPr/>
            </a:pPr>
            <a:r>
              <a:rPr kumimoji="1" lang="ru-RU" sz="28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Проектирование ИС охватывает три основные области</a:t>
            </a:r>
            <a:r>
              <a:rPr kumimoji="1" lang="ru-RU" sz="28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:</a:t>
            </a:r>
            <a:endParaRPr kumimoji="1" lang="ru-RU" sz="2800" dirty="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Comic Sans MS" pitchFamily="66" charset="0"/>
            </a:endParaRPr>
          </a:p>
          <a:p>
            <a:pPr marL="457200" indent="-457200">
              <a:spcBef>
                <a:spcPts val="300"/>
              </a:spcBef>
              <a:buClr>
                <a:srgbClr val="C00000"/>
              </a:buClr>
              <a:buSzPct val="129000"/>
              <a:buFont typeface="Wingdings" panose="05000000000000000000" pitchFamily="2" charset="2"/>
              <a:buChar char="ü"/>
              <a:defRPr/>
            </a:pPr>
            <a:r>
              <a:rPr lang="ru-RU" sz="2800" dirty="0" smtClean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проектирование </a:t>
            </a:r>
            <a:r>
              <a:rPr lang="ru-RU" sz="2800" i="1" dirty="0">
                <a:solidFill>
                  <a:srgbClr val="008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объектов данных</a:t>
            </a:r>
            <a:r>
              <a:rPr lang="ru-RU" sz="2800" dirty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, которые будут реализованы в базе данных; </a:t>
            </a:r>
          </a:p>
          <a:p>
            <a:pPr marL="457200" indent="-457200">
              <a:spcBef>
                <a:spcPts val="300"/>
              </a:spcBef>
              <a:buClr>
                <a:srgbClr val="C00000"/>
              </a:buClr>
              <a:buSzPct val="129000"/>
              <a:buFont typeface="Wingdings" panose="05000000000000000000" pitchFamily="2" charset="2"/>
              <a:buChar char="ü"/>
              <a:defRPr/>
            </a:pPr>
            <a:r>
              <a:rPr lang="ru-RU" sz="2800" dirty="0" smtClean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проектирование </a:t>
            </a:r>
            <a:r>
              <a:rPr lang="ru-RU" sz="2800" i="1" dirty="0">
                <a:solidFill>
                  <a:srgbClr val="008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программ, экранных форм, отчетов,</a:t>
            </a:r>
            <a:r>
              <a:rPr lang="ru-RU" sz="2800" dirty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 которые будут обеспечивать выполнение запросов к данным; </a:t>
            </a:r>
          </a:p>
          <a:p>
            <a:pPr marL="457200" indent="-457200">
              <a:spcBef>
                <a:spcPts val="300"/>
              </a:spcBef>
              <a:buClr>
                <a:srgbClr val="C00000"/>
              </a:buClr>
              <a:buSzPct val="129000"/>
              <a:buFont typeface="Wingdings" panose="05000000000000000000" pitchFamily="2" charset="2"/>
              <a:buChar char="ü"/>
              <a:defRPr/>
            </a:pPr>
            <a:r>
              <a:rPr lang="ru-RU" sz="2800" dirty="0" smtClean="0">
                <a:solidFill>
                  <a:srgbClr val="008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учет </a:t>
            </a:r>
            <a:r>
              <a:rPr lang="ru-RU" sz="2800" dirty="0">
                <a:solidFill>
                  <a:srgbClr val="008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конкретной среды </a:t>
            </a:r>
            <a:r>
              <a:rPr lang="ru-RU" sz="2800" dirty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или технологии, а именно: топологии сети, конфигурации аппаратных средств, используемой архитектуры (файл-сервер или клиент-сервер), параллельной обработки, распределенной обработки данных и т.п.</a:t>
            </a:r>
          </a:p>
          <a:p>
            <a:pPr marL="457200" indent="-457200">
              <a:spcBef>
                <a:spcPts val="300"/>
              </a:spcBef>
              <a:buClr>
                <a:srgbClr val="C00000"/>
              </a:buClr>
              <a:buSzPct val="129000"/>
              <a:buFont typeface="Wingdings" panose="05000000000000000000" pitchFamily="2" charset="2"/>
              <a:buChar char="ü"/>
              <a:defRPr/>
            </a:pPr>
            <a:endParaRPr lang="ru-RU" sz="2800" dirty="0">
              <a:solidFill>
                <a:schemeClr val="bg2">
                  <a:lumMod val="75000"/>
                  <a:lumOff val="25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7209429"/>
      </p:ext>
    </p:extLst>
  </p:cSld>
  <p:clrMapOvr>
    <a:overrideClrMapping bg1="dk2" tx1="lt1" bg2="dk1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739" name="Text Box 43"/>
          <p:cNvSpPr txBox="1">
            <a:spLocks noChangeArrowheads="1"/>
          </p:cNvSpPr>
          <p:nvPr/>
        </p:nvSpPr>
        <p:spPr bwMode="auto">
          <a:xfrm>
            <a:off x="323528" y="188640"/>
            <a:ext cx="8712968" cy="6738768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buClr>
                <a:srgbClr val="C00000"/>
              </a:buClr>
              <a:buSzPct val="129000"/>
              <a:defRPr/>
            </a:pPr>
            <a:r>
              <a:rPr kumimoji="1" lang="ru-RU" sz="2800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Проектирование информационных систем всегда начинается с определения </a:t>
            </a:r>
            <a:r>
              <a:rPr kumimoji="1" lang="ru-RU" sz="2800" dirty="0" smtClean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/>
            </a:r>
            <a:br>
              <a:rPr kumimoji="1" lang="ru-RU" sz="2800" dirty="0" smtClean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</a:br>
            <a:r>
              <a:rPr kumimoji="1" lang="ru-RU" sz="28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цели </a:t>
            </a:r>
            <a:r>
              <a:rPr kumimoji="1" lang="ru-RU" sz="28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проекта. </a:t>
            </a:r>
            <a:endParaRPr kumimoji="1" lang="ru-RU" sz="2800" dirty="0" smtClean="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Comic Sans MS" pitchFamily="66" charset="0"/>
            </a:endParaRPr>
          </a:p>
          <a:p>
            <a:pPr>
              <a:spcBef>
                <a:spcPts val="300"/>
              </a:spcBef>
              <a:buClr>
                <a:srgbClr val="C00000"/>
              </a:buClr>
              <a:buSzPct val="129000"/>
              <a:defRPr/>
            </a:pPr>
            <a:r>
              <a:rPr kumimoji="1" lang="ru-RU" sz="2800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В общем виде цель проекта можно определить как решение ряда взаимосвязанных задач, </a:t>
            </a:r>
            <a:r>
              <a:rPr kumimoji="1" lang="ru-RU" sz="2800" dirty="0" smtClean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включающих </a:t>
            </a:r>
            <a:r>
              <a:rPr kumimoji="1" lang="ru-RU" sz="2800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в себя </a:t>
            </a:r>
            <a:r>
              <a:rPr kumimoji="1" lang="ru-RU" sz="2800" dirty="0" smtClean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обеспечение:</a:t>
            </a:r>
            <a:endParaRPr kumimoji="1" lang="ru-RU" sz="2800" dirty="0">
              <a:solidFill>
                <a:schemeClr val="accent2">
                  <a:lumMod val="75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Comic Sans MS" pitchFamily="66" charset="0"/>
            </a:endParaRPr>
          </a:p>
          <a:p>
            <a:pPr marL="457200" indent="-457200">
              <a:lnSpc>
                <a:spcPct val="80000"/>
              </a:lnSpc>
              <a:spcBef>
                <a:spcPts val="300"/>
              </a:spcBef>
              <a:buClr>
                <a:srgbClr val="C00000"/>
              </a:buClr>
              <a:buSzPct val="129000"/>
              <a:buFont typeface="Wingdings" panose="05000000000000000000" pitchFamily="2" charset="2"/>
              <a:buChar char="ü"/>
              <a:defRPr/>
            </a:pPr>
            <a:r>
              <a:rPr lang="ru-RU" sz="2800" dirty="0" smtClean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требуемой </a:t>
            </a:r>
            <a:r>
              <a:rPr lang="ru-RU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функциональности </a:t>
            </a:r>
            <a:r>
              <a:rPr lang="ru-RU" sz="2800" dirty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системы и уровня ее адаптивности к </a:t>
            </a:r>
            <a:r>
              <a:rPr lang="ru-RU" sz="2800" dirty="0" smtClean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изменяющимся </a:t>
            </a:r>
            <a:r>
              <a:rPr lang="ru-RU" sz="2800" dirty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условиям функционирования; </a:t>
            </a:r>
          </a:p>
          <a:p>
            <a:pPr marL="457200" indent="-457200">
              <a:lnSpc>
                <a:spcPct val="80000"/>
              </a:lnSpc>
              <a:spcBef>
                <a:spcPts val="300"/>
              </a:spcBef>
              <a:buClr>
                <a:srgbClr val="C00000"/>
              </a:buClr>
              <a:buSzPct val="129000"/>
              <a:buFont typeface="Wingdings" panose="05000000000000000000" pitchFamily="2" charset="2"/>
              <a:buChar char="ü"/>
              <a:defRPr/>
            </a:pPr>
            <a:r>
              <a:rPr lang="ru-RU" sz="2800" dirty="0" smtClean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требуемой </a:t>
            </a:r>
            <a:r>
              <a:rPr lang="ru-RU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пропускной способности </a:t>
            </a:r>
            <a:r>
              <a:rPr lang="ru-RU" sz="2800" dirty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системы; </a:t>
            </a:r>
          </a:p>
          <a:p>
            <a:pPr marL="457200" indent="-457200">
              <a:lnSpc>
                <a:spcPct val="80000"/>
              </a:lnSpc>
              <a:spcBef>
                <a:spcPts val="300"/>
              </a:spcBef>
              <a:buClr>
                <a:srgbClr val="C00000"/>
              </a:buClr>
              <a:buSzPct val="129000"/>
              <a:buFont typeface="Wingdings" panose="05000000000000000000" pitchFamily="2" charset="2"/>
              <a:buChar char="ü"/>
              <a:defRPr/>
            </a:pPr>
            <a:r>
              <a:rPr lang="ru-RU" sz="2800" dirty="0" smtClean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требуемого </a:t>
            </a:r>
            <a:r>
              <a:rPr lang="ru-RU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времени реакции </a:t>
            </a:r>
            <a:r>
              <a:rPr lang="ru-RU" sz="2800" dirty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системы </a:t>
            </a:r>
            <a:r>
              <a:rPr lang="ru-RU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на запрос</a:t>
            </a:r>
            <a:r>
              <a:rPr lang="ru-RU" sz="2800" dirty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; </a:t>
            </a:r>
          </a:p>
          <a:p>
            <a:pPr marL="457200" indent="-457200">
              <a:lnSpc>
                <a:spcPct val="80000"/>
              </a:lnSpc>
              <a:spcBef>
                <a:spcPts val="300"/>
              </a:spcBef>
              <a:buClr>
                <a:srgbClr val="C00000"/>
              </a:buClr>
              <a:buSzPct val="129000"/>
              <a:buFont typeface="Wingdings" panose="05000000000000000000" pitchFamily="2" charset="2"/>
              <a:buChar char="ü"/>
              <a:defRPr/>
            </a:pPr>
            <a:r>
              <a:rPr lang="ru-RU" sz="28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безотказной </a:t>
            </a:r>
            <a:r>
              <a:rPr lang="ru-RU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работы </a:t>
            </a:r>
            <a:r>
              <a:rPr lang="ru-RU" sz="2800" dirty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системы; </a:t>
            </a:r>
          </a:p>
          <a:p>
            <a:pPr marL="457200" indent="-457200">
              <a:lnSpc>
                <a:spcPct val="80000"/>
              </a:lnSpc>
              <a:spcBef>
                <a:spcPts val="300"/>
              </a:spcBef>
              <a:buClr>
                <a:srgbClr val="C00000"/>
              </a:buClr>
              <a:buSzPct val="129000"/>
              <a:buFont typeface="Wingdings" panose="05000000000000000000" pitchFamily="2" charset="2"/>
              <a:buChar char="ü"/>
              <a:defRPr/>
            </a:pPr>
            <a:r>
              <a:rPr lang="ru-RU" sz="2800" dirty="0" smtClean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необходимого </a:t>
            </a:r>
            <a:r>
              <a:rPr lang="ru-RU" sz="2800" dirty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уровня </a:t>
            </a:r>
            <a:r>
              <a:rPr lang="ru-RU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безопасности</a:t>
            </a:r>
            <a:r>
              <a:rPr lang="ru-RU" sz="2800" dirty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; </a:t>
            </a:r>
          </a:p>
          <a:p>
            <a:pPr marL="457200" indent="-457200">
              <a:lnSpc>
                <a:spcPct val="80000"/>
              </a:lnSpc>
              <a:spcBef>
                <a:spcPts val="300"/>
              </a:spcBef>
              <a:buClr>
                <a:srgbClr val="C00000"/>
              </a:buClr>
              <a:buSzPct val="129000"/>
              <a:buFont typeface="Wingdings" panose="05000000000000000000" pitchFamily="2" charset="2"/>
              <a:buChar char="ü"/>
              <a:defRPr/>
            </a:pPr>
            <a:r>
              <a:rPr lang="ru-RU" sz="28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простоты </a:t>
            </a:r>
            <a:r>
              <a:rPr lang="ru-RU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эксплуатации </a:t>
            </a:r>
            <a:r>
              <a:rPr lang="ru-RU" sz="2800" dirty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и поддержки системы</a:t>
            </a:r>
            <a:r>
              <a:rPr lang="ru-RU" sz="2800" dirty="0" smtClean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.</a:t>
            </a:r>
            <a:endParaRPr lang="ru-RU" sz="2800" dirty="0">
              <a:solidFill>
                <a:schemeClr val="bg2">
                  <a:lumMod val="75000"/>
                  <a:lumOff val="25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1223995"/>
      </p:ext>
    </p:extLst>
  </p:cSld>
  <p:clrMapOvr>
    <a:overrideClrMapping bg1="dk2" tx1="lt1" bg2="dk1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739" name="Text Box 43"/>
          <p:cNvSpPr txBox="1">
            <a:spLocks noChangeArrowheads="1"/>
          </p:cNvSpPr>
          <p:nvPr/>
        </p:nvSpPr>
        <p:spPr bwMode="auto">
          <a:xfrm>
            <a:off x="0" y="11520"/>
            <a:ext cx="9072500" cy="7025000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457200" indent="-457200">
              <a:lnSpc>
                <a:spcPct val="98000"/>
              </a:lnSpc>
              <a:spcBef>
                <a:spcPts val="300"/>
              </a:spcBef>
              <a:buClr>
                <a:srgbClr val="C00000"/>
              </a:buClr>
              <a:buSzPct val="129000"/>
              <a:buFont typeface="Wingdings 2" panose="05020102010507070707" pitchFamily="18" charset="2"/>
              <a:buChar char=""/>
              <a:defRPr/>
            </a:pPr>
            <a:r>
              <a:rPr lang="ru-RU" sz="2800" dirty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Согласно современной методологии, </a:t>
            </a:r>
            <a:r>
              <a:rPr lang="ru-RU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процесс создания ИС представляет собой процесс </a:t>
            </a:r>
            <a:r>
              <a:rPr lang="ru-RU" sz="28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построения </a:t>
            </a:r>
            <a:r>
              <a:rPr lang="ru-RU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и последовательного преобразования ряда согласованных моделей на всех этапах </a:t>
            </a:r>
            <a:r>
              <a:rPr lang="ru-RU" sz="28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жизненного </a:t>
            </a:r>
            <a:r>
              <a:rPr lang="ru-RU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цикла (ЖЦ) ИС.</a:t>
            </a:r>
            <a:r>
              <a:rPr lang="ru-RU" sz="2800" dirty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 </a:t>
            </a:r>
            <a:endParaRPr lang="ru-RU" sz="2800" dirty="0" smtClean="0">
              <a:solidFill>
                <a:schemeClr val="bg2">
                  <a:lumMod val="75000"/>
                  <a:lumOff val="25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charset="0"/>
            </a:endParaRPr>
          </a:p>
          <a:p>
            <a:pPr marL="457200" indent="-457200">
              <a:lnSpc>
                <a:spcPct val="98000"/>
              </a:lnSpc>
              <a:spcBef>
                <a:spcPts val="300"/>
              </a:spcBef>
              <a:buClr>
                <a:srgbClr val="C00000"/>
              </a:buClr>
              <a:buSzPct val="129000"/>
              <a:buFont typeface="Wingdings 2" panose="05020102010507070707" pitchFamily="18" charset="2"/>
              <a:buChar char=""/>
              <a:defRPr/>
            </a:pPr>
            <a:r>
              <a:rPr lang="ru-RU" sz="2800" dirty="0" smtClean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На </a:t>
            </a:r>
            <a:r>
              <a:rPr lang="ru-RU" sz="2800" dirty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каждом этапе ЖЦ создаются специфичные для него модели </a:t>
            </a:r>
            <a:r>
              <a:rPr lang="ru-RU" sz="2800" dirty="0" smtClean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– организации</a:t>
            </a:r>
            <a:r>
              <a:rPr lang="ru-RU" sz="2800" dirty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, требований к ИС, проекта ИС, требований к приложениям и т.д. Модели формируются </a:t>
            </a:r>
            <a:r>
              <a:rPr lang="ru-RU" sz="2800" dirty="0" smtClean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рабочими </a:t>
            </a:r>
            <a:r>
              <a:rPr lang="ru-RU" sz="2800" dirty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группами команды проекта, сохраняются и накапливаются в </a:t>
            </a:r>
            <a:r>
              <a:rPr lang="ru-RU" sz="2800" dirty="0" err="1">
                <a:solidFill>
                  <a:srgbClr val="80008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репозитории</a:t>
            </a:r>
            <a:r>
              <a:rPr lang="ru-RU" sz="2800" dirty="0">
                <a:solidFill>
                  <a:srgbClr val="80008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 </a:t>
            </a:r>
            <a:r>
              <a:rPr lang="ru-RU" sz="2800" dirty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проекта. </a:t>
            </a:r>
            <a:r>
              <a:rPr lang="ru-RU" sz="2800" dirty="0" smtClean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Создание </a:t>
            </a:r>
            <a:r>
              <a:rPr lang="ru-RU" sz="2800" dirty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моделей, их контроль, преобразование и предоставление в коллективное пользование осуществляется с использованием специальных программных инструментов </a:t>
            </a:r>
            <a:r>
              <a:rPr lang="ru-RU" sz="2800" dirty="0" smtClean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– </a:t>
            </a:r>
            <a:r>
              <a:rPr lang="ru-RU" sz="2800" dirty="0">
                <a:solidFill>
                  <a:srgbClr val="80008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CASE-средств</a:t>
            </a:r>
            <a:r>
              <a:rPr lang="ru-RU" sz="2800" dirty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60704787"/>
      </p:ext>
    </p:extLst>
  </p:cSld>
  <p:clrMapOvr>
    <a:overrideClrMapping bg1="dk2" tx1="lt1" bg2="dk1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739" name="Text Box 43"/>
          <p:cNvSpPr txBox="1">
            <a:spLocks noChangeArrowheads="1"/>
          </p:cNvSpPr>
          <p:nvPr/>
        </p:nvSpPr>
        <p:spPr bwMode="auto">
          <a:xfrm>
            <a:off x="251520" y="15658"/>
            <a:ext cx="8806185" cy="5578450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/>
            </a:pPr>
            <a:r>
              <a:rPr kumimoji="1" lang="ru-RU" sz="28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С точки зрения программно-аппаратной реализации можно выделить ряд типовых </a:t>
            </a:r>
            <a:r>
              <a:rPr kumimoji="1" lang="ru-RU" sz="28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архитектур ИС:</a:t>
            </a:r>
            <a:endParaRPr kumimoji="1" lang="ru-RU" sz="2800" dirty="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Comic Sans MS" pitchFamily="66" charset="0"/>
            </a:endParaRPr>
          </a:p>
          <a:p>
            <a:pPr>
              <a:spcBef>
                <a:spcPts val="300"/>
              </a:spcBef>
              <a:defRPr/>
            </a:pPr>
            <a:endParaRPr lang="ru-RU" sz="1050" dirty="0">
              <a:solidFill>
                <a:srgbClr val="990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charset="0"/>
            </a:endParaRPr>
          </a:p>
          <a:p>
            <a:pPr marL="457200" indent="-457200">
              <a:spcBef>
                <a:spcPts val="300"/>
              </a:spcBef>
              <a:buClr>
                <a:srgbClr val="C00000"/>
              </a:buClr>
              <a:buSzPct val="129000"/>
              <a:buFont typeface="Wingdings" panose="05000000000000000000" pitchFamily="2" charset="2"/>
              <a:buChar char="ü"/>
              <a:defRPr/>
            </a:pPr>
            <a:r>
              <a:rPr lang="ru-RU" sz="2800" dirty="0" smtClean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использование </a:t>
            </a:r>
            <a:r>
              <a:rPr lang="ru-RU" sz="2800" dirty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выделенных файл-серверов или серверов баз </a:t>
            </a:r>
            <a:r>
              <a:rPr lang="ru-RU" sz="2800" dirty="0" smtClean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данных;</a:t>
            </a:r>
          </a:p>
          <a:p>
            <a:pPr marL="457200" indent="-457200">
              <a:spcBef>
                <a:spcPts val="300"/>
              </a:spcBef>
              <a:buClr>
                <a:srgbClr val="C00000"/>
              </a:buClr>
              <a:buSzPct val="129000"/>
              <a:buFont typeface="Wingdings" panose="05000000000000000000" pitchFamily="2" charset="2"/>
              <a:buChar char="ü"/>
              <a:defRPr/>
            </a:pPr>
            <a:r>
              <a:rPr lang="ru-RU" sz="2800" dirty="0" smtClean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технология </a:t>
            </a:r>
            <a:r>
              <a:rPr lang="ru-RU" sz="2800" dirty="0" err="1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Internet</a:t>
            </a:r>
            <a:r>
              <a:rPr lang="ru-RU" sz="2800" dirty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 (</a:t>
            </a:r>
            <a:r>
              <a:rPr lang="ru-RU" sz="2800" dirty="0" err="1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Intranet</a:t>
            </a:r>
            <a:r>
              <a:rPr lang="ru-RU" sz="2800" dirty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-приложения</a:t>
            </a:r>
            <a:r>
              <a:rPr lang="ru-RU" sz="2800" dirty="0" smtClean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);</a:t>
            </a:r>
          </a:p>
          <a:p>
            <a:pPr marL="457200" indent="-457200">
              <a:spcBef>
                <a:spcPts val="300"/>
              </a:spcBef>
              <a:buClr>
                <a:srgbClr val="C00000"/>
              </a:buClr>
              <a:buSzPct val="129000"/>
              <a:buFont typeface="Wingdings" panose="05000000000000000000" pitchFamily="2" charset="2"/>
              <a:buChar char="ü"/>
              <a:defRPr/>
            </a:pPr>
            <a:r>
              <a:rPr lang="ru-RU" sz="2800" dirty="0" smtClean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"хранилище </a:t>
            </a:r>
            <a:r>
              <a:rPr lang="ru-RU" sz="2800" dirty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данных" </a:t>
            </a:r>
            <a:r>
              <a:rPr lang="ru-RU" sz="2800" dirty="0" smtClean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– интегрированная информационная </a:t>
            </a:r>
            <a:r>
              <a:rPr lang="ru-RU" sz="2800" dirty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среды, </a:t>
            </a:r>
            <a:r>
              <a:rPr lang="ru-RU" sz="2800" dirty="0" smtClean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включающая </a:t>
            </a:r>
            <a:r>
              <a:rPr lang="ru-RU" sz="2800" dirty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разнородные информационные </a:t>
            </a:r>
            <a:r>
              <a:rPr lang="ru-RU" sz="2800" dirty="0" smtClean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ресурсы; </a:t>
            </a:r>
          </a:p>
          <a:p>
            <a:pPr marL="457200" indent="-457200">
              <a:spcBef>
                <a:spcPts val="300"/>
              </a:spcBef>
              <a:buClr>
                <a:srgbClr val="C00000"/>
              </a:buClr>
              <a:buSzPct val="129000"/>
              <a:buFont typeface="Wingdings" panose="05000000000000000000" pitchFamily="2" charset="2"/>
              <a:buChar char="ü"/>
              <a:defRPr/>
            </a:pPr>
            <a:r>
              <a:rPr lang="ru-RU" sz="2800" dirty="0" smtClean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архитектура </a:t>
            </a:r>
            <a:r>
              <a:rPr lang="ru-RU" sz="2800" dirty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интеграции информационно-вычислительных компонентов на основе объектно-ориентированного подхода.</a:t>
            </a:r>
            <a:endParaRPr lang="ru-RU" sz="2800" dirty="0">
              <a:solidFill>
                <a:schemeClr val="bg2">
                  <a:lumMod val="75000"/>
                  <a:lumOff val="25000"/>
                </a:schemeClr>
              </a:solidFill>
              <a:effectLst>
                <a:outerShdw blurRad="38100" dist="38100" dir="2700000" algn="tl">
                  <a:srgbClr val="FFFFFF"/>
                </a:outerShdw>
              </a:effectLst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1489289"/>
      </p:ext>
    </p:extLst>
  </p:cSld>
  <p:clrMapOvr>
    <a:overrideClrMapping bg1="dk2" tx1="lt1" bg2="dk1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533400" y="473075"/>
            <a:ext cx="8153400" cy="1143000"/>
          </a:xfrm>
          <a:solidFill>
            <a:schemeClr val="accent1"/>
          </a:solidFill>
          <a:ln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ru-RU" altLang="ru-RU" smtClean="0"/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757238" y="2189163"/>
            <a:ext cx="7700962" cy="3671887"/>
          </a:xfrm>
          <a:solidFill>
            <a:schemeClr val="accent1"/>
          </a:solidFill>
          <a:ln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ru-RU" altLang="ru-RU" smtClean="0"/>
          </a:p>
        </p:txBody>
      </p:sp>
      <p:pic>
        <p:nvPicPr>
          <p:cNvPr id="19460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4288" y="-190500"/>
            <a:ext cx="9144001" cy="723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6677" name="Rectangle 5"/>
          <p:cNvSpPr>
            <a:spLocks noChangeArrowheads="1"/>
          </p:cNvSpPr>
          <p:nvPr/>
        </p:nvSpPr>
        <p:spPr bwMode="auto">
          <a:xfrm>
            <a:off x="533400" y="2082362"/>
            <a:ext cx="8208963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defRPr/>
            </a:pPr>
            <a:r>
              <a:rPr lang="ru-RU" sz="4400" dirty="0">
                <a:ln w="22225">
                  <a:solidFill>
                    <a:srgbClr val="3333CC"/>
                  </a:solidFill>
                  <a:prstDash val="solid"/>
                </a:ln>
                <a:solidFill>
                  <a:srgbClr val="C00000"/>
                </a:solidFill>
                <a:latin typeface="Arial" charset="0"/>
              </a:rPr>
              <a:t>Этапы создания ИС</a:t>
            </a:r>
          </a:p>
        </p:txBody>
      </p:sp>
    </p:spTree>
    <p:extLst>
      <p:ext uri="{BB962C8B-B14F-4D97-AF65-F5344CB8AC3E}">
        <p14:creationId xmlns:p14="http://schemas.microsoft.com/office/powerpoint/2010/main" val="145283862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739" name="Text Box 43"/>
          <p:cNvSpPr txBox="1">
            <a:spLocks noChangeArrowheads="1"/>
          </p:cNvSpPr>
          <p:nvPr/>
        </p:nvSpPr>
        <p:spPr bwMode="auto">
          <a:xfrm>
            <a:off x="647564" y="656692"/>
            <a:ext cx="8496436" cy="4985980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buClr>
                <a:srgbClr val="C00000"/>
              </a:buClr>
              <a:buSzPct val="129000"/>
              <a:defRPr/>
            </a:pPr>
            <a:r>
              <a:rPr kumimoji="1" lang="ru-RU" sz="36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Этапы </a:t>
            </a:r>
            <a:r>
              <a:rPr kumimoji="1" lang="ru-RU" sz="36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создания ИС</a:t>
            </a:r>
            <a:r>
              <a:rPr kumimoji="1" lang="ru-RU" sz="36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:</a:t>
            </a:r>
          </a:p>
          <a:p>
            <a:pPr marL="457200" indent="-457200">
              <a:spcBef>
                <a:spcPts val="600"/>
              </a:spcBef>
              <a:buClr>
                <a:srgbClr val="C00000"/>
              </a:buClr>
              <a:buSzPct val="129000"/>
              <a:buFont typeface="Wingdings" panose="05000000000000000000" pitchFamily="2" charset="2"/>
              <a:buChar char="ü"/>
              <a:defRPr/>
            </a:pPr>
            <a:r>
              <a:rPr kumimoji="1" lang="ru-RU" sz="3600" dirty="0" smtClean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формирование </a:t>
            </a:r>
            <a:r>
              <a:rPr kumimoji="1" lang="ru-RU" sz="3600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требований к </a:t>
            </a:r>
            <a:r>
              <a:rPr kumimoji="1" lang="ru-RU" sz="3600" dirty="0" smtClean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системе</a:t>
            </a:r>
          </a:p>
          <a:p>
            <a:pPr marL="457200" indent="-457200">
              <a:spcBef>
                <a:spcPts val="600"/>
              </a:spcBef>
              <a:buClr>
                <a:srgbClr val="C00000"/>
              </a:buClr>
              <a:buSzPct val="129000"/>
              <a:buFont typeface="Wingdings" panose="05000000000000000000" pitchFamily="2" charset="2"/>
              <a:buChar char="ü"/>
              <a:defRPr/>
            </a:pPr>
            <a:r>
              <a:rPr kumimoji="1" lang="ru-RU" sz="3600" dirty="0" smtClean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проектирование</a:t>
            </a:r>
          </a:p>
          <a:p>
            <a:pPr marL="457200" indent="-457200">
              <a:spcBef>
                <a:spcPts val="600"/>
              </a:spcBef>
              <a:buClr>
                <a:srgbClr val="C00000"/>
              </a:buClr>
              <a:buSzPct val="129000"/>
              <a:buFont typeface="Wingdings" panose="05000000000000000000" pitchFamily="2" charset="2"/>
              <a:buChar char="ü"/>
              <a:defRPr/>
            </a:pPr>
            <a:r>
              <a:rPr kumimoji="1" lang="ru-RU" sz="3600" dirty="0" smtClean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реализация</a:t>
            </a:r>
          </a:p>
          <a:p>
            <a:pPr marL="457200" indent="-457200">
              <a:spcBef>
                <a:spcPts val="600"/>
              </a:spcBef>
              <a:buClr>
                <a:srgbClr val="C00000"/>
              </a:buClr>
              <a:buSzPct val="129000"/>
              <a:buFont typeface="Wingdings" panose="05000000000000000000" pitchFamily="2" charset="2"/>
              <a:buChar char="ü"/>
              <a:defRPr/>
            </a:pPr>
            <a:r>
              <a:rPr kumimoji="1" lang="ru-RU" sz="3600" dirty="0" smtClean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тестирование</a:t>
            </a:r>
          </a:p>
          <a:p>
            <a:pPr marL="457200" indent="-457200">
              <a:spcBef>
                <a:spcPts val="600"/>
              </a:spcBef>
              <a:buClr>
                <a:srgbClr val="C00000"/>
              </a:buClr>
              <a:buSzPct val="129000"/>
              <a:buFont typeface="Wingdings" panose="05000000000000000000" pitchFamily="2" charset="2"/>
              <a:buChar char="ü"/>
              <a:defRPr/>
            </a:pPr>
            <a:r>
              <a:rPr kumimoji="1" lang="ru-RU" sz="3600" dirty="0" smtClean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ввод </a:t>
            </a:r>
            <a:r>
              <a:rPr kumimoji="1" lang="ru-RU" sz="3600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в </a:t>
            </a:r>
            <a:r>
              <a:rPr kumimoji="1" lang="ru-RU" sz="3600" dirty="0" smtClean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действие</a:t>
            </a:r>
          </a:p>
          <a:p>
            <a:pPr marL="457200" indent="-457200">
              <a:spcBef>
                <a:spcPts val="600"/>
              </a:spcBef>
              <a:buClr>
                <a:srgbClr val="C00000"/>
              </a:buClr>
              <a:buSzPct val="129000"/>
              <a:buFont typeface="Wingdings" panose="05000000000000000000" pitchFamily="2" charset="2"/>
              <a:buChar char="ü"/>
              <a:defRPr/>
            </a:pPr>
            <a:r>
              <a:rPr kumimoji="1" lang="ru-RU" sz="3600" dirty="0" smtClean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эксплуатация</a:t>
            </a:r>
            <a:endParaRPr lang="ru-RU" sz="3600" dirty="0">
              <a:solidFill>
                <a:schemeClr val="bg2">
                  <a:lumMod val="75000"/>
                  <a:lumOff val="25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6992210"/>
      </p:ext>
    </p:extLst>
  </p:cSld>
  <p:clrMapOvr>
    <a:overrideClrMapping bg1="dk2" tx1="lt1" bg2="dk1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739" name="Text Box 43"/>
          <p:cNvSpPr txBox="1">
            <a:spLocks noChangeArrowheads="1"/>
          </p:cNvSpPr>
          <p:nvPr/>
        </p:nvSpPr>
        <p:spPr bwMode="auto">
          <a:xfrm>
            <a:off x="71500" y="15658"/>
            <a:ext cx="8892988" cy="6324808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/>
            </a:pPr>
            <a:r>
              <a:rPr kumimoji="1" lang="ru-RU" sz="2800" dirty="0" smtClean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Формирование </a:t>
            </a:r>
            <a:r>
              <a:rPr kumimoji="1" lang="ru-RU" sz="2800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требований к системе</a:t>
            </a:r>
          </a:p>
          <a:p>
            <a:pPr>
              <a:spcBef>
                <a:spcPts val="300"/>
              </a:spcBef>
              <a:defRPr/>
            </a:pPr>
            <a:endParaRPr lang="ru-RU" sz="800" dirty="0" smtClean="0">
              <a:solidFill>
                <a:srgbClr val="990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charset="0"/>
            </a:endParaRPr>
          </a:p>
          <a:p>
            <a:pPr marL="457200" indent="-457200">
              <a:spcBef>
                <a:spcPts val="300"/>
              </a:spcBef>
              <a:buClr>
                <a:srgbClr val="C00000"/>
              </a:buClr>
              <a:buSzPct val="129000"/>
              <a:buFont typeface="Wingdings 2" panose="05020102010507070707" pitchFamily="18" charset="2"/>
              <a:buChar char=""/>
              <a:defRPr/>
            </a:pPr>
            <a:r>
              <a:rPr lang="ru-RU" sz="2800" i="1" dirty="0" smtClean="0">
                <a:solidFill>
                  <a:srgbClr val="008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Начальным </a:t>
            </a:r>
            <a:r>
              <a:rPr lang="ru-RU" sz="2800" i="1" dirty="0">
                <a:solidFill>
                  <a:srgbClr val="008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этапом </a:t>
            </a:r>
            <a:r>
              <a:rPr lang="ru-RU" sz="2800" dirty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процесса создания ИС является моделирование </a:t>
            </a:r>
            <a:r>
              <a:rPr lang="ru-RU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бизнес-процессов</a:t>
            </a:r>
            <a:r>
              <a:rPr lang="ru-RU" sz="2800" dirty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, </a:t>
            </a:r>
            <a:r>
              <a:rPr lang="ru-RU" sz="2800" dirty="0" smtClean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протекающих </a:t>
            </a:r>
            <a:r>
              <a:rPr lang="ru-RU" sz="2800" dirty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в организации и реализующих ее цели и задачи. Модель организации, описанная в терминах бизнес-процессов и бизнес-функций, позволяет сформулировать основные требования к ИС. Это фундаментальное положение методологии обеспечивает объективность в выработке </a:t>
            </a:r>
            <a:r>
              <a:rPr lang="ru-RU" sz="2800" dirty="0" smtClean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требований </a:t>
            </a:r>
            <a:r>
              <a:rPr lang="ru-RU" sz="2800" dirty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к проектированию системы. Множество моделей описания требований к ИС затем </a:t>
            </a:r>
            <a:r>
              <a:rPr lang="ru-RU" sz="2800" dirty="0" smtClean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преобразуется </a:t>
            </a:r>
            <a:r>
              <a:rPr lang="ru-RU" sz="2800" dirty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в систему моделей, описывающих </a:t>
            </a:r>
            <a:r>
              <a:rPr lang="ru-RU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концептуальный проект ИС</a:t>
            </a:r>
            <a:r>
              <a:rPr lang="ru-RU" sz="2800" dirty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.  </a:t>
            </a:r>
          </a:p>
        </p:txBody>
      </p:sp>
    </p:spTree>
    <p:extLst>
      <p:ext uri="{BB962C8B-B14F-4D97-AF65-F5344CB8AC3E}">
        <p14:creationId xmlns:p14="http://schemas.microsoft.com/office/powerpoint/2010/main" val="2331319388"/>
      </p:ext>
    </p:extLst>
  </p:cSld>
  <p:clrMapOvr>
    <a:overrideClrMapping bg1="dk2" tx1="lt1" bg2="dk1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739" name="Text Box 43"/>
          <p:cNvSpPr txBox="1">
            <a:spLocks noChangeArrowheads="1"/>
          </p:cNvSpPr>
          <p:nvPr/>
        </p:nvSpPr>
        <p:spPr bwMode="auto">
          <a:xfrm>
            <a:off x="71500" y="15658"/>
            <a:ext cx="8784976" cy="5932393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/>
            </a:pPr>
            <a:r>
              <a:rPr kumimoji="1" lang="ru-RU" sz="2800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Формирование требований к системе</a:t>
            </a:r>
          </a:p>
          <a:p>
            <a:pPr>
              <a:spcBef>
                <a:spcPts val="300"/>
              </a:spcBef>
              <a:defRPr/>
            </a:pPr>
            <a:endParaRPr lang="ru-RU" sz="800" dirty="0">
              <a:solidFill>
                <a:srgbClr val="990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charset="0"/>
            </a:endParaRPr>
          </a:p>
          <a:p>
            <a:pPr marL="457200" indent="-457200">
              <a:spcBef>
                <a:spcPts val="300"/>
              </a:spcBef>
              <a:buClr>
                <a:srgbClr val="C00000"/>
              </a:buClr>
              <a:buSzPct val="129000"/>
              <a:buFont typeface="Wingdings 2" panose="05020102010507070707" pitchFamily="18" charset="2"/>
              <a:buChar char=""/>
              <a:defRPr/>
            </a:pPr>
            <a:r>
              <a:rPr lang="ru-RU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Целью</a:t>
            </a:r>
            <a:r>
              <a:rPr lang="ru-RU" sz="2800" dirty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 </a:t>
            </a:r>
            <a:r>
              <a:rPr lang="ru-RU" sz="2800" i="1" dirty="0" smtClean="0">
                <a:solidFill>
                  <a:srgbClr val="008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начальных этапов </a:t>
            </a:r>
            <a:r>
              <a:rPr lang="ru-RU" sz="2800" dirty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создания ИС, выполняемых на стадии анализа деятельности </a:t>
            </a:r>
            <a:r>
              <a:rPr lang="ru-RU" sz="2800" dirty="0" smtClean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организации</a:t>
            </a:r>
            <a:r>
              <a:rPr lang="ru-RU" sz="2800" dirty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, является </a:t>
            </a:r>
            <a:r>
              <a:rPr lang="ru-RU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формирование требований к ИС, корректно и точно отражающих цели и </a:t>
            </a:r>
            <a:r>
              <a:rPr lang="ru-RU" sz="28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задачи организации-заказчика </a:t>
            </a:r>
            <a:r>
              <a:rPr lang="ru-RU" sz="2800" dirty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и </a:t>
            </a:r>
            <a:r>
              <a:rPr lang="ru-RU" sz="2800" dirty="0" smtClean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отображение </a:t>
            </a:r>
            <a:r>
              <a:rPr lang="ru-RU" sz="2800" dirty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их на языке </a:t>
            </a:r>
            <a:r>
              <a:rPr lang="ru-RU" sz="2800" dirty="0" smtClean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моделей.</a:t>
            </a:r>
          </a:p>
          <a:p>
            <a:pPr marL="457200" indent="-457200">
              <a:spcBef>
                <a:spcPts val="300"/>
              </a:spcBef>
              <a:buClr>
                <a:srgbClr val="C00000"/>
              </a:buClr>
              <a:buSzPct val="129000"/>
              <a:buFont typeface="Wingdings 2" panose="05020102010507070707" pitchFamily="18" charset="2"/>
              <a:buChar char=""/>
              <a:defRPr/>
            </a:pPr>
            <a:r>
              <a:rPr lang="ru-RU" sz="2800" dirty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Задача формирования требований к ИС является одной из наиболее ответственных, трудно формализуемых и наиболее дорогих и тяжелых для исправления в случае ошибки. </a:t>
            </a:r>
          </a:p>
        </p:txBody>
      </p:sp>
    </p:spTree>
    <p:extLst>
      <p:ext uri="{BB962C8B-B14F-4D97-AF65-F5344CB8AC3E}">
        <p14:creationId xmlns:p14="http://schemas.microsoft.com/office/powerpoint/2010/main" val="287883825"/>
      </p:ext>
    </p:extLst>
  </p:cSld>
  <p:clrMapOvr>
    <a:overrideClrMapping bg1="dk2" tx1="lt1" bg2="dk1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739" name="Text Box 43"/>
          <p:cNvSpPr txBox="1">
            <a:spLocks noChangeArrowheads="1"/>
          </p:cNvSpPr>
          <p:nvPr/>
        </p:nvSpPr>
        <p:spPr bwMode="auto">
          <a:xfrm>
            <a:off x="63370" y="584684"/>
            <a:ext cx="8892988" cy="5032147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/>
            </a:pPr>
            <a:r>
              <a:rPr kumimoji="1" lang="ru-RU" sz="2800" dirty="0" smtClean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Проектирование</a:t>
            </a:r>
            <a:endParaRPr kumimoji="1" lang="ru-RU" sz="2800" dirty="0">
              <a:solidFill>
                <a:schemeClr val="accent2">
                  <a:lumMod val="75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Comic Sans MS" pitchFamily="66" charset="0"/>
            </a:endParaRPr>
          </a:p>
          <a:p>
            <a:pPr>
              <a:spcBef>
                <a:spcPts val="300"/>
              </a:spcBef>
              <a:defRPr/>
            </a:pPr>
            <a:endParaRPr lang="ru-RU" sz="800" dirty="0" smtClean="0">
              <a:solidFill>
                <a:srgbClr val="990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charset="0"/>
            </a:endParaRPr>
          </a:p>
          <a:p>
            <a:pPr marL="457200" indent="-457200">
              <a:spcBef>
                <a:spcPts val="300"/>
              </a:spcBef>
              <a:buClr>
                <a:srgbClr val="C00000"/>
              </a:buClr>
              <a:buSzPct val="129000"/>
              <a:buFont typeface="Wingdings 2" panose="05020102010507070707" pitchFamily="18" charset="2"/>
              <a:buChar char=""/>
              <a:defRPr/>
            </a:pPr>
            <a:r>
              <a:rPr lang="ru-RU" sz="2800" dirty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На этапе проектирования </a:t>
            </a:r>
            <a:r>
              <a:rPr lang="ru-RU" sz="2800" dirty="0" smtClean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формируются </a:t>
            </a:r>
            <a:r>
              <a:rPr lang="ru-RU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модели данных. </a:t>
            </a:r>
            <a:r>
              <a:rPr lang="ru-RU" sz="2800" dirty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Проектировщики в качестве исходной информации получают результаты анализа. Построение </a:t>
            </a:r>
            <a:r>
              <a:rPr lang="ru-RU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логической и </a:t>
            </a:r>
            <a:r>
              <a:rPr lang="ru-RU" sz="28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физической </a:t>
            </a:r>
            <a:r>
              <a:rPr lang="ru-RU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моделей данных </a:t>
            </a:r>
            <a:r>
              <a:rPr lang="ru-RU" sz="2800" dirty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является основной частью проектирования базы данных. Полученная в процессе анализа информационная модель сначала преобразуется в логическую, а затем в </a:t>
            </a:r>
            <a:r>
              <a:rPr lang="ru-RU" sz="2800" dirty="0" smtClean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физическую </a:t>
            </a:r>
            <a:r>
              <a:rPr lang="ru-RU" sz="2800" dirty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модель данных.</a:t>
            </a:r>
          </a:p>
        </p:txBody>
      </p:sp>
    </p:spTree>
    <p:extLst>
      <p:ext uri="{BB962C8B-B14F-4D97-AF65-F5344CB8AC3E}">
        <p14:creationId xmlns:p14="http://schemas.microsoft.com/office/powerpoint/2010/main" val="1984463020"/>
      </p:ext>
    </p:extLst>
  </p:cSld>
  <p:clrMapOvr>
    <a:overrideClrMapping bg1="dk2" tx1="lt1" bg2="dk1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739" name="Text Box 43"/>
          <p:cNvSpPr txBox="1">
            <a:spLocks noChangeArrowheads="1"/>
          </p:cNvSpPr>
          <p:nvPr/>
        </p:nvSpPr>
        <p:spPr bwMode="auto">
          <a:xfrm>
            <a:off x="9756" y="-63388"/>
            <a:ext cx="9144000" cy="7186583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/>
            </a:pPr>
            <a:r>
              <a:rPr kumimoji="1" lang="ru-RU" sz="2800" dirty="0" smtClean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Проектирование</a:t>
            </a:r>
            <a:endParaRPr kumimoji="1" lang="ru-RU" sz="2800" dirty="0">
              <a:solidFill>
                <a:schemeClr val="accent2">
                  <a:lumMod val="75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Comic Sans MS" pitchFamily="66" charset="0"/>
            </a:endParaRPr>
          </a:p>
          <a:p>
            <a:pPr>
              <a:spcBef>
                <a:spcPts val="300"/>
              </a:spcBef>
              <a:defRPr/>
            </a:pPr>
            <a:endParaRPr lang="ru-RU" sz="800" dirty="0" smtClean="0">
              <a:solidFill>
                <a:srgbClr val="990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charset="0"/>
            </a:endParaRPr>
          </a:p>
          <a:p>
            <a:pPr marL="457200" indent="-457200">
              <a:lnSpc>
                <a:spcPct val="98000"/>
              </a:lnSpc>
              <a:spcBef>
                <a:spcPts val="0"/>
              </a:spcBef>
              <a:buClr>
                <a:srgbClr val="C00000"/>
              </a:buClr>
              <a:buSzPct val="129000"/>
              <a:buFont typeface="Wingdings 2" panose="05020102010507070707" pitchFamily="18" charset="2"/>
              <a:buChar char=""/>
              <a:defRPr/>
            </a:pPr>
            <a:r>
              <a:rPr lang="ru-RU" sz="2800" dirty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Параллельно с проектированием </a:t>
            </a:r>
            <a:r>
              <a:rPr lang="ru-RU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схемы базы данных</a:t>
            </a:r>
            <a:r>
              <a:rPr lang="ru-RU" sz="2800" dirty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 выполняется проектирование </a:t>
            </a:r>
            <a:r>
              <a:rPr lang="ru-RU" sz="28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процессов</a:t>
            </a:r>
            <a:r>
              <a:rPr lang="ru-RU" sz="2800" dirty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, чтобы получить </a:t>
            </a:r>
            <a:r>
              <a:rPr lang="ru-RU" sz="2800" i="1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спецификации</a:t>
            </a:r>
            <a:r>
              <a:rPr lang="ru-RU" sz="2800" dirty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 (описания) всех модулей ИС. Оба эти процесса </a:t>
            </a:r>
            <a:r>
              <a:rPr lang="ru-RU" sz="2800" dirty="0" smtClean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проектирования </a:t>
            </a:r>
            <a:r>
              <a:rPr lang="ru-RU" sz="2800" dirty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тесно связаны, поскольку часть бизнес-логики обычно реализуется в базе данных (</a:t>
            </a:r>
            <a:r>
              <a:rPr lang="ru-RU" sz="2800" i="1" dirty="0" smtClean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ограничения</a:t>
            </a:r>
            <a:r>
              <a:rPr lang="ru-RU" sz="2800" i="1" dirty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, триггеры, хранимые процедуры</a:t>
            </a:r>
            <a:r>
              <a:rPr lang="ru-RU" sz="2800" dirty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). Главная цель проектирования процессов заключается в отображении функций, полученных на этапе анализа, в модули информационной системы. При проектировании модулей определяют интерфейсы программ: </a:t>
            </a:r>
            <a:r>
              <a:rPr lang="ru-RU" sz="2800" i="1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разметку меню, вид окон, горячие клавиши и связанные с ними вызовы.</a:t>
            </a:r>
          </a:p>
        </p:txBody>
      </p:sp>
    </p:spTree>
    <p:extLst>
      <p:ext uri="{BB962C8B-B14F-4D97-AF65-F5344CB8AC3E}">
        <p14:creationId xmlns:p14="http://schemas.microsoft.com/office/powerpoint/2010/main" val="3557154702"/>
      </p:ext>
    </p:extLst>
  </p:cSld>
  <p:clrMapOvr>
    <a:overrideClrMapping bg1="dk2" tx1="lt1" bg2="dk1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739" name="Text Box 43"/>
          <p:cNvSpPr txBox="1">
            <a:spLocks noChangeArrowheads="1"/>
          </p:cNvSpPr>
          <p:nvPr/>
        </p:nvSpPr>
        <p:spPr bwMode="auto">
          <a:xfrm>
            <a:off x="9756" y="-63388"/>
            <a:ext cx="9144000" cy="7324826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/>
            </a:pPr>
            <a:r>
              <a:rPr kumimoji="1" lang="ru-RU" sz="2800" dirty="0" smtClean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Проектирование</a:t>
            </a:r>
            <a:endParaRPr kumimoji="1" lang="ru-RU" sz="2800" dirty="0">
              <a:solidFill>
                <a:schemeClr val="accent2">
                  <a:lumMod val="75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Comic Sans MS" pitchFamily="66" charset="0"/>
            </a:endParaRPr>
          </a:p>
          <a:p>
            <a:pPr>
              <a:spcBef>
                <a:spcPts val="300"/>
              </a:spcBef>
              <a:defRPr/>
            </a:pPr>
            <a:endParaRPr lang="ru-RU" sz="800" dirty="0" smtClean="0">
              <a:solidFill>
                <a:srgbClr val="990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charset="0"/>
            </a:endParaRPr>
          </a:p>
          <a:p>
            <a:pPr marL="452438">
              <a:lnSpc>
                <a:spcPct val="98000"/>
              </a:lnSpc>
              <a:spcBef>
                <a:spcPts val="0"/>
              </a:spcBef>
              <a:buClr>
                <a:srgbClr val="C00000"/>
              </a:buClr>
              <a:buSzPct val="129000"/>
              <a:defRPr/>
            </a:pPr>
            <a:r>
              <a:rPr lang="ru-RU" sz="2800" dirty="0" smtClean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На </a:t>
            </a:r>
            <a:r>
              <a:rPr lang="ru-RU" sz="2800" dirty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этапе проектирования осуществляется также разработка </a:t>
            </a:r>
            <a:r>
              <a:rPr lang="ru-RU" sz="2800" dirty="0">
                <a:solidFill>
                  <a:srgbClr val="CC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архитектуры ИС</a:t>
            </a:r>
            <a:r>
              <a:rPr lang="ru-RU" sz="2800" dirty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, включающая в себя выбор </a:t>
            </a:r>
            <a:r>
              <a:rPr lang="ru-RU" sz="2800" i="1" dirty="0">
                <a:solidFill>
                  <a:srgbClr val="00B05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платформы </a:t>
            </a:r>
            <a:r>
              <a:rPr lang="ru-RU" sz="2800" dirty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(платформ) и </a:t>
            </a:r>
            <a:r>
              <a:rPr lang="ru-RU" sz="2800" i="1" dirty="0">
                <a:solidFill>
                  <a:srgbClr val="00B05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операционной системы </a:t>
            </a:r>
            <a:r>
              <a:rPr lang="ru-RU" sz="2800" dirty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(операционных систем). В неоднородной ИС могут работать несколько компьютеров на разных аппаратных платформах и под </a:t>
            </a:r>
            <a:r>
              <a:rPr lang="ru-RU" sz="2800" dirty="0" smtClean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управлением </a:t>
            </a:r>
            <a:r>
              <a:rPr lang="ru-RU" sz="2800" dirty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различных операционных систем. </a:t>
            </a:r>
            <a:endParaRPr lang="ru-RU" sz="2800" dirty="0" smtClean="0">
              <a:solidFill>
                <a:schemeClr val="bg2">
                  <a:lumMod val="75000"/>
                  <a:lumOff val="25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charset="0"/>
            </a:endParaRPr>
          </a:p>
          <a:p>
            <a:pPr marL="452438">
              <a:lnSpc>
                <a:spcPct val="98000"/>
              </a:lnSpc>
              <a:spcBef>
                <a:spcPts val="0"/>
              </a:spcBef>
              <a:buClr>
                <a:srgbClr val="C00000"/>
              </a:buClr>
              <a:buSzPct val="129000"/>
              <a:defRPr/>
            </a:pPr>
            <a:r>
              <a:rPr lang="ru-RU" sz="2800" dirty="0" smtClean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Кроме </a:t>
            </a:r>
            <a:r>
              <a:rPr lang="ru-RU" sz="2800" dirty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выбора платформы, на этапе проектирования </a:t>
            </a:r>
            <a:r>
              <a:rPr lang="ru-RU" sz="2800" dirty="0" smtClean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определяются </a:t>
            </a:r>
            <a:r>
              <a:rPr lang="ru-RU" sz="2800" dirty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следующие характеристики архитектуры</a:t>
            </a:r>
            <a:r>
              <a:rPr lang="ru-RU" sz="2800" dirty="0" smtClean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:</a:t>
            </a:r>
          </a:p>
          <a:p>
            <a:pPr marL="457200" indent="-457200">
              <a:lnSpc>
                <a:spcPct val="98000"/>
              </a:lnSpc>
              <a:spcBef>
                <a:spcPts val="0"/>
              </a:spcBef>
              <a:buClr>
                <a:srgbClr val="C00000"/>
              </a:buClr>
              <a:buSzPct val="129000"/>
              <a:buFont typeface="Wingdings 2" panose="05020102010507070707" pitchFamily="18" charset="2"/>
              <a:buChar char=""/>
              <a:defRPr/>
            </a:pPr>
            <a:endParaRPr lang="ru-RU" sz="2800" dirty="0" smtClean="0">
              <a:solidFill>
                <a:schemeClr val="bg2">
                  <a:lumMod val="75000"/>
                  <a:lumOff val="25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charset="0"/>
            </a:endParaRPr>
          </a:p>
          <a:p>
            <a:pPr marL="457200" indent="-457200">
              <a:lnSpc>
                <a:spcPct val="80000"/>
              </a:lnSpc>
              <a:spcBef>
                <a:spcPts val="300"/>
              </a:spcBef>
              <a:buClr>
                <a:srgbClr val="C00000"/>
              </a:buClr>
              <a:buSzPct val="129000"/>
              <a:buFont typeface="Wingdings" panose="05000000000000000000" pitchFamily="2" charset="2"/>
              <a:buChar char="ü"/>
              <a:defRPr/>
            </a:pPr>
            <a:r>
              <a:rPr lang="ru-RU" sz="2800" dirty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будет ли это архитектура "файл-сервер" или "клиент-сервер"; </a:t>
            </a:r>
          </a:p>
          <a:p>
            <a:pPr marL="457200" indent="-457200">
              <a:lnSpc>
                <a:spcPct val="98000"/>
              </a:lnSpc>
              <a:spcBef>
                <a:spcPts val="0"/>
              </a:spcBef>
              <a:buClr>
                <a:srgbClr val="C00000"/>
              </a:buClr>
              <a:buSzPct val="129000"/>
              <a:buFont typeface="Wingdings 2" panose="05020102010507070707" pitchFamily="18" charset="2"/>
              <a:buChar char=""/>
              <a:defRPr/>
            </a:pPr>
            <a:endParaRPr lang="ru-RU" sz="2800" i="1" dirty="0">
              <a:solidFill>
                <a:schemeClr val="accent5">
                  <a:lumMod val="75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8025655"/>
      </p:ext>
    </p:extLst>
  </p:cSld>
  <p:clrMapOvr>
    <a:overrideClrMapping bg1="dk2" tx1="lt1" bg2="dk1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739" name="Text Box 43"/>
          <p:cNvSpPr txBox="1">
            <a:spLocks noChangeArrowheads="1"/>
          </p:cNvSpPr>
          <p:nvPr/>
        </p:nvSpPr>
        <p:spPr bwMode="auto">
          <a:xfrm>
            <a:off x="0" y="11520"/>
            <a:ext cx="9161610" cy="6855723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457200" indent="-457200">
              <a:spcBef>
                <a:spcPts val="300"/>
              </a:spcBef>
              <a:buClr>
                <a:srgbClr val="C00000"/>
              </a:buClr>
              <a:buSzPct val="129000"/>
              <a:buFont typeface="Wingdings" panose="05000000000000000000" pitchFamily="2" charset="2"/>
              <a:buChar char="ü"/>
              <a:defRPr/>
            </a:pPr>
            <a:r>
              <a:rPr lang="ru-RU" dirty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будет ли это 3-уровневая архитектура со следующими слоями: сервер, ПО промежуточного слоя (сервер приложений), клиентское ПО; </a:t>
            </a:r>
          </a:p>
          <a:p>
            <a:pPr marL="457200" indent="-457200">
              <a:spcBef>
                <a:spcPts val="300"/>
              </a:spcBef>
              <a:buClr>
                <a:srgbClr val="C00000"/>
              </a:buClr>
              <a:buSzPct val="129000"/>
              <a:buFont typeface="Wingdings" panose="05000000000000000000" pitchFamily="2" charset="2"/>
              <a:buChar char="ü"/>
              <a:defRPr/>
            </a:pPr>
            <a:r>
              <a:rPr lang="ru-RU" dirty="0" smtClean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будет </a:t>
            </a:r>
            <a:r>
              <a:rPr lang="ru-RU" dirty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ли база данных централизованной или распределенной. Если база данных будет распре-деленной, то какие механизмы поддержки согласованности и актуальности данных будут </a:t>
            </a:r>
            <a:r>
              <a:rPr lang="ru-RU" dirty="0" smtClean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использоваться</a:t>
            </a:r>
            <a:r>
              <a:rPr lang="ru-RU" dirty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; </a:t>
            </a:r>
          </a:p>
          <a:p>
            <a:pPr marL="457200" indent="-457200">
              <a:spcBef>
                <a:spcPts val="300"/>
              </a:spcBef>
              <a:buClr>
                <a:srgbClr val="C00000"/>
              </a:buClr>
              <a:buSzPct val="129000"/>
              <a:buFont typeface="Wingdings" panose="05000000000000000000" pitchFamily="2" charset="2"/>
              <a:buChar char="ü"/>
              <a:defRPr/>
            </a:pPr>
            <a:r>
              <a:rPr lang="ru-RU" dirty="0" smtClean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будет </a:t>
            </a:r>
            <a:r>
              <a:rPr lang="ru-RU" dirty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ли база данных однородной, то есть, будут ли все серверы баз данных продуктами </a:t>
            </a:r>
            <a:r>
              <a:rPr lang="ru-RU" dirty="0" smtClean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одного </a:t>
            </a:r>
            <a:r>
              <a:rPr lang="ru-RU" dirty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и того же производителя (например, все серверы только </a:t>
            </a:r>
            <a:r>
              <a:rPr lang="ru-RU" dirty="0" err="1" smtClean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Oracle</a:t>
            </a:r>
            <a:r>
              <a:rPr lang="ru-RU" dirty="0" smtClean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). </a:t>
            </a:r>
            <a:r>
              <a:rPr lang="ru-RU" dirty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Если база данных не будет однородной, то какое ПО будет использовано для обмена данными между СУБД разных производителей (уже существующее или разработанное </a:t>
            </a:r>
            <a:r>
              <a:rPr lang="ru-RU" dirty="0" smtClean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специально </a:t>
            </a:r>
            <a:r>
              <a:rPr lang="ru-RU" dirty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как часть проекта</a:t>
            </a:r>
            <a:r>
              <a:rPr lang="ru-RU" dirty="0" smtClean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); </a:t>
            </a:r>
            <a:endParaRPr lang="ru-RU" dirty="0">
              <a:solidFill>
                <a:schemeClr val="bg2">
                  <a:lumMod val="75000"/>
                  <a:lumOff val="25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charset="0"/>
            </a:endParaRPr>
          </a:p>
          <a:p>
            <a:pPr marL="457200" indent="-457200">
              <a:spcBef>
                <a:spcPts val="300"/>
              </a:spcBef>
              <a:buClr>
                <a:srgbClr val="C00000"/>
              </a:buClr>
              <a:buSzPct val="129000"/>
              <a:buFont typeface="Wingdings" panose="05000000000000000000" pitchFamily="2" charset="2"/>
              <a:buChar char="ü"/>
              <a:defRPr/>
            </a:pPr>
            <a:r>
              <a:rPr lang="ru-RU" dirty="0" smtClean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будут </a:t>
            </a:r>
            <a:r>
              <a:rPr lang="ru-RU" dirty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ли для достижения должной производительности использоваться параллельные серверы баз данных (например, </a:t>
            </a:r>
            <a:r>
              <a:rPr lang="ru-RU" dirty="0" err="1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Oracle</a:t>
            </a:r>
            <a:r>
              <a:rPr lang="ru-RU" dirty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 </a:t>
            </a:r>
            <a:r>
              <a:rPr lang="ru-RU" dirty="0" err="1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Parallel</a:t>
            </a:r>
            <a:r>
              <a:rPr lang="ru-RU" dirty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 </a:t>
            </a:r>
            <a:r>
              <a:rPr lang="ru-RU" dirty="0" err="1" smtClean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Server</a:t>
            </a:r>
            <a:r>
              <a:rPr lang="ru-RU" dirty="0" smtClean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).</a:t>
            </a:r>
            <a:endParaRPr lang="ru-RU" dirty="0">
              <a:solidFill>
                <a:schemeClr val="bg2">
                  <a:lumMod val="75000"/>
                  <a:lumOff val="25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0824349"/>
      </p:ext>
    </p:extLst>
  </p:cSld>
  <p:clrMapOvr>
    <a:overrideClrMapping bg1="dk2" tx1="lt1" bg2="dk1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739" name="Text Box 43"/>
          <p:cNvSpPr txBox="1">
            <a:spLocks noChangeArrowheads="1"/>
          </p:cNvSpPr>
          <p:nvPr/>
        </p:nvSpPr>
        <p:spPr bwMode="auto">
          <a:xfrm>
            <a:off x="251520" y="872716"/>
            <a:ext cx="8460940" cy="5190139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/>
            </a:pPr>
            <a:r>
              <a:rPr kumimoji="1" lang="ru-RU" sz="2800" dirty="0" smtClean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Проектирование</a:t>
            </a:r>
            <a:endParaRPr kumimoji="1" lang="ru-RU" sz="2800" dirty="0">
              <a:solidFill>
                <a:schemeClr val="accent2">
                  <a:lumMod val="75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Comic Sans MS" pitchFamily="66" charset="0"/>
            </a:endParaRPr>
          </a:p>
          <a:p>
            <a:pPr>
              <a:spcBef>
                <a:spcPts val="300"/>
              </a:spcBef>
              <a:defRPr/>
            </a:pPr>
            <a:endParaRPr lang="ru-RU" sz="800" dirty="0" smtClean="0">
              <a:solidFill>
                <a:srgbClr val="990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charset="0"/>
            </a:endParaRPr>
          </a:p>
          <a:p>
            <a:pPr marL="457200" indent="-457200">
              <a:lnSpc>
                <a:spcPct val="98000"/>
              </a:lnSpc>
              <a:spcBef>
                <a:spcPts val="0"/>
              </a:spcBef>
              <a:buClr>
                <a:srgbClr val="C00000"/>
              </a:buClr>
              <a:buSzPct val="129000"/>
              <a:buFont typeface="Wingdings 2" panose="05020102010507070707" pitchFamily="18" charset="2"/>
              <a:buChar char=""/>
              <a:defRPr/>
            </a:pPr>
            <a:r>
              <a:rPr lang="ru-RU" sz="2800" dirty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Конечными продуктами этапа проектирования являются</a:t>
            </a:r>
            <a:r>
              <a:rPr lang="ru-RU" sz="2800" dirty="0" smtClean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:</a:t>
            </a:r>
          </a:p>
          <a:p>
            <a:pPr marL="808038" indent="-457200">
              <a:spcBef>
                <a:spcPts val="600"/>
              </a:spcBef>
              <a:buClr>
                <a:srgbClr val="C00000"/>
              </a:buClr>
              <a:buSzPct val="129000"/>
              <a:buFont typeface="Wingdings" panose="05000000000000000000" pitchFamily="2" charset="2"/>
              <a:buChar char="ü"/>
              <a:defRPr/>
            </a:pPr>
            <a:r>
              <a:rPr kumimoji="1" lang="ru-RU" sz="2800" dirty="0" smtClean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схема </a:t>
            </a:r>
            <a:r>
              <a:rPr kumimoji="1" lang="ru-RU" sz="2800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базы данных (на основании ER-модели, разработанной на этапе анализа); </a:t>
            </a:r>
          </a:p>
          <a:p>
            <a:pPr marL="808038" indent="-457200">
              <a:spcBef>
                <a:spcPts val="600"/>
              </a:spcBef>
              <a:buClr>
                <a:srgbClr val="C00000"/>
              </a:buClr>
              <a:buSzPct val="129000"/>
              <a:buFont typeface="Wingdings" panose="05000000000000000000" pitchFamily="2" charset="2"/>
              <a:buChar char="ü"/>
              <a:defRPr/>
            </a:pPr>
            <a:r>
              <a:rPr kumimoji="1" lang="ru-RU" sz="2800" dirty="0" smtClean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набор </a:t>
            </a:r>
            <a:r>
              <a:rPr kumimoji="1" lang="ru-RU" sz="2800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спецификаций модулей системы </a:t>
            </a:r>
            <a:r>
              <a:rPr kumimoji="1" lang="ru-RU" sz="2800" dirty="0" smtClean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(строятся </a:t>
            </a:r>
            <a:r>
              <a:rPr kumimoji="1" lang="ru-RU" sz="2800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на базе моделей функций</a:t>
            </a:r>
            <a:r>
              <a:rPr kumimoji="1" lang="ru-RU" sz="2800" dirty="0" smtClean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).</a:t>
            </a:r>
          </a:p>
          <a:p>
            <a:pPr marL="808038" indent="-457200">
              <a:spcBef>
                <a:spcPts val="600"/>
              </a:spcBef>
              <a:buClr>
                <a:srgbClr val="C00000"/>
              </a:buClr>
              <a:buSzPct val="129000"/>
              <a:buFont typeface="Wingdings" panose="05000000000000000000" pitchFamily="2" charset="2"/>
              <a:buChar char="ü"/>
              <a:defRPr/>
            </a:pPr>
            <a:endParaRPr kumimoji="1" lang="ru-RU" sz="2800" dirty="0">
              <a:solidFill>
                <a:schemeClr val="accent2">
                  <a:lumMod val="75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Comic Sans MS" pitchFamily="66" charset="0"/>
            </a:endParaRPr>
          </a:p>
          <a:p>
            <a:pPr marL="457200" indent="-457200">
              <a:lnSpc>
                <a:spcPct val="98000"/>
              </a:lnSpc>
              <a:spcBef>
                <a:spcPts val="0"/>
              </a:spcBef>
              <a:buClr>
                <a:srgbClr val="C00000"/>
              </a:buClr>
              <a:buSzPct val="129000"/>
              <a:buFont typeface="Wingdings 2" panose="05020102010507070707" pitchFamily="18" charset="2"/>
              <a:buChar char=""/>
              <a:defRPr/>
            </a:pPr>
            <a:r>
              <a:rPr lang="ru-RU" sz="2800" dirty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Этап проектирования завершается разработкой </a:t>
            </a:r>
            <a:r>
              <a:rPr lang="ru-RU" sz="2800" dirty="0">
                <a:solidFill>
                  <a:srgbClr val="80008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технического проекта</a:t>
            </a:r>
            <a:r>
              <a:rPr lang="ru-RU" sz="2800" dirty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 ИС.</a:t>
            </a:r>
            <a:endParaRPr lang="ru-RU" sz="2800" i="1" dirty="0">
              <a:solidFill>
                <a:schemeClr val="accent5">
                  <a:lumMod val="75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0709346"/>
      </p:ext>
    </p:extLst>
  </p:cSld>
  <p:clrMapOvr>
    <a:overrideClrMapping bg1="dk2" tx1="lt1" bg2="dk1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739" name="Text Box 43"/>
          <p:cNvSpPr txBox="1">
            <a:spLocks noChangeArrowheads="1"/>
          </p:cNvSpPr>
          <p:nvPr/>
        </p:nvSpPr>
        <p:spPr bwMode="auto">
          <a:xfrm>
            <a:off x="1007604" y="1268760"/>
            <a:ext cx="7200800" cy="3218573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/>
            </a:pPr>
            <a:r>
              <a:rPr kumimoji="1" lang="ru-RU" sz="2800" dirty="0" smtClean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Реализация</a:t>
            </a:r>
            <a:endParaRPr kumimoji="1" lang="ru-RU" sz="2800" dirty="0">
              <a:solidFill>
                <a:schemeClr val="accent2">
                  <a:lumMod val="75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Comic Sans MS" pitchFamily="66" charset="0"/>
            </a:endParaRPr>
          </a:p>
          <a:p>
            <a:pPr>
              <a:spcBef>
                <a:spcPts val="300"/>
              </a:spcBef>
              <a:defRPr/>
            </a:pPr>
            <a:endParaRPr lang="ru-RU" sz="800" dirty="0" smtClean="0">
              <a:solidFill>
                <a:srgbClr val="990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charset="0"/>
            </a:endParaRPr>
          </a:p>
          <a:p>
            <a:pPr marL="457200" indent="-457200">
              <a:lnSpc>
                <a:spcPct val="98000"/>
              </a:lnSpc>
              <a:spcBef>
                <a:spcPts val="0"/>
              </a:spcBef>
              <a:buClr>
                <a:srgbClr val="C00000"/>
              </a:buClr>
              <a:buSzPct val="129000"/>
              <a:buFont typeface="Wingdings 2" panose="05020102010507070707" pitchFamily="18" charset="2"/>
              <a:buChar char=""/>
              <a:defRPr/>
            </a:pPr>
            <a:r>
              <a:rPr lang="ru-RU" sz="2800" dirty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На этапе реализации осуществляется создание программного обеспечения системы, </a:t>
            </a:r>
            <a:r>
              <a:rPr lang="ru-RU" sz="2800" dirty="0" smtClean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установка </a:t>
            </a:r>
            <a:r>
              <a:rPr lang="ru-RU" sz="2800" dirty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технических средств, разработка эксплуатационной документации.</a:t>
            </a:r>
            <a:endParaRPr lang="ru-RU" sz="2800" i="1" dirty="0">
              <a:solidFill>
                <a:schemeClr val="accent5">
                  <a:lumMod val="75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7651309"/>
      </p:ext>
    </p:extLst>
  </p:cSld>
  <p:clrMapOvr>
    <a:overrideClrMapping bg1="dk2" tx1="lt1" bg2="dk1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739" name="Text Box 43"/>
          <p:cNvSpPr txBox="1">
            <a:spLocks noChangeArrowheads="1"/>
          </p:cNvSpPr>
          <p:nvPr/>
        </p:nvSpPr>
        <p:spPr bwMode="auto">
          <a:xfrm>
            <a:off x="279612" y="0"/>
            <a:ext cx="8864388" cy="7139134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/>
            </a:pPr>
            <a:r>
              <a:rPr kumimoji="1" lang="ru-RU" sz="2800" dirty="0" smtClean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Тестирование</a:t>
            </a:r>
            <a:endParaRPr kumimoji="1" lang="ru-RU" sz="2800" dirty="0">
              <a:solidFill>
                <a:schemeClr val="accent2">
                  <a:lumMod val="75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Comic Sans MS" pitchFamily="66" charset="0"/>
            </a:endParaRPr>
          </a:p>
          <a:p>
            <a:pPr>
              <a:spcBef>
                <a:spcPts val="300"/>
              </a:spcBef>
              <a:defRPr/>
            </a:pPr>
            <a:endParaRPr lang="ru-RU" sz="800" dirty="0" smtClean="0">
              <a:solidFill>
                <a:srgbClr val="990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charset="0"/>
            </a:endParaRPr>
          </a:p>
          <a:p>
            <a:pPr marL="457200" indent="-457200">
              <a:lnSpc>
                <a:spcPct val="98000"/>
              </a:lnSpc>
              <a:spcBef>
                <a:spcPts val="0"/>
              </a:spcBef>
              <a:buClr>
                <a:srgbClr val="C00000"/>
              </a:buClr>
              <a:buSzPct val="129000"/>
              <a:buFont typeface="Wingdings 2" panose="05020102010507070707" pitchFamily="18" charset="2"/>
              <a:buChar char=""/>
              <a:defRPr/>
            </a:pPr>
            <a:r>
              <a:rPr lang="ru-RU" sz="2800" dirty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После завершения разработки отдельного модуля системы выполняют автономный тест, который преследует две основные цели</a:t>
            </a:r>
            <a:r>
              <a:rPr lang="ru-RU" sz="2800" dirty="0" smtClean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:</a:t>
            </a:r>
          </a:p>
          <a:p>
            <a:pPr marL="895350" lvl="0" indent="-457200">
              <a:spcBef>
                <a:spcPts val="300"/>
              </a:spcBef>
              <a:buClr>
                <a:srgbClr val="C00000"/>
              </a:buClr>
              <a:buSzPct val="129000"/>
              <a:buFont typeface="Wingdings" panose="05000000000000000000" pitchFamily="2" charset="2"/>
              <a:buChar char="ü"/>
              <a:defRPr/>
            </a:pPr>
            <a:r>
              <a:rPr kumimoji="1" lang="ru-RU" sz="2800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обнаружение отказов модуля (жестких сбоев); </a:t>
            </a:r>
          </a:p>
          <a:p>
            <a:pPr marL="895350" lvl="0" indent="-457200">
              <a:spcBef>
                <a:spcPts val="300"/>
              </a:spcBef>
              <a:buClr>
                <a:srgbClr val="C00000"/>
              </a:buClr>
              <a:buSzPct val="129000"/>
              <a:buFont typeface="Wingdings" panose="05000000000000000000" pitchFamily="2" charset="2"/>
              <a:buChar char="ü"/>
              <a:defRPr/>
            </a:pPr>
            <a:r>
              <a:rPr kumimoji="1" lang="ru-RU" sz="2800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соответствие модуля спецификации (наличие всех необходимых функций, отсутствие лишних функций).</a:t>
            </a:r>
          </a:p>
          <a:p>
            <a:pPr marL="539750" lvl="0" indent="-539750">
              <a:lnSpc>
                <a:spcPct val="98000"/>
              </a:lnSpc>
              <a:spcBef>
                <a:spcPts val="0"/>
              </a:spcBef>
              <a:buClr>
                <a:srgbClr val="C00000"/>
              </a:buClr>
              <a:buSzPct val="129000"/>
              <a:buFont typeface="Wingdings 2" panose="05020102010507070707" pitchFamily="18" charset="2"/>
              <a:buChar char=""/>
              <a:defRPr/>
            </a:pPr>
            <a:r>
              <a:rPr lang="ru-RU" sz="2800" dirty="0" smtClean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После прохождения автономного теста модуль </a:t>
            </a:r>
            <a:r>
              <a:rPr lang="ru-RU" sz="2800" dirty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включается в состав </a:t>
            </a:r>
            <a:r>
              <a:rPr lang="ru-RU" sz="2800" dirty="0" smtClean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разработанной </a:t>
            </a:r>
            <a:r>
              <a:rPr lang="ru-RU" sz="2800" dirty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части системы и группа сгенерированных модулей проходит тесты связей, которые </a:t>
            </a:r>
            <a:r>
              <a:rPr lang="ru-RU" sz="2800" dirty="0" smtClean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должны </a:t>
            </a:r>
            <a:r>
              <a:rPr lang="ru-RU" sz="2800" dirty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отследить их взаимное влияние.</a:t>
            </a:r>
          </a:p>
          <a:p>
            <a:pPr marL="457200" indent="-457200">
              <a:lnSpc>
                <a:spcPct val="98000"/>
              </a:lnSpc>
              <a:spcBef>
                <a:spcPts val="0"/>
              </a:spcBef>
              <a:buClr>
                <a:srgbClr val="C00000"/>
              </a:buClr>
              <a:buSzPct val="129000"/>
              <a:buFont typeface="Wingdings 2" panose="05020102010507070707" pitchFamily="18" charset="2"/>
              <a:buChar char=""/>
              <a:defRPr/>
            </a:pPr>
            <a:endParaRPr lang="ru-RU" sz="2800" i="1" dirty="0">
              <a:solidFill>
                <a:schemeClr val="accent5">
                  <a:lumMod val="75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2863893"/>
      </p:ext>
    </p:extLst>
  </p:cSld>
  <p:clrMapOvr>
    <a:overrideClrMapping bg1="dk2" tx1="lt1" bg2="dk1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739" name="Text Box 43"/>
          <p:cNvSpPr txBox="1">
            <a:spLocks noChangeArrowheads="1"/>
          </p:cNvSpPr>
          <p:nvPr/>
        </p:nvSpPr>
        <p:spPr bwMode="auto">
          <a:xfrm>
            <a:off x="0" y="0"/>
            <a:ext cx="9144000" cy="7483524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/>
            </a:pPr>
            <a:r>
              <a:rPr kumimoji="1" lang="ru-RU" sz="2800" dirty="0" smtClean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Тестирование</a:t>
            </a:r>
          </a:p>
          <a:p>
            <a:pPr marL="457200" indent="-457200">
              <a:lnSpc>
                <a:spcPct val="98000"/>
              </a:lnSpc>
              <a:spcBef>
                <a:spcPts val="400"/>
              </a:spcBef>
              <a:buClr>
                <a:srgbClr val="C00000"/>
              </a:buClr>
              <a:buSzPct val="129000"/>
              <a:buFont typeface="Wingdings 2" panose="05020102010507070707" pitchFamily="18" charset="2"/>
              <a:buChar char=""/>
              <a:defRPr/>
            </a:pPr>
            <a:r>
              <a:rPr lang="ru-RU" dirty="0" smtClean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Далее </a:t>
            </a:r>
            <a:r>
              <a:rPr lang="ru-RU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группа модулей тестируется на надежность работы</a:t>
            </a:r>
            <a:r>
              <a:rPr lang="ru-RU" dirty="0" smtClean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, то есть проходят, во-первых, </a:t>
            </a:r>
            <a:r>
              <a:rPr lang="ru-RU" i="1" dirty="0" smtClean="0">
                <a:solidFill>
                  <a:srgbClr val="00B0F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тесты имитации отказов системы</a:t>
            </a:r>
            <a:r>
              <a:rPr lang="ru-RU" dirty="0" smtClean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, а во-вторых, </a:t>
            </a:r>
            <a:r>
              <a:rPr lang="ru-RU" i="1" dirty="0" smtClean="0">
                <a:solidFill>
                  <a:srgbClr val="00B0F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тесты наработки на отказ</a:t>
            </a:r>
            <a:r>
              <a:rPr lang="ru-RU" dirty="0" smtClean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. </a:t>
            </a:r>
          </a:p>
          <a:p>
            <a:pPr marL="457200" indent="-457200">
              <a:lnSpc>
                <a:spcPct val="98000"/>
              </a:lnSpc>
              <a:spcBef>
                <a:spcPts val="400"/>
              </a:spcBef>
              <a:buClr>
                <a:srgbClr val="C00000"/>
              </a:buClr>
              <a:buSzPct val="129000"/>
              <a:buFont typeface="Wingdings 2" panose="05020102010507070707" pitchFamily="18" charset="2"/>
              <a:buChar char=""/>
              <a:defRPr/>
            </a:pPr>
            <a:r>
              <a:rPr lang="ru-RU" dirty="0" smtClean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В комплект тестов устойчивости должны входить </a:t>
            </a:r>
            <a:r>
              <a:rPr lang="ru-RU" i="1" dirty="0">
                <a:solidFill>
                  <a:srgbClr val="00B0F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тесты, имитирующие пиковую нагрузку на систему.</a:t>
            </a:r>
          </a:p>
          <a:p>
            <a:pPr marL="457200" indent="-457200">
              <a:lnSpc>
                <a:spcPct val="98000"/>
              </a:lnSpc>
              <a:spcBef>
                <a:spcPts val="400"/>
              </a:spcBef>
              <a:buClr>
                <a:srgbClr val="C00000"/>
              </a:buClr>
              <a:buSzPct val="129000"/>
              <a:buFont typeface="Wingdings 2" panose="05020102010507070707" pitchFamily="18" charset="2"/>
              <a:buChar char=""/>
              <a:defRPr/>
            </a:pPr>
            <a:r>
              <a:rPr lang="ru-RU" dirty="0" smtClean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Затем весь комплект модулей проходит </a:t>
            </a:r>
            <a:r>
              <a:rPr lang="ru-RU" i="1" dirty="0">
                <a:solidFill>
                  <a:srgbClr val="00B0F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системный тест</a:t>
            </a:r>
            <a:r>
              <a:rPr lang="ru-RU" dirty="0" smtClean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 – тест внутренней приемки продукта, показывающий уровень его качества. Сюда входят </a:t>
            </a:r>
            <a:r>
              <a:rPr lang="ru-RU" i="1" dirty="0">
                <a:solidFill>
                  <a:srgbClr val="00B0F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тесты функциональности и тесты надежности системы.</a:t>
            </a:r>
          </a:p>
          <a:p>
            <a:pPr marL="457200" indent="-457200">
              <a:lnSpc>
                <a:spcPct val="98000"/>
              </a:lnSpc>
              <a:spcBef>
                <a:spcPts val="400"/>
              </a:spcBef>
              <a:buClr>
                <a:srgbClr val="C00000"/>
              </a:buClr>
              <a:buSzPct val="129000"/>
              <a:buFont typeface="Wingdings 2" panose="05020102010507070707" pitchFamily="18" charset="2"/>
              <a:buChar char=""/>
              <a:defRPr/>
            </a:pPr>
            <a:r>
              <a:rPr lang="ru-RU" dirty="0" smtClean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Последний тест информационной системы – </a:t>
            </a:r>
            <a:r>
              <a:rPr lang="ru-RU" i="1" dirty="0">
                <a:solidFill>
                  <a:srgbClr val="00B0F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приемо-сдаточные испытания. </a:t>
            </a:r>
            <a:r>
              <a:rPr lang="ru-RU" dirty="0" smtClean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Такой тест предусматривает показ информационной системы заказчику и должен содержать группу тестов, моделирующих реальные бизнес-процессы, чтобы показать соответствие реализации требованиям заказчика.</a:t>
            </a:r>
          </a:p>
          <a:p>
            <a:pPr marL="457200" indent="-457200">
              <a:lnSpc>
                <a:spcPct val="98000"/>
              </a:lnSpc>
              <a:spcBef>
                <a:spcPts val="600"/>
              </a:spcBef>
              <a:buClr>
                <a:srgbClr val="C00000"/>
              </a:buClr>
              <a:buSzPct val="129000"/>
              <a:buFont typeface="Wingdings 2" panose="05020102010507070707" pitchFamily="18" charset="2"/>
              <a:buChar char=""/>
              <a:defRPr/>
            </a:pPr>
            <a:endParaRPr lang="ru-RU" sz="2800" dirty="0">
              <a:solidFill>
                <a:schemeClr val="bg2">
                  <a:lumMod val="75000"/>
                  <a:lumOff val="25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4078118"/>
      </p:ext>
    </p:extLst>
  </p:cSld>
  <p:clrMapOvr>
    <a:overrideClrMapping bg1="dk2" tx1="lt1" bg2="dk1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739" name="Text Box 43"/>
          <p:cNvSpPr txBox="1">
            <a:spLocks noChangeArrowheads="1"/>
          </p:cNvSpPr>
          <p:nvPr/>
        </p:nvSpPr>
        <p:spPr bwMode="auto">
          <a:xfrm>
            <a:off x="539552" y="764704"/>
            <a:ext cx="7488832" cy="4737579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457200" indent="-457200">
              <a:lnSpc>
                <a:spcPct val="98000"/>
              </a:lnSpc>
              <a:spcBef>
                <a:spcPts val="400"/>
              </a:spcBef>
              <a:buClr>
                <a:srgbClr val="C00000"/>
              </a:buClr>
              <a:buSzPct val="129000"/>
              <a:buFont typeface="Wingdings 2" panose="05020102010507070707" pitchFamily="18" charset="2"/>
              <a:buChar char=""/>
              <a:defRPr/>
            </a:pPr>
            <a:r>
              <a:rPr lang="ru-RU" sz="2800" dirty="0" smtClean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Необходимость </a:t>
            </a:r>
            <a:r>
              <a:rPr lang="ru-RU" sz="2800" dirty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контролировать процесс создания ИС, гарантировать достижение целей разработки и соблюдение различных ограничений (бюджетных, временных и пр.) привело к </a:t>
            </a:r>
            <a:r>
              <a:rPr lang="ru-RU" sz="2800" dirty="0" smtClean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широкому </a:t>
            </a:r>
            <a:r>
              <a:rPr lang="ru-RU" sz="2800" dirty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использованию в этой сфере методов и средств </a:t>
            </a:r>
            <a:r>
              <a:rPr lang="ru-RU" sz="2800" dirty="0">
                <a:solidFill>
                  <a:srgbClr val="00B0F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программной инженерии</a:t>
            </a:r>
            <a:r>
              <a:rPr lang="ru-RU" sz="2800" dirty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: </a:t>
            </a:r>
            <a:r>
              <a:rPr lang="ru-RU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структурного анализа, объектно-ориентированного моделирования, CASE-систем</a:t>
            </a:r>
            <a:r>
              <a:rPr lang="ru-RU" sz="2800" dirty="0">
                <a:solidFill>
                  <a:schemeClr val="bg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56490643"/>
      </p:ext>
    </p:extLst>
  </p:cSld>
  <p:clrMapOvr>
    <a:overrideClrMapping bg1="dk2" tx1="lt1" bg2="dk1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5"/>
          <p:cNvSpPr>
            <a:spLocks noChangeArrowheads="1"/>
          </p:cNvSpPr>
          <p:nvPr/>
        </p:nvSpPr>
        <p:spPr bwMode="auto">
          <a:xfrm>
            <a:off x="236538" y="800100"/>
            <a:ext cx="8916987" cy="53737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lnSpc>
                <a:spcPct val="110000"/>
              </a:lnSpc>
              <a:buClr>
                <a:srgbClr val="CC0000"/>
              </a:buClr>
              <a:buFontTx/>
              <a:buAutoNum type="arabicPeriod"/>
              <a:defRPr/>
            </a:pPr>
            <a:r>
              <a:rPr kumimoji="1" lang="ru-RU" sz="28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Сложность описания </a:t>
            </a:r>
            <a:r>
              <a:rPr kumimoji="1" lang="ru-RU" sz="2000" b="0" dirty="0">
                <a:solidFill>
                  <a:srgbClr val="000000"/>
                </a:solidFill>
                <a:latin typeface="Arial" charset="0"/>
              </a:rPr>
              <a:t>(достаточно большое количество функций, процессов, элементов данных и сложные взаимосвязи между ними), требующая тщательною моделирования и анализа данных и процессов;</a:t>
            </a:r>
          </a:p>
          <a:p>
            <a:pPr marL="342900" indent="-342900">
              <a:lnSpc>
                <a:spcPct val="110000"/>
              </a:lnSpc>
              <a:buClr>
                <a:srgbClr val="CC0000"/>
              </a:buClr>
              <a:buFontTx/>
              <a:buAutoNum type="arabicPeriod"/>
              <a:defRPr/>
            </a:pPr>
            <a:r>
              <a:rPr kumimoji="1" lang="ru-RU" sz="28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Наличие совокупности тесно взаимодействующих компонентов (подсистем)</a:t>
            </a:r>
            <a:r>
              <a:rPr kumimoji="1" lang="ru-RU" sz="2000" b="0" dirty="0">
                <a:solidFill>
                  <a:srgbClr val="000000"/>
                </a:solidFill>
                <a:latin typeface="Arial" charset="0"/>
              </a:rPr>
              <a:t>, имеющих локальные задачи и цели функционирования (например, традиционных приложений, связанных с обработкой транзакций и решением регламентных задач, и приложений аналитической обработки (поддержки принятия решений), использующих нерегламентированные запросы к данным);</a:t>
            </a:r>
          </a:p>
          <a:p>
            <a:pPr marL="342900" indent="-342900">
              <a:lnSpc>
                <a:spcPct val="110000"/>
              </a:lnSpc>
              <a:buClr>
                <a:srgbClr val="CC0000"/>
              </a:buClr>
              <a:buFontTx/>
              <a:buAutoNum type="arabicPeriod"/>
              <a:defRPr/>
            </a:pPr>
            <a:r>
              <a:rPr kumimoji="1" lang="ru-RU" sz="28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Отсутствие полных аналогов</a:t>
            </a:r>
            <a:r>
              <a:rPr kumimoji="1" lang="ru-RU" b="0" dirty="0">
                <a:solidFill>
                  <a:srgbClr val="99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,</a:t>
            </a:r>
            <a:r>
              <a:rPr kumimoji="1" lang="ru-RU" sz="2000" b="0" dirty="0">
                <a:solidFill>
                  <a:srgbClr val="000000"/>
                </a:solidFill>
                <a:latin typeface="Arial" charset="0"/>
              </a:rPr>
              <a:t> ограничивающее возможность использования каких-либо типовых проектных решений и прикладных систем; </a:t>
            </a:r>
          </a:p>
        </p:txBody>
      </p:sp>
      <p:sp>
        <p:nvSpPr>
          <p:cNvPr id="6" name="Rectangle 17"/>
          <p:cNvSpPr>
            <a:spLocks noChangeArrowheads="1"/>
          </p:cNvSpPr>
          <p:nvPr/>
        </p:nvSpPr>
        <p:spPr bwMode="auto">
          <a:xfrm>
            <a:off x="30163" y="87313"/>
            <a:ext cx="9329737" cy="538162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anchor="ctr">
            <a:spAutoFit/>
          </a:bodyPr>
          <a:lstStyle/>
          <a:p>
            <a:pPr>
              <a:lnSpc>
                <a:spcPct val="110000"/>
              </a:lnSpc>
              <a:buClr>
                <a:srgbClr val="CC0000"/>
              </a:buClr>
              <a:defRPr/>
            </a:pPr>
            <a:r>
              <a:rPr kumimoji="1" lang="ru-RU" sz="2800" dirty="0">
                <a:solidFill>
                  <a:srgbClr val="F14124">
                    <a:lumMod val="50000"/>
                  </a:srgb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Особенности современных крупных проектов ИС</a:t>
            </a:r>
          </a:p>
        </p:txBody>
      </p:sp>
    </p:spTree>
    <p:extLst>
      <p:ext uri="{BB962C8B-B14F-4D97-AF65-F5344CB8AC3E}">
        <p14:creationId xmlns:p14="http://schemas.microsoft.com/office/powerpoint/2010/main" val="18415626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5"/>
          <p:cNvSpPr>
            <a:spLocks noChangeArrowheads="1"/>
          </p:cNvSpPr>
          <p:nvPr/>
        </p:nvSpPr>
        <p:spPr bwMode="auto">
          <a:xfrm>
            <a:off x="179512" y="671691"/>
            <a:ext cx="8718550" cy="61863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55600" indent="-355600">
              <a:lnSpc>
                <a:spcPct val="110000"/>
              </a:lnSpc>
              <a:buClr>
                <a:srgbClr val="CC0000"/>
              </a:buClr>
              <a:buSzPct val="110000"/>
              <a:buFont typeface="+mj-lt"/>
              <a:buAutoNum type="arabicPeriod" startAt="4"/>
              <a:defRPr/>
            </a:pPr>
            <a:r>
              <a:rPr kumimoji="1" lang="ru-RU" sz="28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Необходимость интеграции </a:t>
            </a:r>
            <a:r>
              <a:rPr kumimoji="1" lang="ru-RU" b="0" dirty="0">
                <a:solidFill>
                  <a:srgbClr val="000000"/>
                </a:solidFill>
                <a:latin typeface="Arial" charset="0"/>
              </a:rPr>
              <a:t>существующих и вновь разрабатываемых приложений;</a:t>
            </a:r>
          </a:p>
          <a:p>
            <a:pPr marL="342900" indent="-342900">
              <a:lnSpc>
                <a:spcPct val="110000"/>
              </a:lnSpc>
              <a:buClr>
                <a:srgbClr val="CC0000"/>
              </a:buClr>
              <a:buFontTx/>
              <a:buAutoNum type="arabicPeriod" startAt="4"/>
              <a:defRPr/>
            </a:pPr>
            <a:r>
              <a:rPr kumimoji="1" lang="ru-RU" sz="28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Функционирование в неоднородной среде </a:t>
            </a:r>
            <a:r>
              <a:rPr kumimoji="1" lang="ru-RU" b="0" dirty="0">
                <a:solidFill>
                  <a:srgbClr val="000000"/>
                </a:solidFill>
                <a:latin typeface="Arial" charset="0"/>
              </a:rPr>
              <a:t>на нескольких аппаратных платформах;</a:t>
            </a:r>
          </a:p>
          <a:p>
            <a:pPr marL="342900" indent="-342900">
              <a:lnSpc>
                <a:spcPct val="110000"/>
              </a:lnSpc>
              <a:buClr>
                <a:srgbClr val="CC0000"/>
              </a:buClr>
              <a:buFontTx/>
              <a:buAutoNum type="arabicPeriod" startAt="4"/>
              <a:defRPr/>
            </a:pPr>
            <a:r>
              <a:rPr kumimoji="1" lang="ru-RU" sz="28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Разобщенность и разнородность отдельных групп разработчиков </a:t>
            </a:r>
            <a:r>
              <a:rPr kumimoji="1" lang="ru-RU" b="0" dirty="0">
                <a:solidFill>
                  <a:srgbClr val="000000"/>
                </a:solidFill>
                <a:latin typeface="Arial" charset="0"/>
              </a:rPr>
              <a:t>по уровню квалификации и сложившимся традициям использования тех или иных инструментальных средств;</a:t>
            </a:r>
          </a:p>
          <a:p>
            <a:pPr marL="342900" indent="-342900">
              <a:lnSpc>
                <a:spcPct val="110000"/>
              </a:lnSpc>
              <a:buClr>
                <a:srgbClr val="CC0000"/>
              </a:buClr>
              <a:buFontTx/>
              <a:buAutoNum type="arabicPeriod" startAt="4"/>
              <a:defRPr/>
            </a:pPr>
            <a:r>
              <a:rPr kumimoji="1" lang="ru-RU" sz="28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Значительная временная протяженность проекта</a:t>
            </a:r>
            <a:r>
              <a:rPr kumimoji="1" lang="ru-RU" b="0" dirty="0">
                <a:solidFill>
                  <a:srgbClr val="000000"/>
                </a:solidFill>
                <a:latin typeface="Arial" charset="0"/>
              </a:rPr>
              <a:t>, обусловленная, с одной стороны, ограниченными возможностями коллектива разработчиков, и, с другой стороны, масштабами организации-заказчика и различной степенью готовности отдельных ее подразделений к внедрению ИС.</a:t>
            </a:r>
          </a:p>
        </p:txBody>
      </p:sp>
      <p:sp>
        <p:nvSpPr>
          <p:cNvPr id="6" name="Rectangle 17"/>
          <p:cNvSpPr>
            <a:spLocks noChangeArrowheads="1"/>
          </p:cNvSpPr>
          <p:nvPr/>
        </p:nvSpPr>
        <p:spPr bwMode="auto">
          <a:xfrm>
            <a:off x="244475" y="130304"/>
            <a:ext cx="8970963" cy="537904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anchor="ctr">
            <a:spAutoFit/>
          </a:bodyPr>
          <a:lstStyle/>
          <a:p>
            <a:pPr>
              <a:lnSpc>
                <a:spcPct val="110000"/>
              </a:lnSpc>
              <a:buClr>
                <a:srgbClr val="CC0000"/>
              </a:buClr>
              <a:defRPr/>
            </a:pPr>
            <a:r>
              <a:rPr kumimoji="1" lang="ru-RU" sz="2800" dirty="0">
                <a:solidFill>
                  <a:srgbClr val="F14124">
                    <a:lumMod val="50000"/>
                  </a:srgb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Особенности современных крупных проектов ИС</a:t>
            </a:r>
          </a:p>
        </p:txBody>
      </p:sp>
    </p:spTree>
    <p:extLst>
      <p:ext uri="{BB962C8B-B14F-4D97-AF65-F5344CB8AC3E}">
        <p14:creationId xmlns:p14="http://schemas.microsoft.com/office/powerpoint/2010/main" val="14820296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5"/>
          <p:cNvSpPr>
            <a:spLocks noChangeArrowheads="1"/>
          </p:cNvSpPr>
          <p:nvPr/>
        </p:nvSpPr>
        <p:spPr bwMode="auto">
          <a:xfrm>
            <a:off x="107503" y="1196752"/>
            <a:ext cx="9036497" cy="57215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lnSpc>
                <a:spcPct val="110000"/>
              </a:lnSpc>
              <a:buClr>
                <a:srgbClr val="CC0000"/>
              </a:buClr>
              <a:buFontTx/>
              <a:buAutoNum type="arabicPeriod"/>
              <a:defRPr/>
            </a:pPr>
            <a:r>
              <a:rPr kumimoji="1" lang="ru-RU" b="0" dirty="0">
                <a:solidFill>
                  <a:srgbClr val="000000"/>
                </a:solidFill>
                <a:latin typeface="Arial" charset="0"/>
              </a:rPr>
              <a:t>Аналитику сложно получить исчерпывающую информацию для оценки требований к системе с точки зрения заказчика;</a:t>
            </a:r>
          </a:p>
          <a:p>
            <a:pPr marL="342900" indent="-342900">
              <a:lnSpc>
                <a:spcPct val="110000"/>
              </a:lnSpc>
              <a:buClr>
                <a:srgbClr val="CC0000"/>
              </a:buClr>
              <a:buFontTx/>
              <a:buAutoNum type="arabicPeriod"/>
              <a:defRPr/>
            </a:pPr>
            <a:r>
              <a:rPr kumimoji="1" lang="ru-RU" b="0" dirty="0">
                <a:solidFill>
                  <a:srgbClr val="000000"/>
                </a:solidFill>
                <a:latin typeface="Arial" charset="0"/>
              </a:rPr>
              <a:t>Заказчик, в свою очередь, не имеет достаточной ин формации о проблеме обработки данных, чтобы судить что является выполнимым, а что – невыполнимым;</a:t>
            </a:r>
          </a:p>
          <a:p>
            <a:pPr marL="342900" indent="-342900">
              <a:lnSpc>
                <a:spcPct val="110000"/>
              </a:lnSpc>
              <a:buClr>
                <a:srgbClr val="CC0000"/>
              </a:buClr>
              <a:buFontTx/>
              <a:buAutoNum type="arabicPeriod"/>
              <a:defRPr/>
            </a:pPr>
            <a:r>
              <a:rPr kumimoji="1" lang="ru-RU" b="0" dirty="0">
                <a:solidFill>
                  <a:srgbClr val="000000"/>
                </a:solidFill>
                <a:latin typeface="Arial" charset="0"/>
              </a:rPr>
              <a:t>Аналитик сталкивается с чрезмерным количеством подробных сведений о предметной области и о новой системе;</a:t>
            </a:r>
          </a:p>
          <a:p>
            <a:pPr marL="342900" indent="-342900">
              <a:lnSpc>
                <a:spcPct val="110000"/>
              </a:lnSpc>
              <a:buClr>
                <a:srgbClr val="CC0000"/>
              </a:buClr>
              <a:buFontTx/>
              <a:buAutoNum type="arabicPeriod"/>
              <a:defRPr/>
            </a:pPr>
            <a:r>
              <a:rPr kumimoji="1" lang="ru-RU" b="0" dirty="0">
                <a:solidFill>
                  <a:srgbClr val="000000"/>
                </a:solidFill>
                <a:latin typeface="Arial" charset="0"/>
              </a:rPr>
              <a:t>Спецификация системы из-за объема технических терминов часто непонятна для заказчика.</a:t>
            </a:r>
          </a:p>
          <a:p>
            <a:pPr marL="628650">
              <a:lnSpc>
                <a:spcPct val="110000"/>
              </a:lnSpc>
              <a:spcBef>
                <a:spcPts val="600"/>
              </a:spcBef>
              <a:buClr>
                <a:srgbClr val="CC0000"/>
              </a:buClr>
              <a:defRPr/>
            </a:pPr>
            <a:r>
              <a:rPr kumimoji="1" lang="ru-RU" sz="2000" b="0" i="1" dirty="0" smtClean="0">
                <a:solidFill>
                  <a:srgbClr val="212745">
                    <a:lumMod val="25000"/>
                  </a:srgbClr>
                </a:solidFill>
                <a:latin typeface="Arial" charset="0"/>
              </a:rPr>
              <a:t>Эти </a:t>
            </a:r>
            <a:r>
              <a:rPr kumimoji="1" lang="ru-RU" sz="2000" b="0" i="1" dirty="0">
                <a:solidFill>
                  <a:srgbClr val="212745">
                    <a:lumMod val="25000"/>
                  </a:srgbClr>
                </a:solidFill>
                <a:latin typeface="Arial" charset="0"/>
              </a:rPr>
              <a:t>проблемы могут быть существенно облегчены за счет применения современных структурных методов, среди которых центральное место занимают </a:t>
            </a:r>
            <a:r>
              <a:rPr kumimoji="1" lang="ru-RU" b="0" i="1" dirty="0">
                <a:solidFill>
                  <a:srgbClr val="99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методологии структурного анализа.</a:t>
            </a:r>
          </a:p>
        </p:txBody>
      </p:sp>
      <p:sp>
        <p:nvSpPr>
          <p:cNvPr id="6" name="Rectangle 17"/>
          <p:cNvSpPr>
            <a:spLocks noChangeArrowheads="1"/>
          </p:cNvSpPr>
          <p:nvPr/>
        </p:nvSpPr>
        <p:spPr bwMode="auto">
          <a:xfrm>
            <a:off x="355781" y="13964"/>
            <a:ext cx="8299450" cy="10414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anchor="ctr">
            <a:spAutoFit/>
          </a:bodyPr>
          <a:lstStyle/>
          <a:p>
            <a:pPr>
              <a:lnSpc>
                <a:spcPct val="110000"/>
              </a:lnSpc>
              <a:buClr>
                <a:srgbClr val="CC0000"/>
              </a:buClr>
              <a:defRPr/>
            </a:pPr>
            <a:r>
              <a:rPr kumimoji="1" lang="ru-RU" sz="2800" dirty="0">
                <a:solidFill>
                  <a:srgbClr val="F14124">
                    <a:lumMod val="50000"/>
                  </a:srgb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Проблемы, возникающие при проектировании ИС:</a:t>
            </a:r>
          </a:p>
        </p:txBody>
      </p:sp>
    </p:spTree>
    <p:extLst>
      <p:ext uri="{BB962C8B-B14F-4D97-AF65-F5344CB8AC3E}">
        <p14:creationId xmlns:p14="http://schemas.microsoft.com/office/powerpoint/2010/main" val="15559094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533400" y="473075"/>
            <a:ext cx="8153400" cy="1143000"/>
          </a:xfrm>
          <a:solidFill>
            <a:schemeClr val="accent1"/>
          </a:solidFill>
          <a:ln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ru-RU" altLang="ru-RU" smtClean="0"/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757238" y="2189163"/>
            <a:ext cx="7700962" cy="3671887"/>
          </a:xfrm>
          <a:solidFill>
            <a:schemeClr val="accent1"/>
          </a:solidFill>
          <a:ln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ru-RU" altLang="ru-RU" smtClean="0"/>
          </a:p>
        </p:txBody>
      </p:sp>
      <p:pic>
        <p:nvPicPr>
          <p:cNvPr id="19460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4288" y="-190500"/>
            <a:ext cx="9144001" cy="723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6677" name="Rectangle 5"/>
          <p:cNvSpPr>
            <a:spLocks noChangeArrowheads="1"/>
          </p:cNvSpPr>
          <p:nvPr/>
        </p:nvSpPr>
        <p:spPr bwMode="auto">
          <a:xfrm>
            <a:off x="533400" y="2082362"/>
            <a:ext cx="8208963" cy="144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defRPr/>
            </a:pPr>
            <a:r>
              <a:rPr lang="ru-RU" sz="4400" dirty="0">
                <a:ln w="22225">
                  <a:solidFill>
                    <a:srgbClr val="3333CC"/>
                  </a:solidFill>
                  <a:prstDash val="solid"/>
                </a:ln>
                <a:solidFill>
                  <a:srgbClr val="C00000"/>
                </a:solidFill>
                <a:latin typeface="Arial" charset="0"/>
              </a:rPr>
              <a:t>Принципы создания ИС</a:t>
            </a:r>
          </a:p>
          <a:p>
            <a:pPr algn="ctr">
              <a:defRPr/>
            </a:pPr>
            <a:endParaRPr lang="ru-RU" sz="4400" dirty="0">
              <a:ln w="22225">
                <a:solidFill>
                  <a:srgbClr val="3333CC"/>
                </a:solidFill>
                <a:prstDash val="solid"/>
              </a:ln>
              <a:solidFill>
                <a:srgbClr val="C00000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939620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5"/>
          <p:cNvSpPr>
            <a:spLocks noChangeArrowheads="1"/>
          </p:cNvSpPr>
          <p:nvPr/>
        </p:nvSpPr>
        <p:spPr bwMode="auto">
          <a:xfrm>
            <a:off x="136525" y="536575"/>
            <a:ext cx="8916988" cy="64571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lnSpc>
                <a:spcPct val="110000"/>
              </a:lnSpc>
              <a:buClr>
                <a:srgbClr val="CC0000"/>
              </a:buClr>
              <a:buFontTx/>
              <a:buAutoNum type="arabicPeriod"/>
              <a:defRPr/>
            </a:pPr>
            <a:r>
              <a:rPr kumimoji="1" lang="ru-RU" sz="28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Принцип системности </a:t>
            </a:r>
            <a:r>
              <a:rPr kumimoji="1" lang="ru-RU" sz="2000" b="0" dirty="0">
                <a:solidFill>
                  <a:srgbClr val="000000"/>
                </a:solidFill>
                <a:latin typeface="Arial" charset="0"/>
              </a:rPr>
              <a:t>позволяет подойти к исследуемому объекту как единому целому; выявить на этой основе многообразные типы связей между структурными элементами, обеспечивающими целостность системы; установить направление производственно-хозяйственной деятельности системы и реализуемые ею конкретные функции. Системный подход предполагает проведение </a:t>
            </a:r>
            <a:r>
              <a:rPr kumimoji="1" lang="ru-RU" sz="2000" b="0" dirty="0" err="1">
                <a:solidFill>
                  <a:srgbClr val="000000"/>
                </a:solidFill>
                <a:latin typeface="Arial" charset="0"/>
              </a:rPr>
              <a:t>двухаспектного</a:t>
            </a:r>
            <a:r>
              <a:rPr kumimoji="1" lang="ru-RU" sz="2000" b="0" dirty="0">
                <a:solidFill>
                  <a:srgbClr val="000000"/>
                </a:solidFill>
                <a:latin typeface="Arial" charset="0"/>
              </a:rPr>
              <a:t> анализа, получившего название микро- и </a:t>
            </a:r>
            <a:r>
              <a:rPr kumimoji="1" lang="ru-RU" sz="2000" b="0" dirty="0" err="1">
                <a:solidFill>
                  <a:srgbClr val="000000"/>
                </a:solidFill>
                <a:latin typeface="Arial" charset="0"/>
              </a:rPr>
              <a:t>макроподхода</a:t>
            </a:r>
            <a:r>
              <a:rPr kumimoji="1" lang="ru-RU" sz="2000" b="0" dirty="0">
                <a:solidFill>
                  <a:srgbClr val="000000"/>
                </a:solidFill>
                <a:latin typeface="Arial" charset="0"/>
              </a:rPr>
              <a:t>.</a:t>
            </a:r>
          </a:p>
          <a:p>
            <a:pPr>
              <a:lnSpc>
                <a:spcPct val="110000"/>
              </a:lnSpc>
              <a:buClr>
                <a:srgbClr val="CC0000"/>
              </a:buClr>
              <a:defRPr/>
            </a:pPr>
            <a:r>
              <a:rPr kumimoji="1" lang="ru-RU" sz="2000" b="0" dirty="0">
                <a:solidFill>
                  <a:srgbClr val="000000"/>
                </a:solidFill>
                <a:latin typeface="Arial" charset="0"/>
              </a:rPr>
              <a:t>При </a:t>
            </a:r>
            <a:r>
              <a:rPr kumimoji="1" lang="ru-RU" sz="2000" b="0" dirty="0" err="1">
                <a:solidFill>
                  <a:srgbClr val="99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макроанализе</a:t>
            </a:r>
            <a:r>
              <a:rPr kumimoji="1" lang="ru-RU" b="0" dirty="0">
                <a:solidFill>
                  <a:srgbClr val="000000"/>
                </a:solidFill>
                <a:latin typeface="Arial" charset="0"/>
              </a:rPr>
              <a:t> </a:t>
            </a:r>
            <a:r>
              <a:rPr kumimoji="1" lang="ru-RU" sz="2000" b="0" dirty="0">
                <a:solidFill>
                  <a:srgbClr val="000000"/>
                </a:solidFill>
                <a:latin typeface="Arial" charset="0"/>
              </a:rPr>
              <a:t>система и ее элемент рассматриваются как часть системы более высокого порядка. Особое внимание уделяется, информационным связям: устанавливается их число, выделяются и анализируются те связи, которые обусловлены целью изучения системы, а затем выбираются наиболее предпочтительные, реализующие заданную целевую функцию.</a:t>
            </a:r>
          </a:p>
          <a:p>
            <a:pPr>
              <a:lnSpc>
                <a:spcPct val="110000"/>
              </a:lnSpc>
              <a:buClr>
                <a:srgbClr val="CC0000"/>
              </a:buClr>
              <a:defRPr/>
            </a:pPr>
            <a:r>
              <a:rPr kumimoji="1" lang="ru-RU" sz="2000" b="0" dirty="0">
                <a:solidFill>
                  <a:srgbClr val="000000"/>
                </a:solidFill>
                <a:latin typeface="Arial" charset="0"/>
              </a:rPr>
              <a:t>При </a:t>
            </a:r>
            <a:r>
              <a:rPr kumimoji="1" lang="ru-RU" sz="2000" b="0" dirty="0">
                <a:solidFill>
                  <a:srgbClr val="99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микроанализе</a:t>
            </a:r>
            <a:r>
              <a:rPr kumimoji="1" lang="ru-RU" b="0" dirty="0">
                <a:solidFill>
                  <a:srgbClr val="99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 </a:t>
            </a:r>
            <a:r>
              <a:rPr kumimoji="1" lang="ru-RU" sz="2000" b="0" dirty="0">
                <a:solidFill>
                  <a:srgbClr val="000000"/>
                </a:solidFill>
                <a:latin typeface="Arial" charset="0"/>
              </a:rPr>
              <a:t>изучается структура объекта, анализируются составляющие </a:t>
            </a:r>
            <a:r>
              <a:rPr kumimoji="1" lang="ru-RU" sz="2000" b="0" dirty="0" smtClean="0">
                <a:solidFill>
                  <a:srgbClr val="000000"/>
                </a:solidFill>
                <a:latin typeface="Arial" charset="0"/>
              </a:rPr>
              <a:t>ее </a:t>
            </a:r>
            <a:r>
              <a:rPr kumimoji="1" lang="ru-RU" sz="2000" b="0" dirty="0">
                <a:solidFill>
                  <a:srgbClr val="000000"/>
                </a:solidFill>
                <a:latin typeface="Arial" charset="0"/>
              </a:rPr>
              <a:t>элементы с точки зрения их функциональных характеристик, проявляющихся через связи с другими элементами и внешней средой. </a:t>
            </a:r>
          </a:p>
        </p:txBody>
      </p:sp>
      <p:sp>
        <p:nvSpPr>
          <p:cNvPr id="6" name="Rectangle 17"/>
          <p:cNvSpPr>
            <a:spLocks noChangeArrowheads="1"/>
          </p:cNvSpPr>
          <p:nvPr/>
        </p:nvSpPr>
        <p:spPr bwMode="auto">
          <a:xfrm>
            <a:off x="352425" y="10449"/>
            <a:ext cx="8299450" cy="537904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anchor="ctr">
            <a:spAutoFit/>
          </a:bodyPr>
          <a:lstStyle/>
          <a:p>
            <a:pPr>
              <a:lnSpc>
                <a:spcPct val="110000"/>
              </a:lnSpc>
              <a:buClr>
                <a:srgbClr val="CC0000"/>
              </a:buClr>
              <a:defRPr/>
            </a:pPr>
            <a:r>
              <a:rPr kumimoji="1" lang="ru-RU" sz="2800" dirty="0">
                <a:solidFill>
                  <a:srgbClr val="F14124">
                    <a:lumMod val="50000"/>
                  </a:srgb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Основополагающие принципы создания ИС:</a:t>
            </a:r>
          </a:p>
        </p:txBody>
      </p:sp>
    </p:spTree>
    <p:extLst>
      <p:ext uri="{BB962C8B-B14F-4D97-AF65-F5344CB8AC3E}">
        <p14:creationId xmlns:p14="http://schemas.microsoft.com/office/powerpoint/2010/main" val="36491630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5"/>
          <p:cNvSpPr>
            <a:spLocks noChangeArrowheads="1"/>
          </p:cNvSpPr>
          <p:nvPr/>
        </p:nvSpPr>
        <p:spPr bwMode="auto">
          <a:xfrm>
            <a:off x="136525" y="536575"/>
            <a:ext cx="8916988" cy="638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55600" indent="-355600">
              <a:lnSpc>
                <a:spcPct val="110000"/>
              </a:lnSpc>
              <a:buClr>
                <a:srgbClr val="CC0000"/>
              </a:buClr>
              <a:buFont typeface="+mj-lt"/>
              <a:buAutoNum type="arabicPeriod" startAt="2"/>
              <a:defRPr/>
            </a:pPr>
            <a:r>
              <a:rPr kumimoji="1" lang="ru-RU" sz="28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Принцип развития </a:t>
            </a:r>
            <a:r>
              <a:rPr kumimoji="1" lang="ru-RU" sz="2000" b="0" dirty="0">
                <a:solidFill>
                  <a:srgbClr val="000000"/>
                </a:solidFill>
                <a:latin typeface="Arial" charset="0"/>
              </a:rPr>
              <a:t>заключается в том, что ИС создастся с учетом возможности постоянного пополнения и обновления функции системы и видов ее обеспечений. Предусматривается, что автоматизированная система должна наращивать свои вычислительные мощности, оснащаться новыми техническими и программными средствами, быть способной постоянно расширять и обновлять круг задач и информационный фонд, создаваемый в виде системы баз данных.</a:t>
            </a:r>
          </a:p>
          <a:p>
            <a:pPr marL="342900" indent="-342900">
              <a:lnSpc>
                <a:spcPct val="110000"/>
              </a:lnSpc>
              <a:buClr>
                <a:srgbClr val="CC0000"/>
              </a:buClr>
              <a:buFontTx/>
              <a:buAutoNum type="arabicPeriod" startAt="2"/>
              <a:defRPr/>
            </a:pPr>
            <a:r>
              <a:rPr kumimoji="1" lang="ru-RU" sz="28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Принцип комплексности </a:t>
            </a:r>
            <a:r>
              <a:rPr kumimoji="1" lang="ru-RU" sz="2000" b="0" dirty="0">
                <a:solidFill>
                  <a:srgbClr val="000000"/>
                </a:solidFill>
                <a:latin typeface="Arial" charset="0"/>
              </a:rPr>
              <a:t>требует, чтобы в процессе проектирования ИС была обеспечена связность проектирования отдельных элементов и всего объекта в целом на всех стадиях. </a:t>
            </a:r>
          </a:p>
          <a:p>
            <a:pPr marL="342900" indent="-342900">
              <a:lnSpc>
                <a:spcPct val="110000"/>
              </a:lnSpc>
              <a:buClr>
                <a:srgbClr val="CC0000"/>
              </a:buClr>
              <a:buFontTx/>
              <a:buAutoNum type="arabicPeriod" startAt="2"/>
              <a:defRPr/>
            </a:pPr>
            <a:r>
              <a:rPr kumimoji="1" lang="ru-RU" sz="28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Принцип совместимости </a:t>
            </a:r>
            <a:r>
              <a:rPr kumimoji="1" lang="ru-RU" sz="2000" b="0" dirty="0">
                <a:solidFill>
                  <a:srgbClr val="000000"/>
                </a:solidFill>
                <a:latin typeface="Arial" charset="0"/>
              </a:rPr>
              <a:t>обеспечивает способность взаимодействия ИС различных видов, уровней в процессе их совместного функционирования. </a:t>
            </a:r>
          </a:p>
          <a:p>
            <a:pPr marL="342900" indent="-342900">
              <a:lnSpc>
                <a:spcPct val="110000"/>
              </a:lnSpc>
              <a:buClr>
                <a:srgbClr val="CC0000"/>
              </a:buClr>
              <a:buFontTx/>
              <a:buAutoNum type="arabicPeriod" startAt="2"/>
              <a:defRPr/>
            </a:pPr>
            <a:r>
              <a:rPr kumimoji="1" lang="ru-RU" sz="28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Принцип стандартизации </a:t>
            </a:r>
            <a:r>
              <a:rPr kumimoji="1" lang="ru-RU" sz="2000" b="0" dirty="0">
                <a:solidFill>
                  <a:srgbClr val="000000"/>
                </a:solidFill>
                <a:latin typeface="Arial" charset="0"/>
              </a:rPr>
              <a:t>и унификации предполагает применение типовых, унифицированных и стандартизированных элементов функционирования ИС. </a:t>
            </a:r>
          </a:p>
        </p:txBody>
      </p:sp>
      <p:sp>
        <p:nvSpPr>
          <p:cNvPr id="6" name="Rectangle 17"/>
          <p:cNvSpPr>
            <a:spLocks noChangeArrowheads="1"/>
          </p:cNvSpPr>
          <p:nvPr/>
        </p:nvSpPr>
        <p:spPr bwMode="auto">
          <a:xfrm>
            <a:off x="352425" y="10449"/>
            <a:ext cx="8299450" cy="537904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anchor="ctr">
            <a:spAutoFit/>
          </a:bodyPr>
          <a:lstStyle/>
          <a:p>
            <a:pPr>
              <a:lnSpc>
                <a:spcPct val="110000"/>
              </a:lnSpc>
              <a:buClr>
                <a:srgbClr val="CC0000"/>
              </a:buClr>
              <a:defRPr/>
            </a:pPr>
            <a:r>
              <a:rPr kumimoji="1" lang="ru-RU" sz="2800" dirty="0">
                <a:solidFill>
                  <a:srgbClr val="F14124">
                    <a:lumMod val="50000"/>
                  </a:srgb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Основополагающие принципы создания ИС:</a:t>
            </a:r>
          </a:p>
        </p:txBody>
      </p:sp>
    </p:spTree>
    <p:extLst>
      <p:ext uri="{BB962C8B-B14F-4D97-AF65-F5344CB8AC3E}">
        <p14:creationId xmlns:p14="http://schemas.microsoft.com/office/powerpoint/2010/main" val="6197813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5"/>
          <p:cNvSpPr>
            <a:spLocks noChangeArrowheads="1"/>
          </p:cNvSpPr>
          <p:nvPr/>
        </p:nvSpPr>
        <p:spPr bwMode="auto">
          <a:xfrm>
            <a:off x="-8901" y="404664"/>
            <a:ext cx="8988871" cy="65248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55600" indent="-355600">
              <a:lnSpc>
                <a:spcPct val="110000"/>
              </a:lnSpc>
              <a:buClr>
                <a:srgbClr val="CC0000"/>
              </a:buClr>
              <a:buFont typeface="+mj-lt"/>
              <a:buAutoNum type="arabicPeriod" startAt="6"/>
              <a:defRPr/>
            </a:pPr>
            <a:r>
              <a:rPr kumimoji="1" lang="ru-RU" sz="28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Принцип эффективности </a:t>
            </a:r>
            <a:r>
              <a:rPr kumimoji="1" lang="ru-RU" sz="2000" b="0" dirty="0">
                <a:solidFill>
                  <a:srgbClr val="000000"/>
                </a:solidFill>
                <a:latin typeface="Arial" charset="0"/>
              </a:rPr>
              <a:t>заключается и достижении рационального соотношения между затратами на создание ИС и целевым эффектом, получаемым при ее функционировании.</a:t>
            </a:r>
          </a:p>
          <a:p>
            <a:pPr marL="342900" indent="-342900">
              <a:lnSpc>
                <a:spcPct val="110000"/>
              </a:lnSpc>
              <a:buClr>
                <a:srgbClr val="CC0000"/>
              </a:buClr>
              <a:buFontTx/>
              <a:buAutoNum type="arabicPeriod" startAt="6"/>
              <a:defRPr/>
            </a:pPr>
            <a:r>
              <a:rPr kumimoji="1" lang="ru-RU" sz="28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Принцип первого руководителя </a:t>
            </a:r>
            <a:r>
              <a:rPr kumimoji="1" lang="ru-RU" sz="2000" b="0" dirty="0">
                <a:solidFill>
                  <a:srgbClr val="000000"/>
                </a:solidFill>
                <a:latin typeface="Arial" charset="0"/>
              </a:rPr>
              <a:t>предполагает закрепление ответственности при создании системы за заказчиком — руководителем предприятия, организации, т.е. будущим пользователем, который отвечает за ввод в действие и функционирование ИС.</a:t>
            </a:r>
          </a:p>
          <a:p>
            <a:pPr marL="342900" indent="-342900">
              <a:lnSpc>
                <a:spcPct val="110000"/>
              </a:lnSpc>
              <a:buClr>
                <a:srgbClr val="CC0000"/>
              </a:buClr>
              <a:buFontTx/>
              <a:buAutoNum type="arabicPeriod" startAt="6"/>
              <a:defRPr/>
            </a:pPr>
            <a:r>
              <a:rPr kumimoji="1" lang="ru-RU" sz="28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Принцип новых задач </a:t>
            </a:r>
            <a:r>
              <a:rPr kumimoji="1" lang="ru-RU" sz="2000" b="0" dirty="0">
                <a:solidFill>
                  <a:srgbClr val="000000"/>
                </a:solidFill>
                <a:latin typeface="Arial" charset="0"/>
              </a:rPr>
              <a:t>–</a:t>
            </a:r>
            <a:r>
              <a:rPr kumimoji="1" lang="ru-RU" b="0" dirty="0">
                <a:solidFill>
                  <a:srgbClr val="99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 </a:t>
            </a:r>
            <a:r>
              <a:rPr kumimoji="1" lang="ru-RU" sz="2000" b="0" dirty="0">
                <a:solidFill>
                  <a:srgbClr val="000000"/>
                </a:solidFill>
                <a:latin typeface="Arial" charset="0"/>
              </a:rPr>
              <a:t>поиск постоянного расширения возможностей системы, совершенствование процесса управления, получение дополнительных результатных показателей с целью оптимизировать управленческие решения. </a:t>
            </a:r>
          </a:p>
          <a:p>
            <a:pPr marL="342900" indent="-342900">
              <a:lnSpc>
                <a:spcPct val="110000"/>
              </a:lnSpc>
              <a:buClr>
                <a:srgbClr val="CC0000"/>
              </a:buClr>
              <a:buFontTx/>
              <a:buAutoNum type="arabicPeriod" startAt="6"/>
              <a:defRPr/>
            </a:pPr>
            <a:r>
              <a:rPr kumimoji="1" lang="ru-RU" sz="28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Принцип автоматизации информационных потоков и документооборота </a:t>
            </a:r>
            <a:r>
              <a:rPr kumimoji="1" lang="ru-RU" sz="2000" b="0" dirty="0">
                <a:solidFill>
                  <a:srgbClr val="000000"/>
                </a:solidFill>
                <a:latin typeface="Arial" charset="0"/>
              </a:rPr>
              <a:t>предусматривает комплексное использование технических средств на всех стадиях прохождения информации, от момента се регистрации до получения результатных показателей, и формирования управленческих решений.</a:t>
            </a:r>
          </a:p>
        </p:txBody>
      </p:sp>
      <p:sp>
        <p:nvSpPr>
          <p:cNvPr id="6" name="Rectangle 17"/>
          <p:cNvSpPr>
            <a:spLocks noChangeArrowheads="1"/>
          </p:cNvSpPr>
          <p:nvPr/>
        </p:nvSpPr>
        <p:spPr bwMode="auto">
          <a:xfrm>
            <a:off x="335809" y="-27384"/>
            <a:ext cx="8299450" cy="537904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anchor="ctr">
            <a:spAutoFit/>
          </a:bodyPr>
          <a:lstStyle/>
          <a:p>
            <a:pPr>
              <a:lnSpc>
                <a:spcPct val="110000"/>
              </a:lnSpc>
              <a:buClr>
                <a:srgbClr val="CC0000"/>
              </a:buClr>
              <a:defRPr/>
            </a:pPr>
            <a:r>
              <a:rPr kumimoji="1" lang="ru-RU" sz="2800" dirty="0">
                <a:solidFill>
                  <a:srgbClr val="F14124">
                    <a:lumMod val="50000"/>
                  </a:srgb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Основополагающие принципы создания ИС:</a:t>
            </a:r>
          </a:p>
        </p:txBody>
      </p:sp>
    </p:spTree>
    <p:extLst>
      <p:ext uri="{BB962C8B-B14F-4D97-AF65-F5344CB8AC3E}">
        <p14:creationId xmlns:p14="http://schemas.microsoft.com/office/powerpoint/2010/main" val="35661284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5"/>
          <p:cNvSpPr>
            <a:spLocks noChangeArrowheads="1"/>
          </p:cNvSpPr>
          <p:nvPr/>
        </p:nvSpPr>
        <p:spPr bwMode="auto">
          <a:xfrm>
            <a:off x="203993" y="1052736"/>
            <a:ext cx="8916988" cy="57123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lnSpc>
                <a:spcPct val="110000"/>
              </a:lnSpc>
              <a:buClr>
                <a:srgbClr val="CC0000"/>
              </a:buClr>
              <a:buFontTx/>
              <a:buAutoNum type="arabicPeriod"/>
              <a:defRPr/>
            </a:pPr>
            <a:r>
              <a:rPr kumimoji="1" lang="ru-RU" sz="28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Принцип абстрагирования </a:t>
            </a:r>
            <a:r>
              <a:rPr kumimoji="1" lang="ru-RU" sz="2000" b="0" dirty="0">
                <a:solidFill>
                  <a:srgbClr val="000000"/>
                </a:solidFill>
                <a:latin typeface="Arial" charset="0"/>
              </a:rPr>
              <a:t>заключается в выделении существенных </a:t>
            </a:r>
            <a:r>
              <a:rPr kumimoji="1" lang="ru-RU" sz="2000" b="0" dirty="0" smtClean="0">
                <a:solidFill>
                  <a:srgbClr val="000000"/>
                </a:solidFill>
                <a:latin typeface="Arial" charset="0"/>
              </a:rPr>
              <a:t>аспектов </a:t>
            </a:r>
            <a:r>
              <a:rPr kumimoji="1" lang="ru-RU" sz="2000" b="0" dirty="0">
                <a:solidFill>
                  <a:srgbClr val="000000"/>
                </a:solidFill>
                <a:latin typeface="Arial" charset="0"/>
              </a:rPr>
              <a:t>системы и отвлечении от несущественных в целях представления проблемы в более простом общем виде, удобном для анализа и проектирования.</a:t>
            </a:r>
          </a:p>
          <a:p>
            <a:pPr marL="342900" indent="-342900">
              <a:lnSpc>
                <a:spcPct val="110000"/>
              </a:lnSpc>
              <a:buClr>
                <a:srgbClr val="CC0000"/>
              </a:buClr>
              <a:buFontTx/>
              <a:buAutoNum type="arabicPeriod"/>
              <a:defRPr/>
            </a:pPr>
            <a:r>
              <a:rPr kumimoji="1" lang="ru-RU" sz="28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Принцип формализации </a:t>
            </a:r>
            <a:r>
              <a:rPr kumimoji="1" lang="ru-RU" sz="2000" b="0" dirty="0">
                <a:solidFill>
                  <a:srgbClr val="000000"/>
                </a:solidFill>
                <a:latin typeface="Arial" charset="0"/>
              </a:rPr>
              <a:t>определяет необходимость использования строгого методического подхода к решению проблемы, формализованных методов описания и моделирования изучаемых и проектируемых </a:t>
            </a:r>
            <a:r>
              <a:rPr kumimoji="1" lang="ru-RU" sz="2000" b="0" dirty="0" smtClean="0">
                <a:solidFill>
                  <a:srgbClr val="000000"/>
                </a:solidFill>
                <a:latin typeface="Arial" charset="0"/>
              </a:rPr>
              <a:t>процессов.</a:t>
            </a:r>
          </a:p>
          <a:p>
            <a:pPr marL="342900" indent="-342900">
              <a:lnSpc>
                <a:spcPct val="110000"/>
              </a:lnSpc>
              <a:buClr>
                <a:srgbClr val="CC0000"/>
              </a:buClr>
              <a:buFontTx/>
              <a:buAutoNum type="arabicPeriod"/>
              <a:defRPr/>
            </a:pPr>
            <a:r>
              <a:rPr kumimoji="1" lang="ru-RU" sz="28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Принцип </a:t>
            </a:r>
            <a:r>
              <a:rPr kumimoji="1" lang="ru-RU" sz="28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концептуальной общности </a:t>
            </a:r>
            <a:r>
              <a:rPr kumimoji="1" lang="ru-RU" sz="2000" b="0" dirty="0">
                <a:solidFill>
                  <a:srgbClr val="000000"/>
                </a:solidFill>
                <a:latin typeface="Arial" charset="0"/>
              </a:rPr>
              <a:t>требует неукоснительного следования единой методологии на всех этапах проектирования автоматизированной системы и всех ее составляющих.</a:t>
            </a:r>
          </a:p>
          <a:p>
            <a:pPr marL="342900" indent="-342900">
              <a:lnSpc>
                <a:spcPct val="110000"/>
              </a:lnSpc>
              <a:buClr>
                <a:srgbClr val="CC0000"/>
              </a:buClr>
              <a:buFontTx/>
              <a:buAutoNum type="arabicPeriod"/>
              <a:defRPr/>
            </a:pPr>
            <a:r>
              <a:rPr kumimoji="1" lang="ru-RU" sz="28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Принцип непротиворечивости и полноты </a:t>
            </a:r>
            <a:r>
              <a:rPr kumimoji="1" lang="ru-RU" sz="2000" b="0" dirty="0">
                <a:solidFill>
                  <a:srgbClr val="000000"/>
                </a:solidFill>
                <a:latin typeface="Arial" charset="0"/>
              </a:rPr>
              <a:t>заключается в наличии всех необходимых элементов во вновь создаваемой системе и согласованном их взаимодействии.</a:t>
            </a:r>
          </a:p>
        </p:txBody>
      </p:sp>
      <p:sp>
        <p:nvSpPr>
          <p:cNvPr id="6" name="Rectangle 17"/>
          <p:cNvSpPr>
            <a:spLocks noChangeArrowheads="1"/>
          </p:cNvSpPr>
          <p:nvPr/>
        </p:nvSpPr>
        <p:spPr bwMode="auto">
          <a:xfrm>
            <a:off x="34370" y="0"/>
            <a:ext cx="9324975" cy="101188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anchor="ctr">
            <a:spAutoFit/>
          </a:bodyPr>
          <a:lstStyle/>
          <a:p>
            <a:pPr>
              <a:lnSpc>
                <a:spcPct val="110000"/>
              </a:lnSpc>
              <a:buClr>
                <a:srgbClr val="CC0000"/>
              </a:buClr>
              <a:defRPr/>
            </a:pPr>
            <a:r>
              <a:rPr kumimoji="1" lang="ru-RU" sz="2800" dirty="0">
                <a:solidFill>
                  <a:srgbClr val="F14124">
                    <a:lumMod val="50000"/>
                  </a:srgb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Организационно-технологические принципы создания ИС:</a:t>
            </a:r>
          </a:p>
        </p:txBody>
      </p:sp>
    </p:spTree>
    <p:extLst>
      <p:ext uri="{BB962C8B-B14F-4D97-AF65-F5344CB8AC3E}">
        <p14:creationId xmlns:p14="http://schemas.microsoft.com/office/powerpoint/2010/main" val="27136415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5"/>
          <p:cNvSpPr>
            <a:spLocks noChangeArrowheads="1"/>
          </p:cNvSpPr>
          <p:nvPr/>
        </p:nvSpPr>
        <p:spPr bwMode="auto">
          <a:xfrm>
            <a:off x="136525" y="1016000"/>
            <a:ext cx="8916988" cy="42226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63538" indent="-363538">
              <a:lnSpc>
                <a:spcPct val="110000"/>
              </a:lnSpc>
              <a:buClr>
                <a:srgbClr val="CC0000"/>
              </a:buClr>
              <a:buFont typeface="+mj-lt"/>
              <a:buAutoNum type="arabicPeriod" startAt="5"/>
              <a:defRPr/>
            </a:pPr>
            <a:r>
              <a:rPr kumimoji="1" lang="ru-RU" sz="28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Принцип независимости данных </a:t>
            </a:r>
            <a:r>
              <a:rPr kumimoji="1" lang="ru-RU" sz="2000" b="0" dirty="0">
                <a:solidFill>
                  <a:srgbClr val="000000"/>
                </a:solidFill>
                <a:latin typeface="Arial" charset="0"/>
              </a:rPr>
              <a:t>предполагает, что модели данных должны быть проанализированы и спроектированы независимо от процессов их обработки, а также от их физической структуры и распределения в технической среде.</a:t>
            </a:r>
          </a:p>
          <a:p>
            <a:pPr marL="342900" indent="-342900">
              <a:lnSpc>
                <a:spcPct val="110000"/>
              </a:lnSpc>
              <a:buClr>
                <a:srgbClr val="CC0000"/>
              </a:buClr>
              <a:buFontTx/>
              <a:buAutoNum type="arabicPeriod" startAt="5"/>
              <a:defRPr/>
            </a:pPr>
            <a:r>
              <a:rPr kumimoji="1" lang="ru-RU" sz="28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Принцип структурирования данных </a:t>
            </a:r>
            <a:r>
              <a:rPr kumimoji="1" lang="ru-RU" sz="2000" b="0" dirty="0">
                <a:solidFill>
                  <a:srgbClr val="000000"/>
                </a:solidFill>
                <a:latin typeface="Arial" charset="0"/>
              </a:rPr>
              <a:t>предусматривает необходимость структурирования и иерархической организации элементов информационной базы системы.</a:t>
            </a:r>
          </a:p>
          <a:p>
            <a:pPr marL="342900" indent="-342900">
              <a:lnSpc>
                <a:spcPct val="110000"/>
              </a:lnSpc>
              <a:buClr>
                <a:srgbClr val="CC0000"/>
              </a:buClr>
              <a:buFontTx/>
              <a:buAutoNum type="arabicPeriod" startAt="5"/>
              <a:defRPr/>
            </a:pPr>
            <a:r>
              <a:rPr kumimoji="1" lang="ru-RU" sz="28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Принцип доступа конечного пользователя </a:t>
            </a:r>
            <a:r>
              <a:rPr kumimoji="1" lang="ru-RU" sz="2000" b="0" dirty="0">
                <a:solidFill>
                  <a:srgbClr val="000000"/>
                </a:solidFill>
                <a:latin typeface="Arial" charset="0"/>
              </a:rPr>
              <a:t>заключается в том, что пользователь должен иметь средства доступа к базе данных, которые он может использовать непосредственно (без программирования).</a:t>
            </a:r>
          </a:p>
        </p:txBody>
      </p:sp>
      <p:sp>
        <p:nvSpPr>
          <p:cNvPr id="6" name="Rectangle 17"/>
          <p:cNvSpPr>
            <a:spLocks noChangeArrowheads="1"/>
          </p:cNvSpPr>
          <p:nvPr/>
        </p:nvSpPr>
        <p:spPr bwMode="auto">
          <a:xfrm>
            <a:off x="14288" y="-67789"/>
            <a:ext cx="9324975" cy="101188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anchor="ctr">
            <a:spAutoFit/>
          </a:bodyPr>
          <a:lstStyle/>
          <a:p>
            <a:pPr>
              <a:lnSpc>
                <a:spcPct val="110000"/>
              </a:lnSpc>
              <a:buClr>
                <a:srgbClr val="CC0000"/>
              </a:buClr>
              <a:defRPr/>
            </a:pPr>
            <a:r>
              <a:rPr kumimoji="1" lang="ru-RU" sz="2800" dirty="0">
                <a:solidFill>
                  <a:srgbClr val="F14124">
                    <a:lumMod val="50000"/>
                  </a:srgb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Организационно-технологические принципы создания ИС:</a:t>
            </a:r>
          </a:p>
        </p:txBody>
      </p:sp>
    </p:spTree>
    <p:extLst>
      <p:ext uri="{BB962C8B-B14F-4D97-AF65-F5344CB8AC3E}">
        <p14:creationId xmlns:p14="http://schemas.microsoft.com/office/powerpoint/2010/main" val="26545755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739" name="Text Box 43"/>
          <p:cNvSpPr txBox="1">
            <a:spLocks noChangeArrowheads="1"/>
          </p:cNvSpPr>
          <p:nvPr/>
        </p:nvSpPr>
        <p:spPr bwMode="auto">
          <a:xfrm>
            <a:off x="1439652" y="2672916"/>
            <a:ext cx="7488832" cy="695575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98000"/>
              </a:lnSpc>
              <a:spcBef>
                <a:spcPts val="400"/>
              </a:spcBef>
              <a:buClr>
                <a:srgbClr val="C00000"/>
              </a:buClr>
              <a:buSzPct val="129000"/>
              <a:defRPr/>
            </a:pPr>
            <a:r>
              <a:rPr lang="ru-RU" sz="4000" dirty="0">
                <a:solidFill>
                  <a:schemeClr val="bg2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mic Sans MS" panose="030F0702030302020204" pitchFamily="66" charset="0"/>
              </a:rPr>
              <a:t>Спасибо за </a:t>
            </a:r>
            <a:r>
              <a:rPr lang="ru-RU" sz="4000" dirty="0" smtClean="0">
                <a:solidFill>
                  <a:schemeClr val="bg2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mic Sans MS" panose="030F0702030302020204" pitchFamily="66" charset="0"/>
              </a:rPr>
              <a:t>внимание!</a:t>
            </a:r>
            <a:endParaRPr lang="ru-RU" sz="4000" dirty="0">
              <a:solidFill>
                <a:schemeClr val="bg2">
                  <a:lumMod val="50000"/>
                  <a:lumOff val="50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1857769"/>
      </p:ext>
    </p:extLst>
  </p:cSld>
  <p:clrMapOvr>
    <a:overrideClrMapping bg1="dk2" tx1="lt1" bg2="dk1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Оформление по умолчанию">
  <a:themeElements>
    <a:clrScheme name="Оформление по умолчанию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Оформление по умолчанию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ru-RU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</a:lnDef>
  </a:objectDefaults>
  <a:extraClrSchemeLst>
    <a:extraClrScheme>
      <a:clrScheme name="Оформление по умолчанию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3_Воздушный поток">
  <a:themeElements>
    <a:clrScheme name="Воздушный поток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Воздушный поток">
      <a:majorFont>
        <a:latin typeface="Trebuchet MS"/>
        <a:ea typeface=""/>
        <a:cs typeface=""/>
        <a:font script="Jpan" typeface="HGｺﾞｼｯｸM"/>
        <a:font script="Hang" typeface="HY그래픽B"/>
        <a:font script="Hans" typeface="方正姚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HGｺﾞｼｯｸM"/>
        <a:font script="Hang" typeface="HY그래픽M"/>
        <a:font script="Hans" typeface="方正姚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Воздушный поток">
      <a:fillStyleLst>
        <a:solidFill>
          <a:schemeClr val="phClr"/>
        </a:solidFill>
        <a:gradFill rotWithShape="1">
          <a:gsLst>
            <a:gs pos="28000">
              <a:schemeClr val="phClr">
                <a:tint val="18000"/>
                <a:satMod val="120000"/>
                <a:lumMod val="88000"/>
              </a:schemeClr>
            </a:gs>
            <a:gs pos="100000">
              <a:schemeClr val="phClr">
                <a:tint val="40000"/>
                <a:satMod val="100000"/>
                <a:lumMod val="7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lumMod val="95000"/>
              </a:schemeClr>
            </a:gs>
            <a:gs pos="100000">
              <a:schemeClr val="phClr">
                <a:shade val="82000"/>
                <a:satMod val="125000"/>
                <a:lumMod val="74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satMod val="125000"/>
              <a:lumMod val="7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50800" dir="5400000" sx="98000" sy="98000" rotWithShape="0">
              <a:srgbClr val="000000">
                <a:alpha val="20000"/>
              </a:srgbClr>
            </a:outerShdw>
          </a:effectLst>
        </a:effectStyle>
        <a:effectStyle>
          <a:effectLst>
            <a:outerShdw blurRad="40005" dist="22984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alanced" dir="tr"/>
          </a:scene3d>
          <a:sp3d prstMaterial="matte">
            <a:bevelT w="19050" h="38100"/>
          </a:sp3d>
        </a:effectStyle>
        <a:effectStyle>
          <a:effectLst>
            <a:reflection blurRad="38100" stA="26000" endPos="23000" dist="25400" dir="5400000" sy="-100000" rotWithShape="0"/>
          </a:effectLst>
          <a:scene3d>
            <a:camera prst="orthographicFront">
              <a:rot lat="0" lon="0" rev="0"/>
            </a:camera>
            <a:lightRig rig="balanced" dir="tr"/>
          </a:scene3d>
          <a:sp3d contourW="14605" prstMaterial="plastic">
            <a:bevelT w="50800"/>
            <a:contourClr>
              <a:schemeClr val="phClr">
                <a:shade val="30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shade val="90000"/>
                <a:satMod val="160000"/>
                <a:lumMod val="100000"/>
              </a:schemeClr>
            </a:gs>
            <a:gs pos="60000">
              <a:schemeClr val="phClr">
                <a:tint val="95000"/>
                <a:shade val="100000"/>
                <a:satMod val="130000"/>
                <a:lumMod val="130000"/>
              </a:schemeClr>
            </a:gs>
            <a:gs pos="100000">
              <a:schemeClr val="phClr">
                <a:tint val="97000"/>
                <a:shade val="100000"/>
                <a:hueMod val="100000"/>
                <a:satMod val="140000"/>
                <a:lumMod val="80000"/>
              </a:schemeClr>
            </a:gs>
          </a:gsLst>
          <a:path path="circle">
            <a:fillToRect l="20000" t="10000" r="20000" b="60000"/>
          </a:path>
        </a:gradFill>
        <a:gradFill rotWithShape="1">
          <a:gsLst>
            <a:gs pos="0">
              <a:schemeClr val="phClr">
                <a:tint val="94000"/>
                <a:satMod val="160000"/>
                <a:lumMod val="160000"/>
              </a:schemeClr>
            </a:gs>
            <a:gs pos="42000">
              <a:schemeClr val="phClr">
                <a:tint val="94000"/>
                <a:shade val="94000"/>
                <a:satMod val="160000"/>
                <a:lumMod val="130000"/>
              </a:schemeClr>
            </a:gs>
            <a:gs pos="100000">
              <a:schemeClr val="phClr">
                <a:tint val="97000"/>
                <a:shade val="94000"/>
                <a:satMod val="180000"/>
                <a:lumMod val="84000"/>
              </a:schemeClr>
            </a:gs>
          </a:gsLst>
          <a:path path="circle">
            <a:fillToRect l="24000" t="44000" r="24000" b="12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Оформление по умолчанию">
  <a:themeElements>
    <a:clrScheme name="Оформление по умолчанию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Оформление по умолчанию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ru-RU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</a:lnDef>
  </a:objectDefaults>
  <a:extraClrSchemeLst>
    <a:extraClrScheme>
      <a:clrScheme name="Оформление по умолчанию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2_Оформление по умолчанию">
  <a:themeElements>
    <a:clrScheme name="Оформление по умолчанию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Оформление по умолчанию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ru-RU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</a:lnDef>
  </a:objectDefaults>
  <a:extraClrSchemeLst>
    <a:extraClrScheme>
      <a:clrScheme name="Оформление по умолчанию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1_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Тема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Тема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">
    <a:dk1>
      <a:srgbClr val="463416"/>
    </a:dk1>
    <a:lt1>
      <a:srgbClr val="FFFFFF"/>
    </a:lt1>
    <a:dk2>
      <a:srgbClr val="003399"/>
    </a:dk2>
    <a:lt2>
      <a:srgbClr val="E3E3FF"/>
    </a:lt2>
    <a:accent1>
      <a:srgbClr val="3399FF"/>
    </a:accent1>
    <a:accent2>
      <a:srgbClr val="33CCCC"/>
    </a:accent2>
    <a:accent3>
      <a:srgbClr val="AAADCA"/>
    </a:accent3>
    <a:accent4>
      <a:srgbClr val="DADADA"/>
    </a:accent4>
    <a:accent5>
      <a:srgbClr val="ADCAFF"/>
    </a:accent5>
    <a:accent6>
      <a:srgbClr val="2DB9B9"/>
    </a:accent6>
    <a:hlink>
      <a:srgbClr val="00FFCC"/>
    </a:hlink>
    <a:folHlink>
      <a:srgbClr val="808000"/>
    </a:folHlink>
  </a:clrScheme>
</a:themeOverride>
</file>

<file path=ppt/theme/themeOverride2.xml><?xml version="1.0" encoding="utf-8"?>
<a:themeOverride xmlns:a="http://schemas.openxmlformats.org/drawingml/2006/main">
  <a:clrScheme name="">
    <a:dk1>
      <a:srgbClr val="463416"/>
    </a:dk1>
    <a:lt1>
      <a:srgbClr val="FFFFFF"/>
    </a:lt1>
    <a:dk2>
      <a:srgbClr val="003399"/>
    </a:dk2>
    <a:lt2>
      <a:srgbClr val="E3E3FF"/>
    </a:lt2>
    <a:accent1>
      <a:srgbClr val="3399FF"/>
    </a:accent1>
    <a:accent2>
      <a:srgbClr val="33CCCC"/>
    </a:accent2>
    <a:accent3>
      <a:srgbClr val="AAADCA"/>
    </a:accent3>
    <a:accent4>
      <a:srgbClr val="DADADA"/>
    </a:accent4>
    <a:accent5>
      <a:srgbClr val="ADCAFF"/>
    </a:accent5>
    <a:accent6>
      <a:srgbClr val="2DB9B9"/>
    </a:accent6>
    <a:hlink>
      <a:srgbClr val="00FFCC"/>
    </a:hlink>
    <a:folHlink>
      <a:srgbClr val="808000"/>
    </a:folHlink>
  </a:clrScheme>
</a:themeOverride>
</file>

<file path=ppt/theme/themeOverride3.xml><?xml version="1.0" encoding="utf-8"?>
<a:themeOverride xmlns:a="http://schemas.openxmlformats.org/drawingml/2006/main">
  <a:clrScheme name="">
    <a:dk1>
      <a:srgbClr val="463416"/>
    </a:dk1>
    <a:lt1>
      <a:srgbClr val="FFFFFF"/>
    </a:lt1>
    <a:dk2>
      <a:srgbClr val="003399"/>
    </a:dk2>
    <a:lt2>
      <a:srgbClr val="E3E3FF"/>
    </a:lt2>
    <a:accent1>
      <a:srgbClr val="3399FF"/>
    </a:accent1>
    <a:accent2>
      <a:srgbClr val="33CCCC"/>
    </a:accent2>
    <a:accent3>
      <a:srgbClr val="AAADCA"/>
    </a:accent3>
    <a:accent4>
      <a:srgbClr val="DADADA"/>
    </a:accent4>
    <a:accent5>
      <a:srgbClr val="ADCAFF"/>
    </a:accent5>
    <a:accent6>
      <a:srgbClr val="2DB9B9"/>
    </a:accent6>
    <a:hlink>
      <a:srgbClr val="00FFCC"/>
    </a:hlink>
    <a:folHlink>
      <a:srgbClr val="808000"/>
    </a:folHlink>
  </a:clrScheme>
</a:themeOverride>
</file>

<file path=ppt/theme/themeOverride4.xml><?xml version="1.0" encoding="utf-8"?>
<a:themeOverride xmlns:a="http://schemas.openxmlformats.org/drawingml/2006/main">
  <a:clrScheme name="">
    <a:dk1>
      <a:srgbClr val="463416"/>
    </a:dk1>
    <a:lt1>
      <a:srgbClr val="FFFFFF"/>
    </a:lt1>
    <a:dk2>
      <a:srgbClr val="003399"/>
    </a:dk2>
    <a:lt2>
      <a:srgbClr val="E3E3FF"/>
    </a:lt2>
    <a:accent1>
      <a:srgbClr val="3399FF"/>
    </a:accent1>
    <a:accent2>
      <a:srgbClr val="33CCCC"/>
    </a:accent2>
    <a:accent3>
      <a:srgbClr val="AAADCA"/>
    </a:accent3>
    <a:accent4>
      <a:srgbClr val="DADADA"/>
    </a:accent4>
    <a:accent5>
      <a:srgbClr val="ADCAFF"/>
    </a:accent5>
    <a:accent6>
      <a:srgbClr val="2DB9B9"/>
    </a:accent6>
    <a:hlink>
      <a:srgbClr val="00FFCC"/>
    </a:hlink>
    <a:folHlink>
      <a:srgbClr val="808000"/>
    </a:folHlink>
  </a:clrScheme>
</a:themeOverride>
</file>

<file path=ppt/theme/themeOverride5.xml><?xml version="1.0" encoding="utf-8"?>
<a:themeOverride xmlns:a="http://schemas.openxmlformats.org/drawingml/2006/main">
  <a:clrScheme name="">
    <a:dk1>
      <a:srgbClr val="463416"/>
    </a:dk1>
    <a:lt1>
      <a:srgbClr val="FFFFFF"/>
    </a:lt1>
    <a:dk2>
      <a:srgbClr val="003399"/>
    </a:dk2>
    <a:lt2>
      <a:srgbClr val="E3E3FF"/>
    </a:lt2>
    <a:accent1>
      <a:srgbClr val="3399FF"/>
    </a:accent1>
    <a:accent2>
      <a:srgbClr val="33CCCC"/>
    </a:accent2>
    <a:accent3>
      <a:srgbClr val="AAADCA"/>
    </a:accent3>
    <a:accent4>
      <a:srgbClr val="DADADA"/>
    </a:accent4>
    <a:accent5>
      <a:srgbClr val="ADCAFF"/>
    </a:accent5>
    <a:accent6>
      <a:srgbClr val="2DB9B9"/>
    </a:accent6>
    <a:hlink>
      <a:srgbClr val="00FFCC"/>
    </a:hlink>
    <a:folHlink>
      <a:srgbClr val="808000"/>
    </a:folHlink>
  </a:clrScheme>
</a:themeOverride>
</file>

<file path=ppt/theme/themeOverride6.xml><?xml version="1.0" encoding="utf-8"?>
<a:themeOverride xmlns:a="http://schemas.openxmlformats.org/drawingml/2006/main">
  <a:clrScheme name="">
    <a:dk1>
      <a:srgbClr val="463416"/>
    </a:dk1>
    <a:lt1>
      <a:srgbClr val="FFFFFF"/>
    </a:lt1>
    <a:dk2>
      <a:srgbClr val="003399"/>
    </a:dk2>
    <a:lt2>
      <a:srgbClr val="E3E3FF"/>
    </a:lt2>
    <a:accent1>
      <a:srgbClr val="3399FF"/>
    </a:accent1>
    <a:accent2>
      <a:srgbClr val="33CCCC"/>
    </a:accent2>
    <a:accent3>
      <a:srgbClr val="AAADCA"/>
    </a:accent3>
    <a:accent4>
      <a:srgbClr val="DADADA"/>
    </a:accent4>
    <a:accent5>
      <a:srgbClr val="ADCAFF"/>
    </a:accent5>
    <a:accent6>
      <a:srgbClr val="2DB9B9"/>
    </a:accent6>
    <a:hlink>
      <a:srgbClr val="00FFCC"/>
    </a:hlink>
    <a:folHlink>
      <a:srgbClr val="808000"/>
    </a:folHlink>
  </a:clrScheme>
</a:themeOverride>
</file>

<file path=ppt/theme/themeOverride7.xml><?xml version="1.0" encoding="utf-8"?>
<a:themeOverride xmlns:a="http://schemas.openxmlformats.org/drawingml/2006/main">
  <a:clrScheme name="">
    <a:dk1>
      <a:srgbClr val="463416"/>
    </a:dk1>
    <a:lt1>
      <a:srgbClr val="FFFFFF"/>
    </a:lt1>
    <a:dk2>
      <a:srgbClr val="003399"/>
    </a:dk2>
    <a:lt2>
      <a:srgbClr val="E3E3FF"/>
    </a:lt2>
    <a:accent1>
      <a:srgbClr val="3399FF"/>
    </a:accent1>
    <a:accent2>
      <a:srgbClr val="33CCCC"/>
    </a:accent2>
    <a:accent3>
      <a:srgbClr val="AAADCA"/>
    </a:accent3>
    <a:accent4>
      <a:srgbClr val="DADADA"/>
    </a:accent4>
    <a:accent5>
      <a:srgbClr val="ADCAFF"/>
    </a:accent5>
    <a:accent6>
      <a:srgbClr val="2DB9B9"/>
    </a:accent6>
    <a:hlink>
      <a:srgbClr val="00FFCC"/>
    </a:hlink>
    <a:folHlink>
      <a:srgbClr val="808000"/>
    </a:folHlink>
  </a:clrScheme>
</a:themeOverride>
</file>

<file path=ppt/theme/themeOverride8.xml><?xml version="1.0" encoding="utf-8"?>
<a:themeOverride xmlns:a="http://schemas.openxmlformats.org/drawingml/2006/main">
  <a:clrScheme name="">
    <a:dk1>
      <a:srgbClr val="463416"/>
    </a:dk1>
    <a:lt1>
      <a:srgbClr val="FFFFFF"/>
    </a:lt1>
    <a:dk2>
      <a:srgbClr val="003399"/>
    </a:dk2>
    <a:lt2>
      <a:srgbClr val="E3E3FF"/>
    </a:lt2>
    <a:accent1>
      <a:srgbClr val="3399FF"/>
    </a:accent1>
    <a:accent2>
      <a:srgbClr val="33CCCC"/>
    </a:accent2>
    <a:accent3>
      <a:srgbClr val="AAADCA"/>
    </a:accent3>
    <a:accent4>
      <a:srgbClr val="DADADA"/>
    </a:accent4>
    <a:accent5>
      <a:srgbClr val="ADCAFF"/>
    </a:accent5>
    <a:accent6>
      <a:srgbClr val="2DB9B9"/>
    </a:accent6>
    <a:hlink>
      <a:srgbClr val="00FFCC"/>
    </a:hlink>
    <a:folHlink>
      <a:srgbClr val="808000"/>
    </a:folHlink>
  </a:clrScheme>
</a:themeOverride>
</file>

<file path=ppt/theme/themeOverride9.xml><?xml version="1.0" encoding="utf-8"?>
<a:themeOverride xmlns:a="http://schemas.openxmlformats.org/drawingml/2006/main">
  <a:clrScheme name="">
    <a:dk1>
      <a:srgbClr val="463416"/>
    </a:dk1>
    <a:lt1>
      <a:srgbClr val="FFFFFF"/>
    </a:lt1>
    <a:dk2>
      <a:srgbClr val="003399"/>
    </a:dk2>
    <a:lt2>
      <a:srgbClr val="E3E3FF"/>
    </a:lt2>
    <a:accent1>
      <a:srgbClr val="3399FF"/>
    </a:accent1>
    <a:accent2>
      <a:srgbClr val="33CCCC"/>
    </a:accent2>
    <a:accent3>
      <a:srgbClr val="AAADCA"/>
    </a:accent3>
    <a:accent4>
      <a:srgbClr val="DADADA"/>
    </a:accent4>
    <a:accent5>
      <a:srgbClr val="ADCAFF"/>
    </a:accent5>
    <a:accent6>
      <a:srgbClr val="2DB9B9"/>
    </a:accent6>
    <a:hlink>
      <a:srgbClr val="00FFCC"/>
    </a:hlink>
    <a:folHlink>
      <a:srgbClr val="808000"/>
    </a:folHlink>
  </a:clrScheme>
</a:themeOverride>
</file>

<file path=ppt/theme/themeOverride10.xml><?xml version="1.0" encoding="utf-8"?>
<a:themeOverride xmlns:a="http://schemas.openxmlformats.org/drawingml/2006/main">
  <a:clrScheme name="">
    <a:dk1>
      <a:srgbClr val="463416"/>
    </a:dk1>
    <a:lt1>
      <a:srgbClr val="FFFFFF"/>
    </a:lt1>
    <a:dk2>
      <a:srgbClr val="003399"/>
    </a:dk2>
    <a:lt2>
      <a:srgbClr val="E3E3FF"/>
    </a:lt2>
    <a:accent1>
      <a:srgbClr val="3399FF"/>
    </a:accent1>
    <a:accent2>
      <a:srgbClr val="33CCCC"/>
    </a:accent2>
    <a:accent3>
      <a:srgbClr val="AAADCA"/>
    </a:accent3>
    <a:accent4>
      <a:srgbClr val="DADADA"/>
    </a:accent4>
    <a:accent5>
      <a:srgbClr val="ADCAFF"/>
    </a:accent5>
    <a:accent6>
      <a:srgbClr val="2DB9B9"/>
    </a:accent6>
    <a:hlink>
      <a:srgbClr val="00FFCC"/>
    </a:hlink>
    <a:folHlink>
      <a:srgbClr val="808000"/>
    </a:folHlink>
  </a:clrScheme>
</a:themeOverride>
</file>

<file path=ppt/theme/themeOverride11.xml><?xml version="1.0" encoding="utf-8"?>
<a:themeOverride xmlns:a="http://schemas.openxmlformats.org/drawingml/2006/main">
  <a:clrScheme name="">
    <a:dk1>
      <a:srgbClr val="463416"/>
    </a:dk1>
    <a:lt1>
      <a:srgbClr val="FFFFFF"/>
    </a:lt1>
    <a:dk2>
      <a:srgbClr val="003399"/>
    </a:dk2>
    <a:lt2>
      <a:srgbClr val="E3E3FF"/>
    </a:lt2>
    <a:accent1>
      <a:srgbClr val="3399FF"/>
    </a:accent1>
    <a:accent2>
      <a:srgbClr val="33CCCC"/>
    </a:accent2>
    <a:accent3>
      <a:srgbClr val="AAADCA"/>
    </a:accent3>
    <a:accent4>
      <a:srgbClr val="DADADA"/>
    </a:accent4>
    <a:accent5>
      <a:srgbClr val="ADCAFF"/>
    </a:accent5>
    <a:accent6>
      <a:srgbClr val="2DB9B9"/>
    </a:accent6>
    <a:hlink>
      <a:srgbClr val="00FFCC"/>
    </a:hlink>
    <a:folHlink>
      <a:srgbClr val="808000"/>
    </a:folHlink>
  </a:clrScheme>
</a:themeOverride>
</file>

<file path=ppt/theme/themeOverride12.xml><?xml version="1.0" encoding="utf-8"?>
<a:themeOverride xmlns:a="http://schemas.openxmlformats.org/drawingml/2006/main">
  <a:clrScheme name="">
    <a:dk1>
      <a:srgbClr val="463416"/>
    </a:dk1>
    <a:lt1>
      <a:srgbClr val="FFFFFF"/>
    </a:lt1>
    <a:dk2>
      <a:srgbClr val="003399"/>
    </a:dk2>
    <a:lt2>
      <a:srgbClr val="E3E3FF"/>
    </a:lt2>
    <a:accent1>
      <a:srgbClr val="3399FF"/>
    </a:accent1>
    <a:accent2>
      <a:srgbClr val="33CCCC"/>
    </a:accent2>
    <a:accent3>
      <a:srgbClr val="AAADCA"/>
    </a:accent3>
    <a:accent4>
      <a:srgbClr val="DADADA"/>
    </a:accent4>
    <a:accent5>
      <a:srgbClr val="ADCAFF"/>
    </a:accent5>
    <a:accent6>
      <a:srgbClr val="2DB9B9"/>
    </a:accent6>
    <a:hlink>
      <a:srgbClr val="00FFCC"/>
    </a:hlink>
    <a:folHlink>
      <a:srgbClr val="808000"/>
    </a:folHlink>
  </a:clrScheme>
</a:themeOverride>
</file>

<file path=ppt/theme/themeOverride13.xml><?xml version="1.0" encoding="utf-8"?>
<a:themeOverride xmlns:a="http://schemas.openxmlformats.org/drawingml/2006/main">
  <a:clrScheme name="">
    <a:dk1>
      <a:srgbClr val="463416"/>
    </a:dk1>
    <a:lt1>
      <a:srgbClr val="FFFFFF"/>
    </a:lt1>
    <a:dk2>
      <a:srgbClr val="003399"/>
    </a:dk2>
    <a:lt2>
      <a:srgbClr val="E3E3FF"/>
    </a:lt2>
    <a:accent1>
      <a:srgbClr val="3399FF"/>
    </a:accent1>
    <a:accent2>
      <a:srgbClr val="33CCCC"/>
    </a:accent2>
    <a:accent3>
      <a:srgbClr val="AAADCA"/>
    </a:accent3>
    <a:accent4>
      <a:srgbClr val="DADADA"/>
    </a:accent4>
    <a:accent5>
      <a:srgbClr val="ADCAFF"/>
    </a:accent5>
    <a:accent6>
      <a:srgbClr val="2DB9B9"/>
    </a:accent6>
    <a:hlink>
      <a:srgbClr val="00FFCC"/>
    </a:hlink>
    <a:folHlink>
      <a:srgbClr val="808000"/>
    </a:folHlink>
  </a:clrScheme>
</a:themeOverride>
</file>

<file path=ppt/theme/themeOverride14.xml><?xml version="1.0" encoding="utf-8"?>
<a:themeOverride xmlns:a="http://schemas.openxmlformats.org/drawingml/2006/main">
  <a:clrScheme name="">
    <a:dk1>
      <a:srgbClr val="463416"/>
    </a:dk1>
    <a:lt1>
      <a:srgbClr val="FFFFFF"/>
    </a:lt1>
    <a:dk2>
      <a:srgbClr val="003399"/>
    </a:dk2>
    <a:lt2>
      <a:srgbClr val="E3E3FF"/>
    </a:lt2>
    <a:accent1>
      <a:srgbClr val="3399FF"/>
    </a:accent1>
    <a:accent2>
      <a:srgbClr val="33CCCC"/>
    </a:accent2>
    <a:accent3>
      <a:srgbClr val="AAADCA"/>
    </a:accent3>
    <a:accent4>
      <a:srgbClr val="DADADA"/>
    </a:accent4>
    <a:accent5>
      <a:srgbClr val="ADCAFF"/>
    </a:accent5>
    <a:accent6>
      <a:srgbClr val="2DB9B9"/>
    </a:accent6>
    <a:hlink>
      <a:srgbClr val="00FFCC"/>
    </a:hlink>
    <a:folHlink>
      <a:srgbClr val="808000"/>
    </a:folHlink>
  </a:clrScheme>
</a:themeOverride>
</file>

<file path=ppt/theme/themeOverride15.xml><?xml version="1.0" encoding="utf-8"?>
<a:themeOverride xmlns:a="http://schemas.openxmlformats.org/drawingml/2006/main">
  <a:clrScheme name="">
    <a:dk1>
      <a:srgbClr val="463416"/>
    </a:dk1>
    <a:lt1>
      <a:srgbClr val="FFFFFF"/>
    </a:lt1>
    <a:dk2>
      <a:srgbClr val="003399"/>
    </a:dk2>
    <a:lt2>
      <a:srgbClr val="E3E3FF"/>
    </a:lt2>
    <a:accent1>
      <a:srgbClr val="3399FF"/>
    </a:accent1>
    <a:accent2>
      <a:srgbClr val="33CCCC"/>
    </a:accent2>
    <a:accent3>
      <a:srgbClr val="AAADCA"/>
    </a:accent3>
    <a:accent4>
      <a:srgbClr val="DADADA"/>
    </a:accent4>
    <a:accent5>
      <a:srgbClr val="ADCAFF"/>
    </a:accent5>
    <a:accent6>
      <a:srgbClr val="2DB9B9"/>
    </a:accent6>
    <a:hlink>
      <a:srgbClr val="00FFCC"/>
    </a:hlink>
    <a:folHlink>
      <a:srgbClr val="808000"/>
    </a:folHlink>
  </a:clrScheme>
</a:themeOverride>
</file>

<file path=ppt/theme/themeOverride16.xml><?xml version="1.0" encoding="utf-8"?>
<a:themeOverride xmlns:a="http://schemas.openxmlformats.org/drawingml/2006/main">
  <a:clrScheme name="">
    <a:dk1>
      <a:srgbClr val="463416"/>
    </a:dk1>
    <a:lt1>
      <a:srgbClr val="FFFFFF"/>
    </a:lt1>
    <a:dk2>
      <a:srgbClr val="003399"/>
    </a:dk2>
    <a:lt2>
      <a:srgbClr val="E3E3FF"/>
    </a:lt2>
    <a:accent1>
      <a:srgbClr val="3399FF"/>
    </a:accent1>
    <a:accent2>
      <a:srgbClr val="33CCCC"/>
    </a:accent2>
    <a:accent3>
      <a:srgbClr val="AAADCA"/>
    </a:accent3>
    <a:accent4>
      <a:srgbClr val="DADADA"/>
    </a:accent4>
    <a:accent5>
      <a:srgbClr val="ADCAFF"/>
    </a:accent5>
    <a:accent6>
      <a:srgbClr val="2DB9B9"/>
    </a:accent6>
    <a:hlink>
      <a:srgbClr val="00FFCC"/>
    </a:hlink>
    <a:folHlink>
      <a:srgbClr val="808000"/>
    </a:folHlink>
  </a:clrScheme>
</a:themeOverride>
</file>

<file path=ppt/theme/themeOverride17.xml><?xml version="1.0" encoding="utf-8"?>
<a:themeOverride xmlns:a="http://schemas.openxmlformats.org/drawingml/2006/main">
  <a:clrScheme name="">
    <a:dk1>
      <a:srgbClr val="463416"/>
    </a:dk1>
    <a:lt1>
      <a:srgbClr val="FFFFFF"/>
    </a:lt1>
    <a:dk2>
      <a:srgbClr val="003399"/>
    </a:dk2>
    <a:lt2>
      <a:srgbClr val="E3E3FF"/>
    </a:lt2>
    <a:accent1>
      <a:srgbClr val="3399FF"/>
    </a:accent1>
    <a:accent2>
      <a:srgbClr val="33CCCC"/>
    </a:accent2>
    <a:accent3>
      <a:srgbClr val="AAADCA"/>
    </a:accent3>
    <a:accent4>
      <a:srgbClr val="DADADA"/>
    </a:accent4>
    <a:accent5>
      <a:srgbClr val="ADCAFF"/>
    </a:accent5>
    <a:accent6>
      <a:srgbClr val="2DB9B9"/>
    </a:accent6>
    <a:hlink>
      <a:srgbClr val="00FFCC"/>
    </a:hlink>
    <a:folHlink>
      <a:srgbClr val="808000"/>
    </a:folHlink>
  </a:clrScheme>
</a:themeOverride>
</file>

<file path=ppt/theme/themeOverride18.xml><?xml version="1.0" encoding="utf-8"?>
<a:themeOverride xmlns:a="http://schemas.openxmlformats.org/drawingml/2006/main">
  <a:clrScheme name="">
    <a:dk1>
      <a:srgbClr val="463416"/>
    </a:dk1>
    <a:lt1>
      <a:srgbClr val="FFFFFF"/>
    </a:lt1>
    <a:dk2>
      <a:srgbClr val="003399"/>
    </a:dk2>
    <a:lt2>
      <a:srgbClr val="E3E3FF"/>
    </a:lt2>
    <a:accent1>
      <a:srgbClr val="3399FF"/>
    </a:accent1>
    <a:accent2>
      <a:srgbClr val="33CCCC"/>
    </a:accent2>
    <a:accent3>
      <a:srgbClr val="AAADCA"/>
    </a:accent3>
    <a:accent4>
      <a:srgbClr val="DADADA"/>
    </a:accent4>
    <a:accent5>
      <a:srgbClr val="ADCAFF"/>
    </a:accent5>
    <a:accent6>
      <a:srgbClr val="2DB9B9"/>
    </a:accent6>
    <a:hlink>
      <a:srgbClr val="00FFCC"/>
    </a:hlink>
    <a:folHlink>
      <a:srgbClr val="808000"/>
    </a:folHlink>
  </a:clrScheme>
</a:themeOverride>
</file>

<file path=ppt/theme/themeOverride19.xml><?xml version="1.0" encoding="utf-8"?>
<a:themeOverride xmlns:a="http://schemas.openxmlformats.org/drawingml/2006/main">
  <a:clrScheme name="">
    <a:dk1>
      <a:srgbClr val="463416"/>
    </a:dk1>
    <a:lt1>
      <a:srgbClr val="FFFFFF"/>
    </a:lt1>
    <a:dk2>
      <a:srgbClr val="003399"/>
    </a:dk2>
    <a:lt2>
      <a:srgbClr val="E3E3FF"/>
    </a:lt2>
    <a:accent1>
      <a:srgbClr val="3399FF"/>
    </a:accent1>
    <a:accent2>
      <a:srgbClr val="33CCCC"/>
    </a:accent2>
    <a:accent3>
      <a:srgbClr val="AAADCA"/>
    </a:accent3>
    <a:accent4>
      <a:srgbClr val="DADADA"/>
    </a:accent4>
    <a:accent5>
      <a:srgbClr val="ADCAFF"/>
    </a:accent5>
    <a:accent6>
      <a:srgbClr val="2DB9B9"/>
    </a:accent6>
    <a:hlink>
      <a:srgbClr val="00FFCC"/>
    </a:hlink>
    <a:folHlink>
      <a:srgbClr val="808000"/>
    </a:folHlink>
  </a:clrScheme>
</a:themeOverride>
</file>

<file path=ppt/theme/themeOverride20.xml><?xml version="1.0" encoding="utf-8"?>
<a:themeOverride xmlns:a="http://schemas.openxmlformats.org/drawingml/2006/main">
  <a:clrScheme name="">
    <a:dk1>
      <a:srgbClr val="463416"/>
    </a:dk1>
    <a:lt1>
      <a:srgbClr val="FFFFFF"/>
    </a:lt1>
    <a:dk2>
      <a:srgbClr val="003399"/>
    </a:dk2>
    <a:lt2>
      <a:srgbClr val="E3E3FF"/>
    </a:lt2>
    <a:accent1>
      <a:srgbClr val="3399FF"/>
    </a:accent1>
    <a:accent2>
      <a:srgbClr val="33CCCC"/>
    </a:accent2>
    <a:accent3>
      <a:srgbClr val="AAADCA"/>
    </a:accent3>
    <a:accent4>
      <a:srgbClr val="DADADA"/>
    </a:accent4>
    <a:accent5>
      <a:srgbClr val="ADCAFF"/>
    </a:accent5>
    <a:accent6>
      <a:srgbClr val="2DB9B9"/>
    </a:accent6>
    <a:hlink>
      <a:srgbClr val="00FFCC"/>
    </a:hlink>
    <a:folHlink>
      <a:srgbClr val="808000"/>
    </a:folHlink>
  </a:clrScheme>
</a:themeOverride>
</file>

<file path=ppt/theme/themeOverride21.xml><?xml version="1.0" encoding="utf-8"?>
<a:themeOverride xmlns:a="http://schemas.openxmlformats.org/drawingml/2006/main">
  <a:clrScheme name="">
    <a:dk1>
      <a:srgbClr val="463416"/>
    </a:dk1>
    <a:lt1>
      <a:srgbClr val="FFFFFF"/>
    </a:lt1>
    <a:dk2>
      <a:srgbClr val="003399"/>
    </a:dk2>
    <a:lt2>
      <a:srgbClr val="E3E3FF"/>
    </a:lt2>
    <a:accent1>
      <a:srgbClr val="3399FF"/>
    </a:accent1>
    <a:accent2>
      <a:srgbClr val="33CCCC"/>
    </a:accent2>
    <a:accent3>
      <a:srgbClr val="AAADCA"/>
    </a:accent3>
    <a:accent4>
      <a:srgbClr val="DADADA"/>
    </a:accent4>
    <a:accent5>
      <a:srgbClr val="ADCAFF"/>
    </a:accent5>
    <a:accent6>
      <a:srgbClr val="2DB9B9"/>
    </a:accent6>
    <a:hlink>
      <a:srgbClr val="00FFCC"/>
    </a:hlink>
    <a:folHlink>
      <a:srgbClr val="808000"/>
    </a:folHlink>
  </a:clrScheme>
</a:themeOverride>
</file>

<file path=ppt/theme/themeOverride22.xml><?xml version="1.0" encoding="utf-8"?>
<a:themeOverride xmlns:a="http://schemas.openxmlformats.org/drawingml/2006/main">
  <a:clrScheme name="">
    <a:dk1>
      <a:srgbClr val="463416"/>
    </a:dk1>
    <a:lt1>
      <a:srgbClr val="FFFFFF"/>
    </a:lt1>
    <a:dk2>
      <a:srgbClr val="003399"/>
    </a:dk2>
    <a:lt2>
      <a:srgbClr val="E3E3FF"/>
    </a:lt2>
    <a:accent1>
      <a:srgbClr val="3399FF"/>
    </a:accent1>
    <a:accent2>
      <a:srgbClr val="33CCCC"/>
    </a:accent2>
    <a:accent3>
      <a:srgbClr val="AAADCA"/>
    </a:accent3>
    <a:accent4>
      <a:srgbClr val="DADADA"/>
    </a:accent4>
    <a:accent5>
      <a:srgbClr val="ADCAFF"/>
    </a:accent5>
    <a:accent6>
      <a:srgbClr val="2DB9B9"/>
    </a:accent6>
    <a:hlink>
      <a:srgbClr val="00FFCC"/>
    </a:hlink>
    <a:folHlink>
      <a:srgbClr val="808000"/>
    </a:folHlink>
  </a:clrScheme>
</a:themeOverride>
</file>

<file path=ppt/theme/themeOverride23.xml><?xml version="1.0" encoding="utf-8"?>
<a:themeOverride xmlns:a="http://schemas.openxmlformats.org/drawingml/2006/main">
  <a:clrScheme name="">
    <a:dk1>
      <a:srgbClr val="463416"/>
    </a:dk1>
    <a:lt1>
      <a:srgbClr val="FFFFFF"/>
    </a:lt1>
    <a:dk2>
      <a:srgbClr val="003399"/>
    </a:dk2>
    <a:lt2>
      <a:srgbClr val="E3E3FF"/>
    </a:lt2>
    <a:accent1>
      <a:srgbClr val="3399FF"/>
    </a:accent1>
    <a:accent2>
      <a:srgbClr val="33CCCC"/>
    </a:accent2>
    <a:accent3>
      <a:srgbClr val="AAADCA"/>
    </a:accent3>
    <a:accent4>
      <a:srgbClr val="DADADA"/>
    </a:accent4>
    <a:accent5>
      <a:srgbClr val="ADCAFF"/>
    </a:accent5>
    <a:accent6>
      <a:srgbClr val="2DB9B9"/>
    </a:accent6>
    <a:hlink>
      <a:srgbClr val="00FFCC"/>
    </a:hlink>
    <a:folHlink>
      <a:srgbClr val="808000"/>
    </a:folHlink>
  </a:clrScheme>
</a:themeOverride>
</file>

<file path=ppt/theme/themeOverride24.xml><?xml version="1.0" encoding="utf-8"?>
<a:themeOverride xmlns:a="http://schemas.openxmlformats.org/drawingml/2006/main">
  <a:clrScheme name="">
    <a:dk1>
      <a:srgbClr val="463416"/>
    </a:dk1>
    <a:lt1>
      <a:srgbClr val="FFFFFF"/>
    </a:lt1>
    <a:dk2>
      <a:srgbClr val="003399"/>
    </a:dk2>
    <a:lt2>
      <a:srgbClr val="E3E3FF"/>
    </a:lt2>
    <a:accent1>
      <a:srgbClr val="3399FF"/>
    </a:accent1>
    <a:accent2>
      <a:srgbClr val="33CCCC"/>
    </a:accent2>
    <a:accent3>
      <a:srgbClr val="AAADCA"/>
    </a:accent3>
    <a:accent4>
      <a:srgbClr val="DADADA"/>
    </a:accent4>
    <a:accent5>
      <a:srgbClr val="ADCAFF"/>
    </a:accent5>
    <a:accent6>
      <a:srgbClr val="2DB9B9"/>
    </a:accent6>
    <a:hlink>
      <a:srgbClr val="00FFCC"/>
    </a:hlink>
    <a:folHlink>
      <a:srgbClr val="808000"/>
    </a:folHlink>
  </a:clrScheme>
</a:themeOverride>
</file>

<file path=ppt/theme/themeOverride25.xml><?xml version="1.0" encoding="utf-8"?>
<a:themeOverride xmlns:a="http://schemas.openxmlformats.org/drawingml/2006/main">
  <a:clrScheme name="">
    <a:dk1>
      <a:srgbClr val="463416"/>
    </a:dk1>
    <a:lt1>
      <a:srgbClr val="FFFFFF"/>
    </a:lt1>
    <a:dk2>
      <a:srgbClr val="003399"/>
    </a:dk2>
    <a:lt2>
      <a:srgbClr val="E3E3FF"/>
    </a:lt2>
    <a:accent1>
      <a:srgbClr val="3399FF"/>
    </a:accent1>
    <a:accent2>
      <a:srgbClr val="33CCCC"/>
    </a:accent2>
    <a:accent3>
      <a:srgbClr val="AAADCA"/>
    </a:accent3>
    <a:accent4>
      <a:srgbClr val="DADADA"/>
    </a:accent4>
    <a:accent5>
      <a:srgbClr val="ADCAFF"/>
    </a:accent5>
    <a:accent6>
      <a:srgbClr val="2DB9B9"/>
    </a:accent6>
    <a:hlink>
      <a:srgbClr val="00FFCC"/>
    </a:hlink>
    <a:folHlink>
      <a:srgbClr val="808000"/>
    </a:folHlink>
  </a:clrScheme>
</a:themeOverride>
</file>

<file path=ppt/theme/themeOverride26.xml><?xml version="1.0" encoding="utf-8"?>
<a:themeOverride xmlns:a="http://schemas.openxmlformats.org/drawingml/2006/main">
  <a:clrScheme name="">
    <a:dk1>
      <a:srgbClr val="463416"/>
    </a:dk1>
    <a:lt1>
      <a:srgbClr val="FFFFFF"/>
    </a:lt1>
    <a:dk2>
      <a:srgbClr val="003399"/>
    </a:dk2>
    <a:lt2>
      <a:srgbClr val="E3E3FF"/>
    </a:lt2>
    <a:accent1>
      <a:srgbClr val="3399FF"/>
    </a:accent1>
    <a:accent2>
      <a:srgbClr val="33CCCC"/>
    </a:accent2>
    <a:accent3>
      <a:srgbClr val="AAADCA"/>
    </a:accent3>
    <a:accent4>
      <a:srgbClr val="DADADA"/>
    </a:accent4>
    <a:accent5>
      <a:srgbClr val="ADCAFF"/>
    </a:accent5>
    <a:accent6>
      <a:srgbClr val="2DB9B9"/>
    </a:accent6>
    <a:hlink>
      <a:srgbClr val="00FFCC"/>
    </a:hlink>
    <a:folHlink>
      <a:srgbClr val="808000"/>
    </a:folHlink>
  </a:clrScheme>
</a:themeOverride>
</file>

<file path=ppt/theme/themeOverride27.xml><?xml version="1.0" encoding="utf-8"?>
<a:themeOverride xmlns:a="http://schemas.openxmlformats.org/drawingml/2006/main">
  <a:clrScheme name="">
    <a:dk1>
      <a:srgbClr val="463416"/>
    </a:dk1>
    <a:lt1>
      <a:srgbClr val="FFFFFF"/>
    </a:lt1>
    <a:dk2>
      <a:srgbClr val="003399"/>
    </a:dk2>
    <a:lt2>
      <a:srgbClr val="E3E3FF"/>
    </a:lt2>
    <a:accent1>
      <a:srgbClr val="3399FF"/>
    </a:accent1>
    <a:accent2>
      <a:srgbClr val="33CCCC"/>
    </a:accent2>
    <a:accent3>
      <a:srgbClr val="AAADCA"/>
    </a:accent3>
    <a:accent4>
      <a:srgbClr val="DADADA"/>
    </a:accent4>
    <a:accent5>
      <a:srgbClr val="ADCAFF"/>
    </a:accent5>
    <a:accent6>
      <a:srgbClr val="2DB9B9"/>
    </a:accent6>
    <a:hlink>
      <a:srgbClr val="00FFCC"/>
    </a:hlink>
    <a:folHlink>
      <a:srgbClr val="808000"/>
    </a:folHlink>
  </a:clrScheme>
</a:themeOverride>
</file>

<file path=ppt/theme/themeOverride28.xml><?xml version="1.0" encoding="utf-8"?>
<a:themeOverride xmlns:a="http://schemas.openxmlformats.org/drawingml/2006/main">
  <a:clrScheme name="">
    <a:dk1>
      <a:srgbClr val="463416"/>
    </a:dk1>
    <a:lt1>
      <a:srgbClr val="FFFFFF"/>
    </a:lt1>
    <a:dk2>
      <a:srgbClr val="003399"/>
    </a:dk2>
    <a:lt2>
      <a:srgbClr val="E3E3FF"/>
    </a:lt2>
    <a:accent1>
      <a:srgbClr val="3399FF"/>
    </a:accent1>
    <a:accent2>
      <a:srgbClr val="33CCCC"/>
    </a:accent2>
    <a:accent3>
      <a:srgbClr val="AAADCA"/>
    </a:accent3>
    <a:accent4>
      <a:srgbClr val="DADADA"/>
    </a:accent4>
    <a:accent5>
      <a:srgbClr val="ADCAFF"/>
    </a:accent5>
    <a:accent6>
      <a:srgbClr val="2DB9B9"/>
    </a:accent6>
    <a:hlink>
      <a:srgbClr val="00FFCC"/>
    </a:hlink>
    <a:folHlink>
      <a:srgbClr val="808000"/>
    </a:folHlink>
  </a:clrScheme>
</a:themeOverride>
</file>

<file path=ppt/theme/themeOverride29.xml><?xml version="1.0" encoding="utf-8"?>
<a:themeOverride xmlns:a="http://schemas.openxmlformats.org/drawingml/2006/main">
  <a:clrScheme name="">
    <a:dk1>
      <a:srgbClr val="463416"/>
    </a:dk1>
    <a:lt1>
      <a:srgbClr val="FFFFFF"/>
    </a:lt1>
    <a:dk2>
      <a:srgbClr val="003399"/>
    </a:dk2>
    <a:lt2>
      <a:srgbClr val="E3E3FF"/>
    </a:lt2>
    <a:accent1>
      <a:srgbClr val="3399FF"/>
    </a:accent1>
    <a:accent2>
      <a:srgbClr val="33CCCC"/>
    </a:accent2>
    <a:accent3>
      <a:srgbClr val="AAADCA"/>
    </a:accent3>
    <a:accent4>
      <a:srgbClr val="DADADA"/>
    </a:accent4>
    <a:accent5>
      <a:srgbClr val="ADCAFF"/>
    </a:accent5>
    <a:accent6>
      <a:srgbClr val="2DB9B9"/>
    </a:accent6>
    <a:hlink>
      <a:srgbClr val="00FFCC"/>
    </a:hlink>
    <a:folHlink>
      <a:srgbClr val="808000"/>
    </a:folHlink>
  </a:clrScheme>
</a:themeOverride>
</file>

<file path=ppt/theme/themeOverride30.xml><?xml version="1.0" encoding="utf-8"?>
<a:themeOverride xmlns:a="http://schemas.openxmlformats.org/drawingml/2006/main">
  <a:clrScheme name="">
    <a:dk1>
      <a:srgbClr val="463416"/>
    </a:dk1>
    <a:lt1>
      <a:srgbClr val="FFFFFF"/>
    </a:lt1>
    <a:dk2>
      <a:srgbClr val="003399"/>
    </a:dk2>
    <a:lt2>
      <a:srgbClr val="E3E3FF"/>
    </a:lt2>
    <a:accent1>
      <a:srgbClr val="3399FF"/>
    </a:accent1>
    <a:accent2>
      <a:srgbClr val="33CCCC"/>
    </a:accent2>
    <a:accent3>
      <a:srgbClr val="AAADCA"/>
    </a:accent3>
    <a:accent4>
      <a:srgbClr val="DADADA"/>
    </a:accent4>
    <a:accent5>
      <a:srgbClr val="ADCAFF"/>
    </a:accent5>
    <a:accent6>
      <a:srgbClr val="2DB9B9"/>
    </a:accent6>
    <a:hlink>
      <a:srgbClr val="00FFCC"/>
    </a:hlink>
    <a:folHlink>
      <a:srgbClr val="808000"/>
    </a:folHlink>
  </a:clrScheme>
</a:themeOverride>
</file>

<file path=ppt/theme/themeOverride31.xml><?xml version="1.0" encoding="utf-8"?>
<a:themeOverride xmlns:a="http://schemas.openxmlformats.org/drawingml/2006/main">
  <a:clrScheme name="">
    <a:dk1>
      <a:srgbClr val="463416"/>
    </a:dk1>
    <a:lt1>
      <a:srgbClr val="FFFFFF"/>
    </a:lt1>
    <a:dk2>
      <a:srgbClr val="003399"/>
    </a:dk2>
    <a:lt2>
      <a:srgbClr val="E3E3FF"/>
    </a:lt2>
    <a:accent1>
      <a:srgbClr val="3399FF"/>
    </a:accent1>
    <a:accent2>
      <a:srgbClr val="33CCCC"/>
    </a:accent2>
    <a:accent3>
      <a:srgbClr val="AAADCA"/>
    </a:accent3>
    <a:accent4>
      <a:srgbClr val="DADADA"/>
    </a:accent4>
    <a:accent5>
      <a:srgbClr val="ADCAFF"/>
    </a:accent5>
    <a:accent6>
      <a:srgbClr val="2DB9B9"/>
    </a:accent6>
    <a:hlink>
      <a:srgbClr val="00FFCC"/>
    </a:hlink>
    <a:folHlink>
      <a:srgbClr val="808000"/>
    </a:folHlink>
  </a:clrScheme>
</a:themeOverride>
</file>

<file path=ppt/theme/themeOverride32.xml><?xml version="1.0" encoding="utf-8"?>
<a:themeOverride xmlns:a="http://schemas.openxmlformats.org/drawingml/2006/main">
  <a:clrScheme name="">
    <a:dk1>
      <a:srgbClr val="463416"/>
    </a:dk1>
    <a:lt1>
      <a:srgbClr val="FFFFFF"/>
    </a:lt1>
    <a:dk2>
      <a:srgbClr val="003399"/>
    </a:dk2>
    <a:lt2>
      <a:srgbClr val="E3E3FF"/>
    </a:lt2>
    <a:accent1>
      <a:srgbClr val="3399FF"/>
    </a:accent1>
    <a:accent2>
      <a:srgbClr val="33CCCC"/>
    </a:accent2>
    <a:accent3>
      <a:srgbClr val="AAADCA"/>
    </a:accent3>
    <a:accent4>
      <a:srgbClr val="DADADA"/>
    </a:accent4>
    <a:accent5>
      <a:srgbClr val="ADCAFF"/>
    </a:accent5>
    <a:accent6>
      <a:srgbClr val="2DB9B9"/>
    </a:accent6>
    <a:hlink>
      <a:srgbClr val="00FFCC"/>
    </a:hlink>
    <a:folHlink>
      <a:srgbClr val="808000"/>
    </a:folHlink>
  </a:clrScheme>
</a:themeOverride>
</file>

<file path=ppt/theme/themeOverride33.xml><?xml version="1.0" encoding="utf-8"?>
<a:themeOverride xmlns:a="http://schemas.openxmlformats.org/drawingml/2006/main">
  <a:clrScheme name="">
    <a:dk1>
      <a:srgbClr val="463416"/>
    </a:dk1>
    <a:lt1>
      <a:srgbClr val="FFFFFF"/>
    </a:lt1>
    <a:dk2>
      <a:srgbClr val="003399"/>
    </a:dk2>
    <a:lt2>
      <a:srgbClr val="E3E3FF"/>
    </a:lt2>
    <a:accent1>
      <a:srgbClr val="3399FF"/>
    </a:accent1>
    <a:accent2>
      <a:srgbClr val="33CCCC"/>
    </a:accent2>
    <a:accent3>
      <a:srgbClr val="AAADCA"/>
    </a:accent3>
    <a:accent4>
      <a:srgbClr val="DADADA"/>
    </a:accent4>
    <a:accent5>
      <a:srgbClr val="ADCAFF"/>
    </a:accent5>
    <a:accent6>
      <a:srgbClr val="2DB9B9"/>
    </a:accent6>
    <a:hlink>
      <a:srgbClr val="00FFCC"/>
    </a:hlink>
    <a:folHlink>
      <a:srgbClr val="808000"/>
    </a:folHlink>
  </a:clrScheme>
</a:themeOverride>
</file>

<file path=ppt/theme/themeOverride34.xml><?xml version="1.0" encoding="utf-8"?>
<a:themeOverride xmlns:a="http://schemas.openxmlformats.org/drawingml/2006/main">
  <a:clrScheme name="">
    <a:dk1>
      <a:srgbClr val="463416"/>
    </a:dk1>
    <a:lt1>
      <a:srgbClr val="FFFFFF"/>
    </a:lt1>
    <a:dk2>
      <a:srgbClr val="003399"/>
    </a:dk2>
    <a:lt2>
      <a:srgbClr val="E3E3FF"/>
    </a:lt2>
    <a:accent1>
      <a:srgbClr val="3399FF"/>
    </a:accent1>
    <a:accent2>
      <a:srgbClr val="33CCCC"/>
    </a:accent2>
    <a:accent3>
      <a:srgbClr val="AAADCA"/>
    </a:accent3>
    <a:accent4>
      <a:srgbClr val="DADADA"/>
    </a:accent4>
    <a:accent5>
      <a:srgbClr val="ADCAFF"/>
    </a:accent5>
    <a:accent6>
      <a:srgbClr val="2DB9B9"/>
    </a:accent6>
    <a:hlink>
      <a:srgbClr val="00FFCC"/>
    </a:hlink>
    <a:folHlink>
      <a:srgbClr val="808000"/>
    </a:folHlink>
  </a:clrScheme>
</a:themeOverride>
</file>

<file path=ppt/theme/themeOverride35.xml><?xml version="1.0" encoding="utf-8"?>
<a:themeOverride xmlns:a="http://schemas.openxmlformats.org/drawingml/2006/main">
  <a:clrScheme name="">
    <a:dk1>
      <a:srgbClr val="463416"/>
    </a:dk1>
    <a:lt1>
      <a:srgbClr val="FFFFFF"/>
    </a:lt1>
    <a:dk2>
      <a:srgbClr val="003399"/>
    </a:dk2>
    <a:lt2>
      <a:srgbClr val="E3E3FF"/>
    </a:lt2>
    <a:accent1>
      <a:srgbClr val="3399FF"/>
    </a:accent1>
    <a:accent2>
      <a:srgbClr val="33CCCC"/>
    </a:accent2>
    <a:accent3>
      <a:srgbClr val="AAADCA"/>
    </a:accent3>
    <a:accent4>
      <a:srgbClr val="DADADA"/>
    </a:accent4>
    <a:accent5>
      <a:srgbClr val="ADCAFF"/>
    </a:accent5>
    <a:accent6>
      <a:srgbClr val="2DB9B9"/>
    </a:accent6>
    <a:hlink>
      <a:srgbClr val="00FFCC"/>
    </a:hlink>
    <a:folHlink>
      <a:srgbClr val="808000"/>
    </a:folHlink>
  </a:clrScheme>
</a:themeOverride>
</file>

<file path=ppt/theme/themeOverride36.xml><?xml version="1.0" encoding="utf-8"?>
<a:themeOverride xmlns:a="http://schemas.openxmlformats.org/drawingml/2006/main">
  <a:clrScheme name="">
    <a:dk1>
      <a:srgbClr val="463416"/>
    </a:dk1>
    <a:lt1>
      <a:srgbClr val="FFFFFF"/>
    </a:lt1>
    <a:dk2>
      <a:srgbClr val="003399"/>
    </a:dk2>
    <a:lt2>
      <a:srgbClr val="E3E3FF"/>
    </a:lt2>
    <a:accent1>
      <a:srgbClr val="3399FF"/>
    </a:accent1>
    <a:accent2>
      <a:srgbClr val="33CCCC"/>
    </a:accent2>
    <a:accent3>
      <a:srgbClr val="AAADCA"/>
    </a:accent3>
    <a:accent4>
      <a:srgbClr val="DADADA"/>
    </a:accent4>
    <a:accent5>
      <a:srgbClr val="ADCAFF"/>
    </a:accent5>
    <a:accent6>
      <a:srgbClr val="2DB9B9"/>
    </a:accent6>
    <a:hlink>
      <a:srgbClr val="00FFCC"/>
    </a:hlink>
    <a:folHlink>
      <a:srgbClr val="808000"/>
    </a:folHlink>
  </a:clrScheme>
</a:themeOverride>
</file>

<file path=ppt/theme/themeOverride37.xml><?xml version="1.0" encoding="utf-8"?>
<a:themeOverride xmlns:a="http://schemas.openxmlformats.org/drawingml/2006/main">
  <a:clrScheme name="">
    <a:dk1>
      <a:srgbClr val="463416"/>
    </a:dk1>
    <a:lt1>
      <a:srgbClr val="FFFFFF"/>
    </a:lt1>
    <a:dk2>
      <a:srgbClr val="003399"/>
    </a:dk2>
    <a:lt2>
      <a:srgbClr val="E3E3FF"/>
    </a:lt2>
    <a:accent1>
      <a:srgbClr val="3399FF"/>
    </a:accent1>
    <a:accent2>
      <a:srgbClr val="33CCCC"/>
    </a:accent2>
    <a:accent3>
      <a:srgbClr val="AAADCA"/>
    </a:accent3>
    <a:accent4>
      <a:srgbClr val="DADADA"/>
    </a:accent4>
    <a:accent5>
      <a:srgbClr val="ADCAFF"/>
    </a:accent5>
    <a:accent6>
      <a:srgbClr val="2DB9B9"/>
    </a:accent6>
    <a:hlink>
      <a:srgbClr val="00FFCC"/>
    </a:hlink>
    <a:folHlink>
      <a:srgbClr val="808000"/>
    </a:folHlink>
  </a:clrScheme>
</a:themeOverride>
</file>

<file path=ppt/theme/themeOverride38.xml><?xml version="1.0" encoding="utf-8"?>
<a:themeOverride xmlns:a="http://schemas.openxmlformats.org/drawingml/2006/main">
  <a:clrScheme name="">
    <a:dk1>
      <a:srgbClr val="463416"/>
    </a:dk1>
    <a:lt1>
      <a:srgbClr val="FFFFFF"/>
    </a:lt1>
    <a:dk2>
      <a:srgbClr val="003399"/>
    </a:dk2>
    <a:lt2>
      <a:srgbClr val="E3E3FF"/>
    </a:lt2>
    <a:accent1>
      <a:srgbClr val="3399FF"/>
    </a:accent1>
    <a:accent2>
      <a:srgbClr val="33CCCC"/>
    </a:accent2>
    <a:accent3>
      <a:srgbClr val="AAADCA"/>
    </a:accent3>
    <a:accent4>
      <a:srgbClr val="DADADA"/>
    </a:accent4>
    <a:accent5>
      <a:srgbClr val="ADCAFF"/>
    </a:accent5>
    <a:accent6>
      <a:srgbClr val="2DB9B9"/>
    </a:accent6>
    <a:hlink>
      <a:srgbClr val="00FFCC"/>
    </a:hlink>
    <a:folHlink>
      <a:srgbClr val="808000"/>
    </a:folHlink>
  </a:clrScheme>
</a:themeOverride>
</file>

<file path=ppt/theme/themeOverride39.xml><?xml version="1.0" encoding="utf-8"?>
<a:themeOverride xmlns:a="http://schemas.openxmlformats.org/drawingml/2006/main">
  <a:clrScheme name="">
    <a:dk1>
      <a:srgbClr val="463416"/>
    </a:dk1>
    <a:lt1>
      <a:srgbClr val="FFFFFF"/>
    </a:lt1>
    <a:dk2>
      <a:srgbClr val="003399"/>
    </a:dk2>
    <a:lt2>
      <a:srgbClr val="E3E3FF"/>
    </a:lt2>
    <a:accent1>
      <a:srgbClr val="3399FF"/>
    </a:accent1>
    <a:accent2>
      <a:srgbClr val="33CCCC"/>
    </a:accent2>
    <a:accent3>
      <a:srgbClr val="AAADCA"/>
    </a:accent3>
    <a:accent4>
      <a:srgbClr val="DADADA"/>
    </a:accent4>
    <a:accent5>
      <a:srgbClr val="ADCAFF"/>
    </a:accent5>
    <a:accent6>
      <a:srgbClr val="2DB9B9"/>
    </a:accent6>
    <a:hlink>
      <a:srgbClr val="00FFCC"/>
    </a:hlink>
    <a:folHlink>
      <a:srgbClr val="808000"/>
    </a:folHlink>
  </a:clrScheme>
</a:themeOverride>
</file>

<file path=ppt/theme/themeOverride40.xml><?xml version="1.0" encoding="utf-8"?>
<a:themeOverride xmlns:a="http://schemas.openxmlformats.org/drawingml/2006/main">
  <a:clrScheme name="">
    <a:dk1>
      <a:srgbClr val="463416"/>
    </a:dk1>
    <a:lt1>
      <a:srgbClr val="FFFFFF"/>
    </a:lt1>
    <a:dk2>
      <a:srgbClr val="003399"/>
    </a:dk2>
    <a:lt2>
      <a:srgbClr val="E3E3FF"/>
    </a:lt2>
    <a:accent1>
      <a:srgbClr val="3399FF"/>
    </a:accent1>
    <a:accent2>
      <a:srgbClr val="33CCCC"/>
    </a:accent2>
    <a:accent3>
      <a:srgbClr val="AAADCA"/>
    </a:accent3>
    <a:accent4>
      <a:srgbClr val="DADADA"/>
    </a:accent4>
    <a:accent5>
      <a:srgbClr val="ADCAFF"/>
    </a:accent5>
    <a:accent6>
      <a:srgbClr val="2DB9B9"/>
    </a:accent6>
    <a:hlink>
      <a:srgbClr val="00FFCC"/>
    </a:hlink>
    <a:folHlink>
      <a:srgbClr val="808000"/>
    </a:folHlink>
  </a:clrScheme>
</a:themeOverride>
</file>

<file path=ppt/theme/themeOverride41.xml><?xml version="1.0" encoding="utf-8"?>
<a:themeOverride xmlns:a="http://schemas.openxmlformats.org/drawingml/2006/main">
  <a:clrScheme name="">
    <a:dk1>
      <a:srgbClr val="463416"/>
    </a:dk1>
    <a:lt1>
      <a:srgbClr val="FFFFFF"/>
    </a:lt1>
    <a:dk2>
      <a:srgbClr val="003399"/>
    </a:dk2>
    <a:lt2>
      <a:srgbClr val="E3E3FF"/>
    </a:lt2>
    <a:accent1>
      <a:srgbClr val="3399FF"/>
    </a:accent1>
    <a:accent2>
      <a:srgbClr val="33CCCC"/>
    </a:accent2>
    <a:accent3>
      <a:srgbClr val="AAADCA"/>
    </a:accent3>
    <a:accent4>
      <a:srgbClr val="DADADA"/>
    </a:accent4>
    <a:accent5>
      <a:srgbClr val="ADCAFF"/>
    </a:accent5>
    <a:accent6>
      <a:srgbClr val="2DB9B9"/>
    </a:accent6>
    <a:hlink>
      <a:srgbClr val="00FFCC"/>
    </a:hlink>
    <a:folHlink>
      <a:srgbClr val="808000"/>
    </a:folHlink>
  </a:clrScheme>
</a:themeOverride>
</file>

<file path=ppt/theme/themeOverride42.xml><?xml version="1.0" encoding="utf-8"?>
<a:themeOverride xmlns:a="http://schemas.openxmlformats.org/drawingml/2006/main">
  <a:clrScheme name="">
    <a:dk1>
      <a:srgbClr val="463416"/>
    </a:dk1>
    <a:lt1>
      <a:srgbClr val="FFFFFF"/>
    </a:lt1>
    <a:dk2>
      <a:srgbClr val="003399"/>
    </a:dk2>
    <a:lt2>
      <a:srgbClr val="E3E3FF"/>
    </a:lt2>
    <a:accent1>
      <a:srgbClr val="3399FF"/>
    </a:accent1>
    <a:accent2>
      <a:srgbClr val="33CCCC"/>
    </a:accent2>
    <a:accent3>
      <a:srgbClr val="AAADCA"/>
    </a:accent3>
    <a:accent4>
      <a:srgbClr val="DADADA"/>
    </a:accent4>
    <a:accent5>
      <a:srgbClr val="ADCAFF"/>
    </a:accent5>
    <a:accent6>
      <a:srgbClr val="2DB9B9"/>
    </a:accent6>
    <a:hlink>
      <a:srgbClr val="00FFCC"/>
    </a:hlink>
    <a:folHlink>
      <a:srgbClr val="808000"/>
    </a:folHlink>
  </a:clrScheme>
</a:themeOverride>
</file>

<file path=ppt/theme/themeOverride43.xml><?xml version="1.0" encoding="utf-8"?>
<a:themeOverride xmlns:a="http://schemas.openxmlformats.org/drawingml/2006/main">
  <a:clrScheme name="">
    <a:dk1>
      <a:srgbClr val="463416"/>
    </a:dk1>
    <a:lt1>
      <a:srgbClr val="FFFFFF"/>
    </a:lt1>
    <a:dk2>
      <a:srgbClr val="003399"/>
    </a:dk2>
    <a:lt2>
      <a:srgbClr val="E3E3FF"/>
    </a:lt2>
    <a:accent1>
      <a:srgbClr val="3399FF"/>
    </a:accent1>
    <a:accent2>
      <a:srgbClr val="33CCCC"/>
    </a:accent2>
    <a:accent3>
      <a:srgbClr val="AAADCA"/>
    </a:accent3>
    <a:accent4>
      <a:srgbClr val="DADADA"/>
    </a:accent4>
    <a:accent5>
      <a:srgbClr val="ADCAFF"/>
    </a:accent5>
    <a:accent6>
      <a:srgbClr val="2DB9B9"/>
    </a:accent6>
    <a:hlink>
      <a:srgbClr val="00FFCC"/>
    </a:hlink>
    <a:folHlink>
      <a:srgbClr val="808000"/>
    </a:folHlink>
  </a:clrScheme>
</a:themeOverride>
</file>

<file path=ppt/theme/themeOverride44.xml><?xml version="1.0" encoding="utf-8"?>
<a:themeOverride xmlns:a="http://schemas.openxmlformats.org/drawingml/2006/main">
  <a:clrScheme name="">
    <a:dk1>
      <a:srgbClr val="463416"/>
    </a:dk1>
    <a:lt1>
      <a:srgbClr val="FFFFFF"/>
    </a:lt1>
    <a:dk2>
      <a:srgbClr val="003399"/>
    </a:dk2>
    <a:lt2>
      <a:srgbClr val="E3E3FF"/>
    </a:lt2>
    <a:accent1>
      <a:srgbClr val="3399FF"/>
    </a:accent1>
    <a:accent2>
      <a:srgbClr val="33CCCC"/>
    </a:accent2>
    <a:accent3>
      <a:srgbClr val="AAADCA"/>
    </a:accent3>
    <a:accent4>
      <a:srgbClr val="DADADA"/>
    </a:accent4>
    <a:accent5>
      <a:srgbClr val="ADCAFF"/>
    </a:accent5>
    <a:accent6>
      <a:srgbClr val="2DB9B9"/>
    </a:accent6>
    <a:hlink>
      <a:srgbClr val="00FFCC"/>
    </a:hlink>
    <a:folHlink>
      <a:srgbClr val="808000"/>
    </a:folHlink>
  </a:clrScheme>
</a:themeOverride>
</file>

<file path=ppt/theme/themeOverride45.xml><?xml version="1.0" encoding="utf-8"?>
<a:themeOverride xmlns:a="http://schemas.openxmlformats.org/drawingml/2006/main">
  <a:clrScheme name="">
    <a:dk1>
      <a:srgbClr val="463416"/>
    </a:dk1>
    <a:lt1>
      <a:srgbClr val="FFFFFF"/>
    </a:lt1>
    <a:dk2>
      <a:srgbClr val="003399"/>
    </a:dk2>
    <a:lt2>
      <a:srgbClr val="E3E3FF"/>
    </a:lt2>
    <a:accent1>
      <a:srgbClr val="3399FF"/>
    </a:accent1>
    <a:accent2>
      <a:srgbClr val="33CCCC"/>
    </a:accent2>
    <a:accent3>
      <a:srgbClr val="AAADCA"/>
    </a:accent3>
    <a:accent4>
      <a:srgbClr val="DADADA"/>
    </a:accent4>
    <a:accent5>
      <a:srgbClr val="ADCAFF"/>
    </a:accent5>
    <a:accent6>
      <a:srgbClr val="2DB9B9"/>
    </a:accent6>
    <a:hlink>
      <a:srgbClr val="00FFCC"/>
    </a:hlink>
    <a:folHlink>
      <a:srgbClr val="808000"/>
    </a:folHlink>
  </a:clrScheme>
</a:themeOverride>
</file>

<file path=ppt/theme/themeOverride46.xml><?xml version="1.0" encoding="utf-8"?>
<a:themeOverride xmlns:a="http://schemas.openxmlformats.org/drawingml/2006/main">
  <a:clrScheme name="">
    <a:dk1>
      <a:srgbClr val="463416"/>
    </a:dk1>
    <a:lt1>
      <a:srgbClr val="FFFFFF"/>
    </a:lt1>
    <a:dk2>
      <a:srgbClr val="003399"/>
    </a:dk2>
    <a:lt2>
      <a:srgbClr val="E3E3FF"/>
    </a:lt2>
    <a:accent1>
      <a:srgbClr val="3399FF"/>
    </a:accent1>
    <a:accent2>
      <a:srgbClr val="33CCCC"/>
    </a:accent2>
    <a:accent3>
      <a:srgbClr val="AAADCA"/>
    </a:accent3>
    <a:accent4>
      <a:srgbClr val="DADADA"/>
    </a:accent4>
    <a:accent5>
      <a:srgbClr val="ADCAFF"/>
    </a:accent5>
    <a:accent6>
      <a:srgbClr val="2DB9B9"/>
    </a:accent6>
    <a:hlink>
      <a:srgbClr val="00FFCC"/>
    </a:hlink>
    <a:folHlink>
      <a:srgbClr val="808000"/>
    </a:folHlink>
  </a:clrScheme>
</a:themeOverride>
</file>

<file path=ppt/theme/themeOverride47.xml><?xml version="1.0" encoding="utf-8"?>
<a:themeOverride xmlns:a="http://schemas.openxmlformats.org/drawingml/2006/main">
  <a:clrScheme name="">
    <a:dk1>
      <a:srgbClr val="463416"/>
    </a:dk1>
    <a:lt1>
      <a:srgbClr val="FFFFFF"/>
    </a:lt1>
    <a:dk2>
      <a:srgbClr val="003399"/>
    </a:dk2>
    <a:lt2>
      <a:srgbClr val="E3E3FF"/>
    </a:lt2>
    <a:accent1>
      <a:srgbClr val="3399FF"/>
    </a:accent1>
    <a:accent2>
      <a:srgbClr val="33CCCC"/>
    </a:accent2>
    <a:accent3>
      <a:srgbClr val="AAADCA"/>
    </a:accent3>
    <a:accent4>
      <a:srgbClr val="DADADA"/>
    </a:accent4>
    <a:accent5>
      <a:srgbClr val="ADCAFF"/>
    </a:accent5>
    <a:accent6>
      <a:srgbClr val="2DB9B9"/>
    </a:accent6>
    <a:hlink>
      <a:srgbClr val="00FFCC"/>
    </a:hlink>
    <a:folHlink>
      <a:srgbClr val="808000"/>
    </a:folHlink>
  </a:clrScheme>
</a:themeOverride>
</file>

<file path=ppt/theme/themeOverride48.xml><?xml version="1.0" encoding="utf-8"?>
<a:themeOverride xmlns:a="http://schemas.openxmlformats.org/drawingml/2006/main">
  <a:clrScheme name="">
    <a:dk1>
      <a:srgbClr val="463416"/>
    </a:dk1>
    <a:lt1>
      <a:srgbClr val="FFFFFF"/>
    </a:lt1>
    <a:dk2>
      <a:srgbClr val="003399"/>
    </a:dk2>
    <a:lt2>
      <a:srgbClr val="E3E3FF"/>
    </a:lt2>
    <a:accent1>
      <a:srgbClr val="3399FF"/>
    </a:accent1>
    <a:accent2>
      <a:srgbClr val="33CCCC"/>
    </a:accent2>
    <a:accent3>
      <a:srgbClr val="AAADCA"/>
    </a:accent3>
    <a:accent4>
      <a:srgbClr val="DADADA"/>
    </a:accent4>
    <a:accent5>
      <a:srgbClr val="ADCAFF"/>
    </a:accent5>
    <a:accent6>
      <a:srgbClr val="2DB9B9"/>
    </a:accent6>
    <a:hlink>
      <a:srgbClr val="00FFCC"/>
    </a:hlink>
    <a:folHlink>
      <a:srgbClr val="808000"/>
    </a:folHlink>
  </a:clrScheme>
</a:themeOverride>
</file>

<file path=ppt/theme/themeOverride49.xml><?xml version="1.0" encoding="utf-8"?>
<a:themeOverride xmlns:a="http://schemas.openxmlformats.org/drawingml/2006/main">
  <a:clrScheme name="">
    <a:dk1>
      <a:srgbClr val="463416"/>
    </a:dk1>
    <a:lt1>
      <a:srgbClr val="FFFFFF"/>
    </a:lt1>
    <a:dk2>
      <a:srgbClr val="003399"/>
    </a:dk2>
    <a:lt2>
      <a:srgbClr val="E3E3FF"/>
    </a:lt2>
    <a:accent1>
      <a:srgbClr val="3399FF"/>
    </a:accent1>
    <a:accent2>
      <a:srgbClr val="33CCCC"/>
    </a:accent2>
    <a:accent3>
      <a:srgbClr val="AAADCA"/>
    </a:accent3>
    <a:accent4>
      <a:srgbClr val="DADADA"/>
    </a:accent4>
    <a:accent5>
      <a:srgbClr val="ADCAFF"/>
    </a:accent5>
    <a:accent6>
      <a:srgbClr val="2DB9B9"/>
    </a:accent6>
    <a:hlink>
      <a:srgbClr val="00FFCC"/>
    </a:hlink>
    <a:folHlink>
      <a:srgbClr val="808000"/>
    </a:folHlink>
  </a:clrScheme>
</a:themeOverride>
</file>

<file path=ppt/theme/themeOverride50.xml><?xml version="1.0" encoding="utf-8"?>
<a:themeOverride xmlns:a="http://schemas.openxmlformats.org/drawingml/2006/main">
  <a:clrScheme name="">
    <a:dk1>
      <a:srgbClr val="463416"/>
    </a:dk1>
    <a:lt1>
      <a:srgbClr val="FFFFFF"/>
    </a:lt1>
    <a:dk2>
      <a:srgbClr val="003399"/>
    </a:dk2>
    <a:lt2>
      <a:srgbClr val="E3E3FF"/>
    </a:lt2>
    <a:accent1>
      <a:srgbClr val="3399FF"/>
    </a:accent1>
    <a:accent2>
      <a:srgbClr val="33CCCC"/>
    </a:accent2>
    <a:accent3>
      <a:srgbClr val="AAADCA"/>
    </a:accent3>
    <a:accent4>
      <a:srgbClr val="DADADA"/>
    </a:accent4>
    <a:accent5>
      <a:srgbClr val="ADCAFF"/>
    </a:accent5>
    <a:accent6>
      <a:srgbClr val="2DB9B9"/>
    </a:accent6>
    <a:hlink>
      <a:srgbClr val="00FFCC"/>
    </a:hlink>
    <a:folHlink>
      <a:srgbClr val="808000"/>
    </a:folHlink>
  </a:clrScheme>
</a:themeOverride>
</file>

<file path=ppt/theme/themeOverride51.xml><?xml version="1.0" encoding="utf-8"?>
<a:themeOverride xmlns:a="http://schemas.openxmlformats.org/drawingml/2006/main">
  <a:clrScheme name="">
    <a:dk1>
      <a:srgbClr val="463416"/>
    </a:dk1>
    <a:lt1>
      <a:srgbClr val="FFFFFF"/>
    </a:lt1>
    <a:dk2>
      <a:srgbClr val="003399"/>
    </a:dk2>
    <a:lt2>
      <a:srgbClr val="E3E3FF"/>
    </a:lt2>
    <a:accent1>
      <a:srgbClr val="3399FF"/>
    </a:accent1>
    <a:accent2>
      <a:srgbClr val="33CCCC"/>
    </a:accent2>
    <a:accent3>
      <a:srgbClr val="AAADCA"/>
    </a:accent3>
    <a:accent4>
      <a:srgbClr val="DADADA"/>
    </a:accent4>
    <a:accent5>
      <a:srgbClr val="ADCAFF"/>
    </a:accent5>
    <a:accent6>
      <a:srgbClr val="2DB9B9"/>
    </a:accent6>
    <a:hlink>
      <a:srgbClr val="00FFCC"/>
    </a:hlink>
    <a:folHlink>
      <a:srgbClr val="808000"/>
    </a:folHlink>
  </a:clrScheme>
</a:themeOverride>
</file>

<file path=ppt/theme/themeOverride52.xml><?xml version="1.0" encoding="utf-8"?>
<a:themeOverride xmlns:a="http://schemas.openxmlformats.org/drawingml/2006/main">
  <a:clrScheme name="">
    <a:dk1>
      <a:srgbClr val="463416"/>
    </a:dk1>
    <a:lt1>
      <a:srgbClr val="FFFFFF"/>
    </a:lt1>
    <a:dk2>
      <a:srgbClr val="003399"/>
    </a:dk2>
    <a:lt2>
      <a:srgbClr val="E3E3FF"/>
    </a:lt2>
    <a:accent1>
      <a:srgbClr val="3399FF"/>
    </a:accent1>
    <a:accent2>
      <a:srgbClr val="33CCCC"/>
    </a:accent2>
    <a:accent3>
      <a:srgbClr val="AAADCA"/>
    </a:accent3>
    <a:accent4>
      <a:srgbClr val="DADADA"/>
    </a:accent4>
    <a:accent5>
      <a:srgbClr val="ADCAFF"/>
    </a:accent5>
    <a:accent6>
      <a:srgbClr val="2DB9B9"/>
    </a:accent6>
    <a:hlink>
      <a:srgbClr val="00FFCC"/>
    </a:hlink>
    <a:folHlink>
      <a:srgbClr val="808000"/>
    </a:folHlink>
  </a:clrScheme>
</a:themeOverride>
</file>

<file path=ppt/theme/themeOverride53.xml><?xml version="1.0" encoding="utf-8"?>
<a:themeOverride xmlns:a="http://schemas.openxmlformats.org/drawingml/2006/main">
  <a:clrScheme name="">
    <a:dk1>
      <a:srgbClr val="463416"/>
    </a:dk1>
    <a:lt1>
      <a:srgbClr val="FFFFFF"/>
    </a:lt1>
    <a:dk2>
      <a:srgbClr val="003399"/>
    </a:dk2>
    <a:lt2>
      <a:srgbClr val="E3E3FF"/>
    </a:lt2>
    <a:accent1>
      <a:srgbClr val="3399FF"/>
    </a:accent1>
    <a:accent2>
      <a:srgbClr val="33CCCC"/>
    </a:accent2>
    <a:accent3>
      <a:srgbClr val="AAADCA"/>
    </a:accent3>
    <a:accent4>
      <a:srgbClr val="DADADA"/>
    </a:accent4>
    <a:accent5>
      <a:srgbClr val="ADCAFF"/>
    </a:accent5>
    <a:accent6>
      <a:srgbClr val="2DB9B9"/>
    </a:accent6>
    <a:hlink>
      <a:srgbClr val="00FFCC"/>
    </a:hlink>
    <a:folHlink>
      <a:srgbClr val="80800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Slipstream</Template>
  <TotalTime>9777</TotalTime>
  <Words>4383</Words>
  <Application>Microsoft Office PowerPoint</Application>
  <PresentationFormat>Экран (4:3)</PresentationFormat>
  <Paragraphs>399</Paragraphs>
  <Slides>72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6</vt:i4>
      </vt:variant>
      <vt:variant>
        <vt:lpstr>Заголовки слайдов</vt:lpstr>
      </vt:variant>
      <vt:variant>
        <vt:i4>72</vt:i4>
      </vt:variant>
    </vt:vector>
  </HeadingPairs>
  <TitlesOfParts>
    <vt:vector size="78" baseType="lpstr">
      <vt:lpstr>Оформление по умолчанию</vt:lpstr>
      <vt:lpstr>3_Воздушный поток</vt:lpstr>
      <vt:lpstr>1_Оформление по умолчанию</vt:lpstr>
      <vt:lpstr>2_Оформление по умолчанию</vt:lpstr>
      <vt:lpstr>Тема Office</vt:lpstr>
      <vt:lpstr>1_Тема Office</vt:lpstr>
      <vt:lpstr>Презентация PowerPoint</vt:lpstr>
      <vt:lpstr>Презентация PowerPoint</vt:lpstr>
      <vt:lpstr>Презентация PowerPoint</vt:lpstr>
      <vt:lpstr>Литература </vt:lpstr>
      <vt:lpstr>Литература 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Подсистемы ИС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izba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domovoy</dc:creator>
  <cp:lastModifiedBy>Galina</cp:lastModifiedBy>
  <cp:revision>692</cp:revision>
  <dcterms:created xsi:type="dcterms:W3CDTF">2003-09-15T09:05:12Z</dcterms:created>
  <dcterms:modified xsi:type="dcterms:W3CDTF">2017-01-10T10:56:00Z</dcterms:modified>
</cp:coreProperties>
</file>