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4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4" r:id="rId1"/>
    <p:sldMasterId id="2147483893" r:id="rId2"/>
  </p:sldMasterIdLst>
  <p:notesMasterIdLst>
    <p:notesMasterId r:id="rId67"/>
  </p:notesMasterIdLst>
  <p:sldIdLst>
    <p:sldId id="377" r:id="rId3"/>
    <p:sldId id="406" r:id="rId4"/>
    <p:sldId id="277" r:id="rId5"/>
    <p:sldId id="383" r:id="rId6"/>
    <p:sldId id="384" r:id="rId7"/>
    <p:sldId id="385" r:id="rId8"/>
    <p:sldId id="407" r:id="rId9"/>
    <p:sldId id="332" r:id="rId10"/>
    <p:sldId id="331" r:id="rId11"/>
    <p:sldId id="329" r:id="rId12"/>
    <p:sldId id="382" r:id="rId13"/>
    <p:sldId id="330" r:id="rId14"/>
    <p:sldId id="386" r:id="rId15"/>
    <p:sldId id="387" r:id="rId16"/>
    <p:sldId id="388" r:id="rId17"/>
    <p:sldId id="389" r:id="rId18"/>
    <p:sldId id="278" r:id="rId19"/>
    <p:sldId id="336" r:id="rId20"/>
    <p:sldId id="391" r:id="rId21"/>
    <p:sldId id="392" r:id="rId22"/>
    <p:sldId id="394" r:id="rId23"/>
    <p:sldId id="335" r:id="rId24"/>
    <p:sldId id="390" r:id="rId25"/>
    <p:sldId id="334" r:id="rId26"/>
    <p:sldId id="333" r:id="rId27"/>
    <p:sldId id="393" r:id="rId28"/>
    <p:sldId id="395" r:id="rId29"/>
    <p:sldId id="396" r:id="rId30"/>
    <p:sldId id="340" r:id="rId31"/>
    <p:sldId id="339" r:id="rId32"/>
    <p:sldId id="408" r:id="rId33"/>
    <p:sldId id="397" r:id="rId34"/>
    <p:sldId id="308" r:id="rId35"/>
    <p:sldId id="398" r:id="rId36"/>
    <p:sldId id="399" r:id="rId37"/>
    <p:sldId id="338" r:id="rId38"/>
    <p:sldId id="341" r:id="rId39"/>
    <p:sldId id="346" r:id="rId40"/>
    <p:sldId id="376" r:id="rId41"/>
    <p:sldId id="347" r:id="rId42"/>
    <p:sldId id="400" r:id="rId43"/>
    <p:sldId id="342" r:id="rId44"/>
    <p:sldId id="348" r:id="rId45"/>
    <p:sldId id="403" r:id="rId46"/>
    <p:sldId id="404" r:id="rId47"/>
    <p:sldId id="343" r:id="rId48"/>
    <p:sldId id="344" r:id="rId49"/>
    <p:sldId id="345" r:id="rId50"/>
    <p:sldId id="350" r:id="rId51"/>
    <p:sldId id="409" r:id="rId52"/>
    <p:sldId id="410" r:id="rId53"/>
    <p:sldId id="412" r:id="rId54"/>
    <p:sldId id="413" r:id="rId55"/>
    <p:sldId id="414" r:id="rId56"/>
    <p:sldId id="415" r:id="rId57"/>
    <p:sldId id="416" r:id="rId58"/>
    <p:sldId id="417" r:id="rId59"/>
    <p:sldId id="418" r:id="rId60"/>
    <p:sldId id="419" r:id="rId61"/>
    <p:sldId id="420" r:id="rId62"/>
    <p:sldId id="421" r:id="rId63"/>
    <p:sldId id="422" r:id="rId64"/>
    <p:sldId id="423" r:id="rId65"/>
    <p:sldId id="405" r:id="rId66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009900"/>
    <a:srgbClr val="008000"/>
    <a:srgbClr val="FFFF66"/>
    <a:srgbClr val="FFFF99"/>
    <a:srgbClr val="FFFFCC"/>
    <a:srgbClr val="2020E8"/>
    <a:srgbClr val="66FFFF"/>
    <a:srgbClr val="FB3A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E171933-4619-4E11-9A3F-F7608DF75F80}" styleName="Средний стиль 1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53" autoAdjust="0"/>
    <p:restoredTop sz="93921" autoAdjust="0"/>
  </p:normalViewPr>
  <p:slideViewPr>
    <p:cSldViewPr>
      <p:cViewPr varScale="1">
        <p:scale>
          <a:sx n="87" d="100"/>
          <a:sy n="87" d="100"/>
        </p:scale>
        <p:origin x="60" y="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75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7023013-08B5-475F-8117-FAC5177FC9A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064231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23013-08B5-475F-8117-FAC5177FC9AB}" type="slidenum">
              <a:rPr lang="ru-RU" altLang="ru-RU" smtClean="0"/>
              <a:pPr>
                <a:defRPr/>
              </a:pPr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0237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23013-08B5-475F-8117-FAC5177FC9AB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05787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23013-08B5-475F-8117-FAC5177FC9AB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71997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23013-08B5-475F-8117-FAC5177FC9AB}" type="slidenum">
              <a:rPr lang="ru-RU" altLang="ru-RU" smtClean="0"/>
              <a:pPr>
                <a:defRPr/>
              </a:pPr>
              <a:t>22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80063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23013-08B5-475F-8117-FAC5177FC9AB}" type="slidenum">
              <a:rPr lang="ru-RU" altLang="ru-RU" smtClean="0"/>
              <a:pPr>
                <a:defRPr/>
              </a:pPr>
              <a:t>23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7667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23FFC048-D934-4094-9B07-C8BA2B742E9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80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602C52A3-4F42-407F-9D12-DF13EBD653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32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78A2C481-7DC5-4137-9604-355175478B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0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1D34CFCC-879E-487C-8FA5-23FB4C1561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95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19363FD3-9B57-4CEB-8C4B-0A6AD33D49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41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513A403F-7FD6-4CA2-B1B8-12A208C2681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2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C5AB5006-B1E1-4021-8F57-4A9F30DEF53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72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6F41DB7A-0AAD-4D8E-89FA-97A7D001871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17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8BE1F841-CA22-488B-AA41-4130C771AD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080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F5783A91-32F2-4A2F-9F05-BC8DD9605C4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20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2F90F4D6-A858-4403-956B-A0CB68FD95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23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F607A-F581-4B15-BE10-7F92A6CF5D0B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528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29ACD-61B0-4129-9B74-D11C5435C8C8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65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9D9D2-C0F6-4620-A9CC-CD46F34B4AC1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52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9E080-34AE-4F86-9558-B238501D18F4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104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18F4D-F102-41BA-AEC4-7415F61832FA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3141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A2490-F09E-4354-ACAD-800A6134A787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261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2334B-FD9D-42E4-98B4-C18AF6104F0E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68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FF870-78DC-4528-B548-C4542E1F970F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391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DC641-2DE2-440F-ABFA-4D4B5FDAA45E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2154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3B33E-513D-4676-9D10-32B22272F303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769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7135F-B6B1-4F66-802E-F86D6DA56315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59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85B1DCA1-F626-42F2-A47D-478135BF879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eaLnBrk="1" hangingPunct="1">
              <a:defRPr/>
            </a:pPr>
            <a:endParaRPr kumimoji="0" lang="ru-RU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eaLnBrk="1" hangingPunct="1">
              <a:defRPr/>
            </a:pPr>
            <a:endParaRPr kumimoji="0" lang="ru-RU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 eaLnBrk="1" hangingPunct="1">
              <a:defRPr/>
            </a:pPr>
            <a:fld id="{25534C14-376B-4BF0-9720-80EADC15DE15}" type="slidenum">
              <a:rPr kumimoji="0" lang="ru-RU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kumimoji="0"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38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1150572" y="2112675"/>
            <a:ext cx="820896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0" lang="ru-RU" sz="3000" b="1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3333CC">
                    <a:lumMod val="40000"/>
                    <a:lumOff val="60000"/>
                  </a:srgbClr>
                </a:solidFill>
                <a:latin typeface="Arial" charset="0"/>
              </a:rPr>
              <a:t>Роль и место стандартизации в проектировании информационных систем</a:t>
            </a:r>
          </a:p>
          <a:p>
            <a:pPr algn="ctr" eaLnBrk="1" hangingPunct="1">
              <a:defRPr/>
            </a:pPr>
            <a:endParaRPr kumimoji="0" lang="ru-RU" sz="3000" b="1" dirty="0">
              <a:ln w="22225">
                <a:solidFill>
                  <a:srgbClr val="3333CC"/>
                </a:solidFill>
                <a:prstDash val="solid"/>
              </a:ln>
              <a:solidFill>
                <a:srgbClr val="3333CC">
                  <a:lumMod val="40000"/>
                  <a:lumOff val="60000"/>
                </a:srgbClr>
              </a:solidFill>
              <a:latin typeface="Arial" charset="0"/>
            </a:endParaRP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-217747"/>
            <a:ext cx="1414463" cy="72723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CC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3027363" y="3055938"/>
            <a:ext cx="4149725" cy="17176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ctr" eaLnBrk="1" hangingPunct="1">
              <a:lnSpc>
                <a:spcPct val="110000"/>
              </a:lnSpc>
              <a:buClr>
                <a:srgbClr val="CC0000"/>
              </a:buClr>
              <a:defRPr/>
            </a:pPr>
            <a:endParaRPr kumimoji="0" lang="ru-RU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 eaLnBrk="1" hangingPunct="1">
              <a:lnSpc>
                <a:spcPct val="110000"/>
              </a:lnSpc>
              <a:buClr>
                <a:srgbClr val="CC0000"/>
              </a:buClr>
              <a:defRPr/>
            </a:pPr>
            <a:endParaRPr kumimoji="0" lang="ru-RU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 eaLnBrk="1" hangingPunct="1">
              <a:lnSpc>
                <a:spcPct val="110000"/>
              </a:lnSpc>
              <a:buClr>
                <a:srgbClr val="CC0000"/>
              </a:buClr>
              <a:defRPr/>
            </a:pPr>
            <a:endParaRPr kumimoji="0" lang="ru-RU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 eaLnBrk="1" hangingPunct="1">
              <a:lnSpc>
                <a:spcPct val="110000"/>
              </a:lnSpc>
              <a:buClr>
                <a:srgbClr val="CC0000"/>
              </a:buClr>
              <a:defRPr/>
            </a:pPr>
            <a:r>
              <a:rPr kumimoji="0" lang="ru-RU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Лекция  </a:t>
            </a:r>
            <a:r>
              <a:rPr kumimoji="0" lang="ru-RU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3</a:t>
            </a:r>
            <a:endParaRPr kumimoji="0" lang="ru-RU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19464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44450"/>
            <a:ext cx="1341437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775948" y="2189163"/>
            <a:ext cx="82089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Стандарты, регламентирующие ЖЦ ИС</a:t>
            </a:r>
            <a:endParaRPr kumimoji="0" lang="ru-RU" sz="3600" b="1" dirty="0">
              <a:ln w="22225">
                <a:solidFill>
                  <a:srgbClr val="3333CC"/>
                </a:solidFill>
                <a:prstDash val="solid"/>
              </a:ln>
              <a:solidFill>
                <a:srgbClr val="3333CC">
                  <a:lumMod val="40000"/>
                  <a:lumOff val="60000"/>
                </a:srgb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4585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1143000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kumimoji="1" lang="ru-RU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Стандарты, регламентирующие ЖЦ ИС</a:t>
            </a:r>
          </a:p>
        </p:txBody>
      </p:sp>
      <p:sp>
        <p:nvSpPr>
          <p:cNvPr id="57347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FD3932D-BAC1-4E10-9EAD-54298F1BC12B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68313" y="1995488"/>
            <a:ext cx="8531225" cy="3892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Стандарт –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это документ, в котором в целях добровольного многократного использования устанавливаются характеристики продукции, правила осуществления и характеристики процессов производства, эксплуатации, хранения, перевозки, реализации и утилизации, выполнения работ или оказания услуг.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720080"/>
          </a:xfrm>
        </p:spPr>
        <p:txBody>
          <a:bodyPr/>
          <a:lstStyle/>
          <a:p>
            <a:pPr marL="320040" indent="-320040" algn="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4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В сфере информационных технологий стандарты обеспечивают: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251520" y="1052736"/>
            <a:ext cx="8280920" cy="572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Реализацию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сложных проектов,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в которых необходима увязка проектных решений различных проектных групп.</a:t>
            </a: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Интеграцию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разработанной ИС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 внешними приложениями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технологиями.</a:t>
            </a: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Повторное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использование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программных компонентов, ранее созданных в рамках других систем.</a:t>
            </a: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Перевод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унаследованных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информационных подсистем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реализующих существующие бизнес-процессы,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новые </a:t>
            </a: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технологии.</a:t>
            </a:r>
            <a:endParaRPr kumimoji="0" lang="ru-RU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70510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720080"/>
          </a:xfrm>
        </p:spPr>
        <p:txBody>
          <a:bodyPr/>
          <a:lstStyle/>
          <a:p>
            <a:pPr marL="320040" indent="-32004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800" b="1" kern="1200" dirty="0" smtClean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Стандартизация</a:t>
            </a:r>
            <a:r>
              <a:rPr kumimoji="1" lang="en-US" sz="2800" b="1" kern="1200" dirty="0" smtClean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1" lang="ru-RU" sz="2800" b="1" kern="1200" dirty="0" smtClean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позволяет </a:t>
            </a:r>
            <a:r>
              <a:rPr kumimoji="1" lang="ru-RU" sz="28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потребителям ИС: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180373" y="855900"/>
            <a:ext cx="8280920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не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тратить лишних средств на закупку нестандартного оборудования и приобретение вместе с ним дополнительных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проблем 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формализовать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снизить требования к квалификации эксплуатационного персонала при сохранении качества работ, сохранить независимость от персонала (от «незаменимых» сотрудников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иметь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возможность выбора поставщиков, которые поставляют стандартизованные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263958689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720080"/>
          </a:xfrm>
        </p:spPr>
        <p:txBody>
          <a:bodyPr/>
          <a:lstStyle/>
          <a:p>
            <a:pPr marL="320040" indent="-32004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8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Стандарты необходимы: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180372" y="855900"/>
            <a:ext cx="8856123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потребителям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 </a:t>
            </a:r>
            <a:r>
              <a:rPr kumimoji="0" lang="en-US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для выбора техники, для  упорядочения своей деятельности и взаимодействия с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поставщиками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поставщикам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продуктов и услуг – для снижения себестоимости продукции и следования требованиям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рынка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разработчикам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эксплуатационникам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 </a:t>
            </a:r>
            <a:r>
              <a:rPr kumimoji="0" lang="en-US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для повышения качества решений и обеспечения совместимости с другими системами, а также для применения повторно используемых решений, для снижения трудоемкости и себестоимости работ, повышения их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3800606596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775948" y="2189163"/>
            <a:ext cx="82089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Нормативно-методическое обеспечение</a:t>
            </a:r>
            <a:endParaRPr kumimoji="0" lang="ru-RU" sz="3600" b="1" dirty="0">
              <a:ln w="22225">
                <a:solidFill>
                  <a:srgbClr val="3333CC"/>
                </a:solidFill>
                <a:prstDash val="solid"/>
              </a:ln>
              <a:solidFill>
                <a:srgbClr val="3333CC">
                  <a:lumMod val="40000"/>
                  <a:lumOff val="60000"/>
                </a:srgb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9446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1143000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Нормативно-методическое обеспечение (НМО)</a:t>
            </a:r>
          </a:p>
        </p:txBody>
      </p:sp>
      <p:sp>
        <p:nvSpPr>
          <p:cNvPr id="58371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43B3977-0385-47DB-859E-0A8BA9AFDECE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42913" y="1412875"/>
            <a:ext cx="8531225" cy="44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НМО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представляет собой комплекс документов, регламентирующих:</a:t>
            </a: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порядок разработки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сопровождения, внедрения и развития ИС;</a:t>
            </a: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общие требования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 его составу и связям между входящими в него составными частями; </a:t>
            </a: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виды, состав и содержание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проектной и программной документации.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1143000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2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Нормативно-методическое обеспечение</a:t>
            </a:r>
          </a:p>
        </p:txBody>
      </p:sp>
      <p:sp>
        <p:nvSpPr>
          <p:cNvPr id="59395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6CD7D69-ADAF-414B-BB57-9F40491D06FC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42913" y="1412875"/>
            <a:ext cx="7945437" cy="5159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Целью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НМО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является установление общих правил ведения и оформления разработки ПО, обеспечивающих единую нормативную и методическую основу для взаимодействия  групп специалистов заказчика и подрядчиков, осуществляющих разработку, эксплуатацию, внедрение и сопровождение ПО ИС. Следование требованиям НМО позволит  создавать ИС, которые отличает высокое качество;  </a:t>
            </a:r>
            <a:r>
              <a:rPr kumimoji="0" lang="ru-RU" b="1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сопровождаемость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соответствие требованиям международных стандартов в области информационных технологий, а также снизить совокупные затраты на создание и использование ПО ИС.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720080"/>
          </a:xfrm>
        </p:spPr>
        <p:txBody>
          <a:bodyPr/>
          <a:lstStyle/>
          <a:p>
            <a:pPr marL="320040" indent="-32004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6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Основные задачи НМО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09175" y="1268760"/>
            <a:ext cx="8195274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регламентация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общего порядка, состава и содержания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процессов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создания, сопровождения, внедрения и развития  ПО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регламентация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общих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требований к ПО ИС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для обеспечения их высокого качества, унификации построения, оформления, повторного использования, а также для снижения совокупных затрат на их жизненном цикле (ЖЦ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720080"/>
          </a:xfrm>
        </p:spPr>
        <p:txBody>
          <a:bodyPr/>
          <a:lstStyle/>
          <a:p>
            <a:pPr marL="320040" indent="-32004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6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Основные задачи НМО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67544" y="908720"/>
            <a:ext cx="7992566" cy="5416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формирование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необходимых методических материалов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обеспечивающих различным коллективам, участвующим в работах на ЖЦ, возможность использовать наиболее эффективные приемы и методы работы, выполнять их по единой схеме и получать единообразные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результаты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регламентация состава и форм проектных материалов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и программной документации.</a:t>
            </a:r>
          </a:p>
        </p:txBody>
      </p:sp>
    </p:spTree>
    <p:extLst>
      <p:ext uri="{BB962C8B-B14F-4D97-AF65-F5344CB8AC3E}">
        <p14:creationId xmlns:p14="http://schemas.microsoft.com/office/powerpoint/2010/main" val="862831557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640"/>
            <a:ext cx="9144000" cy="894741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6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Состав нормативно-методического обеспечения</a:t>
            </a:r>
          </a:p>
        </p:txBody>
      </p:sp>
      <p:sp>
        <p:nvSpPr>
          <p:cNvPr id="61443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57BE49D-9D8A-42A6-8416-D02308F95C69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12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1444" name="Рисунок 1" descr="http://www.osp.ru/data/203/526/1234/036_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340768"/>
            <a:ext cx="6729552" cy="5058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72008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2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Все входящие в состав НМО документы должны быть определены по: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09175" y="1268760"/>
            <a:ext cx="8195274" cy="529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виду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регламентации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(стандарт, руководящий документ, положение, инструкция и т.п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.)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статусу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регламентирующего документа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(международный, отраслевой, предприятия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</a:t>
            </a: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области действия документа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(Отрасль, организация-Заказчик / подрядчик, проект)</a:t>
            </a: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объекту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регламентации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или методического обеспечения.</a:t>
            </a:r>
          </a:p>
        </p:txBody>
      </p:sp>
    </p:spTree>
    <p:extLst>
      <p:ext uri="{BB962C8B-B14F-4D97-AF65-F5344CB8AC3E}">
        <p14:creationId xmlns:p14="http://schemas.microsoft.com/office/powerpoint/2010/main" val="2302391140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24" y="116632"/>
            <a:ext cx="8784976" cy="72008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8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Объекты, подлежащие регламентации, можно подразделить на две большие группы</a:t>
            </a:r>
            <a:r>
              <a:rPr kumimoji="1" lang="ru-RU" sz="2800" b="1" kern="1200" dirty="0" smtClean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:</a:t>
            </a:r>
            <a:endParaRPr kumimoji="1" lang="ru-RU" sz="2800" b="1" kern="1200" dirty="0">
              <a:solidFill>
                <a:srgbClr val="00CC99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09175" y="980728"/>
            <a:ext cx="8195274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архитектура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входящих в область ответственности информационной службы или разрабатывающего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коллектива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процессы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подлежащие регламентации.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51520" y="3381385"/>
            <a:ext cx="878497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Соответственно, целесообразно рассматривать: </a:t>
            </a:r>
            <a:endParaRPr kumimoji="1" lang="ru-RU" sz="2800" b="1" kern="1200" dirty="0">
              <a:solidFill>
                <a:srgbClr val="00CC99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09175" y="3981832"/>
            <a:ext cx="8195274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элементы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НМО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относящиеся к конструкции ИС (или ПО ИС) – общая архитектура, протоколы,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интерфейсы</a:t>
            </a:r>
            <a:endParaRPr kumimoji="0" lang="ru-RU" sz="28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spcBef>
                <a:spcPts val="12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процессы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создания, интеграции, сопровождения, развития, обслуживания, эксплуатации ИС (или ПО ИС).</a:t>
            </a:r>
          </a:p>
        </p:txBody>
      </p:sp>
    </p:spTree>
    <p:extLst>
      <p:ext uri="{BB962C8B-B14F-4D97-AF65-F5344CB8AC3E}">
        <p14:creationId xmlns:p14="http://schemas.microsoft.com/office/powerpoint/2010/main" val="4196149862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24" y="116632"/>
            <a:ext cx="8784976" cy="72008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8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В качестве объектов регламентации и методического обеспечения могут выступать</a:t>
            </a:r>
            <a:r>
              <a:rPr kumimoji="1" lang="ru-RU" sz="2800" b="1" kern="1200" dirty="0" smtClean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:</a:t>
            </a:r>
            <a:endParaRPr kumimoji="1" lang="ru-RU" sz="2800" b="1" kern="1200" dirty="0">
              <a:solidFill>
                <a:srgbClr val="00CC99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0" y="908720"/>
            <a:ext cx="9143999" cy="59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объект </a:t>
            </a:r>
            <a:r>
              <a:rPr kumimoji="0"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работ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его архитектура, протоколы и интерфейсы;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стадии </a:t>
            </a:r>
            <a:r>
              <a:rPr kumimoji="0"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работ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их результаты; 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процессы </a:t>
            </a:r>
            <a:r>
              <a:rPr kumimoji="0"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жизненного цикла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их отдельные элементы (задачи, работы и т.п.); 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этапы </a:t>
            </a:r>
            <a:r>
              <a:rPr kumimoji="0"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работ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 стадиям и процессам; 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регламенты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выполнения работ и отдельные процедуры; 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роли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персонала, их обязанности и ответственность за конечный результат;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результаты </a:t>
            </a:r>
            <a:r>
              <a:rPr kumimoji="0"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работ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(проектные и программные документы); 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метрики</a:t>
            </a:r>
            <a:r>
              <a:rPr kumimoji="0" lang="ru-RU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измерения сложности, качества и трудоемкости работ.</a:t>
            </a:r>
          </a:p>
        </p:txBody>
      </p:sp>
    </p:spTree>
    <p:extLst>
      <p:ext uri="{BB962C8B-B14F-4D97-AF65-F5344CB8AC3E}">
        <p14:creationId xmlns:p14="http://schemas.microsoft.com/office/powerpoint/2010/main" val="2818885881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784976" cy="1143000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2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Нормативно-методическое обеспечение</a:t>
            </a:r>
          </a:p>
        </p:txBody>
      </p:sp>
      <p:sp>
        <p:nvSpPr>
          <p:cNvPr id="59395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6CD7D69-ADAF-414B-BB57-9F40491D06FC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16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42913" y="1412875"/>
            <a:ext cx="7945437" cy="491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sz="32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соответствии с современными  тенденциями в области программной инженерии разработка ПО ИС должна проводиться фиксируемыми во времени конструкциями: </a:t>
            </a:r>
            <a:r>
              <a:rPr kumimoji="0"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версиями и релизами</a:t>
            </a:r>
            <a:r>
              <a:rPr kumimoji="0" lang="ru-RU" sz="32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а краткосрочные изменения должны проводиться временными изменениями </a:t>
            </a:r>
            <a:r>
              <a:rPr kumimoji="0" lang="en-US" sz="32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</a:t>
            </a:r>
            <a:r>
              <a:rPr kumimoji="0" lang="ru-RU" sz="32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0" lang="ru-RU" sz="32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патчами</a:t>
            </a:r>
            <a:r>
              <a:rPr kumimoji="0" lang="ru-RU" sz="32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4749712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964488" cy="533400"/>
          </a:xfrm>
        </p:spPr>
        <p:txBody>
          <a:bodyPr/>
          <a:lstStyle/>
          <a:p>
            <a:pPr marL="320040" indent="-320040" algn="l" eaLnBrk="1" hangingPunct="1">
              <a:spcBef>
                <a:spcPts val="600"/>
              </a:spcBef>
              <a:buClr>
                <a:srgbClr val="C00000"/>
              </a:buClr>
              <a:buSzPct val="129000"/>
              <a:defRPr/>
            </a:pPr>
            <a:r>
              <a:rPr kumimoji="1" lang="ru-RU" sz="36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Нормативная база НМО </a:t>
            </a:r>
          </a:p>
        </p:txBody>
      </p:sp>
      <p:sp>
        <p:nvSpPr>
          <p:cNvPr id="62467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6235A77-BD80-46F5-A63B-7CC0A77E662A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17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609600" y="1412875"/>
            <a:ext cx="7848600" cy="629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alt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Стандарты </a:t>
            </a:r>
            <a:r>
              <a:rPr lang="ru-RU" alt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ИСО/МЭК</a:t>
            </a:r>
            <a:endParaRPr lang="ru-RU" alt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alt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Стандарты </a:t>
            </a:r>
            <a:r>
              <a:rPr lang="ru-RU" alt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IEEE</a:t>
            </a:r>
            <a:endParaRPr lang="ru-RU" alt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alt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Стандарты </a:t>
            </a:r>
            <a:r>
              <a:rPr lang="ru-RU" alt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OMG</a:t>
            </a:r>
            <a:endParaRPr lang="ru-RU" alt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alt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Стандарты ГОСТ </a:t>
            </a:r>
            <a:r>
              <a:rPr lang="ru-RU" alt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</a:t>
            </a:r>
            <a:endParaRPr lang="ru-RU" alt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alt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Стандарты </a:t>
            </a:r>
            <a:r>
              <a:rPr lang="ru-RU" alt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организации-заказчика</a:t>
            </a:r>
            <a:endParaRPr lang="ru-RU" alt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endParaRPr lang="ru-RU" alt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068960"/>
            <a:ext cx="7200800" cy="53340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6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Международная организация по стандартизации, ИСО (</a:t>
            </a:r>
            <a:r>
              <a:rPr kumimoji="1" lang="ru-RU" sz="3600" b="1" u="heavy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Fill>
                  <a:solidFill>
                    <a:srgbClr val="2020E8"/>
                  </a:solidFill>
                </a:uFill>
                <a:latin typeface="Comic Sans MS" pitchFamily="66" charset="0"/>
                <a:ea typeface="+mn-ea"/>
                <a:cs typeface="+mn-cs"/>
              </a:rPr>
              <a:t>I</a:t>
            </a:r>
            <a:r>
              <a:rPr kumimoji="1" lang="ru-RU" sz="3600" b="1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nternational</a:t>
            </a:r>
            <a:r>
              <a:rPr kumimoji="1" lang="ru-RU" sz="36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1" lang="ru-RU" sz="3600" b="1" u="heavy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Fill>
                  <a:solidFill>
                    <a:srgbClr val="2020E8"/>
                  </a:solidFill>
                </a:uFill>
                <a:latin typeface="Comic Sans MS" pitchFamily="66" charset="0"/>
                <a:ea typeface="+mn-ea"/>
                <a:cs typeface="+mn-cs"/>
              </a:rPr>
              <a:t>O</a:t>
            </a:r>
            <a:r>
              <a:rPr kumimoji="1" lang="ru-RU" sz="3600" b="1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rganization</a:t>
            </a:r>
            <a:r>
              <a:rPr kumimoji="1" lang="ru-RU" sz="36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1" lang="ru-RU" sz="3600" b="1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for</a:t>
            </a:r>
            <a:r>
              <a:rPr kumimoji="1" lang="ru-RU" sz="36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1" lang="ru-RU" sz="3600" b="1" u="heavy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Fill>
                  <a:solidFill>
                    <a:srgbClr val="2020E8"/>
                  </a:solidFill>
                </a:uFill>
                <a:latin typeface="Comic Sans MS" pitchFamily="66" charset="0"/>
                <a:ea typeface="+mn-ea"/>
                <a:cs typeface="+mn-cs"/>
              </a:rPr>
              <a:t>S</a:t>
            </a:r>
            <a:r>
              <a:rPr kumimoji="1" lang="ru-RU" sz="3600" b="1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tandardization</a:t>
            </a:r>
            <a:r>
              <a:rPr kumimoji="1" lang="ru-RU" sz="36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, ISO) — 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международная организация, занимающаяся выпуском стандартов.</a:t>
            </a:r>
            <a:r>
              <a:rPr lang="ru-RU" sz="20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/>
            </a:r>
            <a:br>
              <a:rPr lang="ru-RU" sz="20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</a:br>
            <a:r>
              <a:rPr lang="ru-RU" sz="20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/>
            </a:r>
            <a:br>
              <a:rPr lang="ru-RU" sz="20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</a:br>
            <a:endParaRPr lang="ru-RU" sz="2800" b="1" kern="1200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+mn-ea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3068960"/>
            <a:ext cx="8640960" cy="53340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/>
            </a:r>
            <a:b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</a:b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/>
            </a:r>
            <a:b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</a:br>
            <a:r>
              <a:rPr kumimoji="1" lang="ru-RU" sz="32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Объединённый технический комитет №1 ИСО/МЭК (ISO/IEC </a:t>
            </a:r>
            <a:r>
              <a:rPr kumimoji="1" lang="ru-RU" sz="3200" b="1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Joint</a:t>
            </a:r>
            <a:r>
              <a:rPr kumimoji="1" lang="ru-RU" sz="32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1" lang="ru-RU" sz="3200" b="1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Technical</a:t>
            </a:r>
            <a:r>
              <a:rPr kumimoji="1" lang="ru-RU" sz="32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1" lang="ru-RU" sz="3200" b="1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Committee</a:t>
            </a:r>
            <a:r>
              <a:rPr kumimoji="1" lang="ru-RU" sz="32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1, ISO/IEC JTC 1) </a:t>
            </a:r>
            <a:r>
              <a:rPr lang="ru-RU" sz="32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</a:t>
            </a:r>
            <a:r>
              <a:rPr lang="ru-RU" sz="32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подразделение 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Международной организации по стандартизации </a:t>
            </a:r>
            <a:r>
              <a:rPr lang="ru-RU" sz="32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(ISO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) и Международной электротехнической комиссии МЭК</a:t>
            </a:r>
            <a:r>
              <a:rPr lang="en-US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32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(IEC</a:t>
            </a:r>
            <a:r>
              <a:rPr lang="en-US" sz="32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3200" b="1" u="heavy" kern="1200" dirty="0" err="1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FF0000"/>
                  </a:solidFill>
                </a:uFill>
                <a:latin typeface="Arial" charset="0"/>
                <a:ea typeface="+mn-ea"/>
                <a:cs typeface="+mn-cs"/>
              </a:rPr>
              <a:t>I</a:t>
            </a:r>
            <a:r>
              <a:rPr lang="ru-RU" sz="3200" b="1" kern="1200" dirty="0" err="1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nternational</a:t>
            </a:r>
            <a:r>
              <a:rPr lang="ru-RU" sz="32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3200" b="1" u="heavy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FF0000"/>
                  </a:solidFill>
                </a:uFill>
                <a:latin typeface="Arial" charset="0"/>
                <a:ea typeface="+mn-ea"/>
                <a:cs typeface="+mn-cs"/>
              </a:rPr>
              <a:t>E</a:t>
            </a:r>
            <a:r>
              <a:rPr lang="ru-RU" sz="32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lectrotechnical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3200" b="1" u="heavy" kern="1200" dirty="0" err="1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FF0000"/>
                  </a:solidFill>
                </a:uFill>
                <a:latin typeface="Arial" charset="0"/>
                <a:ea typeface="+mn-ea"/>
                <a:cs typeface="+mn-cs"/>
              </a:rPr>
              <a:t>C</a:t>
            </a:r>
            <a:r>
              <a:rPr lang="ru-RU" sz="3200" b="1" kern="1200" dirty="0" err="1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ommission</a:t>
            </a:r>
            <a:r>
              <a:rPr lang="ru-RU" sz="32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), 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которое занимается всеми вопросами связанными со стандартами в области информационных технологий.</a:t>
            </a:r>
            <a:b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</a:br>
            <a:endParaRPr lang="ru-RU" sz="3200" b="1" kern="1200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581715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2708920"/>
            <a:ext cx="7488832" cy="53340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32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/>
            </a:r>
            <a:br>
              <a:rPr lang="ru-RU" sz="32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</a:b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/>
            </a:r>
            <a:b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</a:br>
            <a:r>
              <a:rPr kumimoji="1" lang="ru-RU" sz="32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Институт инженеров по электротехнике и электронике — IEEE 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(англ. </a:t>
            </a:r>
            <a:r>
              <a:rPr lang="ru-RU" sz="3200" b="1" u="heavy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C00000"/>
                  </a:solidFill>
                </a:uFill>
                <a:latin typeface="Arial" charset="0"/>
                <a:ea typeface="+mn-ea"/>
                <a:cs typeface="+mn-cs"/>
              </a:rPr>
              <a:t>I</a:t>
            </a:r>
            <a:r>
              <a:rPr lang="ru-RU" sz="32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nstitute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32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of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3200" b="1" u="heavy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C00000"/>
                  </a:solidFill>
                </a:uFill>
                <a:latin typeface="Arial" charset="0"/>
                <a:ea typeface="+mn-ea"/>
                <a:cs typeface="+mn-cs"/>
              </a:rPr>
              <a:t>E</a:t>
            </a:r>
            <a:r>
              <a:rPr lang="ru-RU" sz="32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lectrical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32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and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3200" b="1" u="heavy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C00000"/>
                  </a:solidFill>
                </a:uFill>
                <a:latin typeface="Arial" charset="0"/>
                <a:ea typeface="+mn-ea"/>
                <a:cs typeface="+mn-cs"/>
              </a:rPr>
              <a:t>E</a:t>
            </a:r>
            <a:r>
              <a:rPr lang="ru-RU" sz="32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lectronics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3200" b="1" u="heavy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C00000"/>
                  </a:solidFill>
                </a:uFill>
                <a:latin typeface="Arial" charset="0"/>
                <a:ea typeface="+mn-ea"/>
                <a:cs typeface="+mn-cs"/>
              </a:rPr>
              <a:t>E</a:t>
            </a:r>
            <a:r>
              <a:rPr lang="ru-RU" sz="32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ngineers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) (I </a:t>
            </a:r>
            <a:r>
              <a:rPr lang="ru-RU" sz="32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triple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E — «Ай </a:t>
            </a:r>
            <a:r>
              <a:rPr lang="ru-RU" sz="32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трипл</a:t>
            </a:r>
            <a:r>
              <a:rPr lang="ru-RU" sz="32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и») — международная некоммерческая ассоциация специалистов в области техники, мировой лидер в области разработки стандартов по радиоэлектронике и электротехнике.</a:t>
            </a:r>
          </a:p>
        </p:txBody>
      </p:sp>
    </p:spTree>
    <p:extLst>
      <p:ext uri="{BB962C8B-B14F-4D97-AF65-F5344CB8AC3E}">
        <p14:creationId xmlns:p14="http://schemas.microsoft.com/office/powerpoint/2010/main" val="97758804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2780928"/>
            <a:ext cx="7992888" cy="53340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28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/>
            </a:r>
            <a:br>
              <a:rPr lang="ru-RU" sz="28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</a:br>
            <a:r>
              <a:rPr lang="ru-RU" sz="28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/>
            </a:r>
            <a:br>
              <a:rPr lang="ru-RU" sz="28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</a:br>
            <a:r>
              <a:rPr lang="ru-RU" sz="28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OMG </a:t>
            </a:r>
            <a:r>
              <a:rPr lang="ru-RU" sz="28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(</a:t>
            </a:r>
            <a:r>
              <a:rPr lang="ru-RU" sz="2800" b="1" u="heavy" kern="1200" dirty="0" err="1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C00000"/>
                  </a:solidFill>
                </a:uFill>
                <a:latin typeface="Arial" charset="0"/>
                <a:ea typeface="+mn-ea"/>
                <a:cs typeface="+mn-cs"/>
              </a:rPr>
              <a:t>O</a:t>
            </a:r>
            <a:r>
              <a:rPr lang="ru-RU" sz="2800" b="1" kern="1200" dirty="0" err="1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bject</a:t>
            </a:r>
            <a:r>
              <a:rPr lang="ru-RU" sz="28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2800" b="1" u="heavy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C00000"/>
                  </a:solidFill>
                </a:uFill>
                <a:latin typeface="Arial" charset="0"/>
                <a:ea typeface="+mn-ea"/>
                <a:cs typeface="+mn-cs"/>
              </a:rPr>
              <a:t>M</a:t>
            </a:r>
            <a:r>
              <a:rPr lang="ru-RU" sz="28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anagement</a:t>
            </a:r>
            <a:r>
              <a:rPr lang="ru-RU" sz="28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2800" b="1" u="heavy" kern="1200" dirty="0" err="1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>
                  <a:solidFill>
                    <a:srgbClr val="C00000"/>
                  </a:solidFill>
                </a:uFill>
                <a:latin typeface="Arial" charset="0"/>
                <a:ea typeface="+mn-ea"/>
                <a:cs typeface="+mn-cs"/>
              </a:rPr>
              <a:t>G</a:t>
            </a:r>
            <a:r>
              <a:rPr lang="ru-RU" sz="2800" b="1" kern="1200" dirty="0" err="1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roup</a:t>
            </a:r>
            <a:r>
              <a:rPr lang="en-US" sz="28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–</a:t>
            </a:r>
            <a:r>
              <a:rPr lang="ru-RU" sz="2800" b="1" kern="1200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 </a:t>
            </a:r>
            <a:r>
              <a:rPr lang="ru-RU" sz="28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консорциум (рабочая группа), занимающийся разработкой и продвижением объектно-ориентированных технологий и стандартов. Это некоммерческое объединение, разрабатывающее стандарты для создания </a:t>
            </a:r>
            <a:r>
              <a:rPr lang="ru-RU" sz="28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интероперабельных</a:t>
            </a:r>
            <a:r>
              <a:rPr lang="ru-RU" sz="28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, то есть </a:t>
            </a:r>
            <a:r>
              <a:rPr lang="ru-RU" sz="2800" b="1" kern="1200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платформо</a:t>
            </a:r>
            <a:r>
              <a:rPr lang="ru-RU" sz="2800" b="1" kern="1200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rPr>
              <a:t>-независимых, приложений на уровне предприятия. С консорциумом сотрудничает около 800 организаций — крупнейших производителей программного обеспечения.</a:t>
            </a:r>
          </a:p>
        </p:txBody>
      </p:sp>
    </p:spTree>
    <p:extLst>
      <p:ext uri="{BB962C8B-B14F-4D97-AF65-F5344CB8AC3E}">
        <p14:creationId xmlns:p14="http://schemas.microsoft.com/office/powerpoint/2010/main" val="1944035267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-36512" y="21008"/>
            <a:ext cx="9144000" cy="708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93000"/>
              </a:lnSpc>
              <a:defRPr/>
            </a:pPr>
            <a:r>
              <a:rPr lang="ru-RU" sz="20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Первоочередные нормативные документы:</a:t>
            </a:r>
          </a:p>
          <a:p>
            <a:pPr eaLnBrk="1" hangingPunct="1">
              <a:lnSpc>
                <a:spcPct val="93000"/>
              </a:lnSpc>
              <a:defRPr/>
            </a:pPr>
            <a:r>
              <a:rPr lang="ru-RU" sz="1800" b="1" i="1" dirty="0">
                <a:solidFill>
                  <a:srgbClr val="C00000"/>
                </a:solidFill>
              </a:rPr>
              <a:t>В части регламентации процессов предприятия: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IEEE </a:t>
            </a:r>
            <a:r>
              <a:rPr kumimoji="0" lang="en-US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Std</a:t>
            </a: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610.12-1990</a:t>
            </a:r>
            <a:r>
              <a:rPr kumimoji="0" lang="en-US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IEEE Standard Glossary of Software Engineering Terminology;</a:t>
            </a:r>
            <a:endParaRPr kumimoji="0" lang="ru-RU" sz="20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 Р ИСО МЭК 12207-10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«Информационные технологии. Процессы жизненного цикла программного обеспечения»;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IEEE</a:t>
            </a: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 1074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Жизненный цикл разработки программных средств;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ИСО/ТО 10006:1997 (R)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«Менеджмент качества. Руководство качеством при административном управлении проектами»;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ISO</a:t>
            </a: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 15846, </a:t>
            </a: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ISO</a:t>
            </a: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 10007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- стандарты по менеджменту конфигурации программных средств;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ISO</a:t>
            </a: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 9000 – 2000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группы ГОСТ Р 9000х;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ISO</a:t>
            </a: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/</a:t>
            </a: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IEC TR </a:t>
            </a: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15504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Оценка процессов жизненного цикла ПО (</a:t>
            </a:r>
            <a:r>
              <a:rPr kumimoji="0" lang="en-US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Information technology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– </a:t>
            </a:r>
            <a:r>
              <a:rPr kumimoji="0" lang="en-US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Software process assessment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  в части порядка разработки и документирования ИС и ПО: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 34.ххх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«Информационная технология. Комплекс стандартов и руководящих документов на автоматизированные системы»;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 19.ххх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«Единая система программной документации»;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IEEE 1063-1987 </a:t>
            </a:r>
            <a:r>
              <a:rPr kumimoji="0" lang="en-US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Standard for Software User Documentation;</a:t>
            </a:r>
            <a:endParaRPr kumimoji="0" lang="ru-RU" sz="20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IEEE 830-1994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«Рекомендуемая практика формирования спецификаций программного обеспечения»;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IEEE</a:t>
            </a: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 829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Планирование тестирования программных средств;</a:t>
            </a:r>
          </a:p>
          <a:p>
            <a:pPr marL="285750" indent="-285750" eaLnBrk="1">
              <a:lnSpc>
                <a:spcPct val="93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en-US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DoD</a:t>
            </a: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 STD</a:t>
            </a: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2167</a:t>
            </a:r>
            <a:r>
              <a:rPr kumimoji="0"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</a:t>
            </a:r>
            <a:r>
              <a:rPr kumimoji="0"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0" lang="ru-RU" sz="20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«Разработка программного обеспечения оборонных систем</a:t>
            </a:r>
            <a:r>
              <a:rPr kumimoji="0" lang="ru-RU" sz="20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».</a:t>
            </a:r>
            <a:endParaRPr kumimoji="0" lang="ru-RU" sz="20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251520" y="21008"/>
            <a:ext cx="8855968" cy="3944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93000"/>
              </a:lnSpc>
              <a:defRPr/>
            </a:pPr>
            <a:r>
              <a:rPr lang="ru-RU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Первоочередные нормативные документы:</a:t>
            </a:r>
          </a:p>
          <a:p>
            <a:pPr eaLnBrk="1">
              <a:lnSpc>
                <a:spcPct val="95000"/>
              </a:lnSpc>
              <a:defRPr/>
            </a:pPr>
            <a:endParaRPr lang="en-US" b="1" i="1" dirty="0" smtClean="0">
              <a:solidFill>
                <a:srgbClr val="C00000"/>
              </a:solidFill>
            </a:endParaRPr>
          </a:p>
          <a:p>
            <a:pPr eaLnBrk="1">
              <a:lnSpc>
                <a:spcPct val="95000"/>
              </a:lnSpc>
              <a:defRPr/>
            </a:pPr>
            <a:r>
              <a:rPr lang="ru-RU" b="1" i="1" dirty="0" smtClean="0">
                <a:solidFill>
                  <a:srgbClr val="C00000"/>
                </a:solidFill>
              </a:rPr>
              <a:t>В </a:t>
            </a:r>
            <a:r>
              <a:rPr lang="ru-RU" b="1" i="1" dirty="0">
                <a:solidFill>
                  <a:srgbClr val="C00000"/>
                </a:solidFill>
              </a:rPr>
              <a:t>части качества программных средств</a:t>
            </a:r>
            <a:r>
              <a:rPr lang="ru-RU" b="1" i="1" dirty="0" smtClean="0">
                <a:solidFill>
                  <a:srgbClr val="C00000"/>
                </a:solidFill>
              </a:rPr>
              <a:t>:</a:t>
            </a:r>
            <a:endParaRPr lang="en-US" b="1" i="1" dirty="0" smtClean="0">
              <a:solidFill>
                <a:srgbClr val="C00000"/>
              </a:solidFill>
            </a:endParaRPr>
          </a:p>
          <a:p>
            <a:pPr eaLnBrk="1">
              <a:lnSpc>
                <a:spcPct val="95000"/>
              </a:lnSpc>
              <a:defRPr/>
            </a:pPr>
            <a:endParaRPr lang="ru-RU" b="1" i="1" dirty="0">
              <a:solidFill>
                <a:srgbClr val="C00000"/>
              </a:solidFill>
            </a:endParaRPr>
          </a:p>
          <a:p>
            <a:pPr marL="285750" indent="-285750" eaLnBrk="1">
              <a:lnSpc>
                <a:spcPct val="95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 28806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«Качество программных средств. Термины и определения»;</a:t>
            </a:r>
          </a:p>
          <a:p>
            <a:pPr marL="285750" indent="-285750" eaLnBrk="1">
              <a:lnSpc>
                <a:spcPct val="95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 28195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«Оценка качества программных средств. Общие положения»;</a:t>
            </a:r>
          </a:p>
          <a:p>
            <a:pPr marL="285750" indent="-285750" eaLnBrk="1">
              <a:lnSpc>
                <a:spcPct val="95000"/>
              </a:lnSpc>
              <a:buClr>
                <a:srgbClr val="C00000"/>
              </a:buClr>
              <a:buSzPct val="112000"/>
              <a:buFont typeface="Wingdings" pitchFamily="2" charset="2"/>
              <a:buChar char="ü"/>
              <a:defRPr/>
            </a:pPr>
            <a:r>
              <a:rPr kumimoji="0"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 9126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«Информационная технология. Оценка программного продукта. Характеристики качества и руководящие указания по их применению».</a:t>
            </a:r>
          </a:p>
        </p:txBody>
      </p:sp>
    </p:spTree>
    <p:extLst>
      <p:ext uri="{BB962C8B-B14F-4D97-AF65-F5344CB8AC3E}">
        <p14:creationId xmlns:p14="http://schemas.microsoft.com/office/powerpoint/2010/main" val="2711773282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404664"/>
            <a:ext cx="8964488" cy="533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8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Взаимосвязанное применение государственных стандартов при проектировании информационных систем </a:t>
            </a:r>
          </a:p>
        </p:txBody>
      </p:sp>
      <p:pic>
        <p:nvPicPr>
          <p:cNvPr id="64515" name="Рисунок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700213"/>
            <a:ext cx="6121400" cy="436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-324544" y="-99392"/>
            <a:ext cx="9865096" cy="720080"/>
          </a:xfrm>
        </p:spPr>
        <p:txBody>
          <a:bodyPr/>
          <a:lstStyle/>
          <a:p>
            <a:pPr marL="319088" indent="-319088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1900" b="1" kern="12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Процессы жизненного цикла систем </a:t>
            </a:r>
            <a:r>
              <a:rPr kumimoji="1" lang="ru-RU" sz="1900" b="1" kern="12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согласно</a:t>
            </a:r>
            <a:r>
              <a:rPr kumimoji="1" lang="en-US" sz="1900" b="1" kern="12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1" lang="ru-RU" sz="1900" b="1" kern="12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ГОСТ </a:t>
            </a:r>
            <a:r>
              <a:rPr kumimoji="1" lang="ru-RU" sz="1900" b="1" kern="12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Р ИСО/МЭК 15288 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516902"/>
              </p:ext>
            </p:extLst>
          </p:nvPr>
        </p:nvGraphicFramePr>
        <p:xfrm>
          <a:off x="107503" y="548680"/>
          <a:ext cx="8987631" cy="624496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{1E171933-4619-4E11-9A3F-F7608DF75F80}</a:tableStyleId>
              </a:tblPr>
              <a:tblGrid>
                <a:gridCol w="2041929"/>
                <a:gridCol w="2029668"/>
                <a:gridCol w="2319620"/>
                <a:gridCol w="2596414"/>
              </a:tblGrid>
              <a:tr h="487714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Процессы предприятия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Договорной процесс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Проектные процессы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Технические процессы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74029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предприятием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Приобретение</a:t>
                      </a:r>
                      <a:r>
                        <a:rPr kumimoji="1" lang="ru-RU" sz="18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/</a:t>
                      </a:r>
                      <a:endParaRPr kumimoji="1" lang="en-US" sz="1800" b="1" kern="1200" dirty="0" smtClean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Заказ</a:t>
                      </a:r>
                      <a:endParaRPr kumimoji="1" lang="ru-RU" sz="18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Планирование 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Определение потребностей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487714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инвестициями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Поставка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Оценка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требований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73157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жизненным циклом системы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Контроль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Проектирование архитектуры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487714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ресурсами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Принятие решений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Реализация 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396637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рисками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Интеграция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574029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конфигурациями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Верификация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574029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Переход на новую систему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487714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Проверка правильности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574029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Эксплуатация и обслуживание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382686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kumimoji="1" lang="ru-RU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Размещение</a:t>
                      </a:r>
                    </a:p>
                  </a:txBody>
                  <a:tcPr marL="54672" marR="5467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1" y="980728"/>
            <a:ext cx="8784976" cy="72008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8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Стандарты, недостающие для организации проекта по созданию ПО ИС, следует разработать, как отраслевые стандарты или стандарты предприятия. К их числу должны относиться стандарты, регламентирующие, прежде всего: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539552" y="2780928"/>
            <a:ext cx="7841977" cy="3949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порядок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инициации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проекта и разработки ПО; 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порядок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приемки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ПО; 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порядок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внедрения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эксплуатации; 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порядок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постановки работ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 сопровождению; </a:t>
            </a:r>
          </a:p>
          <a:p>
            <a:pPr marL="457200" indent="-457200" eaLnBrk="1" hangingPunct="1">
              <a:spcBef>
                <a:spcPts val="800"/>
              </a:spcBef>
              <a:buClr>
                <a:srgbClr val="FB3A2B"/>
              </a:buClr>
              <a:buSzPct val="121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состав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выпускаемых </a:t>
            </a: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программных документов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и их соответствие ГОСТ. </a:t>
            </a:r>
          </a:p>
        </p:txBody>
      </p:sp>
    </p:spTree>
    <p:extLst>
      <p:ext uri="{BB962C8B-B14F-4D97-AF65-F5344CB8AC3E}">
        <p14:creationId xmlns:p14="http://schemas.microsoft.com/office/powerpoint/2010/main" val="2256633727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459432"/>
            <a:ext cx="8784976" cy="1359024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200" b="1" kern="12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Нормативно-методическое обеспечение</a:t>
            </a:r>
          </a:p>
        </p:txBody>
      </p:sp>
      <p:sp>
        <p:nvSpPr>
          <p:cNvPr id="59395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6CD7D69-ADAF-414B-BB57-9F40491D06FC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27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144016" y="731071"/>
            <a:ext cx="8964488" cy="5960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Стратегией развития стандартизации </a:t>
            </a:r>
            <a:r>
              <a:rPr kumimoji="0" lang="ru-RU" sz="32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должны заниматься специалисты по стандартизации – прежде всего </a:t>
            </a:r>
            <a:r>
              <a:rPr kumimoji="0" lang="ru-RU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Госстандарт</a:t>
            </a:r>
            <a:r>
              <a:rPr kumimoji="0" lang="ru-RU" sz="32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привлекая при необходимости специалистов в области ИТ и координируя деятельность профессиональных групп</a:t>
            </a:r>
            <a:r>
              <a:rPr kumimoji="0" lang="ru-RU" sz="32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  <a:endParaRPr kumimoji="0" lang="ru-RU" sz="32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sz="32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Вопросы конкретной области стандартизации эффективнее решать силами профессиональных групп, по типу, например, IEEE</a:t>
            </a:r>
            <a:r>
              <a:rPr kumimoji="0" lang="ru-RU" sz="32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</a:t>
            </a:r>
            <a:r>
              <a:rPr kumimoji="0" lang="ru-RU" sz="32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OMG и т.п., как это делается во всем мире. </a:t>
            </a:r>
          </a:p>
        </p:txBody>
      </p:sp>
    </p:spTree>
    <p:extLst>
      <p:ext uri="{BB962C8B-B14F-4D97-AF65-F5344CB8AC3E}">
        <p14:creationId xmlns:p14="http://schemas.microsoft.com/office/powerpoint/2010/main" val="331535401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116632"/>
            <a:ext cx="8424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Программные средства </a:t>
            </a:r>
            <a:r>
              <a:rPr lang="ru-RU" sz="2800" b="1" dirty="0" err="1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бываюд</a:t>
            </a:r>
            <a:r>
              <a:rPr lang="ru-RU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двух видов:</a:t>
            </a:r>
            <a:r>
              <a:rPr lang="en-US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ru-RU" sz="2800" b="1" dirty="0">
              <a:solidFill>
                <a:srgbClr val="00CC99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7504" y="610106"/>
            <a:ext cx="8424936" cy="635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Тиражируемые </a:t>
            </a:r>
            <a:r>
              <a:rPr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(могут распространяться в готовом виде </a:t>
            </a:r>
            <a:r>
              <a:rPr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без </a:t>
            </a:r>
            <a:r>
              <a:rPr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изменений (как коробочный продукт), либо с дополнительной </a:t>
            </a:r>
            <a:r>
              <a:rPr 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настройкой)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alt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Заказные </a:t>
            </a:r>
            <a:r>
              <a:rPr lang="ru-RU" alt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(разрабатываются по техническому заданию заказчика и предназначены для функционирования в определяемых ТЗ организационно-технических </a:t>
            </a:r>
            <a:r>
              <a:rPr lang="ru-RU" altLang="ru-RU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условиях)</a:t>
            </a:r>
            <a:endParaRPr lang="ru-RU" altLang="ru-RU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605337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55290" y="116632"/>
            <a:ext cx="8784976" cy="72008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800" b="1" kern="1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Создание информационных систем по стадиям регламентируется следующими стандартами: </a:t>
            </a:r>
            <a:endParaRPr kumimoji="1" lang="ru-RU" sz="2800" b="1" kern="12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65237" y="1164134"/>
            <a:ext cx="8351837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eaLnBrk="1" hangingPunct="1">
              <a:buClr>
                <a:srgbClr val="C00000"/>
              </a:buClr>
              <a:buSzPct val="126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 34.601-90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Информационные технологии. Комплекс стандартов на автоматизированные системы. Автоматизированные системы. Стадии создания.</a:t>
            </a:r>
          </a:p>
          <a:p>
            <a:pPr marL="457200" indent="-457200" eaLnBrk="1" hangingPunct="1">
              <a:buClr>
                <a:srgbClr val="C00000"/>
              </a:buClr>
              <a:buSzPct val="126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 34.602-89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Информационные технологии. Комплекс стандартов на автоматизированные системы. Техническое задание на создание автоматизированной системы. </a:t>
            </a:r>
          </a:p>
          <a:p>
            <a:pPr marL="457200" indent="-457200" eaLnBrk="1" hangingPunct="1">
              <a:buClr>
                <a:srgbClr val="C00000"/>
              </a:buClr>
              <a:buSzPct val="126000"/>
              <a:buFont typeface="Wingdings" panose="05000000000000000000" pitchFamily="2" charset="2"/>
              <a:buChar char="ü"/>
              <a:defRPr/>
            </a:pPr>
            <a:r>
              <a:rPr kumimoji="0" 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 34.201-89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Виды, комплектность и обозначение документов при создании автоматизированных систем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88840"/>
            <a:ext cx="3167336" cy="72008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Взаимосвязь стадий создания ИС и формируемой проектной документации</a:t>
            </a:r>
          </a:p>
        </p:txBody>
      </p:sp>
      <p:pic>
        <p:nvPicPr>
          <p:cNvPr id="68611" name="Рисунок 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978" y="1"/>
            <a:ext cx="5461022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2" name="Рисунок 3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3416300"/>
            <a:ext cx="5476875" cy="346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775948" y="2189163"/>
            <a:ext cx="8208963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Типовые стадии создания автоматизированной информационной системы по </a:t>
            </a:r>
            <a:r>
              <a:rPr lang="ru-RU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ГОСТ </a:t>
            </a:r>
            <a:r>
              <a:rPr lang="ru-RU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34</a:t>
            </a:r>
            <a:r>
              <a:rPr lang="ru-RU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.*** </a:t>
            </a:r>
            <a:endParaRPr kumimoji="0" lang="ru-RU" sz="3600" b="1" dirty="0">
              <a:ln w="22225">
                <a:solidFill>
                  <a:srgbClr val="3333CC"/>
                </a:solidFill>
                <a:prstDash val="solid"/>
              </a:ln>
              <a:solidFill>
                <a:srgbClr val="3333CC">
                  <a:lumMod val="40000"/>
                  <a:lumOff val="60000"/>
                </a:srgb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0743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-27281" y="-162272"/>
            <a:ext cx="9117421" cy="1143000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400" b="1" kern="1200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Типовые стадии создания автоматизированной информационной системы по ГОСТу 34.601 – 90</a:t>
            </a:r>
          </a:p>
        </p:txBody>
      </p:sp>
      <p:sp>
        <p:nvSpPr>
          <p:cNvPr id="69635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870F403-E1D8-4975-82EC-02ECE0C419C2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32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877846"/>
              </p:ext>
            </p:extLst>
          </p:nvPr>
        </p:nvGraphicFramePr>
        <p:xfrm>
          <a:off x="102937" y="1116927"/>
          <a:ext cx="8856984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551"/>
                <a:gridCol w="6503433"/>
              </a:tblGrid>
              <a:tr h="435992">
                <a:tc>
                  <a:txBody>
                    <a:bodyPr/>
                    <a:lstStyle/>
                    <a:p>
                      <a:pPr algn="ctr"/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Состав работ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5992">
                <a:tc>
                  <a:txBody>
                    <a:bodyPr/>
                    <a:lstStyle/>
                    <a:p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 1. Формирование требований к ИС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Обследование объекта и обоснование необходимости создания ИС</a:t>
                      </a:r>
                    </a:p>
                    <a:p>
                      <a:pPr marL="285750" lvl="0" indent="-285750"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Формирование требований пользователей к ИС;</a:t>
                      </a:r>
                    </a:p>
                    <a:p>
                      <a:pPr marL="285750" indent="-285750"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Оформление отчета и тактико-технического задания на разработку</a:t>
                      </a:r>
                      <a:endParaRPr kumimoji="1" lang="ru-RU" sz="2400" b="1" kern="1200" dirty="0">
                        <a:solidFill>
                          <a:srgbClr val="00CC99">
                            <a:lumMod val="50000"/>
                          </a:srgbClr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5992">
                <a:tc>
                  <a:txBody>
                    <a:bodyPr/>
                    <a:lstStyle/>
                    <a:p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 2. Разработка концепции ИС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Изучение объекта автоматизации;</a:t>
                      </a:r>
                    </a:p>
                    <a:p>
                      <a:pPr marL="285750" indent="-285750" algn="l" defTabSz="914400" rtl="0" eaLnBrk="1" latinLnBrk="0" hangingPunct="1"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Проведение необходимых НИР;</a:t>
                      </a:r>
                    </a:p>
                    <a:p>
                      <a:pPr marL="285750" indent="-285750" algn="l" defTabSz="914400" rtl="0" eaLnBrk="1" latinLnBrk="0" hangingPunct="1"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вариантов концепции ИС, удовлетворяющих требованиям пользователей;</a:t>
                      </a:r>
                    </a:p>
                    <a:p>
                      <a:pPr marL="285750" indent="-285750" algn="l" defTabSz="914400" rtl="0" eaLnBrk="1" latinLnBrk="0" hangingPunct="1"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Оформление отчета и утверждение концепции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504017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-39700" y="-243408"/>
            <a:ext cx="9117421" cy="1143000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400" b="1" kern="1200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Типовые стадии создания автоматизированной информационной системы по ГОСТу 34.601 – 90</a:t>
            </a:r>
          </a:p>
        </p:txBody>
      </p:sp>
      <p:sp>
        <p:nvSpPr>
          <p:cNvPr id="69635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870F403-E1D8-4975-82EC-02ECE0C419C2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33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842558"/>
              </p:ext>
            </p:extLst>
          </p:nvPr>
        </p:nvGraphicFramePr>
        <p:xfrm>
          <a:off x="102936" y="764704"/>
          <a:ext cx="8987203" cy="6034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635"/>
                <a:gridCol w="6790568"/>
              </a:tblGrid>
              <a:tr h="435992">
                <a:tc>
                  <a:txBody>
                    <a:bodyPr/>
                    <a:lstStyle/>
                    <a:p>
                      <a:pPr algn="ctr"/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Состав работ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11269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 3. Техническое задание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и утверждение технического задания на создание ИС в соответствии с ГОСТ 34.602 -89</a:t>
                      </a:r>
                      <a:endParaRPr kumimoji="1" lang="ru-RU" sz="2400" b="1" kern="1200" dirty="0">
                        <a:solidFill>
                          <a:srgbClr val="00CC99">
                            <a:lumMod val="50000"/>
                          </a:srgbClr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020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 4. Эскизный проект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предварительных проектных решений по  системе и ее частям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эскизной документации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599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 5. Технический проект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проектных решений по  ИС и ее частям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документации по ИС и ее частям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и оформление документации на поставку комплектующих изделий (функциональных и обеспечивающих компонентов ИС)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заданий на проектирование в смежных частях проекта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-39700" y="-243408"/>
            <a:ext cx="9117421" cy="1143000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kumimoji="1" lang="ru-RU" sz="2400" b="1" kern="1200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Типовые стадии создания автоматизированной информационной системы по ГОСТу 34.601 – 90</a:t>
            </a:r>
          </a:p>
        </p:txBody>
      </p:sp>
      <p:sp>
        <p:nvSpPr>
          <p:cNvPr id="69635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870F403-E1D8-4975-82EC-02ECE0C419C2}" type="slidenum">
              <a:rPr kumimoji="0" lang="ru-RU" altLang="ru-RU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34</a:t>
            </a:fld>
            <a:endParaRPr kumimoji="0" lang="ru-RU" altLang="ru-RU" sz="14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947986"/>
              </p:ext>
            </p:extLst>
          </p:nvPr>
        </p:nvGraphicFramePr>
        <p:xfrm>
          <a:off x="102936" y="764704"/>
          <a:ext cx="8987203" cy="5881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872"/>
                <a:gridCol w="6246331"/>
              </a:tblGrid>
              <a:tr h="435992">
                <a:tc>
                  <a:txBody>
                    <a:bodyPr/>
                    <a:lstStyle/>
                    <a:p>
                      <a:pPr algn="ctr"/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Состав работ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11269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 6. Рабочая документация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рабочей документации на ИС и ее части</a:t>
                      </a:r>
                    </a:p>
                    <a:p>
                      <a:pPr marL="285750" lvl="0" indent="-285750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и адаптация программного обеспечения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020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 7. Ввод в действие</a:t>
                      </a:r>
                      <a:endParaRPr kumimoji="1" lang="ru-RU" sz="24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Подготовка объекта автоматизации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Подготовка персонала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Комплектация ИС поставляемыми компонентами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Строительно-монтажные и пуско-наладочные работы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Проведение предварительных испытаний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Проведение опытной эксплуатации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Проведение приемочных испытаний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599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kumimoji="1" lang="ru-RU" sz="2400" b="1" kern="12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 8. Сопровождение</a:t>
                      </a:r>
                      <a:endParaRPr kumimoji="1" lang="ru-RU" sz="2300" b="1" kern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ct val="87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kumimoji="1" lang="ru-RU" sz="2400" b="1" kern="1200" dirty="0" smtClean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Проведение работ по гарантийному и послегарантийному обслуживанию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789462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74936" y="116632"/>
            <a:ext cx="8964488" cy="533400"/>
          </a:xfrm>
        </p:spPr>
        <p:txBody>
          <a:bodyPr/>
          <a:lstStyle/>
          <a:p>
            <a:pPr marL="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kumimoji="1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Стадии и результаты работ по созданию ИС 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743135"/>
              </p:ext>
            </p:extLst>
          </p:nvPr>
        </p:nvGraphicFramePr>
        <p:xfrm>
          <a:off x="174936" y="908720"/>
          <a:ext cx="8964613" cy="473110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735858"/>
                <a:gridCol w="6228755"/>
              </a:tblGrid>
              <a:tr h="34276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</a:t>
                      </a:r>
                    </a:p>
                  </a:txBody>
                  <a:tcPr marL="68385" marR="68385" marT="34198" marB="3419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Результат</a:t>
                      </a:r>
                    </a:p>
                  </a:txBody>
                  <a:tcPr marL="68385" marR="68385" marT="34198" marB="3419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89151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Формирование требований к АС (ИС)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Обследование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Формирование пользовательских требований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Заявка на разработку АС (ИС)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13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концепции АС (ИС)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Проведение необходимых НИР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ТЭО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126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Техническое задание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ТЗ/ЧТЗ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126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Эскизный проект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Пояснительная записка к эскизному проекту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412411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57150"/>
            <a:ext cx="8964488" cy="533400"/>
          </a:xfrm>
        </p:spPr>
        <p:txBody>
          <a:bodyPr/>
          <a:lstStyle/>
          <a:p>
            <a:pPr marL="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kumimoji="1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Стадии и результаты работ по созданию ИС 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615336"/>
              </p:ext>
            </p:extLst>
          </p:nvPr>
        </p:nvGraphicFramePr>
        <p:xfrm>
          <a:off x="107950" y="476250"/>
          <a:ext cx="8964613" cy="629255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735858"/>
                <a:gridCol w="6228755"/>
              </a:tblGrid>
              <a:tr h="34276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Стадия</a:t>
                      </a:r>
                    </a:p>
                  </a:txBody>
                  <a:tcPr marL="68385" marR="68385" marT="34198" marB="3419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Результат</a:t>
                      </a:r>
                    </a:p>
                  </a:txBody>
                  <a:tcPr marL="68385" marR="68385" marT="34198" marB="3419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165881">
                <a:tc>
                  <a:txBody>
                    <a:bodyPr/>
                    <a:lstStyle/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Технический проект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Пояснительная записка к техническому проекту</a:t>
                      </a:r>
                    </a:p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документации на поставку изделий для комплектования АС и(или) технических требований на их разработку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5881">
                <a:tc>
                  <a:txBody>
                    <a:bodyPr/>
                    <a:lstStyle/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Рабочая документация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Опытный образец</a:t>
                      </a:r>
                    </a:p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Комплект документации</a:t>
                      </a:r>
                    </a:p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Рабочая программа опытной эксплуатации</a:t>
                      </a:r>
                    </a:p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Протокол (приемо-сдаточных) испытаний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126">
                <a:tc>
                  <a:txBody>
                    <a:bodyPr/>
                    <a:lstStyle/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Ввод в действие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Акт о вводе в действие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229">
                <a:tc>
                  <a:txBody>
                    <a:bodyPr/>
                    <a:lstStyle/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Техническая поддержка</a:t>
                      </a:r>
                    </a:p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(сопровождение)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Рабочий журнал</a:t>
                      </a:r>
                    </a:p>
                    <a:p>
                      <a:pPr indent="0"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kumimoji="1" lang="ru-RU" sz="2400" b="1" kern="1200" dirty="0">
                          <a:solidFill>
                            <a:srgbClr val="00CC99">
                              <a:lumMod val="50000"/>
                            </a:srgb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Акт сдачи-приемки работ</a:t>
                      </a:r>
                    </a:p>
                  </a:txBody>
                  <a:tcPr marL="68385" marR="68385" marT="34198" marB="3419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680244" y="1412776"/>
            <a:ext cx="8284244" cy="4001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Clr>
                <a:srgbClr val="CC0000"/>
              </a:buClr>
              <a:defRPr/>
            </a:pPr>
            <a:endParaRPr lang="ru-RU" sz="12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3600" b="1" dirty="0" err="1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Предпроектная</a:t>
            </a:r>
            <a:r>
              <a:rPr 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</a:t>
            </a:r>
            <a:r>
              <a:rPr 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стадия</a:t>
            </a:r>
            <a:endParaRPr 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Стадия </a:t>
            </a:r>
            <a:r>
              <a:rPr 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проектирования</a:t>
            </a:r>
            <a:endParaRPr 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Внедрение</a:t>
            </a:r>
            <a:endParaRPr 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Эксплуатация и сопровождение.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79512" y="404664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Обобщенные стадии проектирования АИС (ГОСТ 34.201):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611560" y="1052736"/>
            <a:ext cx="8298140" cy="526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CC0000"/>
              </a:buClr>
              <a:defRPr/>
            </a:pPr>
            <a:r>
              <a:rPr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 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первой стадии «</a:t>
            </a:r>
            <a:r>
              <a:rPr lang="ru-RU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Предпроектного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обследования» принято выделять два основных этапа: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сбор материалов </a:t>
            </a:r>
            <a:r>
              <a:rPr 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обследования</a:t>
            </a:r>
            <a:endParaRPr 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анализ материалов обследования и разработка технико-экономического обоснования (ТЭО) и технического задания (ТЗ).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90284" y="-6052"/>
            <a:ext cx="8964488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2800" b="1" dirty="0" err="1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Предпроектная</a:t>
            </a:r>
            <a:r>
              <a:rPr lang="ru-RU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стадия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5"/>
          <p:cNvSpPr>
            <a:spLocks noChangeArrowheads="1"/>
          </p:cNvSpPr>
          <p:nvPr/>
        </p:nvSpPr>
        <p:spPr bwMode="auto">
          <a:xfrm>
            <a:off x="287338" y="534601"/>
            <a:ext cx="8856662" cy="6324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</a:pPr>
            <a:r>
              <a:rPr kumimoji="0" lang="ru-RU" altLang="ru-RU" sz="27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результате выполнения </a:t>
            </a:r>
            <a:r>
              <a:rPr kumimoji="0" lang="ru-RU" altLang="ru-RU" sz="27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первого этапа </a:t>
            </a:r>
            <a:r>
              <a:rPr kumimoji="0" lang="ru-RU" altLang="ru-RU" sz="27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проектировщики получают материалы обследования, которые должны содержать полную и достоверную информацию, описывающую изучаемую предметную область – предприятие, в том числе: </a:t>
            </a:r>
            <a:r>
              <a:rPr kumimoji="0" lang="ru-RU" altLang="ru-RU" sz="27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цель функционирования; организационную структуру системы и объекта управления, т.е. его управленческие отделы, цехи, склады и хозяйственные службы; функции управления, выполняемые в этих подразделениях, и протекающие в них технологические процессы обработки управленческой и экономической информации, а также материальные потоки и процессы их обработки, ресурсные ограничения.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475656" y="11381"/>
            <a:ext cx="7416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Сбор материалов обследования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5"/>
          <p:cNvSpPr>
            <a:spLocks noChangeArrowheads="1"/>
          </p:cNvSpPr>
          <p:nvPr/>
        </p:nvSpPr>
        <p:spPr bwMode="auto">
          <a:xfrm>
            <a:off x="118384" y="487025"/>
            <a:ext cx="9036496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4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После выполнения </a:t>
            </a:r>
            <a:r>
              <a:rPr kumimoji="0" lang="ru-RU" altLang="ru-RU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второго </a:t>
            </a:r>
            <a:r>
              <a:rPr kumimoji="0" lang="ru-RU" altLang="ru-RU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этапа 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проектировщики получают количественные и качественные </a:t>
            </a:r>
            <a:r>
              <a:rPr kumimoji="0" lang="ru-RU" altLang="ru-RU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характеристики </a:t>
            </a:r>
            <a:r>
              <a:rPr kumimoji="0" lang="ru-RU" altLang="ru-RU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информационных </a:t>
            </a:r>
            <a:r>
              <a:rPr kumimoji="0" lang="ru-RU" altLang="ru-RU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потоков, описание их структуры и мест обработки, объемов выполняемых операций и трудоемкости их обработки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На основе этих материалов разрабатываются два документа: </a:t>
            </a:r>
            <a:r>
              <a:rPr kumimoji="0" lang="ru-RU" altLang="ru-RU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«Технико-экономическое обоснование проектных решений» 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(ТЭО), содержащее </a:t>
            </a:r>
            <a:r>
              <a:rPr kumimoji="0" lang="ru-RU" altLang="ru-RU" sz="24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расчеты и обоснование необходимости разработки ИС для предприятия и выбираемых технологических и проектных решений, 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</a:t>
            </a:r>
            <a:r>
              <a:rPr kumimoji="0" lang="ru-RU" altLang="ru-RU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«Техническое задание»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(ТЗ), в состав которого входят </a:t>
            </a:r>
            <a:r>
              <a:rPr kumimoji="0" lang="ru-RU" altLang="ru-RU" sz="24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требования к создаваемой системе, ее отдельным компонентам: программному, техническому и информационному обеспечению и целевую установку на проектирование новой системы. 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Эти документы являются основными для последующего проектирования ИС в соответствии с заданными требованиями.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8384" y="0"/>
            <a:ext cx="91450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Анализ </a:t>
            </a:r>
            <a:r>
              <a:rPr lang="ru-RU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материалов обследования и разработка </a:t>
            </a:r>
            <a:r>
              <a:rPr lang="ru-RU" b="1" dirty="0" smtClean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ТЭО </a:t>
            </a:r>
            <a:r>
              <a:rPr lang="ru-RU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 </a:t>
            </a:r>
            <a:r>
              <a:rPr lang="ru-RU" b="1" dirty="0" smtClean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ТЗ</a:t>
            </a:r>
            <a:endParaRPr lang="ru-RU" b="1" dirty="0">
              <a:solidFill>
                <a:srgbClr val="00CC99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12755" y="1052736"/>
            <a:ext cx="8964488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sz="30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Для решения задач ИО анализируются </a:t>
            </a:r>
            <a:r>
              <a:rPr kumimoji="0" lang="ru-RU" sz="3000" b="1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потоки информации, системы классификации и кодирования, формы документации, а также исследуются СУБД, структуры имеющихся баз данных, методы их интеграции</a:t>
            </a:r>
            <a:r>
              <a:rPr kumimoji="0" lang="ru-RU" sz="30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Результаты этих работ включаются в состав исходных технологических требований и оформляются в соответствии с </a:t>
            </a:r>
            <a:r>
              <a:rPr kumimoji="0" lang="ru-RU" sz="3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РД 50-34.698-90</a:t>
            </a:r>
            <a:r>
              <a:rPr kumimoji="0" lang="ru-RU" sz="30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  <a:endParaRPr kumimoji="0" lang="ru-RU" sz="30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835697" y="-8070"/>
            <a:ext cx="7200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Анализ материалов обследования и разработка ТЭО и ТЗ</a:t>
            </a:r>
          </a:p>
        </p:txBody>
      </p:sp>
    </p:spTree>
    <p:extLst>
      <p:ext uri="{BB962C8B-B14F-4D97-AF65-F5344CB8AC3E}">
        <p14:creationId xmlns:p14="http://schemas.microsoft.com/office/powerpoint/2010/main" val="3927748902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98296" y="510184"/>
            <a:ext cx="8945704" cy="6133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CC0000"/>
              </a:buClr>
              <a:defRPr/>
            </a:pPr>
            <a:endParaRPr lang="ru-RU" sz="2800" b="1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Важнейшими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результатами </a:t>
            </a:r>
            <a:r>
              <a:rPr kumimoji="0" lang="ru-RU" sz="2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предпроектной</a:t>
            </a:r>
            <a:r>
              <a:rPr kumimoji="0"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стадии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являются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 </a:t>
            </a:r>
            <a:r>
              <a:rPr kumimoji="0" lang="ru-RU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описание целей и задач информационной системы, выработка общих требований к ее созданию, разработка программы проведения обследования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в рамках которого изучаются и уточняются </a:t>
            </a:r>
            <a:r>
              <a:rPr kumimoji="0" lang="ru-RU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информационная модель управления, структура и функции организации, перечень задач, подлежащих автоматизации, ориентировочный состав технических средств, технико-экономические характеристики системы ИО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90284" y="-6052"/>
            <a:ext cx="8964488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2800" b="1" dirty="0" err="1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Предпроектная</a:t>
            </a:r>
            <a:r>
              <a:rPr lang="ru-RU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стадия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5"/>
          <p:cNvSpPr>
            <a:spLocks noChangeArrowheads="1"/>
          </p:cNvSpPr>
          <p:nvPr/>
        </p:nvSpPr>
        <p:spPr bwMode="auto">
          <a:xfrm>
            <a:off x="141288" y="981075"/>
            <a:ext cx="8342312" cy="558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Для сложных ИС иногда на этой стадии включают третий этап – разработку </a:t>
            </a:r>
            <a:r>
              <a:rPr kumimoji="0" lang="ru-RU" altLang="ru-RU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«Эскизного проекта»</a:t>
            </a: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На этапе «Эскизного проекта» сформулированные ранее требования служат основой для разработки предварительных решений по ЭИС в целом и отдельным видам обеспечения. Эти решения прорабатываются на логическом уровне, включая алгоритмы обработки информации, описание информационных потребностей пользователей на уровне названий документов и показателей.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0284" y="-6052"/>
            <a:ext cx="8964488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2800" b="1" dirty="0" err="1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Предпроектная</a:t>
            </a:r>
            <a:r>
              <a:rPr lang="ru-RU" sz="2800" b="1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 стадия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043608" y="3068960"/>
            <a:ext cx="8284244" cy="209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Clr>
                <a:srgbClr val="CC0000"/>
              </a:buClr>
              <a:defRPr/>
            </a:pPr>
            <a:endParaRPr lang="ru-RU" sz="12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техническое проектирование</a:t>
            </a:r>
            <a:endParaRPr lang="ru-RU" sz="3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3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рабочее </a:t>
            </a:r>
            <a:r>
              <a:rPr lang="ru-RU" sz="3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99" y="1052736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3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Вторая стадия «Техно-рабочего проектирования» выполняется в два </a:t>
            </a:r>
            <a:r>
              <a:rPr lang="ru-RU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этапа:</a:t>
            </a:r>
            <a:endParaRPr lang="ru-RU" sz="3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11560" y="142072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Стадия «Техно-рабочего проектирования» </a:t>
            </a:r>
          </a:p>
        </p:txBody>
      </p:sp>
    </p:spTree>
    <p:extLst>
      <p:ext uri="{BB962C8B-B14F-4D97-AF65-F5344CB8AC3E}">
        <p14:creationId xmlns:p14="http://schemas.microsoft.com/office/powerpoint/2010/main" val="2405549200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5"/>
          <p:cNvSpPr>
            <a:spLocks noChangeArrowheads="1"/>
          </p:cNvSpPr>
          <p:nvPr/>
        </p:nvSpPr>
        <p:spPr bwMode="auto">
          <a:xfrm>
            <a:off x="141288" y="981075"/>
            <a:ext cx="8823200" cy="558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этапе </a:t>
            </a:r>
            <a:r>
              <a:rPr kumimoji="0" lang="ru-RU" alt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технического проектирования </a:t>
            </a: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выполняются работы по логической разработке и выбору наилучших вариантов проектных решений, в результате чего создается </a:t>
            </a:r>
            <a:r>
              <a:rPr kumimoji="0" lang="ru-RU" alt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«Технический проект»</a:t>
            </a: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Этап </a:t>
            </a:r>
            <a:r>
              <a:rPr kumimoji="0" lang="ru-RU" alt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рабочего проектирования </a:t>
            </a: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связан с физической реализацией выбранного варианта проекта и получением документации </a:t>
            </a:r>
            <a:r>
              <a:rPr kumimoji="0" lang="ru-RU" alt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«Рабочего проекта»</a:t>
            </a: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При наличии опыта проектирования эти этапы иногда объединяются в один, в результате выполнения которого получают </a:t>
            </a:r>
            <a:r>
              <a:rPr kumimoji="0" lang="ru-RU" alt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«Техно-рабочий проект» (ТРП)</a:t>
            </a: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11560" y="116632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Стадия «Техно-рабочего проектирования» </a:t>
            </a:r>
          </a:p>
        </p:txBody>
      </p:sp>
    </p:spTree>
    <p:extLst>
      <p:ext uri="{BB962C8B-B14F-4D97-AF65-F5344CB8AC3E}">
        <p14:creationId xmlns:p14="http://schemas.microsoft.com/office/powerpoint/2010/main" val="242074588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07504" y="807305"/>
            <a:ext cx="8496944" cy="5581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sz="26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При </a:t>
            </a: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разработке </a:t>
            </a:r>
            <a:r>
              <a:rPr kumimoji="0" lang="ru-RU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технического проекта </a:t>
            </a: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необходимо подробно остановиться на анализе всей используемой информации с точки зрения ее полноты, непротиворечивости, отсутствия избыточности и дублирования, а также на разработке </a:t>
            </a:r>
            <a:r>
              <a:rPr kumimoji="0" lang="ru-RU" sz="2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форм выходных документов. </a:t>
            </a: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Результаты такого исследования оформляются документом </a:t>
            </a:r>
            <a:r>
              <a:rPr kumimoji="0" lang="ru-RU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«Описание информационного обеспечения»</a:t>
            </a: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в котором конкретизируются требования к организации ИО. Документация технологического характера должна соответствовать требованиям </a:t>
            </a:r>
            <a:r>
              <a:rPr kumimoji="0" lang="ru-RU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ГОСТ 34-201-89 с учетом РД 50-34.698-90.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11560" y="142072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Стадия «Техно-рабочего проектирования»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0" y="692696"/>
            <a:ext cx="8977313" cy="596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этапе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рабочего проектирования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качестве одного из основных этапов выделяется разработка рабочей документации на ИО информационной системы, целью которой являются: создание необходимого программного обеспечения, подготовка на машинных носителях нормативно-справочной и производственной информации для первичной загрузки информационной базы, выпуск необходимой рабочей документации, включая инструкции пользователям и инструкции по эксплуатации. </a:t>
            </a:r>
          </a:p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Состав документации должен включать: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технический проект ИС; описание организации информационной базы; описание систем классификации и кодирования; перечень исходных данных; перечень выходных документов; описание локальных баз данных; формы выходных документов.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11560" y="28497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Стадия «Техно-рабочего проектирования»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51520" y="908720"/>
            <a:ext cx="8466138" cy="6024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Стадия </a:t>
            </a:r>
            <a:r>
              <a:rPr kumimoji="0"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«Внедрение проекта» </a:t>
            </a: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включает реализацию основных мероприятий по внедрению, подбор и обучение персонала, подготовку помещений и технических средств. Осуществляется также эксплуатация системы путем решения конкретных задач и анализа результатов испытаний.</a:t>
            </a:r>
          </a:p>
          <a:p>
            <a:pPr marL="4572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Стадия </a:t>
            </a:r>
            <a:r>
              <a:rPr kumimoji="0"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«Внедрение проекта»</a:t>
            </a: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включает в себя три этапа:</a:t>
            </a: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8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подготовка объекта к внедрению </a:t>
            </a:r>
            <a:r>
              <a:rPr lang="ru-RU" sz="28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проекта</a:t>
            </a:r>
            <a:endParaRPr lang="ru-RU" sz="28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8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опытное внедрение </a:t>
            </a:r>
            <a:r>
              <a:rPr lang="ru-RU" sz="28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проекта</a:t>
            </a:r>
            <a:endParaRPr lang="ru-RU" sz="28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8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сдача в промышленную </a:t>
            </a:r>
            <a:r>
              <a:rPr lang="ru-RU" sz="28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эксплуатацию</a:t>
            </a:r>
            <a:endParaRPr lang="ru-RU" sz="28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eaLnBrk="1" hangingPunct="1">
              <a:lnSpc>
                <a:spcPct val="110000"/>
              </a:lnSpc>
              <a:buClr>
                <a:srgbClr val="CC0000"/>
              </a:buClr>
              <a:defRPr/>
            </a:pPr>
            <a:endParaRPr lang="ru-RU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187624" y="123825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Стадия «Внедрение проекта»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447875" y="908720"/>
            <a:ext cx="8471098" cy="584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Стадия «Эксплуатация и сопровождение проекта» включает этапы:</a:t>
            </a: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эксплуатация </a:t>
            </a:r>
            <a:r>
              <a:rPr lang="ru-RU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проекта</a:t>
            </a:r>
            <a:endParaRPr lang="ru-RU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сопровождение и модернизация </a:t>
            </a:r>
            <a:r>
              <a:rPr lang="ru-RU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проекта</a:t>
            </a:r>
            <a:endParaRPr lang="ru-RU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SzPct val="128000"/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этапе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«эксплуатация»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получают информацию о работе всей системы в целом и отдельных ее компонент и собирают статистику о сбоях системы в виде рекламаций и замечаний, которые накапливается для выполнения следующего этапа. На этапе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сопровождения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проекта выполняется два вида работ: ликвидируются последствия сбоев в работе системы и исправляются ошибки, не выявленные при внедрении проекта, а также осуществляется модернизация проекта.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3997" y="21928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Стадия «Эксплуатация и сопровождение проекта»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775948" y="2189163"/>
            <a:ext cx="8208963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Цели и принципы формирования профилей </a:t>
            </a:r>
            <a:r>
              <a:rPr lang="ru-RU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информационных систем </a:t>
            </a:r>
            <a:endParaRPr kumimoji="0" lang="ru-RU" sz="3600" b="1" dirty="0">
              <a:ln w="22225">
                <a:solidFill>
                  <a:srgbClr val="3333CC"/>
                </a:solidFill>
                <a:prstDash val="solid"/>
              </a:ln>
              <a:solidFill>
                <a:srgbClr val="3333CC">
                  <a:lumMod val="40000"/>
                  <a:lumOff val="60000"/>
                </a:srgb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1451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0" y="562348"/>
            <a:ext cx="9143999" cy="6838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Решение проблемы взаимодействия ИС – использование </a:t>
            </a:r>
            <a:r>
              <a:rPr kumimoji="0"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принципа открытых систем</a:t>
            </a: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и использование </a:t>
            </a:r>
            <a:r>
              <a:rPr kumimoji="0"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профиля</a:t>
            </a:r>
            <a:r>
              <a:rPr kumimoji="0" lang="ru-RU" sz="26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  <a:endParaRPr kumimoji="0" lang="ru-RU" sz="26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Основной принцип открытых систем </a:t>
            </a: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состоит в создании среды, которая в своей основе имеет </a:t>
            </a:r>
            <a:r>
              <a:rPr kumimoji="0" lang="ru-RU" sz="26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развивающиеся, доступные и общепризнанные стандарты, обеспечивает переносимость, взаимодействие и масштабируемость приложений </a:t>
            </a:r>
            <a:r>
              <a:rPr kumimoji="0" 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данных, а также включает: </a:t>
            </a: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программные 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 аппаратные </a:t>
            </a: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средства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службы связи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интерфейсы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форматы данных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1079500" indent="-457200" eaLnBrk="1" hangingPunct="1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протоколы.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SzPct val="128000"/>
              <a:defRPr/>
            </a:pPr>
            <a:endParaRPr kumimoji="0" lang="ru-RU" sz="26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3997" y="21928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 smtClean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Использование </a:t>
            </a: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принципа открытых систем </a:t>
            </a:r>
          </a:p>
        </p:txBody>
      </p:sp>
    </p:spTree>
    <p:extLst>
      <p:ext uri="{BB962C8B-B14F-4D97-AF65-F5344CB8AC3E}">
        <p14:creationId xmlns:p14="http://schemas.microsoft.com/office/powerpoint/2010/main" val="288279063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01600" y="592138"/>
            <a:ext cx="8574856" cy="6217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Открытые системы </a:t>
            </a:r>
            <a:r>
              <a:rPr kumimoji="0" lang="ru-RU" sz="28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это системы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в которых реализован исчерпывающий и согласованный </a:t>
            </a:r>
            <a:r>
              <a:rPr kumimoji="0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набор международных стандартов информационных технологий и </a:t>
            </a:r>
            <a:r>
              <a:rPr kumimoji="0" lang="ru-RU" sz="2800" b="1" dirty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профилей</a:t>
            </a:r>
            <a:r>
              <a:rPr kumimoji="0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функциональных стандартов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которые специфицируют интерфейсы, службы и поддерживающие форматы, чтобы обеспечить </a:t>
            </a:r>
            <a:r>
              <a:rPr kumimoji="0" lang="ru-RU" sz="2800" b="1" dirty="0" err="1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интероперабельность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и мобильность приложений, данных и персонала. </a:t>
            </a:r>
          </a:p>
          <a:p>
            <a:pPr marL="457200" indent="-457200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Профиль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согласованный набор базовых стандартов, необходимых для решения конкретной задачи или класса задач.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827584" y="0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Профиль информационной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687307326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64468" y="548556"/>
            <a:ext cx="8892480" cy="625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Каждую </a:t>
            </a:r>
            <a:r>
              <a:rPr kumimoji="0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сложную ИС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(уникальную, интегрированную, корпоративную и типовую, тиражируемую для определенных областей применения) </a:t>
            </a:r>
            <a:r>
              <a:rPr kumimoji="0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предлагается сопровождать ее профилем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включающим в себя совокупность базовых стандартов ИТ и спецификаций, которым должны отвечать ИС в целом и ее компоненты.</a:t>
            </a:r>
          </a:p>
          <a:p>
            <a:pPr marL="457200" indent="-457200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Это позволяет иметь </a:t>
            </a:r>
            <a:r>
              <a:rPr kumimoji="0"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стандартизованные проектные решения ИС </a:t>
            </a:r>
            <a:r>
              <a:rPr kumimoji="0" 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 тем, чтобы снизить затраты и сократить сроки создания ИС в условиях роста их сложности и наращивания функций.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259632" y="15156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Профиль информационной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90515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0" y="579042"/>
            <a:ext cx="9142636" cy="630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зависимости от сферы распространения профилей ИС рассматриваются следующие их категории: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профили конкретных ИС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, определяющие стандартизованные проектные решения в пределах проекта данной ИС и имеющие статус документации проекта в части нормативных требований или статус стандарта предприятия, для которого создается </a:t>
            </a:r>
            <a:r>
              <a:rPr lang="ru-RU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ИС</a:t>
            </a:r>
            <a:endParaRPr lang="ru-RU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профили группы типовых, тиражируемых ИС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, предназначенных для определенной области применения, имеющие статус отраслевого (ведомственного) стандарта для этой области или статус стандарта организации, разрабатывающей и поставляющей такие ИС (системного интегратора</a:t>
            </a:r>
            <a:r>
              <a:rPr lang="ru-RU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)</a:t>
            </a:r>
            <a:endParaRPr lang="ru-RU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стратегические профили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для определенной области применения ИС, определяющие ориентацию информатизации этой области на долгосрочный период, например профили переносимости приложений между разными ИС в этой области.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115616" y="-56728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Профиль информационной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413295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0" y="548680"/>
            <a:ext cx="9144000" cy="6201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Структура полного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профиля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ИС включает в себя следующие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функциональные профили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профиль приложений ИС,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содержащий спецификации архитектуры и структуры подсистем ИС, программных интерфейсов взаимодействия между ними, форматов обмена данными и общих требований к прикладному </a:t>
            </a:r>
            <a:r>
              <a:rPr lang="ru-RU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ПО</a:t>
            </a:r>
            <a:endParaRPr lang="ru-RU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профиль среды ИС,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содержащий спецификации интерфейсов прикладного программирования, функций ПО промежуточного слоя, СУБД, пользовательских интерфейсов, операционных систем и требований к техническим средствам, а также протоколов телекоммуникационной среды;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профиль средств системного и сетевого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администрирования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профиль средств защиты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информации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профиль инструментальных средств, встроенных в ИС.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971600" y="0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Профиль информационной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0223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07504" y="592138"/>
            <a:ext cx="9023796" cy="6407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95000"/>
              </a:lnSpc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полный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профиль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ИС следует включать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вспомогательные профили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регламентирующие процессы создания, сопровождения и развития ИС и нормы на средства поддержки этих процессов. К ним относятся:</a:t>
            </a:r>
          </a:p>
          <a:p>
            <a:pPr marL="342900" indent="-342900" eaLnBrk="1" hangingPunct="1">
              <a:lnSpc>
                <a:spcPct val="95000"/>
              </a:lnSpc>
              <a:buClr>
                <a:srgbClr val="C00000"/>
              </a:buClr>
              <a:buSzPct val="118000"/>
              <a:buFont typeface="Wingdings" pitchFamily="2" charset="2"/>
              <a:buChar char="ü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профили процессов жизненного цикла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прикладного ПО ИС (по стандарту ISO 12207);</a:t>
            </a:r>
          </a:p>
          <a:p>
            <a:pPr marL="342900" indent="-342900" eaLnBrk="1" hangingPunct="1">
              <a:lnSpc>
                <a:spcPct val="95000"/>
              </a:lnSpc>
              <a:buClr>
                <a:srgbClr val="C00000"/>
              </a:buClr>
              <a:buSzPct val="118000"/>
              <a:buFont typeface="Wingdings" pitchFamily="2" charset="2"/>
              <a:buChar char="ü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профили обеспечения качества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прикладных программных средств ИС;</a:t>
            </a:r>
          </a:p>
          <a:p>
            <a:pPr marL="342900" indent="-342900" eaLnBrk="1" hangingPunct="1">
              <a:lnSpc>
                <a:spcPct val="95000"/>
              </a:lnSpc>
              <a:buClr>
                <a:srgbClr val="C00000"/>
              </a:buClr>
              <a:buSzPct val="118000"/>
              <a:buFont typeface="Wingdings" pitchFamily="2" charset="2"/>
              <a:buChar char="ü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профили инфраструктуры проекта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данной ИС.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этих профилях должны быть указаны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стандарты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 </a:t>
            </a:r>
          </a:p>
          <a:p>
            <a:pPr marL="342900" indent="-342900" eaLnBrk="1" hangingPunct="1">
              <a:lnSpc>
                <a:spcPct val="95000"/>
              </a:lnSpc>
              <a:buClr>
                <a:srgbClr val="C00000"/>
              </a:buClr>
              <a:buSzPct val="118000"/>
              <a:buFont typeface="Wingdings" pitchFamily="2" charset="2"/>
              <a:buChar char="ü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для описания методологии и технологии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создания, сопровождения и развития прикладного ПО ИС;</a:t>
            </a:r>
          </a:p>
          <a:p>
            <a:pPr marL="342900" indent="-342900" eaLnBrk="1" hangingPunct="1">
              <a:lnSpc>
                <a:spcPct val="95000"/>
              </a:lnSpc>
              <a:buClr>
                <a:srgbClr val="C00000"/>
              </a:buClr>
              <a:buSzPct val="118000"/>
              <a:buFont typeface="Wingdings" pitchFamily="2" charset="2"/>
              <a:buChar char="ü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описания требований и регламентов тестирования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прикладных программных средств;</a:t>
            </a:r>
          </a:p>
          <a:p>
            <a:pPr marL="342900" indent="-342900" eaLnBrk="1" hangingPunct="1">
              <a:lnSpc>
                <a:spcPct val="95000"/>
              </a:lnSpc>
              <a:buClr>
                <a:srgbClr val="C00000"/>
              </a:buClr>
              <a:buSzPct val="118000"/>
              <a:buFont typeface="Wingdings" pitchFamily="2" charset="2"/>
              <a:buChar char="ü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регламентов документирования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прикладного ПО;</a:t>
            </a:r>
          </a:p>
          <a:p>
            <a:pPr marL="342900" indent="-342900" eaLnBrk="1" hangingPunct="1">
              <a:lnSpc>
                <a:spcPct val="95000"/>
              </a:lnSpc>
              <a:buClr>
                <a:srgbClr val="C00000"/>
              </a:buClr>
              <a:buSzPct val="118000"/>
              <a:buFont typeface="Wingdings" pitchFamily="2" charset="2"/>
              <a:buChar char="ü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регламентов управления конфигурацией 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прикладного ПО.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971600" y="58738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Профиль информационной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09856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0" y="980728"/>
            <a:ext cx="9144000" cy="578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EAI</a:t>
            </a:r>
            <a:r>
              <a:rPr lang="ru-RU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 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— это технологии и приложения, задача которых вовлечь несколько приложений, используемых в одной организации, в единый процесс и осуществлять преобразование форматов данных между ними. Необходимость в интеграции приложений обычно возникает, если информационные системы разработаны различными производителями. </a:t>
            </a:r>
          </a:p>
          <a:p>
            <a:pPr marL="457200" indent="-457200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Под средствами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EAI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понимается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комбинация процессов, программных средств, стандартов и аппаратуры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благодаря которой обеспечивается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«бесшовная»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интеграция приложений в пределах одной ИС или двух и более ИС уровня предприятия, позволяющая им функционировать как единой системе.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3996" y="21928"/>
            <a:ext cx="9010003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Интеграция приложений предприятия (</a:t>
            </a:r>
            <a:r>
              <a:rPr lang="en-US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Enterprise Application Integration, EAI</a:t>
            </a: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725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467544" y="836712"/>
            <a:ext cx="8676456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ru-RU" sz="28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 рамках реализации 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EAI </a:t>
            </a:r>
            <a:r>
              <a:rPr lang="ru-RU" sz="28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для ИС обычно рассматриваются следующие способы интеграции приложений:</a:t>
            </a:r>
          </a:p>
          <a:p>
            <a:pPr marL="457200" indent="-457200" eaLnBrk="1" hangingPunct="1">
              <a:lnSpc>
                <a:spcPct val="150000"/>
              </a:lnSpc>
              <a:buClr>
                <a:srgbClr val="C00000"/>
              </a:buClr>
              <a:buSzPct val="118000"/>
              <a:buFontTx/>
              <a:buAutoNum type="arabicPeriod"/>
              <a:defRPr/>
            </a:pP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Интеграция бизнес-процессов предприятия</a:t>
            </a:r>
            <a:r>
              <a:rPr lang="ru-RU" sz="28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.</a:t>
            </a:r>
          </a:p>
          <a:p>
            <a:pPr marL="457200" indent="-457200" eaLnBrk="1" hangingPunct="1">
              <a:lnSpc>
                <a:spcPct val="150000"/>
              </a:lnSpc>
              <a:buClr>
                <a:srgbClr val="C00000"/>
              </a:buClr>
              <a:buSzPct val="118000"/>
              <a:buFontTx/>
              <a:buAutoNum type="arabicPeriod"/>
              <a:defRPr/>
            </a:pP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Интеграция приложений.</a:t>
            </a:r>
          </a:p>
          <a:p>
            <a:pPr marL="457200" indent="-457200" eaLnBrk="1" hangingPunct="1">
              <a:lnSpc>
                <a:spcPct val="150000"/>
              </a:lnSpc>
              <a:buClr>
                <a:srgbClr val="C00000"/>
              </a:buClr>
              <a:buSzPct val="118000"/>
              <a:buFontTx/>
              <a:buAutoNum type="arabicPeriod"/>
              <a:defRPr/>
            </a:pP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Интеграция данных.</a:t>
            </a:r>
          </a:p>
          <a:p>
            <a:pPr marL="457200" indent="-457200" eaLnBrk="1" hangingPunct="1">
              <a:lnSpc>
                <a:spcPct val="150000"/>
              </a:lnSpc>
              <a:buClr>
                <a:srgbClr val="C00000"/>
              </a:buClr>
              <a:buSzPct val="118000"/>
              <a:buFontTx/>
              <a:buAutoNum type="arabicPeriod"/>
              <a:defRPr/>
            </a:pP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Интеграция платформ.</a:t>
            </a:r>
          </a:p>
          <a:p>
            <a:pPr marL="457200" indent="-457200" eaLnBrk="1" hangingPunct="1">
              <a:lnSpc>
                <a:spcPct val="150000"/>
              </a:lnSpc>
              <a:buClr>
                <a:srgbClr val="C00000"/>
              </a:buClr>
              <a:buSzPct val="118000"/>
              <a:buFontTx/>
              <a:buAutoNum type="arabicPeriod"/>
              <a:defRPr/>
            </a:pP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Интеграции компонентов в составе приложений.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971600" y="188640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Интеграция приложений предприятия </a:t>
            </a:r>
            <a:r>
              <a:rPr lang="en-US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EAI</a:t>
            </a:r>
            <a:endParaRPr lang="ru-RU" sz="2800" dirty="0">
              <a:solidFill>
                <a:srgbClr val="00CC99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60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5"/>
          <p:cNvSpPr>
            <a:spLocks noChangeArrowheads="1"/>
          </p:cNvSpPr>
          <p:nvPr/>
        </p:nvSpPr>
        <p:spPr bwMode="auto">
          <a:xfrm>
            <a:off x="0" y="404664"/>
            <a:ext cx="9144000" cy="6592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marL="457200" indent="-457200" eaLnBrk="1" fontAlgn="auto" hangingPunct="1">
              <a:lnSpc>
                <a:spcPct val="87000"/>
              </a:lnSpc>
              <a:spcBef>
                <a:spcPct val="0"/>
              </a:spcBef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последние </a:t>
            </a:r>
            <a:r>
              <a:rPr kumimoji="0" lang="ru-RU" altLang="ru-RU" sz="24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годы развитие 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применение получила компонентная разработка приложений, главной особенностью которой является создание </a:t>
            </a:r>
            <a:r>
              <a:rPr kumimoji="0" lang="ru-RU" alt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унифицированных интерфейсов программных модулей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Компонентом считается программный модуль и его унифицированный интерфейс, посредством которого к нему могут подключаться другие компоненты и поддерживать взаимодействие с ним. </a:t>
            </a:r>
          </a:p>
          <a:p>
            <a:pPr marL="457200" indent="-457200" eaLnBrk="1" fontAlgn="auto" hangingPunct="1">
              <a:lnSpc>
                <a:spcPct val="87000"/>
              </a:lnSpc>
              <a:spcBef>
                <a:spcPct val="0"/>
              </a:spcBef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altLang="ru-RU" sz="24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Концептуальная 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модель предусматривает разбиение ИС на приложения (прикладные программные комплексы), реализующие заданные функции ИС, и среду, обеспечивающую подготовку и выполнение приложений. Между ними определяются </a:t>
            </a:r>
            <a:r>
              <a:rPr kumimoji="0" lang="ru-RU" alt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стандартизованные интерфейсы прикладного программирования (API)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</a:p>
          <a:p>
            <a:pPr marL="457200" indent="-457200" eaLnBrk="1" fontAlgn="auto" hangingPunct="1">
              <a:lnSpc>
                <a:spcPct val="87000"/>
              </a:lnSpc>
              <a:spcBef>
                <a:spcPct val="0"/>
              </a:spcBef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Кроме того, определяются </a:t>
            </a:r>
            <a:r>
              <a:rPr kumimoji="0" lang="ru-RU" alt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стандартизованные интерфейсы взаимодействия данной ИС с внешней для нее средой </a:t>
            </a:r>
            <a:r>
              <a:rPr kumimoji="0" lang="ru-RU" altLang="ru-RU" sz="24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другими ИС и сетью Интернет и(или) корпоративными </a:t>
            </a:r>
            <a:r>
              <a:rPr kumimoji="0" lang="ru-RU" altLang="ru-RU" sz="24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сетями.</a:t>
            </a:r>
            <a:endParaRPr kumimoji="0" lang="ru-RU" altLang="ru-RU" sz="2400" b="1" dirty="0">
              <a:solidFill>
                <a:srgbClr val="463416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79512" y="-56728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Интеграция приложений предприятия </a:t>
            </a:r>
            <a:r>
              <a:rPr lang="en-US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EAI</a:t>
            </a:r>
            <a:endParaRPr lang="ru-RU" sz="2800" dirty="0">
              <a:solidFill>
                <a:srgbClr val="00CC99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072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5"/>
          <p:cNvSpPr>
            <a:spLocks noChangeArrowheads="1"/>
          </p:cNvSpPr>
          <p:nvPr/>
        </p:nvSpPr>
        <p:spPr bwMode="auto">
          <a:xfrm>
            <a:off x="1043608" y="1772816"/>
            <a:ext cx="7231136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marL="457200" indent="-457200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процессы системного анализа, проектирования и разработки сложных ИС, их сопровождения и развития рекомендуется включать как их органическую часть работы, связанные с формированием и применением </a:t>
            </a:r>
            <a:r>
              <a:rPr kumimoji="0" lang="ru-RU" alt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профилей ИС</a:t>
            </a:r>
            <a:r>
              <a:rPr kumimoji="0" lang="ru-RU" altLang="ru-RU" sz="28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эти работы следует так же планировать и документировать, как и основные работы указанных процессов.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66688" y="260648"/>
            <a:ext cx="8208912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Формирование и применение профиля ИС как органическая часть процессов жизненного цикла</a:t>
            </a:r>
          </a:p>
        </p:txBody>
      </p:sp>
    </p:spTree>
    <p:extLst>
      <p:ext uri="{BB962C8B-B14F-4D97-AF65-F5344CB8AC3E}">
        <p14:creationId xmlns:p14="http://schemas.microsoft.com/office/powerpoint/2010/main" val="313956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-10616" y="356925"/>
            <a:ext cx="9142636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fontAlgn="auto" hangingPunct="1">
              <a:spcAft>
                <a:spcPts val="0"/>
              </a:spcAft>
              <a:buClr>
                <a:srgbClr val="C00000"/>
              </a:buClr>
              <a:buSzPct val="128000"/>
              <a:buFont typeface="Wingdings 2" panose="05020102010507070707" pitchFamily="18" charset="2"/>
              <a:buChar char=""/>
              <a:defRPr/>
            </a:pPr>
            <a:r>
              <a:rPr kumimoji="0" lang="ru-RU" altLang="ru-RU" sz="2600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Методика </a:t>
            </a:r>
            <a:r>
              <a:rPr kumimoji="0" lang="ru-RU" altLang="ru-RU" sz="2600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формирования профиля ИС включает следующие виды работ: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выбор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состава прикладных функций ИС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, сведений о ее архитектуре и структуре на основе результатов </a:t>
            </a:r>
            <a:r>
              <a:rPr lang="ru-RU" sz="2600" b="1" dirty="0" err="1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предпроектного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</a:t>
            </a: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анализа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выбор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 конкретизацию концептуальной модели ИС 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 базе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OSE/RM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применительно к рассматриваемой на стадии системного проекта </a:t>
            </a: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архитектуре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параметризацию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компонентов приложений и среды ИС 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 стадии детального проектирования с определением функциональных параметров (состава сервисов и услуг) для каждого компонента и интерфейсных параметров (характеристик взаимодействия данного компонента с другими компонентами среды и приложениями</a:t>
            </a: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)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115616" y="-56728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Профиль информационной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54412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79512" y="413159"/>
            <a:ext cx="8831088" cy="644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наполнение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профиля ИС базовыми стандартами ИТ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путем выбора их из номенклатуры международных стандартов «де-юре» и «де-факто</a:t>
            </a: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»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уточнение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концептуальной модели ИС 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 параметров </a:t>
            </a: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компонентов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гармонизацию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базовых стандартов, включаемых в профиль, 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 формированием ограничительных спецификаций их обязательных и факультативных возможностей, для того чтобы обеспечить совместимость компонентов </a:t>
            </a: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ИС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разработку 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спецификаций интерфейсов и протоколов взаимодействия компонентов, которые не обеспечены базовыми стандартами ИТ, по возможности с использованием формальных языков спецификаций, таких как RSL, IDL, </a:t>
            </a: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SDL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115616" y="-56728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Методика формирования профиля ИС </a:t>
            </a:r>
          </a:p>
        </p:txBody>
      </p:sp>
    </p:spTree>
    <p:extLst>
      <p:ext uri="{BB962C8B-B14F-4D97-AF65-F5344CB8AC3E}">
        <p14:creationId xmlns:p14="http://schemas.microsoft.com/office/powerpoint/2010/main" val="364629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88876" y="692696"/>
            <a:ext cx="8831088" cy="2046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формирование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требований соответствия профилю ИС </a:t>
            </a:r>
            <a:r>
              <a:rPr lang="ru-RU" sz="2600" b="1" dirty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 ссылок на соответствующие методы тестирования и </a:t>
            </a:r>
            <a:r>
              <a:rPr lang="ru-RU" sz="2600" b="1" dirty="0" smtClean="0">
                <a:solidFill>
                  <a:srgbClr val="33CCCC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тесты</a:t>
            </a:r>
            <a:endParaRPr lang="ru-RU" sz="2600" b="1" dirty="0">
              <a:solidFill>
                <a:srgbClr val="33CCCC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оформление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профиля </a:t>
            </a: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ИС</a:t>
            </a:r>
            <a:endParaRPr lang="ru-RU" sz="26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"/>
              <a:defRPr/>
            </a:pPr>
            <a:r>
              <a:rPr lang="ru-RU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согласование </a:t>
            </a:r>
            <a:r>
              <a:rPr lang="ru-RU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 утверждение профиля ИС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115616" y="-56728"/>
            <a:ext cx="8784976" cy="533400"/>
          </a:xfrm>
          <a:prstGeom prst="rect">
            <a:avLst/>
          </a:prstGeom>
          <a:noFill/>
        </p:spPr>
        <p:txBody>
          <a:bodyPr/>
          <a:lstStyle>
            <a:lvl1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2pPr>
            <a:lvl3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3pPr>
            <a:lvl4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4pPr>
            <a:lvl5pPr marL="319088" indent="-319088" algn="r" rtl="0" fontAlgn="base">
              <a:spcBef>
                <a:spcPct val="0"/>
              </a:spcBef>
              <a:spcAft>
                <a:spcPct val="0"/>
              </a:spcAft>
              <a:buClr>
                <a:srgbClr val="C3260C"/>
              </a:buClr>
              <a:buSzPct val="128000"/>
              <a:buFont typeface="Georgia" pitchFamily="18" charset="0"/>
              <a:buChar char="*"/>
              <a:defRPr sz="4600" b="1">
                <a:solidFill>
                  <a:schemeClr val="tx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800" dirty="0">
                <a:solidFill>
                  <a:srgbClr val="00CC99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rPr>
              <a:t>Методика формирования профиля ИС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38200" y="2748320"/>
            <a:ext cx="802223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Полученный в результате этих работ профиль представляет собой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выбранный набор базовых стандартов с их ограничительными спецификациями и дополнительные спецификации для требований, не обеспеченных базовыми стандартами.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0" lang="ru-RU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Для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удобства модификации разработанного профиля в процессе жизненного цикла ИС документируются </a:t>
            </a:r>
            <a:r>
              <a:rPr kumimoji="0" lang="ru-RU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стадии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проектирования </a:t>
            </a:r>
            <a:r>
              <a:rPr kumimoji="0" lang="ru-RU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профиля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</a:t>
            </a:r>
            <a:r>
              <a:rPr kumimoji="0" lang="ru-RU" b="1" dirty="0" smtClean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конкретизированная 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применительно к данной ИС модель </a:t>
            </a:r>
            <a:r>
              <a:rPr kumimoji="0"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OSE/RM</a:t>
            </a:r>
            <a:r>
              <a:rPr kumimoji="0" lang="ru-RU" b="1" dirty="0">
                <a:solidFill>
                  <a:srgbClr val="463416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71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187624" y="2708920"/>
            <a:ext cx="699135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 eaLnBrk="1" hangingPunct="1">
              <a:spcBef>
                <a:spcPct val="50000"/>
              </a:spcBef>
              <a:defRPr/>
            </a:pPr>
            <a:r>
              <a:rPr lang="ru-RU" sz="4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78082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.xml><?xml version="1.0" encoding="utf-8"?>
<a:themeOverride xmlns:a="http://schemas.openxmlformats.org/drawingml/2006/main">
  <a:clrScheme name="Оформление по умолчанию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2790</TotalTime>
  <Words>3254</Words>
  <Application>Microsoft Office PowerPoint</Application>
  <PresentationFormat>Экран (4:3)</PresentationFormat>
  <Paragraphs>355</Paragraphs>
  <Slides>64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64</vt:i4>
      </vt:variant>
    </vt:vector>
  </HeadingPairs>
  <TitlesOfParts>
    <vt:vector size="72" baseType="lpstr">
      <vt:lpstr>Arial</vt:lpstr>
      <vt:lpstr>Comic Sans MS</vt:lpstr>
      <vt:lpstr>Georgia</vt:lpstr>
      <vt:lpstr>Times New Roman</vt:lpstr>
      <vt:lpstr>Wingdings</vt:lpstr>
      <vt:lpstr>Wingdings 2</vt:lpstr>
      <vt:lpstr>Оформление по умолчанию</vt:lpstr>
      <vt:lpstr>1_Оформление по умолчанию</vt:lpstr>
      <vt:lpstr>Презентация PowerPoint</vt:lpstr>
      <vt:lpstr>Презентация PowerPoint</vt:lpstr>
      <vt:lpstr>Стандарты, регламентирующие ЖЦ ИС</vt:lpstr>
      <vt:lpstr>В сфере информационных технологий стандарты обеспечивают:</vt:lpstr>
      <vt:lpstr>Стандартизация позволяет потребителям ИС:</vt:lpstr>
      <vt:lpstr>Стандарты необходимы:</vt:lpstr>
      <vt:lpstr>Презентация PowerPoint</vt:lpstr>
      <vt:lpstr>Нормативно-методическое обеспечение (НМО)</vt:lpstr>
      <vt:lpstr>Нормативно-методическое обеспечение</vt:lpstr>
      <vt:lpstr>Основные задачи НМО</vt:lpstr>
      <vt:lpstr>Основные задачи НМО</vt:lpstr>
      <vt:lpstr>Состав нормативно-методического обеспечения</vt:lpstr>
      <vt:lpstr>Все входящие в состав НМО документы должны быть определены по:</vt:lpstr>
      <vt:lpstr>Объекты, подлежащие регламентации, можно подразделить на две большие группы:</vt:lpstr>
      <vt:lpstr>В качестве объектов регламентации и методического обеспечения могут выступать:</vt:lpstr>
      <vt:lpstr>Нормативно-методическое обеспечение</vt:lpstr>
      <vt:lpstr>Нормативная база НМО </vt:lpstr>
      <vt:lpstr>Международная организация по стандартизации, ИСО (International Organization for Standardization, ISO) — международная организация, занимающаяся выпуском стандартов.  </vt:lpstr>
      <vt:lpstr>  Объединённый технический комитет №1 ИСО/МЭК (ISO/IEC Joint Technical Committee 1, ISO/IEC JTC 1) — подразделение Международной организации по стандартизации (ISO) и Международной электротехнической комиссии МЭК (IEC International Electrotechnical Commission), которое занимается всеми вопросами связанными со стандартами в области информационных технологий. </vt:lpstr>
      <vt:lpstr>  Институт инженеров по электротехнике и электронике — IEEE (англ. Institute of Electrical and Electronics Engineers) (I triple E — «Ай трипл и») — международная некоммерческая ассоциация специалистов в области техники, мировой лидер в области разработки стандартов по радиоэлектронике и электротехнике.</vt:lpstr>
      <vt:lpstr>  OMG (Object Management Group – консорциум (рабочая группа), занимающийся разработкой и продвижением объектно-ориентированных технологий и стандартов. Это некоммерческое объединение, разрабатывающее стандарты для создания интероперабельных, то есть платформо-независимых, приложений на уровне предприятия. С консорциумом сотрудничает около 800 организаций — крупнейших производителей программного обеспечения.</vt:lpstr>
      <vt:lpstr>Презентация PowerPoint</vt:lpstr>
      <vt:lpstr>Презентация PowerPoint</vt:lpstr>
      <vt:lpstr>Взаимосвязанное применение государственных стандартов при проектировании информационных систем </vt:lpstr>
      <vt:lpstr>Процессы жизненного цикла систем согласно ГОСТ Р ИСО/МЭК 15288 </vt:lpstr>
      <vt:lpstr>Стандарты, недостающие для организации проекта по созданию ПО ИС, следует разработать, как отраслевые стандарты или стандарты предприятия. К их числу должны относиться стандарты, регламентирующие, прежде всего:</vt:lpstr>
      <vt:lpstr>Нормативно-методическое обеспечение</vt:lpstr>
      <vt:lpstr>Презентация PowerPoint</vt:lpstr>
      <vt:lpstr>Создание информационных систем по стадиям регламентируется следующими стандартами: </vt:lpstr>
      <vt:lpstr>Взаимосвязь стадий создания ИС и формируемой проектной документации</vt:lpstr>
      <vt:lpstr>Презентация PowerPoint</vt:lpstr>
      <vt:lpstr>Типовые стадии создания автоматизированной информационной системы по ГОСТу 34.601 – 90</vt:lpstr>
      <vt:lpstr>Типовые стадии создания автоматизированной информационной системы по ГОСТу 34.601 – 90</vt:lpstr>
      <vt:lpstr>Типовые стадии создания автоматизированной информационной системы по ГОСТу 34.601 – 90</vt:lpstr>
      <vt:lpstr>Стадии и результаты работ по созданию ИС </vt:lpstr>
      <vt:lpstr>Стадии и результаты работ по созданию ИС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ИС</dc:title>
  <dc:creator>1</dc:creator>
  <cp:lastModifiedBy>1</cp:lastModifiedBy>
  <cp:revision>157</cp:revision>
  <dcterms:created xsi:type="dcterms:W3CDTF">2004-12-15T06:49:54Z</dcterms:created>
  <dcterms:modified xsi:type="dcterms:W3CDTF">2015-09-10T11:39:18Z</dcterms:modified>
</cp:coreProperties>
</file>