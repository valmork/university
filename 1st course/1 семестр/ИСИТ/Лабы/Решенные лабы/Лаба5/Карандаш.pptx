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sengan\Desktop\12345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EA-403F-81A5-FFE213D39BB5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EA-403F-81A5-FFE213D39BB5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1EA-403F-81A5-FFE213D39BB5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1EA-403F-81A5-FFE213D39BB5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1EA-403F-81A5-FFE213D39BB5}"/>
              </c:ext>
            </c:extLst>
          </c:dPt>
          <c:dLbls>
            <c:dLbl>
              <c:idx val="0"/>
              <c:layout>
                <c:manualLayout>
                  <c:x val="9.3637287274574554E-3"/>
                  <c:y val="3.608508060770741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ru-RU" sz="1200" baseline="0"/>
                      <a:t>Домашнее хозяйство; </a:t>
                    </a:r>
                    <a:fld id="{1A6DE49F-3E94-480D-B170-69D39F21B44F}" type="PERCENTAGE">
                      <a:rPr lang="en-US" sz="1200" baseline="0"/>
                      <a:pPr>
                        <a:defRPr sz="1200"/>
                      </a:pPr>
                      <a:t>[ПРОЦЕНТ]</a:t>
                    </a:fld>
                    <a:endParaRPr lang="ru-RU" sz="12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11111111111109"/>
                      <c:h val="0.1388196267133274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1EA-403F-81A5-FFE213D39BB5}"/>
                </c:ext>
              </c:extLst>
            </c:dLbl>
            <c:dLbl>
              <c:idx val="1"/>
              <c:layout>
                <c:manualLayout>
                  <c:x val="2.3982939632544915E-3"/>
                  <c:y val="9.2592592592592171E-3"/>
                </c:manualLayout>
              </c:layout>
              <c:tx>
                <c:rich>
                  <a:bodyPr/>
                  <a:lstStyle/>
                  <a:p>
                    <a:r>
                      <a:rPr lang="ru-RU" baseline="0"/>
                      <a:t>Наука; </a:t>
                    </a:r>
                    <a:fld id="{224AE353-9710-4227-86E8-6CDC6CDCF5DA}" type="PERCENTAGE">
                      <a:rPr lang="en-US" baseline="0"/>
                      <a:pPr/>
                      <a:t>[ПРОЦЕНТ]</a:t>
                    </a:fld>
                    <a:endParaRPr lang="ru-RU" baseline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1EA-403F-81A5-FFE213D39BB5}"/>
                </c:ext>
              </c:extLst>
            </c:dLbl>
            <c:dLbl>
              <c:idx val="2"/>
              <c:layout>
                <c:manualLayout>
                  <c:x val="-3.2640823743186047E-2"/>
                  <c:y val="4.449457047027276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ru-RU" sz="1200" baseline="0"/>
                      <a:t>Образование; </a:t>
                    </a:r>
                    <a:fld id="{9CFA7630-1550-4871-A022-8AEBF2F3811B}" type="PERCENTAGE">
                      <a:rPr lang="en-US" sz="1200" baseline="0"/>
                      <a:pPr>
                        <a:defRPr sz="1200"/>
                      </a:pPr>
                      <a:t>[ПРОЦЕНТ]</a:t>
                    </a:fld>
                    <a:endParaRPr lang="ru-RU" sz="12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258333333333335"/>
                      <c:h val="0.1572685185185185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1EA-403F-81A5-FFE213D39BB5}"/>
                </c:ext>
              </c:extLst>
            </c:dLbl>
            <c:dLbl>
              <c:idx val="3"/>
              <c:layout>
                <c:manualLayout>
                  <c:x val="2.2222222222222223E-2"/>
                  <c:y val="-1.8226888305628463E-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ru-RU" sz="1200" baseline="0"/>
                      <a:t>Производство; </a:t>
                    </a:r>
                    <a:fld id="{D6E6C1F5-8DAF-4E87-9B7D-0B04D87A719B}" type="PERCENTAGE">
                      <a:rPr lang="en-US" sz="1200" baseline="0"/>
                      <a:pPr>
                        <a:defRPr sz="1200"/>
                      </a:pPr>
                      <a:t>[ПРОЦЕНТ]</a:t>
                    </a:fld>
                    <a:endParaRPr lang="ru-RU" sz="12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99999999999999"/>
                      <c:h val="0.1480788859725867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1EA-403F-81A5-FFE213D39BB5}"/>
                </c:ext>
              </c:extLst>
            </c:dLbl>
            <c:dLbl>
              <c:idx val="4"/>
              <c:layout>
                <c:manualLayout>
                  <c:x val="-5.9678301301047398E-3"/>
                  <c:y val="4.244040890481846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ru-RU" sz="1200" baseline="0"/>
                      <a:t>Изобразительное искусство; </a:t>
                    </a:r>
                    <a:fld id="{E646EFE1-39C3-42FE-956B-4D3C74268F4C}" type="PERCENTAGE">
                      <a:rPr lang="en-US" sz="1200" baseline="0"/>
                      <a:pPr>
                        <a:defRPr sz="1200"/>
                      </a:pPr>
                      <a:t>[ПРОЦЕНТ]</a:t>
                    </a:fld>
                    <a:endParaRPr lang="ru-RU" sz="12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32922699178727"/>
                      <c:h val="0.148009304260571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1EA-403F-81A5-FFE213D39B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Лист1!$A$1:$A$5</c:f>
              <c:strCache>
                <c:ptCount val="5"/>
                <c:pt idx="0">
                  <c:v>Домашнее хозяйство </c:v>
                </c:pt>
                <c:pt idx="1">
                  <c:v>Наука</c:v>
                </c:pt>
                <c:pt idx="2">
                  <c:v>Образование</c:v>
                </c:pt>
                <c:pt idx="3">
                  <c:v>Производство</c:v>
                </c:pt>
                <c:pt idx="4">
                  <c:v>Изобразительное искусство</c:v>
                </c:pt>
              </c:strCache>
            </c:strRef>
          </c:cat>
          <c:val>
            <c:numRef>
              <c:f>Лист1!$B$1:$B$5</c:f>
              <c:numCache>
                <c:formatCode>General</c:formatCode>
                <c:ptCount val="5"/>
                <c:pt idx="0">
                  <c:v>12</c:v>
                </c:pt>
                <c:pt idx="1">
                  <c:v>6</c:v>
                </c:pt>
                <c:pt idx="2">
                  <c:v>23</c:v>
                </c:pt>
                <c:pt idx="3">
                  <c:v>21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1EA-403F-81A5-FFE213D39B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20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26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56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80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64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48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0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39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5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30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358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31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75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17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8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29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43ED134-F4F5-4407-8E6E-3D41FD3CB75D}" type="datetimeFigureOut">
              <a:rPr lang="ru-RU" smtClean="0"/>
              <a:t>06.11.2021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A4B93-31F3-41C5-99E9-758FBB7CE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92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19" name="wind.wav"/>
          </p:stSnd>
        </p:sndAc>
      </p:transition>
    </mc:Choice>
    <mc:Fallback xmlns="">
      <p:transition spd="slow" advClick="0">
        <p:fade/>
        <p:sndAc>
          <p:stSnd>
            <p:snd r:embed="rId24" name="wind.wav"/>
          </p:stSnd>
        </p:sndAc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&#1050;&#1072;&#1088;&#1072;&#1085;&#1076;&#1072;&#1096;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s/chemical.jpg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hyperlink" Target="files/pencil.jpg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FFF00"/>
            </a:gs>
            <a:gs pos="0">
              <a:srgbClr val="00B0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8CE07-85A4-4625-9205-EF04E9449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2644" y="1135616"/>
            <a:ext cx="4704521" cy="812454"/>
          </a:xfrm>
        </p:spPr>
        <p:txBody>
          <a:bodyPr>
            <a:normAutofit fontScale="90000"/>
          </a:bodyPr>
          <a:lstStyle/>
          <a:p>
            <a:r>
              <a:rPr lang="ru-RU" dirty="0"/>
              <a:t>Карандаш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A8A95F-C3EC-466D-B9E3-29417F25D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2644" y="2170803"/>
            <a:ext cx="9144000" cy="43987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Спрашивайте во всех магазинах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FFC80-85D7-4B47-9556-A111B46CDC38}"/>
              </a:ext>
            </a:extLst>
          </p:cNvPr>
          <p:cNvSpPr txBox="1"/>
          <p:nvPr/>
        </p:nvSpPr>
        <p:spPr>
          <a:xfrm>
            <a:off x="4550714" y="2833411"/>
            <a:ext cx="4132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Карандашевич</a:t>
            </a:r>
            <a:r>
              <a:rPr lang="ru-RU" dirty="0" smtClean="0"/>
              <a:t> Юрий Николаевич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458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EB6CE-41B1-473E-80E8-44F4FB07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138" y="320196"/>
            <a:ext cx="4018654" cy="792986"/>
          </a:xfrm>
        </p:spPr>
        <p:txBody>
          <a:bodyPr/>
          <a:lstStyle/>
          <a:p>
            <a:r>
              <a:rPr lang="ru-RU" dirty="0"/>
              <a:t>Содержание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539BA-DF5C-40F5-A46B-20D6B4AB4923}"/>
              </a:ext>
            </a:extLst>
          </p:cNvPr>
          <p:cNvSpPr txBox="1"/>
          <p:nvPr/>
        </p:nvSpPr>
        <p:spPr>
          <a:xfrm>
            <a:off x="1121561" y="1772144"/>
            <a:ext cx="49744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История Карандаша</a:t>
            </a:r>
            <a:endParaRPr lang="ru-RU" sz="2800" dirty="0"/>
          </a:p>
          <a:p>
            <a:r>
              <a:rPr lang="ru-RU" sz="28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Особенности карандаша</a:t>
            </a:r>
            <a:endParaRPr lang="ru-RU" sz="2800" dirty="0"/>
          </a:p>
          <a:p>
            <a:r>
              <a:rPr lang="ru-RU" sz="28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Виды карандашей</a:t>
            </a:r>
            <a:endParaRPr lang="ru-RU" sz="2800" dirty="0"/>
          </a:p>
          <a:p>
            <a:r>
              <a:rPr lang="ru-RU" sz="28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Области применения</a:t>
            </a:r>
            <a:endParaRPr lang="ru-RU" sz="2800" dirty="0"/>
          </a:p>
          <a:p>
            <a:r>
              <a:rPr lang="ru-RU" sz="2800" dirty="0"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Интересные факты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8689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8" name="wind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A4659-2AC5-4393-8620-AA28A217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4" y="205285"/>
            <a:ext cx="5570414" cy="767368"/>
          </a:xfrm>
        </p:spPr>
        <p:txBody>
          <a:bodyPr>
            <a:normAutofit fontScale="90000"/>
          </a:bodyPr>
          <a:lstStyle/>
          <a:p>
            <a:r>
              <a:rPr lang="ru-RU" dirty="0"/>
              <a:t>История карандаша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26E37-285F-4156-826C-C03566AAD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307" y="1410665"/>
            <a:ext cx="10048327" cy="4804605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Начиная с </a:t>
            </a:r>
            <a:r>
              <a:rPr lang="en-US" dirty="0"/>
              <a:t>XII </a:t>
            </a:r>
            <a:r>
              <a:rPr lang="ru-RU" dirty="0"/>
              <a:t>века художники использовали для рисования токую серебряную проволоку, которую припаивали к ручке или хранили в футляре. Такой тип карандаша называли серебряный карандаш.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en-US" dirty="0"/>
              <a:t>IV </a:t>
            </a:r>
            <a:r>
              <a:rPr lang="ru-RU" dirty="0"/>
              <a:t>веке появился итальянский карандаш. Он представлял собой стержень из глинистого чёрного сланца. Затем его стали изготавливать из порошка жжёной кости, скреплённого растительным клеем.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Графитные карандаши известны с </a:t>
            </a:r>
            <a:r>
              <a:rPr lang="en-US" dirty="0"/>
              <a:t>XVI </a:t>
            </a:r>
            <a:r>
              <a:rPr lang="ru-RU" dirty="0"/>
              <a:t>века. Это были мягкие палочки, которые пачкали руки и подходили только для рисования, но не для письма.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Первый документ, в котором упоминается графитный карандаш, датирован 1683 годом.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1790 году венский мастер Йозеф Хардмут смешал пыль графита с глиной и водой и обжог эту смесь в печи.  В зависимости от количества глины в смеси он смог получить материал различной твёрдости.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Шестигранную форму корпуса карандаша предложил в 1851 году граф Лотар фон Фабер</a:t>
            </a:r>
            <a:r>
              <a:rPr lang="en-US" dirty="0"/>
              <a:t>-</a:t>
            </a:r>
            <a:r>
              <a:rPr lang="ru-RU" dirty="0"/>
              <a:t>Кастель, владелец фабрики </a:t>
            </a:r>
            <a:r>
              <a:rPr lang="en-US" dirty="0"/>
              <a:t>Faber-Castell</a:t>
            </a:r>
            <a:r>
              <a:rPr lang="ru-RU" dirty="0"/>
              <a:t>, заметив что карандаши круглого сечения часто скатываются с наклонных поверхностей  для письма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>
                <a:hlinkClick r:id="rId3"/>
              </a:rPr>
              <a:t>https://ru.wikipedia.org/wiki/</a:t>
            </a:r>
            <a:r>
              <a:rPr lang="ru-RU" dirty="0">
                <a:hlinkClick r:id="rId3"/>
              </a:rPr>
              <a:t>Карандаш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281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4" name="wind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E27D0-86AE-4877-A112-2AFAA1C6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131" y="333449"/>
            <a:ext cx="7490724" cy="766482"/>
          </a:xfrm>
        </p:spPr>
        <p:txBody>
          <a:bodyPr/>
          <a:lstStyle/>
          <a:p>
            <a:r>
              <a:rPr lang="ru-RU" dirty="0"/>
              <a:t>Особенности карандаша</a:t>
            </a:r>
          </a:p>
        </p:txBody>
      </p:sp>
      <p:pic>
        <p:nvPicPr>
          <p:cNvPr id="6" name="Объект 5">
            <a:hlinkClick r:id="rId3" action="ppaction://hlinkfile"/>
            <a:extLst>
              <a:ext uri="{FF2B5EF4-FFF2-40B4-BE49-F238E27FC236}">
                <a16:creationId xmlns:a16="http://schemas.microsoft.com/office/drawing/2014/main" id="{9972F383-C382-41DB-892D-9BD8363E8E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clrChange>
              <a:clrFrom>
                <a:srgbClr val="FFFCFB"/>
              </a:clrFrom>
              <a:clrTo>
                <a:srgbClr val="FFFC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" t="21521" r="1163" b="24332"/>
          <a:stretch/>
        </p:blipFill>
        <p:spPr>
          <a:xfrm rot="2985981">
            <a:off x="929919" y="3116808"/>
            <a:ext cx="4522923" cy="1395459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72210CA-731C-4A47-8F6E-CE921C82C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39140"/>
            <a:ext cx="4396341" cy="2873716"/>
          </a:xfrm>
        </p:spPr>
        <p:txBody>
          <a:bodyPr>
            <a:normAutofit fontScale="92500" lnSpcReduction="10000"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не течет и не требует заправки чернилами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легко удаляется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нетоксичен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не является проводником электротока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будет писать перевернутый вверх, под водой и в космосе</a:t>
            </a:r>
          </a:p>
          <a:p>
            <a:pPr marL="0" lvl="0" indent="0">
              <a:buNone/>
            </a:pPr>
            <a:r>
              <a:rPr lang="ru-RU" dirty="0"/>
              <a:t> </a:t>
            </a:r>
            <a:r>
              <a:rPr lang="en-US" dirty="0">
                <a:hlinkClick r:id="rId5" action="ppaction://hlinkfile"/>
              </a:rPr>
              <a:t>files\pencil.jpg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225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6" name="wind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11FE4-3886-411B-8EA9-E0CF83F0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016" y="373205"/>
            <a:ext cx="5224602" cy="819491"/>
          </a:xfrm>
        </p:spPr>
        <p:txBody>
          <a:bodyPr/>
          <a:lstStyle/>
          <a:p>
            <a:r>
              <a:rPr lang="ru-RU" dirty="0"/>
              <a:t>Виды карандашей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5D2F8-CB2E-4CB8-B739-19B5959B4D79}"/>
              </a:ext>
            </a:extLst>
          </p:cNvPr>
          <p:cNvSpPr txBox="1"/>
          <p:nvPr/>
        </p:nvSpPr>
        <p:spPr>
          <a:xfrm>
            <a:off x="1718998" y="1835966"/>
            <a:ext cx="133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 Простые</a:t>
            </a:r>
          </a:p>
          <a:p>
            <a:r>
              <a:rPr lang="ru-RU" dirty="0"/>
              <a:t>- Цветные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9875F-4CAB-43D9-9AF8-50A4A81D31AC}"/>
              </a:ext>
            </a:extLst>
          </p:cNvPr>
          <p:cNvSpPr txBox="1"/>
          <p:nvPr/>
        </p:nvSpPr>
        <p:spPr>
          <a:xfrm>
            <a:off x="1718998" y="2365352"/>
            <a:ext cx="20505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ru-RU" dirty="0"/>
              <a:t>- Деревянные</a:t>
            </a:r>
          </a:p>
          <a:p>
            <a:pPr lvl="0"/>
            <a:r>
              <a:rPr lang="ru-RU" dirty="0"/>
              <a:t>- Механические</a:t>
            </a:r>
          </a:p>
          <a:p>
            <a:pPr lvl="0"/>
            <a:r>
              <a:rPr lang="ru-RU" dirty="0"/>
              <a:t>- Химические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25A3BDB-5BD0-4924-BEDB-190DFC1B6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48" y="1496633"/>
            <a:ext cx="5990075" cy="337189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5E40304-E527-45E0-ADC5-BAA1DEEFA7C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85" y="1981743"/>
            <a:ext cx="4418145" cy="441814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05BE394-25DB-4C12-8C57-291A88CA47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320" y="1091077"/>
            <a:ext cx="5517222" cy="467584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1F4E449-3785-48F2-8B46-35F6F9ACFFB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39" y="1677806"/>
            <a:ext cx="5700385" cy="380025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148990-87ED-4C1F-A7D4-BF87BC688E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904" y="1446825"/>
            <a:ext cx="5700385" cy="42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5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8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6B74E-6E3E-40C8-B467-CA3A6F77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946" y="333448"/>
            <a:ext cx="6390793" cy="766482"/>
          </a:xfrm>
        </p:spPr>
        <p:txBody>
          <a:bodyPr/>
          <a:lstStyle/>
          <a:p>
            <a:r>
              <a:rPr lang="ru-RU" dirty="0"/>
              <a:t>Области применения 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F4E94B06-E4AE-4EED-98CC-1E55C26E0F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92083"/>
              </p:ext>
            </p:extLst>
          </p:nvPr>
        </p:nvGraphicFramePr>
        <p:xfrm>
          <a:off x="1904999" y="1211848"/>
          <a:ext cx="8391940" cy="4884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6642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4" name="wind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1F124-928D-43B1-B11B-4CCEBFC3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520" y="259490"/>
            <a:ext cx="5595663" cy="700221"/>
          </a:xfrm>
        </p:spPr>
        <p:txBody>
          <a:bodyPr/>
          <a:lstStyle/>
          <a:p>
            <a:r>
              <a:rPr lang="ru-RU" dirty="0"/>
              <a:t>Интересные факты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35B72-0378-4CE6-8BEF-ACBB4D1F3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1672502"/>
            <a:ext cx="8946541" cy="3512995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Карандаш может чертить линию длиной 56 км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Карандаш может написать около 45 000 слов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Карандаш может быть заточен 17 раз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Перед тем, как поломаться, средний заостренный кончик карандаша противостоит давлению 255 атмосфер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Более 14 миллиардов карандашей производится в мире каждый год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dirty="0"/>
              <a:t>На Нью-Йоркской фондовой бирже ежегодно используется один миллион карандашей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09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switch dir="r"/>
        <p:sndAc>
          <p:stSnd>
            <p:snd r:embed="rId2" name="wind.wav"/>
          </p:stSnd>
        </p:sndAc>
      </p:transition>
    </mc:Choice>
    <mc:Fallback xmlns="">
      <p:transition spd="slow" advClick="0">
        <p:fade/>
        <p:sndAc>
          <p:stSnd>
            <p:snd r:embed="rId3" name="wind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301</Words>
  <Application>Microsoft Office PowerPoint</Application>
  <PresentationFormat>Широкоэкранный</PresentationFormat>
  <Paragraphs>43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Ион</vt:lpstr>
      <vt:lpstr>Карандаш</vt:lpstr>
      <vt:lpstr>Содержание </vt:lpstr>
      <vt:lpstr>История карандаша </vt:lpstr>
      <vt:lpstr>Особенности карандаша</vt:lpstr>
      <vt:lpstr>Виды карандашей </vt:lpstr>
      <vt:lpstr>Области применения </vt:lpstr>
      <vt:lpstr>Интересные факты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Карандаш</dc:title>
  <dc:creator>Rasengan</dc:creator>
  <cp:lastModifiedBy>alexa</cp:lastModifiedBy>
  <cp:revision>15</cp:revision>
  <dcterms:created xsi:type="dcterms:W3CDTF">2018-11-30T21:18:56Z</dcterms:created>
  <dcterms:modified xsi:type="dcterms:W3CDTF">2021-11-06T06:20:46Z</dcterms:modified>
</cp:coreProperties>
</file>